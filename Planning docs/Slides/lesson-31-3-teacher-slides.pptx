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31 Day 3. Extension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describe how the two explanations would be different?.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grammar point with students. These are the key patterns to notice before fixing the next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3E50"/>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31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E67E22"/>
                </a:solidFill>
                <a:latin typeface="Calibri" pitchFamily="34" charset="0"/>
                <a:ea typeface="Calibri" pitchFamily="34" charset="-122"/>
                <a:cs typeface="Calibri" pitchFamily="34" charset="-120"/>
              </a:rPr>
              <a:t>Extension Unit — Lesson 31.3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Two different texts can tell you about the same idea in completely different ways. Think of two people you know who would explain the same thing differently. Who are they? How would their explanations be different?</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Two different texts can tell you about the same idea in completely different ways. Think of two people you know who would explain the same thing differently. Who are they? How would their explanations be different?</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describe how the two explanations would be different?</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Compare how two authors present the same topic or theme.</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As you read today, ask yourself: How do you use evidence from two different texts in the same response?</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Find one sentence or idea from Text 1 that you want to use in your comparison response. Write it in your own words and explain why you chose it.</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in a fantasy story slow down and pay attention to how the author builds the world . Details of setting, character, and pattern all work together to create meaning.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KEY GRAMMAR POINTS</a:t>
            </a:r>
            <a:endParaRPr lang="en-US" sz="1100" dirty="0"/>
          </a:p>
        </p:txBody>
      </p:sp>
      <p:sp>
        <p:nvSpPr>
          <p:cNvPr id="5" name="Shape 3"/>
          <p:cNvSpPr/>
          <p:nvPr/>
        </p:nvSpPr>
        <p:spPr>
          <a:xfrm>
            <a:off x="457200" y="1371600"/>
            <a:ext cx="8229600" cy="475488"/>
          </a:xfrm>
          <a:prstGeom prst="roundRect">
            <a:avLst>
              <a:gd name="adj" fmla="val 19231"/>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2646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Text 1</a:t>
            </a:r>
            <a:pPr indent="0" marL="0">
              <a:buNone/>
            </a:pPr>
            <a:r>
              <a:rPr lang="en-US" sz="1300" dirty="0">
                <a:solidFill>
                  <a:srgbClr val="64748B"/>
                </a:solidFill>
                <a:latin typeface="Calibri" pitchFamily="34" charset="0"/>
                <a:ea typeface="Calibri" pitchFamily="34" charset="-122"/>
                <a:cs typeface="Calibri" pitchFamily="34" charset="-120"/>
              </a:rPr>
              <a:t>  —  Title used as a label — treated like a name here.</a:t>
            </a:r>
            <a:endParaRPr lang="en-US" sz="1600" dirty="0"/>
          </a:p>
        </p:txBody>
      </p:sp>
      <p:sp>
        <p:nvSpPr>
          <p:cNvPr id="7" name="Shape 5"/>
          <p:cNvSpPr/>
          <p:nvPr/>
        </p:nvSpPr>
        <p:spPr>
          <a:xfrm>
            <a:off x="457200" y="1901952"/>
            <a:ext cx="8229600" cy="475488"/>
          </a:xfrm>
          <a:prstGeom prst="roundRect">
            <a:avLst>
              <a:gd name="adj" fmla="val 19231"/>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5681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explains</a:t>
            </a:r>
            <a:pPr indent="0" marL="0">
              <a:buNone/>
            </a:pPr>
            <a:r>
              <a:rPr lang="en-US" sz="1300" dirty="0">
                <a:solidFill>
                  <a:srgbClr val="64748B"/>
                </a:solidFill>
                <a:latin typeface="Calibri" pitchFamily="34" charset="0"/>
                <a:ea typeface="Calibri" pitchFamily="34" charset="-122"/>
                <a:cs typeface="Calibri" pitchFamily="34" charset="-120"/>
              </a:rPr>
              <a:t>  —  Present tense — correct when discussing what a text says.</a:t>
            </a:r>
            <a:endParaRPr lang="en-US" sz="1600" dirty="0"/>
          </a:p>
        </p:txBody>
      </p:sp>
      <p:sp>
        <p:nvSpPr>
          <p:cNvPr id="9" name="Shape 7"/>
          <p:cNvSpPr/>
          <p:nvPr/>
        </p:nvSpPr>
        <p:spPr>
          <a:xfrm>
            <a:off x="457200" y="2432304"/>
            <a:ext cx="8229600" cy="475488"/>
          </a:xfrm>
          <a:prstGeom prst="roundRect">
            <a:avLst>
              <a:gd name="adj" fmla="val 19231"/>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87168"/>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while</a:t>
            </a:r>
            <a:pPr indent="0" marL="0">
              <a:buNone/>
            </a:pPr>
            <a:r>
              <a:rPr lang="en-US" sz="1300" dirty="0">
                <a:solidFill>
                  <a:srgbClr val="64748B"/>
                </a:solidFill>
                <a:latin typeface="Calibri" pitchFamily="34" charset="0"/>
                <a:ea typeface="Calibri" pitchFamily="34" charset="-122"/>
                <a:cs typeface="Calibri" pitchFamily="34" charset="-120"/>
              </a:rPr>
              <a:t>  —  Connecting word — creates contrast between two clauses.</a:t>
            </a:r>
            <a:endParaRPr lang="en-US" sz="1600" dirty="0"/>
          </a:p>
        </p:txBody>
      </p:sp>
      <p:sp>
        <p:nvSpPr>
          <p:cNvPr id="11" name="Shape 9"/>
          <p:cNvSpPr/>
          <p:nvPr/>
        </p:nvSpPr>
        <p:spPr>
          <a:xfrm>
            <a:off x="457200" y="2962656"/>
            <a:ext cx="8229600" cy="475488"/>
          </a:xfrm>
          <a:prstGeom prst="roundRect">
            <a:avLst>
              <a:gd name="adj" fmla="val 19231"/>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175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Text 2</a:t>
            </a:r>
            <a:pPr indent="0" marL="0">
              <a:buNone/>
            </a:pPr>
            <a:r>
              <a:rPr lang="en-US" sz="1300" dirty="0">
                <a:solidFill>
                  <a:srgbClr val="64748B"/>
                </a:solidFill>
                <a:latin typeface="Calibri" pitchFamily="34" charset="0"/>
                <a:ea typeface="Calibri" pitchFamily="34" charset="-122"/>
                <a:cs typeface="Calibri" pitchFamily="34" charset="-120"/>
              </a:rPr>
              <a:t>  —  Second text label.</a:t>
            </a:r>
            <a:endParaRPr lang="en-US" sz="1600" dirty="0"/>
          </a:p>
        </p:txBody>
      </p:sp>
      <p:sp>
        <p:nvSpPr>
          <p:cNvPr id="13" name="Shape 11"/>
          <p:cNvSpPr/>
          <p:nvPr/>
        </p:nvSpPr>
        <p:spPr>
          <a:xfrm>
            <a:off x="457200" y="3493008"/>
            <a:ext cx="8229600" cy="475488"/>
          </a:xfrm>
          <a:prstGeom prst="roundRect">
            <a:avLst>
              <a:gd name="adj" fmla="val 19231"/>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640080" y="35478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choice.</a:t>
            </a:r>
            <a:pPr indent="0" marL="0">
              <a:buNone/>
            </a:pPr>
            <a:r>
              <a:rPr lang="en-US" sz="1300" dirty="0">
                <a:solidFill>
                  <a:srgbClr val="64748B"/>
                </a:solidFill>
                <a:latin typeface="Calibri" pitchFamily="34" charset="0"/>
                <a:ea typeface="Calibri" pitchFamily="34" charset="-122"/>
                <a:cs typeface="Calibri" pitchFamily="34" charset="-120"/>
              </a:rPr>
              <a:t>  —  Period — ends the compound sentence.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mira in text 2 acts courageously and the nonfiction author in text 1 would agree with her choice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mira in text 2 acts courageously and the nonfiction author in text 1 would agree with her choice</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Mira in Text 2 acts courageously, and the nonfiction author in Text 1 would agree with her choice.</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Mira is a proper noun (capital M); Text 2 and Text 1 are used as labels (capitals); comma before and joining two complete thoughts;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Morphology review: prefixes and suffixes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5" name="Text 3"/>
          <p:cNvSpPr/>
          <p:nvPr/>
        </p:nvSpPr>
        <p:spPr>
          <a:xfrm>
            <a:off x="640080" y="1325880"/>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Apply: Build words using Review</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Reading: Week 31</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As you read today, ask yourself: How do you use evidence from two different texts in the same response?</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Find one sentence or idea from Text 1 that you want to use in your comparison response. Write it in your own words and explain why you chose 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31 · DRAFT Evidence Paragraphs</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