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16 Day 4. The Tale of Despereaux.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the deeper similarity, not just a surface one?.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identify the correct answer before revealing. Use chat or cold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answers. Discuss WHY each answer is correct — what rule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RWM: Read the mentor sentence. Discuss as a Reader (what happens?), Writer (what craft did the author use?), then Mimic (write your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16 · Day 4</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8B6FC0"/>
                </a:solidFill>
                <a:latin typeface="Calibri" pitchFamily="34" charset="0"/>
                <a:ea typeface="Calibri" pitchFamily="34" charset="-122"/>
                <a:cs typeface="Calibri" pitchFamily="34" charset="-120"/>
              </a:rPr>
              <a:t>The Tale of Despereaux — Lesson 16.4</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This book has a mouse, a rat, a servant girl, a princess, a king, and a jailer. Pick any TWO characters and write about what they have in common — even if they seem very different on the outside.</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This book has a mouse, a rat, a servant girl, a princess, a king, and a jailer. Pick any TWO characters and write about what they have in common — even if they seem very different on the outside.</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the deeper similarity, not just a surface one?</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does Despereaux believe about the world?</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What does Roscuro believe?</a:t>
            </a:r>
            <a:endParaRPr lang="en-US" sz="1800" dirty="0"/>
          </a:p>
        </p:txBody>
      </p:sp>
      <p:sp>
        <p:nvSpPr>
          <p:cNvPr id="11" name="Shape 9"/>
          <p:cNvSpPr/>
          <p:nvPr/>
        </p:nvSpPr>
        <p:spPr>
          <a:xfrm>
            <a:off x="457200" y="269748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2" name="Text 10"/>
          <p:cNvSpPr/>
          <p:nvPr/>
        </p:nvSpPr>
        <p:spPr>
          <a:xfrm>
            <a:off x="640080" y="280720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How do their different beliefs lead to different choices?</a:t>
            </a:r>
            <a:endParaRPr lang="en-US" sz="1800" dirty="0"/>
          </a:p>
        </p:txBody>
      </p:sp>
      <p:sp>
        <p:nvSpPr>
          <p:cNvPr id="13" name="Text 11"/>
          <p:cNvSpPr/>
          <p:nvPr/>
        </p:nvSpPr>
        <p:spPr>
          <a:xfrm>
            <a:off x="457200" y="342900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READING LENS</a:t>
            </a:r>
            <a:endParaRPr lang="en-US" sz="1100" dirty="0"/>
          </a:p>
        </p:txBody>
      </p:sp>
      <p:sp>
        <p:nvSpPr>
          <p:cNvPr id="14" name="Text 12"/>
          <p:cNvSpPr/>
          <p:nvPr/>
        </p:nvSpPr>
        <p:spPr>
          <a:xfrm>
            <a:off x="640080" y="3749040"/>
            <a:ext cx="7863840" cy="73152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compare characters' perspectives . Two characters can experience the same event very differently.</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we have read about courage darkness light forgiveness and the extraordinary power of an ordinary story</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now it is time to celebrate what we have learned and share the writing we have worked so hard to make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1. we have read about courage darkness light forgiveness and the extraordinary power of an ordinary story</a:t>
            </a:r>
            <a:endParaRPr lang="en-US" sz="1800" dirty="0"/>
          </a:p>
        </p:txBody>
      </p:sp>
      <p:sp>
        <p:nvSpPr>
          <p:cNvPr id="8" name="Shape 6"/>
          <p:cNvSpPr/>
          <p:nvPr/>
        </p:nvSpPr>
        <p:spPr>
          <a:xfrm>
            <a:off x="457200" y="173736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18470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2. now it is time to celebrate what we have learned and share the writing we have worked so hard to make</a:t>
            </a:r>
            <a:endParaRPr lang="en-US" sz="1800" dirty="0"/>
          </a:p>
        </p:txBody>
      </p:sp>
      <p:sp>
        <p:nvSpPr>
          <p:cNvPr id="10" name="Text 8"/>
          <p:cNvSpPr/>
          <p:nvPr/>
        </p:nvSpPr>
        <p:spPr>
          <a:xfrm>
            <a:off x="457200" y="246888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11" name="Text 9"/>
          <p:cNvSpPr/>
          <p:nvPr/>
        </p:nvSpPr>
        <p:spPr>
          <a:xfrm>
            <a:off x="640080" y="274320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1. We have read about courage , darkness , light , forgiveness , and the extraordinary power of an ordinary story.</a:t>
            </a:r>
            <a:endParaRPr lang="en-US" sz="1300" dirty="0"/>
          </a:p>
        </p:txBody>
      </p:sp>
      <p:sp>
        <p:nvSpPr>
          <p:cNvPr id="12" name="Text 10"/>
          <p:cNvSpPr/>
          <p:nvPr/>
        </p:nvSpPr>
        <p:spPr>
          <a:xfrm>
            <a:off x="640080" y="329184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2. Now it is time to celebrate what we have learned and share the writing we have worked so hard to make.</a:t>
            </a:r>
            <a:endParaRPr lang="en-US" sz="1300" dirty="0"/>
          </a:p>
        </p:txBody>
      </p:sp>
      <p:sp>
        <p:nvSpPr>
          <p:cNvPr id="13" name="Text 11"/>
          <p:cNvSpPr/>
          <p:nvPr/>
        </p:nvSpPr>
        <p:spPr>
          <a:xfrm>
            <a:off x="640080" y="38404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Did you catch the commas in the series (courage, darkness, light, forgiveness) and capital letters?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The Suffix  -ness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shine</a:t>
            </a:r>
            <a:pPr indent="0" marL="0">
              <a:buNone/>
            </a:pPr>
            <a:r>
              <a:rPr lang="en-US" sz="1400" dirty="0">
                <a:solidFill>
                  <a:srgbClr val="64748B"/>
                </a:solidFill>
                <a:latin typeface="Calibri" pitchFamily="34" charset="0"/>
                <a:ea typeface="Calibri" pitchFamily="34" charset="-122"/>
                <a:cs typeface="Calibri" pitchFamily="34" charset="-120"/>
              </a:rPr>
              <a:t>  ·  shin ing  (the sun was shining)</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stare</a:t>
            </a:r>
            <a:pPr indent="0" marL="0">
              <a:buNone/>
            </a:pPr>
            <a:r>
              <a:rPr lang="en-US" sz="1400" dirty="0">
                <a:solidFill>
                  <a:srgbClr val="64748B"/>
                </a:solidFill>
                <a:latin typeface="Calibri" pitchFamily="34" charset="0"/>
                <a:ea typeface="Calibri" pitchFamily="34" charset="-122"/>
                <a:cs typeface="Calibri" pitchFamily="34" charset="-120"/>
              </a:rPr>
              <a:t>  ·  star ing  (he was staring at the light)</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sniff</a:t>
            </a:r>
            <a:pPr indent="0" marL="0">
              <a:buNone/>
            </a:pPr>
            <a:r>
              <a:rPr lang="en-US" sz="1400" dirty="0">
                <a:solidFill>
                  <a:srgbClr val="64748B"/>
                </a:solidFill>
                <a:latin typeface="Calibri" pitchFamily="34" charset="0"/>
                <a:ea typeface="Calibri" pitchFamily="34" charset="-122"/>
                <a:cs typeface="Calibri" pitchFamily="34" charset="-120"/>
              </a:rPr>
              <a:t>  ·  sniff ing  (she was sniffing)</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hold</a:t>
            </a:r>
            <a:pPr indent="0" marL="0">
              <a:buNone/>
            </a:pPr>
            <a:r>
              <a:rPr lang="en-US" sz="1400" dirty="0">
                <a:solidFill>
                  <a:srgbClr val="64748B"/>
                </a:solidFill>
                <a:latin typeface="Calibri" pitchFamily="34" charset="0"/>
                <a:ea typeface="Calibri" pitchFamily="34" charset="-122"/>
                <a:cs typeface="Calibri" pitchFamily="34" charset="-120"/>
              </a:rPr>
              <a:t>  ·  hold ing  (he was holding a handkerchief)</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 from the Novel</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longing</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deep wish or desire for something you do not have.</a:t>
            </a:r>
            <a:endParaRPr lang="en-US" sz="1500" dirty="0"/>
          </a:p>
        </p:txBody>
      </p:sp>
      <p:sp>
        <p:nvSpPr>
          <p:cNvPr id="6" name="Shape 4"/>
          <p:cNvSpPr/>
          <p:nvPr/>
        </p:nvSpPr>
        <p:spPr>
          <a:xfrm>
            <a:off x="4572000" y="1005840"/>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despair</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complete hopelessness; giving up on something getting better.</a:t>
            </a:r>
            <a:endParaRPr lang="en-US" sz="1500" dirty="0"/>
          </a:p>
        </p:txBody>
      </p:sp>
      <p:sp>
        <p:nvSpPr>
          <p:cNvPr id="8" name="Shape 6"/>
          <p:cNvSpPr/>
          <p:nvPr/>
        </p:nvSpPr>
        <p:spPr>
          <a:xfrm>
            <a:off x="4572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concentration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Focused attention on something; thinking about only one thing.</a:t>
            </a:r>
            <a:endParaRPr lang="en-US" sz="1500" dirty="0"/>
          </a:p>
        </p:txBody>
      </p:sp>
      <p:sp>
        <p:nvSpPr>
          <p:cNvPr id="10" name="Shape 8"/>
          <p:cNvSpPr/>
          <p:nvPr/>
        </p:nvSpPr>
        <p:spPr>
          <a:xfrm>
            <a:off x="4572000" y="1618488"/>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673352"/>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disappointment</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feeling of sadness when something does not turn out the way you hoped.</a:t>
            </a:r>
            <a:endParaRPr lang="en-US" sz="1500" dirty="0"/>
          </a:p>
        </p:txBody>
      </p:sp>
      <p:sp>
        <p:nvSpPr>
          <p:cNvPr id="12" name="Shape 10"/>
          <p:cNvSpPr/>
          <p:nvPr/>
        </p:nvSpPr>
        <p:spPr>
          <a:xfrm>
            <a:off x="4572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obscenely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is shockingly large or extreme; far beyond what is normal.</a:t>
            </a:r>
            <a:endParaRPr lang="en-US" sz="1500" dirty="0"/>
          </a:p>
        </p:txBody>
      </p:sp>
      <p:sp>
        <p:nvSpPr>
          <p:cNvPr id="14" name="Shape 12"/>
          <p:cNvSpPr/>
          <p:nvPr/>
        </p:nvSpPr>
        <p:spPr>
          <a:xfrm>
            <a:off x="4572000" y="2231136"/>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5" name="Text 13"/>
          <p:cNvSpPr/>
          <p:nvPr/>
        </p:nvSpPr>
        <p:spPr>
          <a:xfrm>
            <a:off x="4709160" y="2286000"/>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proclaimed</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Announced something in a loud, official, or important way.</a:t>
            </a:r>
            <a:endParaRPr lang="en-US" sz="1500" dirty="0"/>
          </a:p>
        </p:txBody>
      </p:sp>
      <p:sp>
        <p:nvSpPr>
          <p:cNvPr id="16" name="Shape 14"/>
          <p:cNvSpPr/>
          <p:nvPr/>
        </p:nvSpPr>
        <p:spPr>
          <a:xfrm>
            <a:off x="457200" y="2843784"/>
            <a:ext cx="3840480" cy="502920"/>
          </a:xfrm>
          <a:prstGeom prst="roundRect">
            <a:avLst>
              <a:gd name="adj" fmla="val 18182"/>
            </a:avLst>
          </a:prstGeom>
          <a:solidFill>
            <a:srgbClr val="FEF6E8"/>
          </a:solidFill>
          <a:ln/>
          <a:effectLst>
            <a:outerShdw sx="100000" sy="100000" kx="0" ky="0" algn="bl" rotWithShape="0" blurRad="101600" dist="38100" dir="2700000">
              <a:srgbClr val="000000">
                <a:alpha val="12000"/>
              </a:srgbClr>
            </a:outerShdw>
          </a:effectLst>
        </p:spPr>
      </p:sp>
      <p:sp>
        <p:nvSpPr>
          <p:cNvPr id="17" name="Text 15"/>
          <p:cNvSpPr/>
          <p:nvPr/>
        </p:nvSpPr>
        <p:spPr>
          <a:xfrm>
            <a:off x="594360" y="2898648"/>
            <a:ext cx="3566160" cy="39319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ridiculously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In a way that seems silly or unbelievable; so much that it is hard to take seriously.</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He looked up at the 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 held it up 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princess she did not 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 rats they lived in darkness.</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Grammar: Pronouns: He, She, It, They — Answers</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7" name="Text 5"/>
          <p:cNvSpPr/>
          <p:nvPr/>
        </p:nvSpPr>
        <p:spPr>
          <a:xfrm>
            <a:off x="594360" y="1078992"/>
            <a:ext cx="7863840" cy="356616"/>
          </a:xfrm>
          <a:prstGeom prst="rect">
            <a:avLst/>
          </a:prstGeom>
          <a:noFill/>
          <a:ln/>
        </p:spPr>
        <p:txBody>
          <a:bodyPr wrap="square" lIns="0" tIns="0" rIns="0" bIns="0" rtlCol="0" anchor="ctr"/>
          <a:lstStyle/>
          <a:p>
            <a:pPr indent="0" marL="0">
              <a:buNone/>
            </a:pPr>
            <a:r>
              <a:rPr lang="en-US" sz="1500" b="1" u="sng" dirty="0">
                <a:solidFill>
                  <a:srgbClr val="34B76F"/>
                </a:solidFill>
                <a:latin typeface="Calibri" pitchFamily="34" charset="0"/>
                <a:ea typeface="Calibri" pitchFamily="34" charset="-122"/>
                <a:cs typeface="Calibri" pitchFamily="34" charset="-120"/>
              </a:rPr>
              <a: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looked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at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light.</a:t>
            </a:r>
            <a:endParaRPr lang="en-US" sz="1500" dirty="0"/>
          </a:p>
        </p:txBody>
      </p:sp>
      <p:sp>
        <p:nvSpPr>
          <p:cNvPr id="8" name="Shape 6"/>
          <p:cNvSpPr/>
          <p:nvPr/>
        </p:nvSpPr>
        <p:spPr>
          <a:xfrm>
            <a:off x="457200" y="160020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67335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Gregory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held</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it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up</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high.</a:t>
            </a:r>
            <a:endParaRPr lang="en-US" sz="1500" dirty="0"/>
          </a:p>
        </p:txBody>
      </p:sp>
      <p:sp>
        <p:nvSpPr>
          <p:cNvPr id="10" name="Shape 8"/>
          <p:cNvSpPr/>
          <p:nvPr/>
        </p:nvSpPr>
        <p:spPr>
          <a:xfrm>
            <a:off x="457200" y="219456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1" name="Text 9"/>
          <p:cNvSpPr/>
          <p:nvPr/>
        </p:nvSpPr>
        <p:spPr>
          <a:xfrm>
            <a:off x="594360" y="226771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princess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she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did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not</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know.</a:t>
            </a:r>
            <a:endParaRPr lang="en-US" sz="1500" dirty="0"/>
          </a:p>
        </p:txBody>
      </p:sp>
      <p:sp>
        <p:nvSpPr>
          <p:cNvPr id="12" name="Shape 10"/>
          <p:cNvSpPr/>
          <p:nvPr/>
        </p:nvSpPr>
        <p:spPr>
          <a:xfrm>
            <a:off x="457200" y="2788920"/>
            <a:ext cx="8229600" cy="502920"/>
          </a:xfrm>
          <a:prstGeom prst="roundRect">
            <a:avLst>
              <a:gd name="adj" fmla="val 18182"/>
            </a:avLst>
          </a:prstGeom>
          <a:solidFill>
            <a:srgbClr val="F8FAFC"/>
          </a:solidFill>
          <a:ln/>
          <a:effectLst>
            <a:outerShdw sx="100000" sy="100000" kx="0" ky="0" algn="bl" rotWithShape="0" blurRad="101600" dist="38100" dir="2700000">
              <a:srgbClr val="000000">
                <a:alpha val="12000"/>
              </a:srgbClr>
            </a:outerShdw>
          </a:effectLst>
        </p:spPr>
      </p:sp>
      <p:sp>
        <p:nvSpPr>
          <p:cNvPr id="13" name="Text 11"/>
          <p:cNvSpPr/>
          <p:nvPr/>
        </p:nvSpPr>
        <p:spPr>
          <a:xfrm>
            <a:off x="594360" y="2862072"/>
            <a:ext cx="7863840" cy="356616"/>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The</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rats</a:t>
            </a:r>
            <a:pPr indent="0" marL="0">
              <a:buNone/>
            </a:pPr>
            <a:r>
              <a:rPr lang="en-US" sz="1500" dirty="0">
                <a:solidFill>
                  <a:srgbClr val="000000"/>
                </a:solidFill>
              </a:rPr>
              <a:t> </a:t>
            </a:r>
            <a:pPr indent="0" marL="0">
              <a:buNone/>
            </a:pPr>
            <a:r>
              <a:rPr lang="en-US" sz="1500" b="1" u="sng" dirty="0">
                <a:solidFill>
                  <a:srgbClr val="34B76F"/>
                </a:solidFill>
                <a:latin typeface="Calibri" pitchFamily="34" charset="0"/>
                <a:ea typeface="Calibri" pitchFamily="34" charset="-122"/>
                <a:cs typeface="Calibri" pitchFamily="34" charset="-120"/>
              </a:rPr>
              <a:t>they</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lived</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in</a:t>
            </a:r>
            <a:pPr indent="0" marL="0">
              <a:buNone/>
            </a:pPr>
            <a:r>
              <a:rPr lang="en-US" sz="1500" dirty="0">
                <a:solidFill>
                  <a:srgbClr val="000000"/>
                </a:solidFill>
              </a:rPr>
              <a:t> </a:t>
            </a:r>
            <a:pPr indent="0" marL="0">
              <a:buNone/>
            </a:pPr>
            <a:r>
              <a:rPr lang="en-US" sz="1500" dirty="0">
                <a:solidFill>
                  <a:srgbClr val="1E293B"/>
                </a:solidFill>
                <a:latin typeface="Calibri" pitchFamily="34" charset="0"/>
                <a:ea typeface="Calibri" pitchFamily="34" charset="-122"/>
                <a:cs typeface="Calibri" pitchFamily="34" charset="-120"/>
              </a:rPr>
              <a:t>darkness.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shining     staring     named     waved     snapped     stopped     wrapped     nodding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"au" vs. "aw" — Sorted</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Shape 2"/>
          <p:cNvSpPr/>
          <p:nvPr/>
        </p:nvSpPr>
        <p:spPr>
          <a:xfrm>
            <a:off x="6492240" y="173736"/>
            <a:ext cx="2286000" cy="502920"/>
          </a:xfrm>
          <a:prstGeom prst="roundRect">
            <a:avLst>
              <a:gd name="adj" fmla="val 21818"/>
            </a:avLst>
          </a:prstGeom>
          <a:solidFill>
            <a:srgbClr val="8B6FC0"/>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"aw"</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shining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staring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named</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waved</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Spelled with "au"</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snapped</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stopped</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wrapped</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nodding</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What does Roscuro believe?</a:t>
            </a:r>
            <a:endParaRPr lang="en-US" sz="1400" dirty="0"/>
          </a:p>
        </p:txBody>
      </p:sp>
      <p:sp>
        <p:nvSpPr>
          <p:cNvPr id="6" name="Text 4"/>
          <p:cNvSpPr/>
          <p:nvPr/>
        </p:nvSpPr>
        <p:spPr>
          <a:xfrm>
            <a:off x="640080" y="196596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How do their different beliefs lead to different choices?</a:t>
            </a:r>
            <a:endParaRPr lang="en-US" sz="1400" dirty="0"/>
          </a:p>
        </p:txBody>
      </p:sp>
      <p:sp>
        <p:nvSpPr>
          <p:cNvPr id="7" name="Text 5"/>
          <p:cNvSpPr/>
          <p:nvPr/>
        </p:nvSpPr>
        <p:spPr>
          <a:xfrm>
            <a:off x="457200" y="26060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8" name="Shape 6"/>
          <p:cNvSpPr/>
          <p:nvPr/>
        </p:nvSpPr>
        <p:spPr>
          <a:xfrm>
            <a:off x="457200" y="292608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9" name="Text 7"/>
          <p:cNvSpPr/>
          <p:nvPr/>
        </p:nvSpPr>
        <p:spPr>
          <a:xfrm>
            <a:off x="640080" y="303580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story of Despereaux Tilling is complete. He was small. He was brave. He was different. And in the end, he was exactly right. Thank you, reader, for walking through the dark with him.</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 · Write · Mimic</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Shape 2"/>
          <p:cNvSpPr/>
          <p:nvPr/>
        </p:nvSpPr>
        <p:spPr>
          <a:xfrm>
            <a:off x="457200" y="91440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02412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“Because that is what love does.”</a:t>
            </a:r>
            <a:endParaRPr lang="en-US" sz="1800" dirty="0"/>
          </a:p>
        </p:txBody>
      </p:sp>
      <p:sp>
        <p:nvSpPr>
          <p:cNvPr id="6" name="Shape 4"/>
          <p:cNvSpPr/>
          <p:nvPr/>
        </p:nvSpPr>
        <p:spPr>
          <a:xfrm>
            <a:off x="457200" y="1645920"/>
            <a:ext cx="8229600" cy="594360"/>
          </a:xfrm>
          <a:prstGeom prst="roundRect">
            <a:avLst>
              <a:gd name="adj" fmla="val 15385"/>
            </a:avLst>
          </a:prstGeom>
          <a:solidFill>
            <a:srgbClr val="E5F7FC"/>
          </a:solidFill>
          <a:ln/>
          <a:effectLst>
            <a:outerShdw sx="100000" sy="100000" kx="0" ky="0" algn="bl" rotWithShape="0" blurRad="101600" dist="38100" dir="2700000">
              <a:srgbClr val="000000">
                <a:alpha val="12000"/>
              </a:srgbClr>
            </a:outerShdw>
          </a:effectLst>
        </p:spPr>
      </p:sp>
      <p:sp>
        <p:nvSpPr>
          <p:cNvPr id="7" name="Text 5"/>
          <p:cNvSpPr/>
          <p:nvPr/>
        </p:nvSpPr>
        <p:spPr>
          <a:xfrm>
            <a:off x="640080" y="1691640"/>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Reader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Looking back across the whole book: what did love actually  do ? Give one example each for Despereaux, Roscuro, and Mig. Was love always a good thing?</a:t>
            </a:r>
            <a:endParaRPr lang="en-US" sz="1400" dirty="0"/>
          </a:p>
        </p:txBody>
      </p:sp>
      <p:sp>
        <p:nvSpPr>
          <p:cNvPr id="8" name="Shape 6"/>
          <p:cNvSpPr/>
          <p:nvPr/>
        </p:nvSpPr>
        <p:spPr>
          <a:xfrm>
            <a:off x="457200" y="2304288"/>
            <a:ext cx="8229600" cy="594360"/>
          </a:xfrm>
          <a:prstGeom prst="roundRect">
            <a:avLst>
              <a:gd name="adj" fmla="val 15385"/>
            </a:avLst>
          </a:prstGeom>
          <a:solidFill>
            <a:srgbClr val="F0E8FF"/>
          </a:solidFill>
          <a:ln/>
          <a:effectLst>
            <a:outerShdw sx="100000" sy="100000" kx="0" ky="0" algn="bl" rotWithShape="0" blurRad="101600" dist="38100" dir="2700000">
              <a:srgbClr val="000000">
                <a:alpha val="12000"/>
              </a:srgbClr>
            </a:outerShdw>
          </a:effectLst>
        </p:spPr>
      </p:sp>
      <p:sp>
        <p:nvSpPr>
          <p:cNvPr id="9" name="Text 7"/>
          <p:cNvSpPr/>
          <p:nvPr/>
        </p:nvSpPr>
        <p:spPr>
          <a:xfrm>
            <a:off x="640080" y="2350008"/>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Read like a Writer</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This sentence starts with  “Because”  and stands almost alone — it answers a question we didn't ask out loud. How does it manage to feel like a complete thought even though it's technically just a fragment?</a:t>
            </a:r>
            <a:endParaRPr lang="en-US" sz="1400" dirty="0"/>
          </a:p>
        </p:txBody>
      </p:sp>
      <p:sp>
        <p:nvSpPr>
          <p:cNvPr id="10" name="Shape 8"/>
          <p:cNvSpPr/>
          <p:nvPr/>
        </p:nvSpPr>
        <p:spPr>
          <a:xfrm>
            <a:off x="457200" y="2962656"/>
            <a:ext cx="8229600" cy="594360"/>
          </a:xfrm>
          <a:prstGeom prst="roundRect">
            <a:avLst>
              <a:gd name="adj" fmla="val 15385"/>
            </a:avLst>
          </a:prstGeom>
          <a:solidFill>
            <a:srgbClr val="E8F8EF"/>
          </a:solidFill>
          <a:ln/>
          <a:effectLst>
            <a:outerShdw sx="100000" sy="100000" kx="0" ky="0" algn="bl" rotWithShape="0" blurRad="101600" dist="38100" dir="2700000">
              <a:srgbClr val="000000">
                <a:alpha val="12000"/>
              </a:srgbClr>
            </a:outerShdw>
          </a:effectLst>
        </p:spPr>
      </p:sp>
      <p:sp>
        <p:nvSpPr>
          <p:cNvPr id="11" name="Text 9"/>
          <p:cNvSpPr/>
          <p:nvPr/>
        </p:nvSpPr>
        <p:spPr>
          <a:xfrm>
            <a:off x="640080" y="3008376"/>
            <a:ext cx="7863840" cy="50292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 🖊️ Mimic</a:t>
            </a:r>
            <a:pPr indent="0" marL="0">
              <a:buNone/>
            </a:pPr>
            <a:endParaRPr lang="en-US" sz="1400" dirty="0"/>
          </a:p>
          <a:p>
            <a:pPr indent="0" marL="0">
              <a:buNone/>
            </a:pPr>
            <a:r>
              <a:rPr lang="en-US" sz="1200" dirty="0">
                <a:solidFill>
                  <a:srgbClr val="1E293B"/>
                </a:solidFill>
                <a:latin typeface="Calibri" pitchFamily="34" charset="0"/>
                <a:ea typeface="Calibri" pitchFamily="34" charset="-122"/>
                <a:cs typeface="Calibri" pitchFamily="34" charset="-120"/>
              </a:rPr>
              <a:t>Write your own final-page-style sentence that explains why something matters, starting with “Because.”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