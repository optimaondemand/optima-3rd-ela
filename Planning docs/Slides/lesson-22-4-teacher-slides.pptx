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We've read, written, discussed, and performed. Today we celebrate and publish.
TODAY: Celebration and reflection — carry the book with you.
BIG Q: What will you remember most about The Whipping Boy — a scene, a character moment, or a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"jemmy let out a laugh that bounced off the stone walls"
Corrected: "Jemmy let out a laugh that bounced off the stone walls."
Errors: Capital J on Jemmy; period at the end. Narration — no quotation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"jemmy let out a laugh that bounced off the stone walls"
Corrected: "Jemmy let out a laugh that bounced off the stone walls."
Errors: Capital J on Jemmy; period at the end. Narration — no quotation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transport — carry across | respect — look at with admiration | expect — look forward to | report — carry back; give an account | Take a moment toreflect — on which character changed most from the beginning to the end. | Finishing a whole book together is worth stopping tocelebrate —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reflect: To think carefully and deeply about something you've experienced. | celebrate: To honor something with joy; to mark an achievement. | novel: A long work of fiction with characters, plot, and theme. | memorable: Worth remembering; leaving a lasting impression.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"He was placed [under the prince's protection]." → under the prince's protection | "Jemmy laughed [for the first time in years]." → for the first time in years | "The king smiled, [and] the whole court relaxed." → and | "Prince Brat stood tall, [but] his heart was kind now."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"He was placed [under the prince's protection]." → under the prince's protection | "Jemmy laughed [for the first time in years]." → for the first time in years | "The king smiled, [and] the whole court relaxed." → and | "Prince Brat stood tall, [but] his heart was kind now."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4 or more syllables: exasperation | 3 syllables: mulishness, bewildered, instinct, merriment,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4 or more syllables: exasperation | 3 syllables: mulishness, bewildered, instinct, merriment,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When The Whipping Boy sees Jeremy tangled in string and the cat coming, she could have run. She stays and unties him instead. Later, Nicodemus and the rats agree to move her cinderblock house — a dangerous, hours-long job — because she asked for help.
Which character changed the most — Jemmy or Prince Brat? What is your best evidence?
If you could tell Sid Fleischman one thing about reading The Whipping Boy, what would it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"Some stories end. Some stories only seem to."
Craft: two-sentence contrast — parallel structure with a twist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Compare &amp; Present
Focus: Compare Jemmy and Prince Brat. How did each change? What does Fleischman want us to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22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22  ·  Virtue: Gratitude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We've read, written, discussed, and performed. Today we celebrate and publish.</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Celebration and reflection — carry the book with you.</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What will you remember most about The Whipping Boy — a scene, a character moment, or a line?</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carry a book with them even after they close the cover. Today we celebrate what we've read, share our think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king broke into a smile you could warm your hands over.</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let out a laugh that bounced off the stone walls</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J on Jemmy; period at the end. Narration — no quotation marks.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let out a laugh that bounced off the stone walls</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J on Jemmy; period at the end. Narration — no quotation marks.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Jemmy let out a laugh that bounced off the stone walls.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Review</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transport — carry across</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respect — look at with admiration</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expect — look forward to</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report — carry back; give an account</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reflect   ·   celebrate   ·   novel   ·   memorable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reflect</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think carefully and deeply about something you've experienced.</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celebrate</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honor something with joy; to mark an achievement.</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novel</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long work of fiction with characters, plot, and theme.</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memorable</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Worth remembering; leaving a lasting impression.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Grammar Celebration: You Choose!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was placed _____.</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laughed _____.</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smiled, _____ the whole court relaxed.</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Prince Brat stood tall, _____ his heart was kind now.</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Grammar Celebration: You Choose!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was placed </a:t>
            </a:r>
            <a:pPr indent="0" marL="0">
              <a:buNone/>
            </a:pPr>
            <a:r>
              <a:rPr lang="en-US" sz="1500" b="1" u="sng" dirty="0">
                <a:solidFill>
                  <a:srgbClr val="34B76F"/>
                </a:solidFill>
                <a:latin typeface="Calibri" pitchFamily="34" charset="0"/>
                <a:ea typeface="Calibri" pitchFamily="34" charset="-122"/>
                <a:cs typeface="Calibri" pitchFamily="34" charset="-120"/>
              </a:rPr>
              <a:t>under the prince's protection</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laughed </a:t>
            </a:r>
            <a:pPr indent="0" marL="0">
              <a:buNone/>
            </a:pPr>
            <a:r>
              <a:rPr lang="en-US" sz="1500" b="1" u="sng" dirty="0">
                <a:solidFill>
                  <a:srgbClr val="34B76F"/>
                </a:solidFill>
                <a:latin typeface="Calibri" pitchFamily="34" charset="0"/>
                <a:ea typeface="Calibri" pitchFamily="34" charset="-122"/>
                <a:cs typeface="Calibri" pitchFamily="34" charset="-120"/>
              </a:rPr>
              <a:t>for the first time in years</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smiled,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the whole court relaxed.</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Prince Brat stood tall,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his heart was kind now.</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Multisyllabic Decoding — Unit Celebration Sort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exasperation   ·   mulishness   ·   bewildered   ·   instinct   ·   merriment   ·   protection</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4 or more syllables</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3 syllables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Multisyllabic Decoding — Unit Celebration Sort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005840"/>
          </a:xfrm>
          <a:prstGeom prst="roundRect">
            <a:avLst>
              <a:gd name="adj" fmla="val 9091"/>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4 or more syllables</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exasperation</a:t>
            </a:r>
            <a:endParaRPr lang="en-US" sz="1400" dirty="0"/>
          </a:p>
        </p:txBody>
      </p:sp>
      <p:sp>
        <p:nvSpPr>
          <p:cNvPr id="10" name="Shape 8"/>
          <p:cNvSpPr/>
          <p:nvPr/>
        </p:nvSpPr>
        <p:spPr>
          <a:xfrm>
            <a:off x="4709160" y="1024128"/>
            <a:ext cx="4114800" cy="2121408"/>
          </a:xfrm>
          <a:prstGeom prst="roundRect">
            <a:avLst>
              <a:gd name="adj" fmla="val 43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1" name="Text 9"/>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3 syllables</a:t>
            </a:r>
            <a:endParaRPr lang="en-US" sz="1200" dirty="0"/>
          </a:p>
        </p:txBody>
      </p:sp>
      <p:sp>
        <p:nvSpPr>
          <p:cNvPr id="12" name="Text 10"/>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mulishness</a:t>
            </a:r>
            <a:endParaRPr lang="en-US" sz="1400" dirty="0"/>
          </a:p>
        </p:txBody>
      </p:sp>
      <p:sp>
        <p:nvSpPr>
          <p:cNvPr id="13" name="Text 11"/>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bewildered</a:t>
            </a:r>
            <a:endParaRPr lang="en-US" sz="1400" dirty="0"/>
          </a:p>
        </p:txBody>
      </p:sp>
      <p:sp>
        <p:nvSpPr>
          <p:cNvPr id="14" name="Text 12"/>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instinct</a:t>
            </a:r>
            <a:endParaRPr lang="en-US" sz="1400" dirty="0"/>
          </a:p>
        </p:txBody>
      </p:sp>
      <p:sp>
        <p:nvSpPr>
          <p:cNvPr id="15" name="Text 13"/>
          <p:cNvSpPr/>
          <p:nvPr/>
        </p:nvSpPr>
        <p:spPr>
          <a:xfrm>
            <a:off x="49377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merriment</a:t>
            </a:r>
            <a:endParaRPr lang="en-US" sz="1400" dirty="0"/>
          </a:p>
        </p:txBody>
      </p:sp>
      <p:sp>
        <p:nvSpPr>
          <p:cNvPr id="16" name="Text 14"/>
          <p:cNvSpPr/>
          <p:nvPr/>
        </p:nvSpPr>
        <p:spPr>
          <a:xfrm>
            <a:off x="4937760" y="2852928"/>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protection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Today's Chapters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Which character changed the most — Jemmy or Prince Brat? What is your best evidence?</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If you could tell Sid Fleischman one thing about reading The Whipping Boy, what would it be?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"Some stories end. Some stories only seem to."</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two-sentence contrast — parallel structure with a twist</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22</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Compare &amp; Present</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Compare Jemmy and Prince Brat. How did each change? What does Fleischman want us to understand?</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"At the beginning, ___ is ___. By the end, ___ is ___. Fleischman teaches us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