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for Week 18 Day 4. The Whipping Boy.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prompt aloud once. Give students about 1 minute to read it again silently and think. Remind them: there is no wrong answer — just write what comes to mind. Advance to the writing slide when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5-minute timer. Walk the room quietly. If a student stops, gently encourage them: "Keep writing — even one more sentence." The goal is sustained writing, not perfection. Do not interrupt to correct spelling or grammar during this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1-minute timer. Remind students: we are only fixing ONE thing today — Did I include what I learned from the experience?. They should also do a quick conventions check (capitals, punctuation, spelling). They do NOT need to rewrite — just fix and improve. Revision = improving ideas; Editing = fixing conventions. Keep them separate in your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3-5 students to share. Respond with genuine interest: "I love how you described that" or "That's a really interesting idea." Avoid correcting grammar or spelling during share time — this is about celebrating writing. If time is short, have 2-3 students share in chat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the big question and reading lens with students before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model sentence aloud. Ask students: what do you notice about the punctuation and capitalization?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1-2 minutes to fix the sentence. Walk the room and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corrected version. Point out each fix: capitalization, punctuation, spelling.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morphology focus. Have students identify the base word and affix in each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vocabulary word. For flip cards, have students guess the definition before revealing.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identify the correct answer before revealing. Use chat or cold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answers. Discuss WHY each answer is correct — what rule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sort the words. Use the chat or paper to organize.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each column. Ask: what pattern do you see in each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focus slide. Use pause-and-think questions during reading. Copywork can be done after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RWM: Read the mentor sentence. Discuss as a Reader (what happens?), Writer (what craft did the author use?), then Mimic (write your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the writing workshop assignment in Canvas.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B4513"/>
        </a:solidFill>
      </p:bgPr>
    </p:bg>
    <p:spTree>
      <p:nvGrpSpPr>
        <p:cNvPr id="1" name=""/>
        <p:cNvGrpSpPr/>
        <p:nvPr/>
      </p:nvGrpSpPr>
      <p:grpSpPr>
        <a:xfrm>
          <a:off x="0" y="0"/>
          <a:ext cx="0" cy="0"/>
          <a:chOff x="0" y="0"/>
          <a:chExt cx="0" cy="0"/>
        </a:xfrm>
      </p:grpSpPr>
      <p:sp>
        <p:nvSpPr>
          <p:cNvPr id="2" name="Text 0"/>
          <p:cNvSpPr/>
          <p:nvPr/>
        </p:nvSpPr>
        <p:spPr>
          <a:xfrm>
            <a:off x="457200" y="914400"/>
            <a:ext cx="8229600" cy="1097280"/>
          </a:xfrm>
          <a:prstGeom prst="rect">
            <a:avLst/>
          </a:prstGeom>
          <a:no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  Week 18 · Day 4</a:t>
            </a:r>
            <a:endParaRPr lang="en-US" sz="4000" dirty="0"/>
          </a:p>
        </p:txBody>
      </p:sp>
      <p:sp>
        <p:nvSpPr>
          <p:cNvPr id="3" name="Text 1"/>
          <p:cNvSpPr/>
          <p:nvPr/>
        </p:nvSpPr>
        <p:spPr>
          <a:xfrm>
            <a:off x="457200" y="2103120"/>
            <a:ext cx="8229600" cy="731520"/>
          </a:xfrm>
          <a:prstGeom prst="rect">
            <a:avLst/>
          </a:prstGeom>
          <a:noFill/>
          <a:ln/>
        </p:spPr>
        <p:txBody>
          <a:bodyPr wrap="square" lIns="0" tIns="0" rIns="0" bIns="0" rtlCol="0" anchor="ctr"/>
          <a:lstStyle/>
          <a:p>
            <a:pPr algn="ctr" indent="0" marL="0">
              <a:buNone/>
            </a:pPr>
            <a:r>
              <a:rPr lang="en-US" sz="1800" dirty="0">
                <a:solidFill>
                  <a:srgbClr val="D2691E"/>
                </a:solidFill>
                <a:latin typeface="Calibri" pitchFamily="34" charset="0"/>
                <a:ea typeface="Calibri" pitchFamily="34" charset="-122"/>
                <a:cs typeface="Calibri" pitchFamily="34" charset="-120"/>
              </a:rPr>
              <a:t>The Whipping Boy — Lesson 18.4</a:t>
            </a:r>
            <a:endParaRPr lang="en-US" sz="1800" dirty="0"/>
          </a:p>
        </p:txBody>
      </p:sp>
      <p:sp>
        <p:nvSpPr>
          <p:cNvPr id="4" name="Text 2"/>
          <p:cNvSpPr/>
          <p:nvPr/>
        </p:nvSpPr>
        <p:spPr>
          <a:xfrm>
            <a:off x="457200" y="4114800"/>
            <a:ext cx="8229600" cy="457200"/>
          </a:xfrm>
          <a:prstGeom prst="rect">
            <a:avLst/>
          </a:prstGeom>
          <a:noFill/>
          <a:ln/>
        </p:spPr>
        <p:txBody>
          <a:bodyPr wrap="square" lIns="0" tIns="0" rIns="0" bIns="0" rtlCol="0" anchor="ctr"/>
          <a:lstStyle/>
          <a:p>
            <a:pPr algn="ctr" indent="0" marL="0">
              <a:buNone/>
            </a:pPr>
            <a:r>
              <a:rPr lang="en-US" sz="1300" dirty="0">
                <a:solidFill>
                  <a:srgbClr val="AAAAAA"/>
                </a:solidFill>
                <a:latin typeface="Calibri" pitchFamily="34" charset="0"/>
                <a:ea typeface="Calibri" pitchFamily="34" charset="-122"/>
                <a:cs typeface="Calibri" pitchFamily="34" charset="-120"/>
              </a:rPr>
              <a:t>Optima Academy Online · 3rd Grade ELA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10-Minute Write</a:t>
            </a:r>
            <a:endParaRPr lang="en-US" sz="28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 READ THE PROMPT — 1 MINUTE</a:t>
            </a:r>
            <a:endParaRPr lang="en-US" sz="1100" dirty="0"/>
          </a:p>
        </p:txBody>
      </p:sp>
      <p:sp>
        <p:nvSpPr>
          <p:cNvPr id="5" name="Shape 3"/>
          <p:cNvSpPr/>
          <p:nvPr/>
        </p:nvSpPr>
        <p:spPr>
          <a:xfrm>
            <a:off x="457200" y="1417320"/>
            <a:ext cx="8229600" cy="1645920"/>
          </a:xfrm>
          <a:prstGeom prst="roundRect">
            <a:avLst>
              <a:gd name="adj" fmla="val 555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640080" y="1527048"/>
            <a:ext cx="7863840" cy="141732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Jemmy and Prince Brat run away together, even though they do not really like each other. Write about a time you had to work with or spend time with someone you did not get along with. What happened?</a:t>
            </a:r>
            <a:endParaRPr lang="en-US" sz="1800" dirty="0"/>
          </a:p>
        </p:txBody>
      </p:sp>
      <p:sp>
        <p:nvSpPr>
          <p:cNvPr id="7" name="Text 5"/>
          <p:cNvSpPr/>
          <p:nvPr/>
        </p:nvSpPr>
        <p:spPr>
          <a:xfrm>
            <a:off x="640080" y="3246120"/>
            <a:ext cx="7863840" cy="457200"/>
          </a:xfrm>
          <a:prstGeom prst="rect">
            <a:avLst/>
          </a:prstGeom>
          <a:noFill/>
          <a:ln/>
        </p:spPr>
        <p:txBody>
          <a:bodyPr wrap="square" lIns="0" tIns="0" rIns="0" bIns="0" rtlCol="0" anchor="ctr"/>
          <a:lstStyle/>
          <a:p>
            <a:pPr indent="0" marL="0">
              <a:buNone/>
            </a:pPr>
            <a:r>
              <a:rPr lang="en-US" sz="1400" b="1" dirty="0">
                <a:solidFill>
                  <a:srgbClr val="0E1C42"/>
                </a:solidFill>
                <a:latin typeface="Calibri" pitchFamily="34" charset="0"/>
                <a:ea typeface="Calibri" pitchFamily="34" charset="-122"/>
                <a:cs typeface="Calibri" pitchFamily="34" charset="-120"/>
              </a:rPr>
              <a:t>Type in the chat </a:t>
            </a:r>
            <a:pPr indent="0" marL="0">
              <a:buNone/>
            </a:pPr>
            <a:r>
              <a:rPr lang="en-US" sz="1400" dirty="0">
                <a:solidFill>
                  <a:srgbClr val="1E293B"/>
                </a:solidFill>
                <a:latin typeface="Calibri" pitchFamily="34" charset="0"/>
                <a:ea typeface="Calibri" pitchFamily="34" charset="-122"/>
                <a:cs typeface="Calibri" pitchFamily="34" charset="-120"/>
              </a:rPr>
              <a:t>or </a:t>
            </a:r>
            <a:pPr indent="0" marL="0">
              <a:buNone/>
            </a:pPr>
            <a:r>
              <a:rPr lang="en-US" sz="1400" b="1" dirty="0">
                <a:solidFill>
                  <a:srgbClr val="0E1C42"/>
                </a:solidFill>
                <a:latin typeface="Calibri" pitchFamily="34" charset="0"/>
                <a:ea typeface="Calibri" pitchFamily="34" charset="-122"/>
                <a:cs typeface="Calibri" pitchFamily="34" charset="-120"/>
              </a:rPr>
              <a:t>write on paper</a:t>
            </a:r>
            <a:pPr indent="0" marL="0">
              <a:buNone/>
            </a:pPr>
            <a:r>
              <a:rPr lang="en-US" sz="1400" dirty="0">
                <a:solidFill>
                  <a:srgbClr val="1E293B"/>
                </a:solidFill>
                <a:latin typeface="Calibri" pitchFamily="34" charset="0"/>
                <a:ea typeface="Calibri" pitchFamily="34" charset="-122"/>
                <a:cs typeface="Calibri" pitchFamily="34" charset="-120"/>
              </a:rPr>
              <a:t> to hold up when we share.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EF6E8"/>
        </a:solidFill>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  Writing Time</a:t>
            </a:r>
            <a:endParaRPr lang="en-US" sz="3200" dirty="0"/>
          </a:p>
        </p:txBody>
      </p:sp>
      <p:sp>
        <p:nvSpPr>
          <p:cNvPr id="3" name="Text 1"/>
          <p:cNvSpPr/>
          <p:nvPr/>
        </p:nvSpPr>
        <p:spPr>
          <a:xfrm>
            <a:off x="914400" y="822960"/>
            <a:ext cx="7315200" cy="365760"/>
          </a:xfrm>
          <a:prstGeom prst="rect">
            <a:avLst/>
          </a:prstGeom>
          <a:noFill/>
          <a:ln/>
        </p:spPr>
        <p:txBody>
          <a:bodyPr wrap="square" lIns="0" tIns="0" rIns="0" bIns="0" rtlCol="0" anchor="ctr"/>
          <a:lstStyle/>
          <a:p>
            <a:pPr algn="ctr" indent="0" marL="0">
              <a:buNone/>
            </a:pPr>
            <a:r>
              <a:rPr lang="en-US" sz="1600" dirty="0">
                <a:solidFill>
                  <a:srgbClr val="C7922C"/>
                </a:solidFill>
                <a:latin typeface="Calibri" pitchFamily="34" charset="0"/>
                <a:ea typeface="Calibri" pitchFamily="34" charset="-122"/>
                <a:cs typeface="Calibri" pitchFamily="34" charset="-120"/>
              </a:rPr>
              <a:t>5 minutes — keep your pencil moving!</a:t>
            </a:r>
            <a:endParaRPr lang="en-US" sz="1600" dirty="0"/>
          </a:p>
        </p:txBody>
      </p:sp>
      <p:sp>
        <p:nvSpPr>
          <p:cNvPr id="4" name="Shape 2"/>
          <p:cNvSpPr/>
          <p:nvPr/>
        </p:nvSpPr>
        <p:spPr>
          <a:xfrm>
            <a:off x="457200" y="1371600"/>
            <a:ext cx="8229600" cy="1280160"/>
          </a:xfrm>
          <a:prstGeom prst="roundRect">
            <a:avLst>
              <a:gd name="adj" fmla="val 7143"/>
            </a:avLst>
          </a:prstGeom>
          <a:solidFill>
            <a:srgbClr val="FFFFFF"/>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417320"/>
            <a:ext cx="7863840" cy="1188720"/>
          </a:xfrm>
          <a:prstGeom prst="rect">
            <a:avLst/>
          </a:prstGeom>
          <a:noFill/>
          <a:ln/>
        </p:spPr>
        <p:txBody>
          <a:bodyPr wrap="square" lIns="0" tIns="0" rIns="0" bIns="0" rtlCol="0" anchor="t"/>
          <a:lstStyle/>
          <a:p>
            <a:pPr indent="0" marL="0">
              <a:buNone/>
            </a:pPr>
            <a:r>
              <a:rPr lang="en-US" sz="1200" b="1" dirty="0">
                <a:solidFill>
                  <a:srgbClr val="C7922C"/>
                </a:solidFill>
                <a:latin typeface="Calibri" pitchFamily="34" charset="0"/>
                <a:ea typeface="Calibri" pitchFamily="34" charset="-122"/>
                <a:cs typeface="Calibri" pitchFamily="34" charset="-120"/>
              </a:rPr>
              <a:t>📖 Prompt: </a:t>
            </a:r>
            <a:pPr indent="0" marL="0">
              <a:buNone/>
            </a:pPr>
            <a:r>
              <a:rPr lang="en-US" sz="1200" i="1" dirty="0">
                <a:solidFill>
                  <a:srgbClr val="1E293B"/>
                </a:solidFill>
                <a:latin typeface="Calibri" pitchFamily="34" charset="0"/>
                <a:ea typeface="Calibri" pitchFamily="34" charset="-122"/>
                <a:cs typeface="Calibri" pitchFamily="34" charset="-120"/>
              </a:rPr>
              <a:t>Jemmy and Prince Brat run away together, even though they do not really like each other. Write about a time you had to work with or spend time with someone you did not get along with. What happened?</a:t>
            </a:r>
            <a:endParaRPr lang="en-US" sz="1200" dirty="0"/>
          </a:p>
        </p:txBody>
      </p:sp>
      <p:sp>
        <p:nvSpPr>
          <p:cNvPr id="6" name="Shape 4"/>
          <p:cNvSpPr/>
          <p:nvPr/>
        </p:nvSpPr>
        <p:spPr>
          <a:xfrm>
            <a:off x="2286000" y="2926080"/>
            <a:ext cx="4572000" cy="1280160"/>
          </a:xfrm>
          <a:prstGeom prst="roundRect">
            <a:avLst>
              <a:gd name="adj" fmla="val 8571"/>
            </a:avLst>
          </a:prstGeom>
          <a:solidFill>
            <a:srgbClr val="FFFFFF"/>
          </a:solidFill>
          <a:ln/>
          <a:effectLst>
            <a:outerShdw sx="100000" sy="100000" kx="0" ky="0" algn="bl" rotWithShape="0" blurRad="101600" dist="38100" dir="2700000">
              <a:srgbClr val="000000">
                <a:alpha val="12000"/>
              </a:srgbClr>
            </a:outerShdw>
          </a:effectLst>
        </p:spPr>
      </p:sp>
      <p:sp>
        <p:nvSpPr>
          <p:cNvPr id="7" name="Text 5"/>
          <p:cNvSpPr/>
          <p:nvPr/>
        </p:nvSpPr>
        <p:spPr>
          <a:xfrm>
            <a:off x="2468880" y="3017520"/>
            <a:ext cx="4206240" cy="109728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If you get stuck:
</a:t>
            </a:r>
            <a:pPr indent="0" marL="0">
              <a:buNone/>
            </a:pPr>
            <a:r>
              <a:rPr lang="en-US" sz="1300" dirty="0">
                <a:solidFill>
                  <a:srgbClr val="1E293B"/>
                </a:solidFill>
                <a:latin typeface="Calibri" pitchFamily="34" charset="0"/>
                <a:ea typeface="Calibri" pitchFamily="34" charset="-122"/>
                <a:cs typeface="Calibri" pitchFamily="34" charset="-120"/>
              </a:rPr>
              <a:t>• Reread the prompt above
</a:t>
            </a:r>
            <a:pPr indent="0" marL="0">
              <a:buNone/>
            </a:pPr>
            <a:r>
              <a:rPr lang="en-US" sz="1300" dirty="0">
                <a:solidFill>
                  <a:srgbClr val="1E293B"/>
                </a:solidFill>
                <a:latin typeface="Calibri" pitchFamily="34" charset="0"/>
                <a:ea typeface="Calibri" pitchFamily="34" charset="-122"/>
                <a:cs typeface="Calibri" pitchFamily="34" charset="-120"/>
              </a:rPr>
              <a:t>• Write "I'm thinking..." until a new idea comes
</a:t>
            </a:r>
            <a:pPr indent="0" marL="0">
              <a:buNone/>
            </a:pPr>
            <a:r>
              <a:rPr lang="en-US" sz="1300" dirty="0">
                <a:solidFill>
                  <a:srgbClr val="1E293B"/>
                </a:solidFill>
                <a:latin typeface="Calibri" pitchFamily="34" charset="0"/>
                <a:ea typeface="Calibri" pitchFamily="34" charset="-122"/>
                <a:cs typeface="Calibri" pitchFamily="34" charset="-120"/>
              </a:rPr>
              <a:t>• Keep going — don't erase!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F8EF"/>
        </a:solidFill>
      </p:bgPr>
    </p:bg>
    <p:spTree>
      <p:nvGrpSpPr>
        <p:cNvPr id="1" name=""/>
        <p:cNvGrpSpPr/>
        <p:nvPr/>
      </p:nvGrpSpPr>
      <p:grpSpPr>
        <a:xfrm>
          <a:off x="0" y="0"/>
          <a:ext cx="0" cy="0"/>
          <a:chOff x="0" y="0"/>
          <a:chExt cx="0" cy="0"/>
        </a:xfrm>
      </p:grpSpPr>
      <p:sp>
        <p:nvSpPr>
          <p:cNvPr id="2" name="Text 0"/>
          <p:cNvSpPr/>
          <p:nvPr/>
        </p:nvSpPr>
        <p:spPr>
          <a:xfrm>
            <a:off x="3657600" y="365760"/>
            <a:ext cx="1828800" cy="640080"/>
          </a:xfrm>
          <a:prstGeom prst="rect">
            <a:avLst/>
          </a:prstGeom>
          <a:noFill/>
          <a:ln/>
        </p:spPr>
        <p:txBody>
          <a:bodyPr wrap="square" lIns="0" tIns="0" rIns="0" bIns="0" rtlCol="0" anchor="ctr"/>
          <a:lstStyle/>
          <a:p>
            <a:pPr algn="ctr" indent="0" marL="0">
              <a:buNone/>
            </a:pPr>
            <a:r>
              <a:rPr lang="en-US" sz="4000" dirty="0">
                <a:solidFill>
                  <a:srgbClr val="000000"/>
                </a:solidFill>
              </a:rPr>
              <a:t>🔍</a:t>
            </a:r>
            <a:endParaRPr lang="en-US" sz="4000" dirty="0"/>
          </a:p>
        </p:txBody>
      </p:sp>
      <p:sp>
        <p:nvSpPr>
          <p:cNvPr id="3" name="Text 1"/>
          <p:cNvSpPr/>
          <p:nvPr/>
        </p:nvSpPr>
        <p:spPr>
          <a:xfrm>
            <a:off x="914400" y="914400"/>
            <a:ext cx="73152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Edit &amp; Revise</a:t>
            </a:r>
            <a:endParaRPr lang="en-US" sz="3200" dirty="0"/>
          </a:p>
        </p:txBody>
      </p:sp>
      <p:sp>
        <p:nvSpPr>
          <p:cNvPr id="4" name="Text 2"/>
          <p:cNvSpPr/>
          <p:nvPr/>
        </p:nvSpPr>
        <p:spPr>
          <a:xfrm>
            <a:off x="914400" y="1508760"/>
            <a:ext cx="7315200" cy="457200"/>
          </a:xfrm>
          <a:prstGeom prst="rect">
            <a:avLst/>
          </a:prstGeom>
          <a:noFill/>
          <a:ln/>
        </p:spPr>
        <p:txBody>
          <a:bodyPr wrap="square" lIns="0" tIns="0" rIns="0" bIns="0" rtlCol="0" anchor="ctr"/>
          <a:lstStyle/>
          <a:p>
            <a:pPr algn="ctr" indent="0" marL="0">
              <a:buNone/>
            </a:pPr>
            <a:r>
              <a:rPr lang="en-US" sz="1600" dirty="0">
                <a:solidFill>
                  <a:srgbClr val="34B76F"/>
                </a:solidFill>
                <a:latin typeface="Calibri" pitchFamily="34" charset="0"/>
                <a:ea typeface="Calibri" pitchFamily="34" charset="-122"/>
                <a:cs typeface="Calibri" pitchFamily="34" charset="-120"/>
              </a:rPr>
              <a:t>1 minute — pick ONE thing to fix</a:t>
            </a:r>
            <a:endParaRPr lang="en-US" sz="1600" dirty="0"/>
          </a:p>
        </p:txBody>
      </p:sp>
      <p:sp>
        <p:nvSpPr>
          <p:cNvPr id="5" name="Shape 3"/>
          <p:cNvSpPr/>
          <p:nvPr/>
        </p:nvSpPr>
        <p:spPr>
          <a:xfrm>
            <a:off x="1371600" y="2103120"/>
            <a:ext cx="6400800" cy="640080"/>
          </a:xfrm>
          <a:prstGeom prst="roundRect">
            <a:avLst>
              <a:gd name="adj" fmla="val 14286"/>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1554480" y="2148840"/>
            <a:ext cx="6035040" cy="548640"/>
          </a:xfrm>
          <a:prstGeom prst="rect">
            <a:avLst/>
          </a:prstGeom>
          <a:noFill/>
          <a:ln/>
        </p:spPr>
        <p:txBody>
          <a:bodyPr wrap="square" lIns="0" tIns="0" rIns="0" bIns="0" rtlCol="0" anchor="ctr"/>
          <a:lstStyle/>
          <a:p>
            <a:pPr indent="0" marL="0">
              <a:buNone/>
            </a:pPr>
            <a:r>
              <a:rPr lang="en-US" sz="1400" b="1" dirty="0">
                <a:solidFill>
                  <a:srgbClr val="34B76F"/>
                </a:solidFill>
                <a:latin typeface="Calibri" pitchFamily="34" charset="0"/>
                <a:ea typeface="Calibri" pitchFamily="34" charset="-122"/>
                <a:cs typeface="Calibri" pitchFamily="34" charset="-120"/>
              </a:rPr>
              <a:t>Today's check: </a:t>
            </a:r>
            <a:pPr indent="0" marL="0">
              <a:buNone/>
            </a:pPr>
            <a:r>
              <a:rPr lang="en-US" sz="1400" dirty="0">
                <a:solidFill>
                  <a:srgbClr val="1E293B"/>
                </a:solidFill>
                <a:latin typeface="Calibri" pitchFamily="34" charset="0"/>
                <a:ea typeface="Calibri" pitchFamily="34" charset="-122"/>
                <a:cs typeface="Calibri" pitchFamily="34" charset="-120"/>
              </a:rPr>
              <a:t>Did I include what I learned from the experience?</a:t>
            </a:r>
            <a:endParaRPr lang="en-US" sz="1400" dirty="0"/>
          </a:p>
        </p:txBody>
      </p:sp>
      <p:sp>
        <p:nvSpPr>
          <p:cNvPr id="7" name="Shape 5"/>
          <p:cNvSpPr/>
          <p:nvPr/>
        </p:nvSpPr>
        <p:spPr>
          <a:xfrm>
            <a:off x="1371600" y="2926080"/>
            <a:ext cx="6400800" cy="1463040"/>
          </a:xfrm>
          <a:prstGeom prst="roundRect">
            <a:avLst>
              <a:gd name="adj" fmla="val 6250"/>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1554480" y="3017520"/>
            <a:ext cx="6035040" cy="1280160"/>
          </a:xfrm>
          <a:prstGeom prst="rect">
            <a:avLst/>
          </a:prstGeom>
          <a:noFill/>
          <a:ln/>
        </p:spPr>
        <p:txBody>
          <a:bodyPr wrap="square" lIns="0" tIns="0" rIns="0" bIns="0" rtlCol="0" anchor="t"/>
          <a:lstStyle/>
          <a:p>
            <a:pPr indent="0" marL="0">
              <a:spcAft>
                <a:spcPts val="200"/>
              </a:spcAft>
              <a:buNone/>
            </a:pPr>
            <a:r>
              <a:rPr lang="en-US" sz="1300" b="1" dirty="0">
                <a:solidFill>
                  <a:srgbClr val="0E1C42"/>
                </a:solidFill>
                <a:latin typeface="Calibri" pitchFamily="34" charset="0"/>
                <a:ea typeface="Calibri" pitchFamily="34" charset="-122"/>
                <a:cs typeface="Calibri" pitchFamily="34" charset="-120"/>
              </a:rPr>
              <a:t>Quick check: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Capital letters at the start of every sentence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End punctuation ( .  ?  ! )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Spelling — circle any words that look wrong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Read it quietly to yourself — does it sound right?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0" y="457200"/>
            <a:ext cx="1828800" cy="731520"/>
          </a:xfrm>
          <a:prstGeom prst="rect">
            <a:avLst/>
          </a:prstGeom>
          <a:noFill/>
          <a:ln/>
        </p:spPr>
        <p:txBody>
          <a:bodyPr wrap="square" lIns="0" tIns="0" rIns="0" bIns="0" rtlCol="0" anchor="ctr"/>
          <a:lstStyle/>
          <a:p>
            <a:pPr algn="ctr" indent="0" marL="0">
              <a:buNone/>
            </a:pPr>
            <a:r>
              <a:rPr lang="en-US" sz="4400" dirty="0">
                <a:solidFill>
                  <a:srgbClr val="000000"/>
                </a:solidFill>
              </a:rPr>
              <a:t>🗣️</a:t>
            </a:r>
            <a:endParaRPr lang="en-US" sz="4400" dirty="0"/>
          </a:p>
        </p:txBody>
      </p:sp>
      <p:sp>
        <p:nvSpPr>
          <p:cNvPr id="3" name="Text 1"/>
          <p:cNvSpPr/>
          <p:nvPr/>
        </p:nvSpPr>
        <p:spPr>
          <a:xfrm>
            <a:off x="914400" y="1097280"/>
            <a:ext cx="7315200" cy="640080"/>
          </a:xfrm>
          <a:prstGeom prst="rect">
            <a:avLst/>
          </a:prstGeom>
          <a:noFill/>
          <a:ln/>
        </p:spPr>
        <p:txBody>
          <a:bodyPr wrap="square" lIns="0" tIns="0" rIns="0" bIns="0" rtlCol="0" anchor="ctr"/>
          <a:lstStyle/>
          <a:p>
            <a:pPr algn="ctr" indent="0" marL="0">
              <a:buNone/>
            </a:pPr>
            <a:r>
              <a:rPr lang="en-US" sz="3400" b="1" dirty="0">
                <a:solidFill>
                  <a:srgbClr val="0E1C42"/>
                </a:solidFill>
                <a:latin typeface="Calibri" pitchFamily="34" charset="0"/>
                <a:ea typeface="Calibri" pitchFamily="34" charset="-122"/>
                <a:cs typeface="Calibri" pitchFamily="34" charset="-120"/>
              </a:rPr>
              <a:t>Share Time</a:t>
            </a:r>
            <a:endParaRPr lang="en-US" sz="3400" dirty="0"/>
          </a:p>
        </p:txBody>
      </p:sp>
      <p:sp>
        <p:nvSpPr>
          <p:cNvPr id="4" name="Text 2"/>
          <p:cNvSpPr/>
          <p:nvPr/>
        </p:nvSpPr>
        <p:spPr>
          <a:xfrm>
            <a:off x="914400" y="1737360"/>
            <a:ext cx="7315200" cy="457200"/>
          </a:xfrm>
          <a:prstGeom prst="rect">
            <a:avLst/>
          </a:prstGeom>
          <a:noFill/>
          <a:ln/>
        </p:spPr>
        <p:txBody>
          <a:bodyPr wrap="square" lIns="0" tIns="0" rIns="0" bIns="0" rtlCol="0" anchor="ctr"/>
          <a:lstStyle/>
          <a:p>
            <a:pPr algn="ctr" indent="0" marL="0">
              <a:buNone/>
            </a:pPr>
            <a:r>
              <a:rPr lang="en-US" sz="1700" dirty="0">
                <a:solidFill>
                  <a:srgbClr val="55C8E8"/>
                </a:solidFill>
                <a:latin typeface="Calibri" pitchFamily="34" charset="0"/>
                <a:ea typeface="Calibri" pitchFamily="34" charset="-122"/>
                <a:cs typeface="Calibri" pitchFamily="34" charset="-120"/>
              </a:rPr>
              <a:t>3 minutes — let's hear your writing!</a:t>
            </a:r>
            <a:endParaRPr lang="en-US" sz="1700" dirty="0"/>
          </a:p>
        </p:txBody>
      </p:sp>
      <p:sp>
        <p:nvSpPr>
          <p:cNvPr id="5" name="Shape 3"/>
          <p:cNvSpPr/>
          <p:nvPr/>
        </p:nvSpPr>
        <p:spPr>
          <a:xfrm>
            <a:off x="1828800" y="2468880"/>
            <a:ext cx="5486400" cy="1645920"/>
          </a:xfrm>
          <a:prstGeom prst="roundRect">
            <a:avLst>
              <a:gd name="adj" fmla="val 6667"/>
            </a:avLst>
          </a:prstGeom>
          <a:solidFill>
            <a:srgbClr val="FFFFFF"/>
          </a:solidFill>
          <a:ln/>
          <a:effectLst>
            <a:outerShdw sx="100000" sy="100000" kx="0" ky="0" algn="bl" rotWithShape="0" blurRad="101600" dist="38100" dir="2700000">
              <a:srgbClr val="000000">
                <a:alpha val="12000"/>
              </a:srgbClr>
            </a:outerShdw>
          </a:effectLst>
        </p:spPr>
      </p:sp>
      <p:sp>
        <p:nvSpPr>
          <p:cNvPr id="6" name="Text 4"/>
          <p:cNvSpPr/>
          <p:nvPr/>
        </p:nvSpPr>
        <p:spPr>
          <a:xfrm>
            <a:off x="2103120" y="2560320"/>
            <a:ext cx="4937760" cy="1463040"/>
          </a:xfrm>
          <a:prstGeom prst="rect">
            <a:avLst/>
          </a:prstGeom>
          <a:noFill/>
          <a:ln/>
        </p:spPr>
        <p:txBody>
          <a:bodyPr wrap="square" lIns="0" tIns="0" rIns="0" bIns="0" rtlCol="0" anchor="t"/>
          <a:lstStyle/>
          <a:p>
            <a:pPr indent="0" marL="0">
              <a:spcAft>
                <a:spcPts val="200"/>
              </a:spcAft>
              <a:buNone/>
            </a:pPr>
            <a:r>
              <a:rPr lang="en-US" sz="1400" b="1" dirty="0">
                <a:solidFill>
                  <a:srgbClr val="0E1C42"/>
                </a:solidFill>
                <a:latin typeface="Calibri" pitchFamily="34" charset="0"/>
                <a:ea typeface="Calibri" pitchFamily="34" charset="-122"/>
                <a:cs typeface="Calibri" pitchFamily="34" charset="-120"/>
              </a:rPr>
              <a:t>How to share: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Raise your hand if you want to read yours aloud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Or paste your writing in the chat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Listen respectfully when others share
</a:t>
            </a:r>
            <a:pPr indent="0" marL="0">
              <a:spcAft>
                <a:spcPts val="200"/>
              </a:spcAft>
              <a:buNone/>
            </a:pPr>
            <a:r>
              <a:rPr lang="en-US" sz="1200" i="1" dirty="0">
                <a:solidFill>
                  <a:srgbClr val="64748B"/>
                </a:solidFill>
                <a:latin typeface="Calibri" pitchFamily="34" charset="0"/>
                <a:ea typeface="Calibri" pitchFamily="34" charset="-122"/>
                <a:cs typeface="Calibri" pitchFamily="34" charset="-120"/>
              </a:rPr>
              <a:t>Every writer's ideas matter — there are no wrong answers.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Today's Focus</a:t>
            </a:r>
            <a:endParaRPr lang="en-US" sz="2800" dirty="0"/>
          </a:p>
        </p:txBody>
      </p:sp>
      <p:sp>
        <p:nvSpPr>
          <p:cNvPr id="3" name="Shape 1"/>
          <p:cNvSpPr/>
          <p:nvPr/>
        </p:nvSpPr>
        <p:spPr>
          <a:xfrm>
            <a:off x="365760" y="749808"/>
            <a:ext cx="8412480" cy="0"/>
          </a:xfrm>
          <a:prstGeom prst="line">
            <a:avLst/>
          </a:prstGeom>
          <a:noFill/>
          <a:ln w="19050">
            <a:solidFill>
              <a:srgbClr val="D2691E"/>
            </a:solidFill>
            <a:prstDash val="solid"/>
          </a:ln>
        </p:spPr>
      </p:sp>
      <p:sp>
        <p:nvSpPr>
          <p:cNvPr id="4" name="Shape 2"/>
          <p:cNvSpPr/>
          <p:nvPr/>
        </p:nvSpPr>
        <p:spPr>
          <a:xfrm>
            <a:off x="6492240" y="173736"/>
            <a:ext cx="2286000" cy="502920"/>
          </a:xfrm>
          <a:prstGeom prst="roundRect">
            <a:avLst>
              <a:gd name="adj" fmla="val 21818"/>
            </a:avLst>
          </a:prstGeom>
          <a:solidFill>
            <a:srgbClr val="D2691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457200" y="91440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BIG QUESTION</a:t>
            </a:r>
            <a:endParaRPr lang="en-US" sz="1100" dirty="0"/>
          </a:p>
        </p:txBody>
      </p:sp>
      <p:sp>
        <p:nvSpPr>
          <p:cNvPr id="7" name="Shape 5"/>
          <p:cNvSpPr/>
          <p:nvPr/>
        </p:nvSpPr>
        <p:spPr>
          <a:xfrm>
            <a:off x="457200" y="123444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640080" y="13441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Good readers step back and think about the whole section. Who suffers more? Does either character deserve sympathy?</a:t>
            </a:r>
            <a:endParaRPr lang="en-US" sz="1800" dirty="0"/>
          </a:p>
        </p:txBody>
      </p:sp>
      <p:sp>
        <p:nvSpPr>
          <p:cNvPr id="9" name="Shape 7"/>
          <p:cNvSpPr/>
          <p:nvPr/>
        </p:nvSpPr>
        <p:spPr>
          <a:xfrm>
            <a:off x="457200" y="196596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10" name="Text 8"/>
          <p:cNvSpPr/>
          <p:nvPr/>
        </p:nvSpPr>
        <p:spPr>
          <a:xfrm>
            <a:off x="640080" y="207568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Look at the letters around the dot in each word. Count: vowel, consonant, consonant, vowel. That's the VCCV pattern .</a:t>
            </a:r>
            <a:endParaRPr lang="en-US" sz="1800" dirty="0"/>
          </a:p>
        </p:txBody>
      </p:sp>
      <p:sp>
        <p:nvSpPr>
          <p:cNvPr id="11" name="Shape 9"/>
          <p:cNvSpPr/>
          <p:nvPr/>
        </p:nvSpPr>
        <p:spPr>
          <a:xfrm>
            <a:off x="457200" y="269748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12" name="Text 10"/>
          <p:cNvSpPr/>
          <p:nvPr/>
        </p:nvSpPr>
        <p:spPr>
          <a:xfrm>
            <a:off x="640080" y="280720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Where does the dot fall — before, between, or after the two consonants?</a:t>
            </a:r>
            <a:endParaRPr lang="en-US" sz="1800" dirty="0"/>
          </a:p>
        </p:txBody>
      </p:sp>
      <p:sp>
        <p:nvSpPr>
          <p:cNvPr id="13" name="Text 11"/>
          <p:cNvSpPr/>
          <p:nvPr/>
        </p:nvSpPr>
        <p:spPr>
          <a:xfrm>
            <a:off x="457200" y="342900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READING LENS</a:t>
            </a:r>
            <a:endParaRPr lang="en-US" sz="1100" dirty="0"/>
          </a:p>
        </p:txBody>
      </p:sp>
      <p:sp>
        <p:nvSpPr>
          <p:cNvPr id="14" name="Text 12"/>
          <p:cNvSpPr/>
          <p:nvPr/>
        </p:nvSpPr>
        <p:spPr>
          <a:xfrm>
            <a:off x="640080" y="3749040"/>
            <a:ext cx="7863840" cy="73152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Good readers step back and think about the whole section. Who suffers more? Does either character deserve sympathy?</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Model Sentence — Study What's Right</a:t>
            </a:r>
            <a:endParaRPr lang="en-US" sz="28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Shape 2"/>
          <p:cNvSpPr/>
          <p:nvPr/>
        </p:nvSpPr>
        <p:spPr>
          <a:xfrm>
            <a:off x="457200" y="1097280"/>
            <a:ext cx="8229600" cy="914400"/>
          </a:xfrm>
          <a:prstGeom prst="roundRect">
            <a:avLst>
              <a:gd name="adj" fmla="val 10000"/>
            </a:avLst>
          </a:prstGeom>
          <a:solidFill>
            <a:srgbClr val="E8F8EF"/>
          </a:solidFill>
          <a:ln w="12700">
            <a:solidFill>
              <a:srgbClr val="34B76F"/>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207008"/>
            <a:ext cx="7863840" cy="68580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The prince folded his arms and said, "Boring."</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Now You Try</a:t>
            </a:r>
            <a:endParaRPr lang="en-US" sz="2800" dirty="0"/>
          </a:p>
        </p:txBody>
      </p:sp>
      <p:sp>
        <p:nvSpPr>
          <p:cNvPr id="3" name="Shape 1"/>
          <p:cNvSpPr/>
          <p:nvPr/>
        </p:nvSpPr>
        <p:spPr>
          <a:xfrm>
            <a:off x="365760" y="749808"/>
            <a:ext cx="8412480" cy="0"/>
          </a:xfrm>
          <a:prstGeom prst="line">
            <a:avLst/>
          </a:prstGeom>
          <a:noFill/>
          <a:ln w="19050">
            <a:solidFill>
              <a:srgbClr val="D2691E"/>
            </a:solidFill>
            <a:prstDash val="solid"/>
          </a:ln>
        </p:spPr>
      </p:sp>
      <p:sp>
        <p:nvSpPr>
          <p:cNvPr id="4" name="Shape 2"/>
          <p:cNvSpPr/>
          <p:nvPr/>
        </p:nvSpPr>
        <p:spPr>
          <a:xfrm>
            <a:off x="6492240" y="173736"/>
            <a:ext cx="2286000" cy="502920"/>
          </a:xfrm>
          <a:prstGeom prst="roundRect">
            <a:avLst>
              <a:gd name="adj" fmla="val 21818"/>
            </a:avLst>
          </a:prstGeom>
          <a:solidFill>
            <a:srgbClr val="D2691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the king crossed his arms and muttered disgusting</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Answer Revealed</a:t>
            </a:r>
            <a:endParaRPr lang="en-US" sz="2800" dirty="0"/>
          </a:p>
        </p:txBody>
      </p:sp>
      <p:sp>
        <p:nvSpPr>
          <p:cNvPr id="3" name="Shape 1"/>
          <p:cNvSpPr/>
          <p:nvPr/>
        </p:nvSpPr>
        <p:spPr>
          <a:xfrm>
            <a:off x="365760" y="749808"/>
            <a:ext cx="8412480" cy="0"/>
          </a:xfrm>
          <a:prstGeom prst="line">
            <a:avLst/>
          </a:prstGeom>
          <a:noFill/>
          <a:ln w="19050">
            <a:solidFill>
              <a:srgbClr val="D2691E"/>
            </a:solidFill>
            <a:prstDash val="solid"/>
          </a:ln>
        </p:spPr>
      </p:sp>
      <p:sp>
        <p:nvSpPr>
          <p:cNvPr id="4" name="Shape 2"/>
          <p:cNvSpPr/>
          <p:nvPr/>
        </p:nvSpPr>
        <p:spPr>
          <a:xfrm>
            <a:off x="6492240" y="173736"/>
            <a:ext cx="2286000" cy="502920"/>
          </a:xfrm>
          <a:prstGeom prst="roundRect">
            <a:avLst>
              <a:gd name="adj" fmla="val 21818"/>
            </a:avLst>
          </a:prstGeom>
          <a:solidFill>
            <a:srgbClr val="D2691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the king crossed his arms and muttered disgusting</a:t>
            </a:r>
            <a:endParaRPr lang="en-US" sz="1800" dirty="0"/>
          </a:p>
        </p:txBody>
      </p:sp>
      <p:sp>
        <p:nvSpPr>
          <p:cNvPr id="8" name="Text 6"/>
          <p:cNvSpPr/>
          <p:nvPr/>
        </p:nvSpPr>
        <p:spPr>
          <a:xfrm>
            <a:off x="457200" y="17373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CORRECTED</a:t>
            </a:r>
            <a:endParaRPr lang="en-US" sz="1100" dirty="0"/>
          </a:p>
        </p:txBody>
      </p:sp>
      <p:sp>
        <p:nvSpPr>
          <p:cNvPr id="9" name="Shape 7"/>
          <p:cNvSpPr/>
          <p:nvPr/>
        </p:nvSpPr>
        <p:spPr>
          <a:xfrm>
            <a:off x="457200" y="2057400"/>
            <a:ext cx="8229600" cy="640080"/>
          </a:xfrm>
          <a:prstGeom prst="roundRect">
            <a:avLst>
              <a:gd name="adj" fmla="val 14286"/>
            </a:avLst>
          </a:prstGeom>
          <a:solidFill>
            <a:srgbClr val="E8F8EF"/>
          </a:solidFill>
          <a:ln w="12700">
            <a:solidFill>
              <a:srgbClr val="34B76F"/>
            </a:solidFill>
            <a:prstDash val="solid"/>
          </a:ln>
          <a:effectLst>
            <a:outerShdw sx="100000" sy="100000" kx="0" ky="0" algn="bl" rotWithShape="0" blurRad="101600" dist="38100" dir="2700000">
              <a:srgbClr val="000000">
                <a:alpha val="12000"/>
              </a:srgbClr>
            </a:outerShdw>
          </a:effectLst>
        </p:spPr>
      </p:sp>
      <p:sp>
        <p:nvSpPr>
          <p:cNvPr id="10" name="Text 8"/>
          <p:cNvSpPr/>
          <p:nvPr/>
        </p:nvSpPr>
        <p:spPr>
          <a:xfrm>
            <a:off x="640080" y="2167128"/>
            <a:ext cx="7863840" cy="411480"/>
          </a:xfrm>
          <a:prstGeom prst="rect">
            <a:avLst/>
          </a:prstGeom>
          <a:noFill/>
          <a:ln/>
        </p:spPr>
        <p:txBody>
          <a:bodyPr wrap="square" lIns="0" tIns="0" rIns="0" bIns="0" rtlCol="0" anchor="ctr"/>
          <a:lstStyle/>
          <a:p>
            <a:pPr indent="0" marL="0">
              <a:buNone/>
            </a:pPr>
            <a:r>
              <a:rPr lang="en-US" sz="1800" i="1" dirty="0">
                <a:solidFill>
                  <a:srgbClr val="34B76F"/>
                </a:solidFill>
                <a:latin typeface="Calibri" pitchFamily="34" charset="0"/>
                <a:ea typeface="Calibri" pitchFamily="34" charset="-122"/>
                <a:cs typeface="Calibri" pitchFamily="34" charset="-120"/>
              </a:rPr>
              <a:t>The king crossed his arms and muttered, "Disgusting."</a:t>
            </a:r>
            <a:endParaRPr lang="en-US" sz="1800" dirty="0"/>
          </a:p>
        </p:txBody>
      </p:sp>
      <p:sp>
        <p:nvSpPr>
          <p:cNvPr id="11" name="Text 9"/>
          <p:cNvSpPr/>
          <p:nvPr/>
        </p:nvSpPr>
        <p:spPr>
          <a:xfrm>
            <a:off x="457200" y="283464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WHY</a:t>
            </a:r>
            <a:endParaRPr lang="en-US" sz="1100" dirty="0"/>
          </a:p>
        </p:txBody>
      </p:sp>
      <p:sp>
        <p:nvSpPr>
          <p:cNvPr id="12" name="Text 10"/>
          <p:cNvSpPr/>
          <p:nvPr/>
        </p:nvSpPr>
        <p:spPr>
          <a:xfrm>
            <a:off x="640080" y="3108960"/>
            <a:ext cx="7863840" cy="5029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Capital T on The; comma after muttered; opening quotation mark; capital D on Disgusting; period inside the closing quotation mark.</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Morphology: Prefix over- (Day 4: Explain)</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WORD BUILDING</a:t>
            </a:r>
            <a:endParaRPr lang="en-US" sz="1100" dirty="0"/>
          </a:p>
        </p:txBody>
      </p:sp>
      <p:sp>
        <p:nvSpPr>
          <p:cNvPr id="5" name="Shape 3"/>
          <p:cNvSpPr/>
          <p:nvPr/>
        </p:nvSpPr>
        <p:spPr>
          <a:xfrm>
            <a:off x="457200" y="1371600"/>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640080" y="1417320"/>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powered</a:t>
            </a:r>
            <a:pPr indent="0" marL="0">
              <a:buNone/>
            </a:pPr>
            <a:r>
              <a:rPr lang="en-US" sz="1400" dirty="0">
                <a:solidFill>
                  <a:srgbClr val="64748B"/>
                </a:solidFill>
                <a:latin typeface="Calibri" pitchFamily="34" charset="0"/>
                <a:ea typeface="Calibri" pitchFamily="34" charset="-122"/>
                <a:cs typeface="Calibri" pitchFamily="34" charset="-120"/>
              </a:rPr>
              <a:t>  ·  — controlled by too much force</a:t>
            </a:r>
            <a:endParaRPr lang="en-US" sz="1600" dirty="0"/>
          </a:p>
        </p:txBody>
      </p:sp>
      <p:sp>
        <p:nvSpPr>
          <p:cNvPr id="7" name="Shape 5"/>
          <p:cNvSpPr/>
          <p:nvPr/>
        </p:nvSpPr>
        <p:spPr>
          <a:xfrm>
            <a:off x="457200" y="1901952"/>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8" name="Text 6"/>
          <p:cNvSpPr/>
          <p:nvPr/>
        </p:nvSpPr>
        <p:spPr>
          <a:xfrm>
            <a:off x="640080" y="1947672"/>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looked</a:t>
            </a:r>
            <a:pPr indent="0" marL="0">
              <a:buNone/>
            </a:pPr>
            <a:r>
              <a:rPr lang="en-US" sz="1400" dirty="0">
                <a:solidFill>
                  <a:srgbClr val="64748B"/>
                </a:solidFill>
                <a:latin typeface="Calibri" pitchFamily="34" charset="0"/>
                <a:ea typeface="Calibri" pitchFamily="34" charset="-122"/>
                <a:cs typeface="Calibri" pitchFamily="34" charset="-120"/>
              </a:rPr>
              <a:t>  ·  — missed something important</a:t>
            </a:r>
            <a:endParaRPr lang="en-US" sz="1600" dirty="0"/>
          </a:p>
        </p:txBody>
      </p:sp>
      <p:sp>
        <p:nvSpPr>
          <p:cNvPr id="9" name="Shape 7"/>
          <p:cNvSpPr/>
          <p:nvPr/>
        </p:nvSpPr>
        <p:spPr>
          <a:xfrm>
            <a:off x="457200" y="2432304"/>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640080" y="2478024"/>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come</a:t>
            </a:r>
            <a:pPr indent="0" marL="0">
              <a:buNone/>
            </a:pPr>
            <a:r>
              <a:rPr lang="en-US" sz="1400" dirty="0">
                <a:solidFill>
                  <a:srgbClr val="64748B"/>
                </a:solidFill>
                <a:latin typeface="Calibri" pitchFamily="34" charset="0"/>
                <a:ea typeface="Calibri" pitchFamily="34" charset="-122"/>
                <a:cs typeface="Calibri" pitchFamily="34" charset="-120"/>
              </a:rPr>
              <a:t>  ·  — defeated something difficult</a:t>
            </a:r>
            <a:endParaRPr lang="en-US" sz="1600" dirty="0"/>
          </a:p>
        </p:txBody>
      </p:sp>
      <p:sp>
        <p:nvSpPr>
          <p:cNvPr id="11" name="Shape 9"/>
          <p:cNvSpPr/>
          <p:nvPr/>
        </p:nvSpPr>
        <p:spPr>
          <a:xfrm>
            <a:off x="457200" y="2962656"/>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640080" y="3008376"/>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whelmed</a:t>
            </a:r>
            <a:pPr indent="0" marL="0">
              <a:buNone/>
            </a:pPr>
            <a:r>
              <a:rPr lang="en-US" sz="1400" dirty="0">
                <a:solidFill>
                  <a:srgbClr val="64748B"/>
                </a:solidFill>
                <a:latin typeface="Calibri" pitchFamily="34" charset="0"/>
                <a:ea typeface="Calibri" pitchFamily="34" charset="-122"/>
                <a:cs typeface="Calibri" pitchFamily="34" charset="-120"/>
              </a:rPr>
              <a:t>  ·  — hit by too much at once</a:t>
            </a:r>
            <a:endParaRPr lang="en-US" sz="1600" dirty="0"/>
          </a:p>
        </p:txBody>
      </p:sp>
      <p:sp>
        <p:nvSpPr>
          <p:cNvPr id="13" name="Text 11"/>
          <p:cNvSpPr/>
          <p:nvPr/>
        </p:nvSpPr>
        <p:spPr>
          <a:xfrm>
            <a:off x="457200" y="3493008"/>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CONCEPT EXAMPLES</a:t>
            </a:r>
            <a:endParaRPr lang="en-US" sz="1100" dirty="0"/>
          </a:p>
        </p:txBody>
      </p:sp>
      <p:sp>
        <p:nvSpPr>
          <p:cNvPr id="14" name="Text 12"/>
          <p:cNvSpPr/>
          <p:nvPr/>
        </p:nvSpPr>
        <p:spPr>
          <a:xfrm>
            <a:off x="640080" y="3813048"/>
            <a:ext cx="7863840" cy="32004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 📌 Examples</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Vocabulary</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457200" y="1005840"/>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5" name="Text 3"/>
          <p:cNvSpPr/>
          <p:nvPr/>
        </p:nvSpPr>
        <p:spPr>
          <a:xfrm>
            <a:off x="594360" y="1060704"/>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contrite</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Feeling truly sorry for something wrong you did.</a:t>
            </a:r>
            <a:endParaRPr lang="en-US" sz="1500" dirty="0"/>
          </a:p>
        </p:txBody>
      </p:sp>
      <p:sp>
        <p:nvSpPr>
          <p:cNvPr id="6" name="Shape 4"/>
          <p:cNvSpPr/>
          <p:nvPr/>
        </p:nvSpPr>
        <p:spPr>
          <a:xfrm>
            <a:off x="4572000" y="1005840"/>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7" name="Text 5"/>
          <p:cNvSpPr/>
          <p:nvPr/>
        </p:nvSpPr>
        <p:spPr>
          <a:xfrm>
            <a:off x="4709160" y="1060704"/>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astonishment</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Complete surprise; unable to believe what you see.</a:t>
            </a:r>
            <a:endParaRPr lang="en-US" sz="1500" dirty="0"/>
          </a:p>
        </p:txBody>
      </p:sp>
      <p:sp>
        <p:nvSpPr>
          <p:cNvPr id="8" name="Shape 6"/>
          <p:cNvSpPr/>
          <p:nvPr/>
        </p:nvSpPr>
        <p:spPr>
          <a:xfrm>
            <a:off x="457200" y="1755648"/>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810512"/>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ruffian</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A rough, violent person; a bully or criminal.</a:t>
            </a:r>
            <a:endParaRPr lang="en-US" sz="1500" dirty="0"/>
          </a:p>
        </p:txBody>
      </p:sp>
      <p:sp>
        <p:nvSpPr>
          <p:cNvPr id="10" name="Shape 8"/>
          <p:cNvSpPr/>
          <p:nvPr/>
        </p:nvSpPr>
        <p:spPr>
          <a:xfrm>
            <a:off x="4572000" y="1755648"/>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11" name="Text 9"/>
          <p:cNvSpPr/>
          <p:nvPr/>
        </p:nvSpPr>
        <p:spPr>
          <a:xfrm>
            <a:off x="4709160" y="1810512"/>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exasperation</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Strong frustration that has been building up.</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Grammar: Conjunctions (Day 4: Review + Write)</a:t>
            </a:r>
            <a:endParaRPr lang="en-US" sz="2800" dirty="0"/>
          </a:p>
        </p:txBody>
      </p:sp>
      <p:sp>
        <p:nvSpPr>
          <p:cNvPr id="3" name="Shape 1"/>
          <p:cNvSpPr/>
          <p:nvPr/>
        </p:nvSpPr>
        <p:spPr>
          <a:xfrm>
            <a:off x="365760" y="749808"/>
            <a:ext cx="8412480" cy="0"/>
          </a:xfrm>
          <a:prstGeom prst="line">
            <a:avLst/>
          </a:prstGeom>
          <a:noFill/>
          <a:ln w="19050">
            <a:solidFill>
              <a:srgbClr val="D2691E"/>
            </a:solidFill>
            <a:prstDash val="solid"/>
          </a:ln>
        </p:spPr>
      </p:sp>
      <p:sp>
        <p:nvSpPr>
          <p:cNvPr id="4" name="Shape 2"/>
          <p:cNvSpPr/>
          <p:nvPr/>
        </p:nvSpPr>
        <p:spPr>
          <a:xfrm>
            <a:off x="6492240" y="173736"/>
            <a:ext cx="2286000" cy="502920"/>
          </a:xfrm>
          <a:prstGeom prst="roundRect">
            <a:avLst>
              <a:gd name="adj" fmla="val 21818"/>
            </a:avLst>
          </a:prstGeom>
          <a:solidFill>
            <a:srgbClr val="D2691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7" name="Text 5"/>
          <p:cNvSpPr/>
          <p:nvPr/>
        </p:nvSpPr>
        <p:spPr>
          <a:xfrm>
            <a:off x="594360" y="107899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king was furious, so he ordered twenty whacks.</a:t>
            </a:r>
            <a:endParaRPr lang="en-US" sz="1500" dirty="0"/>
          </a:p>
        </p:txBody>
      </p:sp>
      <p:sp>
        <p:nvSpPr>
          <p:cNvPr id="8" name="Shape 6"/>
          <p:cNvSpPr/>
          <p:nvPr/>
        </p:nvSpPr>
        <p:spPr>
          <a:xfrm>
            <a:off x="457200" y="160020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67335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Jemmy bit his lip, and not a sound escaped.</a:t>
            </a:r>
            <a:endParaRPr lang="en-US" sz="1500" dirty="0"/>
          </a:p>
        </p:txBody>
      </p:sp>
      <p:sp>
        <p:nvSpPr>
          <p:cNvPr id="10" name="Shape 8"/>
          <p:cNvSpPr/>
          <p:nvPr/>
        </p:nvSpPr>
        <p:spPr>
          <a:xfrm>
            <a:off x="457200" y="219456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26771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prince laughed, but Jemmy felt no joy.</a:t>
            </a:r>
            <a:endParaRPr lang="en-US" sz="1500" dirty="0"/>
          </a:p>
        </p:txBody>
      </p:sp>
      <p:sp>
        <p:nvSpPr>
          <p:cNvPr id="12" name="Shape 10"/>
          <p:cNvSpPr/>
          <p:nvPr/>
        </p:nvSpPr>
        <p:spPr>
          <a:xfrm>
            <a:off x="457200" y="278892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94360" y="286207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fog came in, so the boys were lost.</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Grammar: Conjunctions (Day 4: Review + Write) — Answers</a:t>
            </a:r>
            <a:endParaRPr lang="en-US" sz="2800" dirty="0"/>
          </a:p>
        </p:txBody>
      </p:sp>
      <p:sp>
        <p:nvSpPr>
          <p:cNvPr id="3" name="Shape 1"/>
          <p:cNvSpPr/>
          <p:nvPr/>
        </p:nvSpPr>
        <p:spPr>
          <a:xfrm>
            <a:off x="365760" y="749808"/>
            <a:ext cx="8412480" cy="0"/>
          </a:xfrm>
          <a:prstGeom prst="line">
            <a:avLst/>
          </a:prstGeom>
          <a:noFill/>
          <a:ln w="19050">
            <a:solidFill>
              <a:srgbClr val="D2691E"/>
            </a:solidFill>
            <a:prstDash val="solid"/>
          </a:ln>
        </p:spPr>
      </p:sp>
      <p:sp>
        <p:nvSpPr>
          <p:cNvPr id="4" name="Shape 2"/>
          <p:cNvSpPr/>
          <p:nvPr/>
        </p:nvSpPr>
        <p:spPr>
          <a:xfrm>
            <a:off x="6492240" y="173736"/>
            <a:ext cx="2286000" cy="502920"/>
          </a:xfrm>
          <a:prstGeom prst="roundRect">
            <a:avLst>
              <a:gd name="adj" fmla="val 21818"/>
            </a:avLst>
          </a:prstGeom>
          <a:solidFill>
            <a:srgbClr val="D2691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7" name="Text 5"/>
          <p:cNvSpPr/>
          <p:nvPr/>
        </p:nvSpPr>
        <p:spPr>
          <a:xfrm>
            <a:off x="594360" y="107899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king</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was</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furious,</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so</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ordered</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twenty</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whacks.</a:t>
            </a:r>
            <a:endParaRPr lang="en-US" sz="1500" dirty="0"/>
          </a:p>
        </p:txBody>
      </p:sp>
      <p:sp>
        <p:nvSpPr>
          <p:cNvPr id="8" name="Shape 6"/>
          <p:cNvSpPr/>
          <p:nvPr/>
        </p:nvSpPr>
        <p:spPr>
          <a:xfrm>
            <a:off x="457200" y="160020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67335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Jemmy</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bit</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his</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lip,</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and</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not</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a</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sound</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escaped.</a:t>
            </a:r>
            <a:endParaRPr lang="en-US" sz="1500" dirty="0"/>
          </a:p>
        </p:txBody>
      </p:sp>
      <p:sp>
        <p:nvSpPr>
          <p:cNvPr id="10" name="Shape 8"/>
          <p:cNvSpPr/>
          <p:nvPr/>
        </p:nvSpPr>
        <p:spPr>
          <a:xfrm>
            <a:off x="457200" y="219456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26771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prince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laughed,</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but</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Jemmy</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felt</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no</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joy.</a:t>
            </a:r>
            <a:endParaRPr lang="en-US" sz="1500" dirty="0"/>
          </a:p>
        </p:txBody>
      </p:sp>
      <p:sp>
        <p:nvSpPr>
          <p:cNvPr id="12" name="Shape 10"/>
          <p:cNvSpPr/>
          <p:nvPr/>
        </p:nvSpPr>
        <p:spPr>
          <a:xfrm>
            <a:off x="457200" y="278892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94360" y="286207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fog</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came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in,</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so</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boys</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were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lost.</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Spelling: Closed Syllables (Day 4: Review + Explain)</a:t>
            </a:r>
            <a:endParaRPr lang="en-US" sz="2800" dirty="0"/>
          </a:p>
        </p:txBody>
      </p:sp>
      <p:sp>
        <p:nvSpPr>
          <p:cNvPr id="3" name="Shape 1"/>
          <p:cNvSpPr/>
          <p:nvPr/>
        </p:nvSpPr>
        <p:spPr>
          <a:xfrm>
            <a:off x="365760" y="749808"/>
            <a:ext cx="8412480" cy="0"/>
          </a:xfrm>
          <a:prstGeom prst="line">
            <a:avLst/>
          </a:prstGeom>
          <a:noFill/>
          <a:ln w="19050">
            <a:solidFill>
              <a:srgbClr val="D2691E"/>
            </a:solidFill>
            <a:prstDash val="solid"/>
          </a:ln>
        </p:spPr>
      </p:sp>
      <p:sp>
        <p:nvSpPr>
          <p:cNvPr id="4" name="Shape 2"/>
          <p:cNvSpPr/>
          <p:nvPr/>
        </p:nvSpPr>
        <p:spPr>
          <a:xfrm>
            <a:off x="6492240" y="173736"/>
            <a:ext cx="2286000" cy="502920"/>
          </a:xfrm>
          <a:prstGeom prst="roundRect">
            <a:avLst>
              <a:gd name="adj" fmla="val 21818"/>
            </a:avLst>
          </a:prstGeom>
          <a:solidFill>
            <a:srgbClr val="D2691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WORD BANK — Sort these words!</a:t>
            </a:r>
            <a:endParaRPr lang="en-US" sz="1100" dirty="0"/>
          </a:p>
        </p:txBody>
      </p:sp>
      <p:sp>
        <p:nvSpPr>
          <p:cNvPr id="7" name="Shape 5"/>
          <p:cNvSpPr/>
          <p:nvPr/>
        </p:nvSpPr>
        <p:spPr>
          <a:xfrm>
            <a:off x="457200" y="1371600"/>
            <a:ext cx="8229600" cy="914400"/>
          </a:xfrm>
          <a:prstGeom prst="roundRect">
            <a:avLst>
              <a:gd name="adj" fmla="val 10000"/>
            </a:avLst>
          </a:prstGeom>
          <a:solidFill>
            <a:srgbClr val="FEF6E8"/>
          </a:solidFill>
          <a:ln/>
          <a:effectLst>
            <a:outerShdw sx="100000" sy="100000" kx="0" ky="0" algn="bl" rotWithShape="0" blurRad="101600" dist="38100" dir="2700000">
              <a:srgbClr val="000000">
                <a:alpha val="12000"/>
              </a:srgbClr>
            </a:outerShdw>
          </a:effectLst>
        </p:spPr>
      </p:sp>
      <p:sp>
        <p:nvSpPr>
          <p:cNvPr id="8" name="Text 6"/>
          <p:cNvSpPr/>
          <p:nvPr/>
        </p:nvSpPr>
        <p:spPr>
          <a:xfrm>
            <a:off x="640080" y="1463040"/>
            <a:ext cx="7863840" cy="731520"/>
          </a:xfrm>
          <a:prstGeom prst="rect">
            <a:avLst/>
          </a:prstGeom>
          <a:noFill/>
          <a:ln/>
        </p:spPr>
        <p:txBody>
          <a:bodyPr wrap="square" lIns="0" tIns="0" rIns="0" bIns="0" rtlCol="0" anchor="ctr"/>
          <a:lstStyle/>
          <a:p>
            <a:pPr algn="ctr" indent="0" marL="0">
              <a:buNone/>
            </a:pPr>
            <a:r>
              <a:rPr lang="en-US" sz="1600" dirty="0">
                <a:solidFill>
                  <a:srgbClr val="0E1C42"/>
                </a:solidFill>
                <a:latin typeface="Calibri" pitchFamily="34" charset="0"/>
                <a:ea typeface="Calibri" pitchFamily="34" charset="-122"/>
                <a:cs typeface="Calibri" pitchFamily="34" charset="-120"/>
              </a:rPr>
              <a:t>supper     kitten     muffin     valley     timber     river</a:t>
            </a:r>
            <a:endParaRPr lang="en-US" sz="1600" dirty="0"/>
          </a:p>
        </p:txBody>
      </p:sp>
      <p:sp>
        <p:nvSpPr>
          <p:cNvPr id="9" name="Shape 7"/>
          <p:cNvSpPr/>
          <p:nvPr/>
        </p:nvSpPr>
        <p:spPr>
          <a:xfrm>
            <a:off x="457200" y="246888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251460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Closed 1st syllable</a:t>
            </a:r>
            <a:endParaRPr lang="en-US" sz="1400" dirty="0"/>
          </a:p>
        </p:txBody>
      </p:sp>
      <p:sp>
        <p:nvSpPr>
          <p:cNvPr id="11" name="Shape 9"/>
          <p:cNvSpPr/>
          <p:nvPr/>
        </p:nvSpPr>
        <p:spPr>
          <a:xfrm>
            <a:off x="4480560" y="246888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4572000" y="251460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Other</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Spelling: Closed Syllables (Day 4: Review + Explain) — Sorted</a:t>
            </a:r>
            <a:endParaRPr lang="en-US" sz="2800" dirty="0"/>
          </a:p>
        </p:txBody>
      </p:sp>
      <p:sp>
        <p:nvSpPr>
          <p:cNvPr id="3" name="Shape 1"/>
          <p:cNvSpPr/>
          <p:nvPr/>
        </p:nvSpPr>
        <p:spPr>
          <a:xfrm>
            <a:off x="365760" y="749808"/>
            <a:ext cx="8412480" cy="0"/>
          </a:xfrm>
          <a:prstGeom prst="line">
            <a:avLst/>
          </a:prstGeom>
          <a:noFill/>
          <a:ln w="19050">
            <a:solidFill>
              <a:srgbClr val="D2691E"/>
            </a:solidFill>
            <a:prstDash val="solid"/>
          </a:ln>
        </p:spPr>
      </p:sp>
      <p:sp>
        <p:nvSpPr>
          <p:cNvPr id="4" name="Shape 2"/>
          <p:cNvSpPr/>
          <p:nvPr/>
        </p:nvSpPr>
        <p:spPr>
          <a:xfrm>
            <a:off x="6492240" y="173736"/>
            <a:ext cx="2286000" cy="502920"/>
          </a:xfrm>
          <a:prstGeom prst="roundRect">
            <a:avLst>
              <a:gd name="adj" fmla="val 21818"/>
            </a:avLst>
          </a:prstGeom>
          <a:solidFill>
            <a:srgbClr val="D2691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7" name="Text 5"/>
          <p:cNvSpPr/>
          <p:nvPr/>
        </p:nvSpPr>
        <p:spPr>
          <a:xfrm>
            <a:off x="548640" y="105156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Closed 1st syllable</a:t>
            </a:r>
            <a:endParaRPr lang="en-US" sz="1400" dirty="0"/>
          </a:p>
        </p:txBody>
      </p:sp>
      <p:sp>
        <p:nvSpPr>
          <p:cNvPr id="8" name="Text 6"/>
          <p:cNvSpPr/>
          <p:nvPr/>
        </p:nvSpPr>
        <p:spPr>
          <a:xfrm>
            <a:off x="548640" y="1554480"/>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supper</a:t>
            </a:r>
            <a:endParaRPr lang="en-US" sz="1400" dirty="0"/>
          </a:p>
        </p:txBody>
      </p:sp>
      <p:sp>
        <p:nvSpPr>
          <p:cNvPr id="9" name="Text 7"/>
          <p:cNvSpPr/>
          <p:nvPr/>
        </p:nvSpPr>
        <p:spPr>
          <a:xfrm>
            <a:off x="548640" y="1901952"/>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kitten</a:t>
            </a:r>
            <a:endParaRPr lang="en-US" sz="1400" dirty="0"/>
          </a:p>
        </p:txBody>
      </p:sp>
      <p:sp>
        <p:nvSpPr>
          <p:cNvPr id="10" name="Text 8"/>
          <p:cNvSpPr/>
          <p:nvPr/>
        </p:nvSpPr>
        <p:spPr>
          <a:xfrm>
            <a:off x="548640" y="2249424"/>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muffin</a:t>
            </a:r>
            <a:endParaRPr lang="en-US" sz="1400" dirty="0"/>
          </a:p>
        </p:txBody>
      </p:sp>
      <p:sp>
        <p:nvSpPr>
          <p:cNvPr id="11" name="Shape 9"/>
          <p:cNvSpPr/>
          <p:nvPr/>
        </p:nvSpPr>
        <p:spPr>
          <a:xfrm>
            <a:off x="4480560" y="100584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4572000" y="105156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Other</a:t>
            </a:r>
            <a:endParaRPr lang="en-US" sz="1400" dirty="0"/>
          </a:p>
        </p:txBody>
      </p:sp>
      <p:sp>
        <p:nvSpPr>
          <p:cNvPr id="13" name="Text 11"/>
          <p:cNvSpPr/>
          <p:nvPr/>
        </p:nvSpPr>
        <p:spPr>
          <a:xfrm>
            <a:off x="4572000" y="1554480"/>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valley</a:t>
            </a:r>
            <a:endParaRPr lang="en-US" sz="1400" dirty="0"/>
          </a:p>
        </p:txBody>
      </p:sp>
      <p:sp>
        <p:nvSpPr>
          <p:cNvPr id="14" name="Text 12"/>
          <p:cNvSpPr/>
          <p:nvPr/>
        </p:nvSpPr>
        <p:spPr>
          <a:xfrm>
            <a:off x="4572000" y="1901952"/>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timber</a:t>
            </a:r>
            <a:endParaRPr lang="en-US" sz="1400" dirty="0"/>
          </a:p>
        </p:txBody>
      </p:sp>
      <p:sp>
        <p:nvSpPr>
          <p:cNvPr id="15" name="Text 13"/>
          <p:cNvSpPr/>
          <p:nvPr/>
        </p:nvSpPr>
        <p:spPr>
          <a:xfrm>
            <a:off x="4572000" y="2249424"/>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river</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Read: Ch. 1–5 Review</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55C8E8"/>
                </a:solidFill>
                <a:latin typeface="Calibri" pitchFamily="34" charset="0"/>
                <a:ea typeface="Calibri" pitchFamily="34" charset="-122"/>
                <a:cs typeface="Calibri" pitchFamily="34" charset="-120"/>
              </a:rPr>
              <a:t>PAUSE &amp; THINK</a:t>
            </a:r>
            <a:endParaRPr lang="en-US" sz="1100" dirty="0"/>
          </a:p>
        </p:txBody>
      </p:sp>
      <p:sp>
        <p:nvSpPr>
          <p:cNvPr id="5" name="Text 3"/>
          <p:cNvSpPr/>
          <p:nvPr/>
        </p:nvSpPr>
        <p:spPr>
          <a:xfrm>
            <a:off x="640080" y="1325880"/>
            <a:ext cx="7863840" cy="54864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Look at the letters around the dot in each word. Count: vowel, consonant, consonant, vowel. That's the VCCV pattern .</a:t>
            </a:r>
            <a:endParaRPr lang="en-US" sz="1400" dirty="0"/>
          </a:p>
        </p:txBody>
      </p:sp>
      <p:sp>
        <p:nvSpPr>
          <p:cNvPr id="6" name="Text 4"/>
          <p:cNvSpPr/>
          <p:nvPr/>
        </p:nvSpPr>
        <p:spPr>
          <a:xfrm>
            <a:off x="640080" y="1965960"/>
            <a:ext cx="7863840" cy="54864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Where does the dot fall — before, between, or after the two consonants?</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Read · Write · Mimic</a:t>
            </a:r>
            <a:endParaRPr lang="en-US" sz="28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Shape 2"/>
          <p:cNvSpPr/>
          <p:nvPr/>
        </p:nvSpPr>
        <p:spPr>
          <a:xfrm>
            <a:off x="457200" y="91440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02412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“He had lived in the castle all his life. He had seen things a boy ought never to see.”</a:t>
            </a:r>
            <a:endParaRPr lang="en-US" sz="1800" dirty="0"/>
          </a:p>
        </p:txBody>
      </p:sp>
      <p:sp>
        <p:nvSpPr>
          <p:cNvPr id="6" name="Text 4"/>
          <p:cNvSpPr/>
          <p:nvPr/>
        </p:nvSpPr>
        <p:spPr>
          <a:xfrm>
            <a:off x="640080" y="1645920"/>
            <a:ext cx="7863840" cy="320040"/>
          </a:xfrm>
          <a:prstGeom prst="rect">
            <a:avLst/>
          </a:prstGeom>
          <a:noFill/>
          <a:ln/>
        </p:spPr>
        <p:txBody>
          <a:bodyPr wrap="square" lIns="0" tIns="0" rIns="0" bIns="0" rtlCol="0" anchor="ctr"/>
          <a:lstStyle/>
          <a:p>
            <a:pPr indent="0" marL="0">
              <a:buNone/>
            </a:pPr>
            <a:r>
              <a:rPr lang="en-US" sz="1300" i="1" dirty="0">
                <a:solidFill>
                  <a:srgbClr val="8B6FC0"/>
                </a:solidFill>
                <a:latin typeface="Calibri" pitchFamily="34" charset="0"/>
                <a:ea typeface="Calibri" pitchFamily="34" charset="-122"/>
                <a:cs typeface="Calibri" pitchFamily="34" charset="-120"/>
              </a:rPr>
              <a:t>📌 Craft focus: parallel sentences — same structure, escalating meaning</a:t>
            </a:r>
            <a:endParaRPr lang="en-US" sz="1300" dirty="0"/>
          </a:p>
        </p:txBody>
      </p:sp>
      <p:sp>
        <p:nvSpPr>
          <p:cNvPr id="7" name="Shape 5"/>
          <p:cNvSpPr/>
          <p:nvPr/>
        </p:nvSpPr>
        <p:spPr>
          <a:xfrm>
            <a:off x="457200" y="2057400"/>
            <a:ext cx="8229600" cy="594360"/>
          </a:xfrm>
          <a:prstGeom prst="roundRect">
            <a:avLst>
              <a:gd name="adj" fmla="val 15385"/>
            </a:avLst>
          </a:prstGeom>
          <a:solidFill>
            <a:srgbClr val="E5F7FC"/>
          </a:solidFill>
          <a:ln/>
          <a:effectLst>
            <a:outerShdw sx="100000" sy="100000" kx="0" ky="0" algn="bl" rotWithShape="0" blurRad="101600" dist="38100" dir="2700000">
              <a:srgbClr val="000000">
                <a:alpha val="12000"/>
              </a:srgbClr>
            </a:outerShdw>
          </a:effectLst>
        </p:spPr>
      </p:sp>
      <p:sp>
        <p:nvSpPr>
          <p:cNvPr id="8" name="Text 6"/>
          <p:cNvSpPr/>
          <p:nvPr/>
        </p:nvSpPr>
        <p:spPr>
          <a:xfrm>
            <a:off x="640080" y="2103120"/>
            <a:ext cx="7863840" cy="50292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 📖 Read like a Reader</a:t>
            </a:r>
            <a:pPr indent="0" marL="0">
              <a:buNone/>
            </a:pPr>
            <a:endParaRPr lang="en-US" sz="1400" dirty="0"/>
          </a:p>
          <a:p>
            <a:pPr indent="0" marL="0">
              <a:buNone/>
            </a:pPr>
            <a:r>
              <a:rPr lang="en-US" sz="1200" dirty="0">
                <a:solidFill>
                  <a:srgbClr val="1E293B"/>
                </a:solidFill>
                <a:latin typeface="Calibri" pitchFamily="34" charset="0"/>
                <a:ea typeface="Calibri" pitchFamily="34" charset="-122"/>
                <a:cs typeface="Calibri" pitchFamily="34" charset="-120"/>
              </a:rPr>
              <a:t>Both sentences are about Jemmy's life in the castle — but the second reveals something darker. Without knowing exactly what he saw, what do you imagine? What does  "ought never to see"  tell us about the kind of place a royal castle can be?</a:t>
            </a:r>
            <a:endParaRPr lang="en-US" sz="1400" dirty="0"/>
          </a:p>
        </p:txBody>
      </p:sp>
      <p:sp>
        <p:nvSpPr>
          <p:cNvPr id="9" name="Shape 7"/>
          <p:cNvSpPr/>
          <p:nvPr/>
        </p:nvSpPr>
        <p:spPr>
          <a:xfrm>
            <a:off x="457200" y="2715768"/>
            <a:ext cx="8229600" cy="594360"/>
          </a:xfrm>
          <a:prstGeom prst="roundRect">
            <a:avLst>
              <a:gd name="adj" fmla="val 15385"/>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640080" y="2761488"/>
            <a:ext cx="7863840" cy="50292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 ✏️ Read like a Writer</a:t>
            </a:r>
            <a:pPr indent="0" marL="0">
              <a:buNone/>
            </a:pPr>
            <a:endParaRPr lang="en-US" sz="1400" dirty="0"/>
          </a:p>
          <a:p>
            <a:pPr indent="0" marL="0">
              <a:buNone/>
            </a:pPr>
            <a:r>
              <a:rPr lang="en-US" sz="1200" dirty="0">
                <a:solidFill>
                  <a:srgbClr val="1E293B"/>
                </a:solidFill>
                <a:latin typeface="Calibri" pitchFamily="34" charset="0"/>
                <a:ea typeface="Calibri" pitchFamily="34" charset="-122"/>
                <a:cs typeface="Calibri" pitchFamily="34" charset="-120"/>
              </a:rPr>
              <a:t>Both sentences start the same way:  "He had..."  This is parallelism. But the second sentence says something much more serious. How does using the same structure make the second statement hit harder? What would be lost if they were different lengths?</a:t>
            </a:r>
            <a:endParaRPr lang="en-US" sz="1400" dirty="0"/>
          </a:p>
        </p:txBody>
      </p:sp>
      <p:sp>
        <p:nvSpPr>
          <p:cNvPr id="11" name="Shape 9"/>
          <p:cNvSpPr/>
          <p:nvPr/>
        </p:nvSpPr>
        <p:spPr>
          <a:xfrm>
            <a:off x="457200" y="3374136"/>
            <a:ext cx="8229600" cy="594360"/>
          </a:xfrm>
          <a:prstGeom prst="roundRect">
            <a:avLst>
              <a:gd name="adj" fmla="val 15385"/>
            </a:avLst>
          </a:prstGeom>
          <a:solidFill>
            <a:srgbClr val="E8F8EF"/>
          </a:solidFill>
          <a:ln/>
          <a:effectLst>
            <a:outerShdw sx="100000" sy="100000" kx="0" ky="0" algn="bl" rotWithShape="0" blurRad="101600" dist="38100" dir="2700000">
              <a:srgbClr val="000000">
                <a:alpha val="12000"/>
              </a:srgbClr>
            </a:outerShdw>
          </a:effectLst>
        </p:spPr>
      </p:sp>
      <p:sp>
        <p:nvSpPr>
          <p:cNvPr id="12" name="Text 10"/>
          <p:cNvSpPr/>
          <p:nvPr/>
        </p:nvSpPr>
        <p:spPr>
          <a:xfrm>
            <a:off x="640080" y="3419856"/>
            <a:ext cx="7863840" cy="50292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 🖊️ Mimic</a:t>
            </a:r>
            <a:pPr indent="0" marL="0">
              <a:buNone/>
            </a:pPr>
            <a:endParaRPr lang="en-US" sz="1400" dirty="0"/>
          </a:p>
          <a:p>
            <a:pPr indent="0" marL="0">
              <a:buNone/>
            </a:pPr>
            <a:r>
              <a:rPr lang="en-US" sz="1200" dirty="0">
                <a:solidFill>
                  <a:srgbClr val="1E293B"/>
                </a:solidFill>
                <a:latin typeface="Calibri" pitchFamily="34" charset="0"/>
                <a:ea typeface="Calibri" pitchFamily="34" charset="-122"/>
                <a:cs typeface="Calibri" pitchFamily="34" charset="-120"/>
              </a:rPr>
              <a:t>Write your own sentence using the same pattern as the author.</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Writer’s Workshop: Week 18 · Choose a Claim</a:t>
            </a:r>
            <a:endParaRPr lang="en-US" sz="28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640080" y="1371600"/>
            <a:ext cx="7863840" cy="457200"/>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Open your writing assignment in Canvas.</a:t>
            </a:r>
            <a:endParaRPr lang="en-US" sz="1600" dirty="0"/>
          </a:p>
        </p:txBody>
      </p:sp>
      <p:sp>
        <p:nvSpPr>
          <p:cNvPr id="5" name="Text 3"/>
          <p:cNvSpPr/>
          <p:nvPr/>
        </p:nvSpPr>
        <p:spPr>
          <a:xfrm>
            <a:off x="640080" y="2011680"/>
            <a:ext cx="7863840" cy="457200"/>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Follow the writing prompt for today's workshop.</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2026-07-11T14:32:39Z</dcterms:created>
  <dcterms:modified xsi:type="dcterms:W3CDTF">2026-07-11T14:32:39Z</dcterms:modified>
</cp:coreProperties>
</file>