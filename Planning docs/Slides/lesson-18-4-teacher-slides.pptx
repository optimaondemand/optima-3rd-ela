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Ch. 5: Jemmy and the prince were captured by Hold-Your-Nose Billy and Cutwater — and the ransom plan went sideways.
TODAY: Ch. 1–5 Review: Step back and look at the whole opening section.
BIG Q: After reading Chapters 1–5, who do you think has the harder life — Jemmy or the prince?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sentence aloud together. Ask: What capitalization rules do you see? What punctuation? Any dialogue formatting?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"the king crossed his arms and muttered disgusting"
Corrected: "The king crossed his arms and muttered, "Disgusting.""
Errors: Capital T on The; comma after muttered; opening quotation mark; capital D on Disgusting; period inside the closing quotation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DOL fix-it: "the king crossed his arms and muttered disgusting"
Corrected: "The king crossed his arms and muttered, "Disgusting.""
Errors: Capital T on The; comma after muttered; opening quotation mark; capital D on Disgusting; period inside the closing quotation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Morphology: overpowered — controlled by too much force | overlooked — missed something important | overcome — defeated something difficult | overwhelmed — hit by too much at once | Jemmy had never once seen the prince lookcontrite — after causing trouble. | To Jemmy&amp;rsquo;sastonishment — , the prince seemed almost happy about being kidnapped.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 contrite: Feeling truly sorry for something wrong you did. | astonishment: Complete surprise; unable to believe what you see. | ruffian: A rough, violent person; a bully or criminal. | exasperation: Strong frustration that has been building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"The king was furious, [so] he ordered twenty whacks." → so | "Jemmy was clever, [but] the prince was careless." → but | "Billy laughed, [and] Cutwater grinned." → and | "The prince refused, [so] everything got worse." →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"The king was furious, [so] he ordered twenty whacks." → so | "Jemmy was clever, [but] the prince was careless." → but | "Billy laughed, [and] Cutwater grinned." → and | "The prince refused, [so] everything got worse." →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Closed 1st syllable: supper, kitten, muffin | Other: valley, timber,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Closed 1st syllable: supper, kitten, muffin | Other: valley, timber,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Ch. 1–5 Review
When The Whipping Boy sees Jeremy tangled in string and the cat coming, she could have run. She stays and unties him instead. Later, Nicodemus and the rats agree to move her cinderblock house — a dangerous, hours-long job — because she asked for help.
Think back over all five chapters. What is the biggest conflict — between which characters, and over what?
The story has just begun. What do you predict will happen when Billy tries to read the ransom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RWM sentence: "He had lived in the castle all his life. He had seen things a boy ought never to see."
Craft: parallel sentences — same structure, escalating meaning
Reader: What does this moment reveal?
Writer: What technique did the author use and why?
Mimic: Write your own using the same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stage: 🎯 Choose a Claim
Focus: Opinion: make a claim about which character has the harder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0A4A"/>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B8860B">
              <a:alpha val="20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B8860B"/>
                </a:solidFill>
                <a:latin typeface="Calibri" pitchFamily="34" charset="0"/>
                <a:ea typeface="Calibri" pitchFamily="34" charset="-122"/>
                <a:cs typeface="Calibri" pitchFamily="34" charset="-120"/>
              </a:rPr>
              <a:t>WEEK 18  ·  DAY 4</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600" b="1" dirty="0">
                <a:solidFill>
                  <a:srgbClr val="FFFFFF"/>
                </a:solidFill>
                <a:latin typeface="Calibri" pitchFamily="34" charset="0"/>
                <a:ea typeface="Calibri" pitchFamily="34" charset="-122"/>
                <a:cs typeface="Calibri" pitchFamily="34" charset="-120"/>
              </a:rPr>
              <a:t>Ch. 1–5 Review</a:t>
            </a:r>
            <a:endParaRPr lang="en-US" sz="3600" dirty="0"/>
          </a:p>
          <a:p>
            <a:pPr algn="l" indent="0" marL="0">
              <a:buNone/>
            </a:pPr>
            <a:r>
              <a:rPr lang="en-US" sz="3600" b="1" dirty="0">
                <a:solidFill>
                  <a:srgbClr val="FFFFFF"/>
                </a:solidFill>
                <a:latin typeface="Calibri" pitchFamily="34" charset="0"/>
                <a:ea typeface="Calibri" pitchFamily="34" charset="-122"/>
                <a:cs typeface="Calibri" pitchFamily="34" charset="-120"/>
              </a:rPr>
              <a:t>Review and Writing Response</a:t>
            </a:r>
            <a:endParaRPr lang="en-US" sz="3600" dirty="0"/>
          </a:p>
        </p:txBody>
      </p:sp>
      <p:sp>
        <p:nvSpPr>
          <p:cNvPr id="5" name="Text 3"/>
          <p:cNvSpPr/>
          <p:nvPr/>
        </p:nvSpPr>
        <p:spPr>
          <a:xfrm>
            <a:off x="457200" y="2834640"/>
            <a:ext cx="8229600" cy="457200"/>
          </a:xfrm>
          <a:prstGeom prst="rect">
            <a:avLst/>
          </a:prstGeom>
          <a:noFill/>
          <a:ln/>
        </p:spPr>
        <p:txBody>
          <a:bodyPr wrap="square" lIns="0" tIns="0" rIns="0" bIns="0" rtlCol="0" anchor="ctr"/>
          <a:lstStyle/>
          <a:p>
            <a:pPr algn="l" indent="0" marL="0">
              <a:buNone/>
            </a:pPr>
            <a:r>
              <a:rPr lang="en-US" sz="1800" dirty="0">
                <a:solidFill>
                  <a:srgbClr val="B8860B"/>
                </a:solidFill>
                <a:latin typeface="Calibri" pitchFamily="34" charset="0"/>
                <a:ea typeface="Calibri" pitchFamily="34" charset="-122"/>
                <a:cs typeface="Calibri" pitchFamily="34" charset="-120"/>
              </a:rPr>
              <a:t>The Whipping Boy  ·  Sid Fleischman</a:t>
            </a:r>
            <a:endParaRPr lang="en-US" sz="1800" dirty="0"/>
          </a:p>
        </p:txBody>
      </p:sp>
      <p:sp>
        <p:nvSpPr>
          <p:cNvPr id="6" name="Text 4"/>
          <p:cNvSpPr/>
          <p:nvPr/>
        </p:nvSpPr>
        <p:spPr>
          <a:xfrm>
            <a:off x="457200" y="448056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Week 18  ·  Virtue: Courage  ·  👑</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Recap + Today's Focus</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YESTERDAY</a:t>
            </a:r>
            <a:endParaRPr lang="en-US" sz="1100" dirty="0"/>
          </a:p>
        </p:txBody>
      </p:sp>
      <p:sp>
        <p:nvSpPr>
          <p:cNvPr id="7" name="Shape 5"/>
          <p:cNvSpPr/>
          <p:nvPr/>
        </p:nvSpPr>
        <p:spPr>
          <a:xfrm>
            <a:off x="365760" y="1078992"/>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Ch. 5: Jemmy and the prince were captured by Hold-Your-Nose Billy and Cutwater — and the ransom plan went sideways.</a:t>
            </a:r>
            <a:endParaRPr lang="en-US" sz="1400" dirty="0"/>
          </a:p>
        </p:txBody>
      </p:sp>
      <p:sp>
        <p:nvSpPr>
          <p:cNvPr id="9" name="Text 7"/>
          <p:cNvSpPr/>
          <p:nvPr/>
        </p:nvSpPr>
        <p:spPr>
          <a:xfrm>
            <a:off x="365760" y="199339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TODAY</a:t>
            </a:r>
            <a:endParaRPr lang="en-US" sz="1100" dirty="0"/>
          </a:p>
        </p:txBody>
      </p:sp>
      <p:sp>
        <p:nvSpPr>
          <p:cNvPr id="10" name="Shape 8"/>
          <p:cNvSpPr/>
          <p:nvPr/>
        </p:nvSpPr>
        <p:spPr>
          <a:xfrm>
            <a:off x="365760" y="2249424"/>
            <a:ext cx="8412480" cy="713232"/>
          </a:xfrm>
          <a:prstGeom prst="roundRect">
            <a:avLst>
              <a:gd name="adj" fmla="val 12821"/>
            </a:avLst>
          </a:prstGeom>
          <a:solidFill>
            <a:srgbClr val="FFF8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40864"/>
            <a:ext cx="7955280" cy="530352"/>
          </a:xfrm>
          <a:prstGeom prst="rect">
            <a:avLst/>
          </a:prstGeom>
          <a:noFill/>
          <a:ln/>
        </p:spPr>
        <p:txBody>
          <a:bodyPr wrap="square" lIns="0" tIns="0" rIns="0" bIns="0" rtlCol="0" anchor="ctr"/>
          <a:lstStyle/>
          <a:p>
            <a:pPr indent="0" marL="0">
              <a:buNone/>
            </a:pPr>
            <a:r>
              <a:rPr lang="en-US" sz="1400" b="1" dirty="0">
                <a:solidFill>
                  <a:srgbClr val="2A0A4A"/>
                </a:solidFill>
                <a:latin typeface="Calibri" pitchFamily="34" charset="0"/>
                <a:ea typeface="Calibri" pitchFamily="34" charset="-122"/>
                <a:cs typeface="Calibri" pitchFamily="34" charset="-120"/>
              </a:rPr>
              <a:t>Ch. 1–5 Review: Step back and look at the whole opening section.</a:t>
            </a:r>
            <a:endParaRPr lang="en-US" sz="1400" dirty="0"/>
          </a:p>
        </p:txBody>
      </p:sp>
      <p:sp>
        <p:nvSpPr>
          <p:cNvPr id="12" name="Text 10"/>
          <p:cNvSpPr/>
          <p:nvPr/>
        </p:nvSpPr>
        <p:spPr>
          <a:xfrm>
            <a:off x="365760" y="307238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BIG QUESTION</a:t>
            </a:r>
            <a:endParaRPr lang="en-US" sz="1100" dirty="0"/>
          </a:p>
        </p:txBody>
      </p:sp>
      <p:sp>
        <p:nvSpPr>
          <p:cNvPr id="13" name="Shape 11"/>
          <p:cNvSpPr/>
          <p:nvPr/>
        </p:nvSpPr>
        <p:spPr>
          <a:xfrm>
            <a:off x="365760" y="3328416"/>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419856"/>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After reading Chapters 1–5, who do you think has the harder life — Jemmy or the prince? Why?</a:t>
            </a:r>
            <a:endParaRPr lang="en-US" sz="1300" dirty="0"/>
          </a:p>
        </p:txBody>
      </p:sp>
      <p:sp>
        <p:nvSpPr>
          <p:cNvPr id="15" name="Text 13"/>
          <p:cNvSpPr/>
          <p:nvPr/>
        </p:nvSpPr>
        <p:spPr>
          <a:xfrm>
            <a:off x="365760" y="42062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READING LENS</a:t>
            </a:r>
            <a:endParaRPr lang="en-US" sz="1100" dirty="0"/>
          </a:p>
        </p:txBody>
      </p:sp>
      <p:sp>
        <p:nvSpPr>
          <p:cNvPr id="16" name="Text 14"/>
          <p:cNvSpPr/>
          <p:nvPr/>
        </p:nvSpPr>
        <p:spPr>
          <a:xfrm>
            <a:off x="457200" y="4434840"/>
            <a:ext cx="8229600"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 Good readers step back and think about the whole section. Who suffers more? Does either character deserve sympathy?</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Study What's Right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FROM THE NOVEL</a:t>
            </a:r>
            <a:endParaRPr lang="en-US" sz="1100" dirty="0"/>
          </a:p>
        </p:txBody>
      </p:sp>
      <p:sp>
        <p:nvSpPr>
          <p:cNvPr id="5" name="Shape 3"/>
          <p:cNvSpPr/>
          <p:nvPr/>
        </p:nvSpPr>
        <p:spPr>
          <a:xfrm>
            <a:off x="365760" y="1078992"/>
            <a:ext cx="8412480" cy="1005840"/>
          </a:xfrm>
          <a:prstGeom prst="roundRect">
            <a:avLst>
              <a:gd name="adj" fmla="val 9091"/>
            </a:avLst>
          </a:prstGeom>
          <a:solidFill>
            <a:srgbClr val="E8F8EF"/>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77724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prince folded his arms and said, "Boring."</a:t>
            </a:r>
            <a:endParaRPr lang="en-US" sz="1800" dirty="0"/>
          </a:p>
        </p:txBody>
      </p:sp>
      <p:sp>
        <p:nvSpPr>
          <p:cNvPr id="7" name="Text 5"/>
          <p:cNvSpPr/>
          <p:nvPr/>
        </p:nvSpPr>
        <p:spPr>
          <a:xfrm>
            <a:off x="365760" y="21945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WHAT TO NOTICE</a:t>
            </a:r>
            <a:endParaRPr lang="en-US" sz="1100" dirty="0"/>
          </a:p>
        </p:txBody>
      </p:sp>
      <p:sp>
        <p:nvSpPr>
          <p:cNvPr id="8" name="Text 6"/>
          <p:cNvSpPr/>
          <p:nvPr/>
        </p:nvSpPr>
        <p:spPr>
          <a:xfrm>
            <a:off x="502920" y="2423160"/>
            <a:ext cx="8229600" cy="41148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Tap or circle: capital letters, quotation marks, punctuation, proper nouns.</a:t>
            </a:r>
            <a:endParaRPr lang="en-US" sz="1500" dirty="0"/>
          </a:p>
        </p:txBody>
      </p:sp>
      <p:sp>
        <p:nvSpPr>
          <p:cNvPr id="9" name="Text 7"/>
          <p:cNvSpPr/>
          <p:nvPr/>
        </p:nvSpPr>
        <p:spPr>
          <a:xfrm>
            <a:off x="502920" y="2926080"/>
            <a:ext cx="8229600" cy="411480"/>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Copy this sentence in your journal. Circle one thing you notice.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king crossed his arms and muttered disgusting</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Capital T on The; comma after muttered; opening quotation mark; capital D on Disgusting; period inside the closing quotation mark.</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Daily Oral Language — Fix It</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868680"/>
          </a:xfrm>
          <a:prstGeom prst="roundRect">
            <a:avLst>
              <a:gd name="adj" fmla="val 10526"/>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6400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king crossed his arms and muttered disgusting</a:t>
            </a:r>
            <a:endParaRPr lang="en-US" sz="1800" dirty="0"/>
          </a:p>
        </p:txBody>
      </p:sp>
      <p:sp>
        <p:nvSpPr>
          <p:cNvPr id="9" name="Text 7"/>
          <p:cNvSpPr/>
          <p:nvPr/>
        </p:nvSpPr>
        <p:spPr>
          <a:xfrm>
            <a:off x="457200" y="2057400"/>
            <a:ext cx="8229600" cy="411480"/>
          </a:xfrm>
          <a:prstGeom prst="rect">
            <a:avLst/>
          </a:prstGeom>
          <a:noFill/>
          <a:ln/>
        </p:spPr>
        <p:txBody>
          <a:bodyPr wrap="square" lIns="0" tIns="0" rIns="0" bIns="0" rtlCol="0" anchor="ctr"/>
          <a:lstStyle/>
          <a:p>
            <a:pPr indent="0" marL="0">
              <a:buNone/>
            </a:pPr>
            <a:r>
              <a:rPr lang="en-US" sz="1400" dirty="0">
                <a:solidFill>
                  <a:srgbClr val="2A0A4A"/>
                </a:solidFill>
                <a:latin typeface="Calibri" pitchFamily="34" charset="0"/>
                <a:ea typeface="Calibri" pitchFamily="34" charset="-122"/>
                <a:cs typeface="Calibri" pitchFamily="34" charset="-120"/>
              </a:rPr>
              <a:t>Fix: Capital T on The; comma after muttered; opening quotation mark; capital D on Disgusting; period inside the closing quotation mark.</a:t>
            </a:r>
            <a:endParaRPr lang="en-US" sz="1400" dirty="0"/>
          </a:p>
        </p:txBody>
      </p:sp>
      <p:sp>
        <p:nvSpPr>
          <p:cNvPr id="10" name="Text 8"/>
          <p:cNvSpPr/>
          <p:nvPr/>
        </p:nvSpPr>
        <p:spPr>
          <a:xfrm>
            <a:off x="457200" y="2542032"/>
            <a:ext cx="8229600" cy="384048"/>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Rewrite the corrected sentence in your journal.</a:t>
            </a:r>
            <a:endParaRPr lang="en-US" sz="1600" dirty="0"/>
          </a:p>
        </p:txBody>
      </p:sp>
      <p:sp>
        <p:nvSpPr>
          <p:cNvPr id="11" name="Shape 9"/>
          <p:cNvSpPr/>
          <p:nvPr/>
        </p:nvSpPr>
        <p:spPr>
          <a:xfrm>
            <a:off x="365760" y="3063240"/>
            <a:ext cx="8412480" cy="914400"/>
          </a:xfrm>
          <a:prstGeom prst="roundRect">
            <a:avLst>
              <a:gd name="adj" fmla="val 10000"/>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127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3" name="Text 11"/>
          <p:cNvSpPr/>
          <p:nvPr/>
        </p:nvSpPr>
        <p:spPr>
          <a:xfrm>
            <a:off x="594360" y="3438144"/>
            <a:ext cx="7863840" cy="475488"/>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king crossed his arms and muttered, "Disgusting."</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Morphology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WORD PART: over-</a:t>
            </a:r>
            <a:endParaRPr lang="en-US" sz="1100" dirty="0"/>
          </a:p>
        </p:txBody>
      </p:sp>
      <p:sp>
        <p:nvSpPr>
          <p:cNvPr id="5" name="Shape 3"/>
          <p:cNvSpPr/>
          <p:nvPr/>
        </p:nvSpPr>
        <p:spPr>
          <a:xfrm>
            <a:off x="365760" y="118872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9844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overpowered — controlled by too much force</a:t>
            </a:r>
            <a:endParaRPr lang="en-US" sz="1500" dirty="0"/>
          </a:p>
        </p:txBody>
      </p:sp>
      <p:sp>
        <p:nvSpPr>
          <p:cNvPr id="7" name="Shape 5"/>
          <p:cNvSpPr/>
          <p:nvPr/>
        </p:nvSpPr>
        <p:spPr>
          <a:xfrm>
            <a:off x="365760" y="182880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3852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overlooked — missed something important</a:t>
            </a:r>
            <a:endParaRPr lang="en-US" sz="1500" dirty="0"/>
          </a:p>
        </p:txBody>
      </p:sp>
      <p:sp>
        <p:nvSpPr>
          <p:cNvPr id="9" name="Shape 7"/>
          <p:cNvSpPr/>
          <p:nvPr/>
        </p:nvSpPr>
        <p:spPr>
          <a:xfrm>
            <a:off x="365760" y="2468880"/>
            <a:ext cx="8412480" cy="566928"/>
          </a:xfrm>
          <a:prstGeom prst="roundRect">
            <a:avLst>
              <a:gd name="adj" fmla="val 16129"/>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57860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overcome — defeated something difficult</a:t>
            </a:r>
            <a:endParaRPr lang="en-US" sz="1500" dirty="0"/>
          </a:p>
        </p:txBody>
      </p:sp>
      <p:sp>
        <p:nvSpPr>
          <p:cNvPr id="11" name="Shape 9"/>
          <p:cNvSpPr/>
          <p:nvPr/>
        </p:nvSpPr>
        <p:spPr>
          <a:xfrm>
            <a:off x="365760" y="3108960"/>
            <a:ext cx="8412480" cy="566928"/>
          </a:xfrm>
          <a:prstGeom prst="roundRect">
            <a:avLst>
              <a:gd name="adj" fmla="val 16129"/>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218688"/>
            <a:ext cx="7863840" cy="34747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overwhelmed — hit by too much at once</a:t>
            </a:r>
            <a:endParaRPr lang="en-US" sz="1500" dirty="0"/>
          </a:p>
        </p:txBody>
      </p:sp>
      <p:sp>
        <p:nvSpPr>
          <p:cNvPr id="13" name="Text 11"/>
          <p:cNvSpPr/>
          <p:nvPr/>
        </p:nvSpPr>
        <p:spPr>
          <a:xfrm>
            <a:off x="365760" y="37947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MATCH GAME WORDS</a:t>
            </a:r>
            <a:endParaRPr lang="en-US" sz="1100" dirty="0"/>
          </a:p>
        </p:txBody>
      </p:sp>
      <p:sp>
        <p:nvSpPr>
          <p:cNvPr id="14" name="Text 12"/>
          <p:cNvSpPr/>
          <p:nvPr/>
        </p:nvSpPr>
        <p:spPr>
          <a:xfrm>
            <a:off x="457200" y="4096512"/>
            <a:ext cx="8229600" cy="347472"/>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contrite   ·   astonishment   ·   ruffian   ·   exasperation</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795528"/>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4 WORDS THIS WEEK</a:t>
            </a:r>
            <a:endParaRPr lang="en-US" sz="1100" dirty="0"/>
          </a:p>
        </p:txBody>
      </p:sp>
      <p:sp>
        <p:nvSpPr>
          <p:cNvPr id="5" name="Shape 3"/>
          <p:cNvSpPr/>
          <p:nvPr/>
        </p:nvSpPr>
        <p:spPr>
          <a:xfrm>
            <a:off x="32004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45720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contrite</a:t>
            </a:r>
            <a:endParaRPr lang="en-US" sz="1600" dirty="0"/>
          </a:p>
        </p:txBody>
      </p:sp>
      <p:sp>
        <p:nvSpPr>
          <p:cNvPr id="7" name="Text 5"/>
          <p:cNvSpPr/>
          <p:nvPr/>
        </p:nvSpPr>
        <p:spPr>
          <a:xfrm>
            <a:off x="45720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Feeling truly sorry for something wrong you did.</a:t>
            </a:r>
            <a:endParaRPr lang="en-US" sz="1200" dirty="0"/>
          </a:p>
        </p:txBody>
      </p:sp>
      <p:sp>
        <p:nvSpPr>
          <p:cNvPr id="8" name="Shape 6"/>
          <p:cNvSpPr/>
          <p:nvPr/>
        </p:nvSpPr>
        <p:spPr>
          <a:xfrm>
            <a:off x="4572000" y="1161288"/>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9" name="Text 7"/>
          <p:cNvSpPr/>
          <p:nvPr/>
        </p:nvSpPr>
        <p:spPr>
          <a:xfrm>
            <a:off x="4709160" y="1234440"/>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astonishment</a:t>
            </a:r>
            <a:endParaRPr lang="en-US" sz="1600" dirty="0"/>
          </a:p>
        </p:txBody>
      </p:sp>
      <p:sp>
        <p:nvSpPr>
          <p:cNvPr id="10" name="Text 8"/>
          <p:cNvSpPr/>
          <p:nvPr/>
        </p:nvSpPr>
        <p:spPr>
          <a:xfrm>
            <a:off x="4709160" y="1600200"/>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Complete surprise; unable to believe what you see.</a:t>
            </a:r>
            <a:endParaRPr lang="en-US" sz="1200" dirty="0"/>
          </a:p>
        </p:txBody>
      </p:sp>
      <p:sp>
        <p:nvSpPr>
          <p:cNvPr id="11" name="Shape 9"/>
          <p:cNvSpPr/>
          <p:nvPr/>
        </p:nvSpPr>
        <p:spPr>
          <a:xfrm>
            <a:off x="32004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ruffian</a:t>
            </a:r>
            <a:endParaRPr lang="en-US" sz="1600" dirty="0"/>
          </a:p>
        </p:txBody>
      </p:sp>
      <p:sp>
        <p:nvSpPr>
          <p:cNvPr id="13" name="Text 11"/>
          <p:cNvSpPr/>
          <p:nvPr/>
        </p:nvSpPr>
        <p:spPr>
          <a:xfrm>
            <a:off x="45720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A rough, violent person; a bully or criminal.</a:t>
            </a:r>
            <a:endParaRPr lang="en-US" sz="1200" dirty="0"/>
          </a:p>
        </p:txBody>
      </p:sp>
      <p:sp>
        <p:nvSpPr>
          <p:cNvPr id="14" name="Shape 12"/>
          <p:cNvSpPr/>
          <p:nvPr/>
        </p:nvSpPr>
        <p:spPr>
          <a:xfrm>
            <a:off x="4572000" y="2551176"/>
            <a:ext cx="40690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4709160" y="2624328"/>
            <a:ext cx="3794760" cy="365760"/>
          </a:xfrm>
          <a:prstGeom prst="rect">
            <a:avLst/>
          </a:prstGeom>
          <a:noFill/>
          <a:ln/>
        </p:spPr>
        <p:txBody>
          <a:bodyPr wrap="square" lIns="0" tIns="0" rIns="0" bIns="0" rtlCol="0" anchor="ctr"/>
          <a:lstStyle/>
          <a:p>
            <a:pPr indent="0" marL="0">
              <a:buNone/>
            </a:pPr>
            <a:r>
              <a:rPr lang="en-US" sz="1600" b="1" dirty="0">
                <a:solidFill>
                  <a:srgbClr val="5C2D91"/>
                </a:solidFill>
                <a:latin typeface="Calibri" pitchFamily="34" charset="0"/>
                <a:ea typeface="Calibri" pitchFamily="34" charset="-122"/>
                <a:cs typeface="Calibri" pitchFamily="34" charset="-120"/>
              </a:rPr>
              <a:t>exasperation</a:t>
            </a:r>
            <a:endParaRPr lang="en-US" sz="1600" dirty="0"/>
          </a:p>
        </p:txBody>
      </p:sp>
      <p:sp>
        <p:nvSpPr>
          <p:cNvPr id="16" name="Text 14"/>
          <p:cNvSpPr/>
          <p:nvPr/>
        </p:nvSpPr>
        <p:spPr>
          <a:xfrm>
            <a:off x="4709160" y="2990088"/>
            <a:ext cx="3794760" cy="73152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Strong frustration that has been building up.</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Conjunctions (Review + Write)</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SPOT THE ANSWER</a:t>
            </a:r>
            <a:endParaRPr lang="en-US" sz="1100" dirty="0"/>
          </a:p>
        </p:txBody>
      </p:sp>
      <p:sp>
        <p:nvSpPr>
          <p:cNvPr id="7" name="Shape 5"/>
          <p:cNvSpPr/>
          <p:nvPr/>
        </p:nvSpPr>
        <p:spPr>
          <a:xfrm>
            <a:off x="365760" y="10789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king was furious, _____ he ordered twenty whacks.</a:t>
            </a:r>
            <a:endParaRPr lang="en-US" sz="1500" dirty="0"/>
          </a:p>
        </p:txBody>
      </p:sp>
      <p:sp>
        <p:nvSpPr>
          <p:cNvPr id="9" name="Shape 7"/>
          <p:cNvSpPr/>
          <p:nvPr/>
        </p:nvSpPr>
        <p:spPr>
          <a:xfrm>
            <a:off x="365760" y="17647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was clever, _____ the prince was careless.</a:t>
            </a:r>
            <a:endParaRPr lang="en-US" sz="1500" dirty="0"/>
          </a:p>
        </p:txBody>
      </p:sp>
      <p:sp>
        <p:nvSpPr>
          <p:cNvPr id="11" name="Shape 9"/>
          <p:cNvSpPr/>
          <p:nvPr/>
        </p:nvSpPr>
        <p:spPr>
          <a:xfrm>
            <a:off x="365760" y="24505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Billy laughed, _____ Cutwater grinned.</a:t>
            </a:r>
            <a:endParaRPr lang="en-US" sz="1500" dirty="0"/>
          </a:p>
        </p:txBody>
      </p:sp>
      <p:sp>
        <p:nvSpPr>
          <p:cNvPr id="13" name="Shape 11"/>
          <p:cNvSpPr/>
          <p:nvPr/>
        </p:nvSpPr>
        <p:spPr>
          <a:xfrm>
            <a:off x="365760" y="3136392"/>
            <a:ext cx="8412480" cy="594360"/>
          </a:xfrm>
          <a:prstGeom prst="roundRect">
            <a:avLst>
              <a:gd name="adj" fmla="val 12308"/>
            </a:avLst>
          </a:prstGeom>
          <a:solidFill>
            <a:srgbClr val="FFF8E8"/>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 refused, _____ everything got worse.</a:t>
            </a:r>
            <a:endParaRPr lang="en-US" sz="1500" dirty="0"/>
          </a:p>
        </p:txBody>
      </p:sp>
      <p:sp>
        <p:nvSpPr>
          <p:cNvPr id="15" name="Text 13"/>
          <p:cNvSpPr/>
          <p:nvPr/>
        </p:nvSpPr>
        <p:spPr>
          <a:xfrm>
            <a:off x="457200" y="3867912"/>
            <a:ext cx="8229600" cy="347472"/>
          </a:xfrm>
          <a:prstGeom prst="rect">
            <a:avLst/>
          </a:prstGeom>
          <a:noFill/>
          <a:ln/>
        </p:spPr>
        <p:txBody>
          <a:bodyPr wrap="square" lIns="0" tIns="0" rIns="0" bIns="0" rtlCol="0" anchor="ctr"/>
          <a:lstStyle/>
          <a:p>
            <a:pPr indent="0" marL="0">
              <a:buNone/>
            </a:pPr>
            <a:r>
              <a:rPr lang="en-US" sz="1500" b="1" dirty="0">
                <a:solidFill>
                  <a:srgbClr val="2A0A4A"/>
                </a:solidFill>
                <a:latin typeface="Calibri" pitchFamily="34" charset="0"/>
                <a:ea typeface="Calibri" pitchFamily="34" charset="-122"/>
                <a:cs typeface="Calibri" pitchFamily="34" charset="-120"/>
              </a:rPr>
              <a:t>Find the answer! Write it in your notebook.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Grammar — Conjunctions (Review + Write)</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ANSWERS REVEALED</a:t>
            </a:r>
            <a:endParaRPr lang="en-US" sz="1100" dirty="0"/>
          </a:p>
        </p:txBody>
      </p:sp>
      <p:sp>
        <p:nvSpPr>
          <p:cNvPr id="7" name="Shape 5"/>
          <p:cNvSpPr/>
          <p:nvPr/>
        </p:nvSpPr>
        <p:spPr>
          <a:xfrm>
            <a:off x="365760" y="10789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521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king was furious, </a:t>
            </a:r>
            <a:pPr indent="0" marL="0">
              <a:buNone/>
            </a:pPr>
            <a:r>
              <a:rPr lang="en-US" sz="1500" b="1" u="sng" dirty="0">
                <a:solidFill>
                  <a:srgbClr val="34B76F"/>
                </a:solidFill>
                <a:latin typeface="Calibri" pitchFamily="34" charset="0"/>
                <a:ea typeface="Calibri" pitchFamily="34" charset="-122"/>
                <a:cs typeface="Calibri" pitchFamily="34" charset="-120"/>
              </a:rPr>
              <a:t>so</a:t>
            </a:r>
            <a:pPr indent="0" marL="0">
              <a:buNone/>
            </a:pPr>
            <a:r>
              <a:rPr lang="en-US" sz="1500" dirty="0">
                <a:solidFill>
                  <a:srgbClr val="1E293B"/>
                </a:solidFill>
                <a:latin typeface="Calibri" pitchFamily="34" charset="0"/>
                <a:ea typeface="Calibri" pitchFamily="34" charset="-122"/>
                <a:cs typeface="Calibri" pitchFamily="34" charset="-120"/>
              </a:rPr>
              <a:t> he ordered twenty whacks.</a:t>
            </a:r>
            <a:endParaRPr lang="en-US" sz="1500" dirty="0"/>
          </a:p>
        </p:txBody>
      </p:sp>
      <p:sp>
        <p:nvSpPr>
          <p:cNvPr id="9" name="Shape 7"/>
          <p:cNvSpPr/>
          <p:nvPr/>
        </p:nvSpPr>
        <p:spPr>
          <a:xfrm>
            <a:off x="365760" y="17647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18379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Jemmy was clever, </a:t>
            </a:r>
            <a:pPr indent="0" marL="0">
              <a:buNone/>
            </a:pPr>
            <a:r>
              <a:rPr lang="en-US" sz="1500" b="1" u="sng" dirty="0">
                <a:solidFill>
                  <a:srgbClr val="34B76F"/>
                </a:solidFill>
                <a:latin typeface="Calibri" pitchFamily="34" charset="0"/>
                <a:ea typeface="Calibri" pitchFamily="34" charset="-122"/>
                <a:cs typeface="Calibri" pitchFamily="34" charset="-120"/>
              </a:rPr>
              <a:t>but</a:t>
            </a:r>
            <a:pPr indent="0" marL="0">
              <a:buNone/>
            </a:pPr>
            <a:r>
              <a:rPr lang="en-US" sz="1500" dirty="0">
                <a:solidFill>
                  <a:srgbClr val="1E293B"/>
                </a:solidFill>
                <a:latin typeface="Calibri" pitchFamily="34" charset="0"/>
                <a:ea typeface="Calibri" pitchFamily="34" charset="-122"/>
                <a:cs typeface="Calibri" pitchFamily="34" charset="-120"/>
              </a:rPr>
              <a:t> the prince was careless.</a:t>
            </a:r>
            <a:endParaRPr lang="en-US" sz="1500" dirty="0"/>
          </a:p>
        </p:txBody>
      </p:sp>
      <p:sp>
        <p:nvSpPr>
          <p:cNvPr id="11" name="Shape 9"/>
          <p:cNvSpPr/>
          <p:nvPr/>
        </p:nvSpPr>
        <p:spPr>
          <a:xfrm>
            <a:off x="365760" y="24505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25237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Billy laughed, </a:t>
            </a:r>
            <a:pPr indent="0" marL="0">
              <a:buNone/>
            </a:pPr>
            <a:r>
              <a:rPr lang="en-US" sz="1500" b="1" u="sng" dirty="0">
                <a:solidFill>
                  <a:srgbClr val="34B76F"/>
                </a:solidFill>
                <a:latin typeface="Calibri" pitchFamily="34" charset="0"/>
                <a:ea typeface="Calibri" pitchFamily="34" charset="-122"/>
                <a:cs typeface="Calibri" pitchFamily="34" charset="-120"/>
              </a:rPr>
              <a:t>and</a:t>
            </a:r>
            <a:pPr indent="0" marL="0">
              <a:buNone/>
            </a:pPr>
            <a:r>
              <a:rPr lang="en-US" sz="1500" dirty="0">
                <a:solidFill>
                  <a:srgbClr val="1E293B"/>
                </a:solidFill>
                <a:latin typeface="Calibri" pitchFamily="34" charset="0"/>
                <a:ea typeface="Calibri" pitchFamily="34" charset="-122"/>
                <a:cs typeface="Calibri" pitchFamily="34" charset="-120"/>
              </a:rPr>
              <a:t> Cutwater grinned.</a:t>
            </a:r>
            <a:endParaRPr lang="en-US" sz="1500" dirty="0"/>
          </a:p>
        </p:txBody>
      </p:sp>
      <p:sp>
        <p:nvSpPr>
          <p:cNvPr id="13" name="Shape 11"/>
          <p:cNvSpPr/>
          <p:nvPr/>
        </p:nvSpPr>
        <p:spPr>
          <a:xfrm>
            <a:off x="365760" y="3136392"/>
            <a:ext cx="8412480" cy="594360"/>
          </a:xfrm>
          <a:prstGeom prst="roundRect">
            <a:avLst>
              <a:gd name="adj" fmla="val 12308"/>
            </a:avLst>
          </a:prstGeom>
          <a:solidFill>
            <a:srgbClr val="E8F8E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209544"/>
            <a:ext cx="7863840" cy="42976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 refused, </a:t>
            </a:r>
            <a:pPr indent="0" marL="0">
              <a:buNone/>
            </a:pPr>
            <a:r>
              <a:rPr lang="en-US" sz="1500" b="1" u="sng" dirty="0">
                <a:solidFill>
                  <a:srgbClr val="34B76F"/>
                </a:solidFill>
                <a:latin typeface="Calibri" pitchFamily="34" charset="0"/>
                <a:ea typeface="Calibri" pitchFamily="34" charset="-122"/>
                <a:cs typeface="Calibri" pitchFamily="34" charset="-120"/>
              </a:rPr>
              <a:t>so</a:t>
            </a:r>
            <a:pPr indent="0" marL="0">
              <a:buNone/>
            </a:pPr>
            <a:r>
              <a:rPr lang="en-US" sz="1500" dirty="0">
                <a:solidFill>
                  <a:srgbClr val="1E293B"/>
                </a:solidFill>
                <a:latin typeface="Calibri" pitchFamily="34" charset="0"/>
                <a:ea typeface="Calibri" pitchFamily="34" charset="-122"/>
                <a:cs typeface="Calibri" pitchFamily="34" charset="-120"/>
              </a:rPr>
              <a:t> everything got worse.</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Closed Syllables (Day 4: Review + Explain)</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 SORT THE WORDS</a:t>
            </a:r>
            <a:endParaRPr lang="en-US" sz="1100" dirty="0"/>
          </a:p>
        </p:txBody>
      </p:sp>
      <p:sp>
        <p:nvSpPr>
          <p:cNvPr id="7" name="Shape 5"/>
          <p:cNvSpPr/>
          <p:nvPr/>
        </p:nvSpPr>
        <p:spPr>
          <a:xfrm>
            <a:off x="365760" y="1024128"/>
            <a:ext cx="8412480" cy="685800"/>
          </a:xfrm>
          <a:prstGeom prst="roundRect">
            <a:avLst>
              <a:gd name="adj" fmla="val 13333"/>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078992"/>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9" name="Text 7"/>
          <p:cNvSpPr/>
          <p:nvPr/>
        </p:nvSpPr>
        <p:spPr>
          <a:xfrm>
            <a:off x="594360" y="1325880"/>
            <a:ext cx="7863840" cy="320040"/>
          </a:xfrm>
          <a:prstGeom prst="rect">
            <a:avLst/>
          </a:prstGeom>
          <a:noFill/>
          <a:ln/>
        </p:spPr>
        <p:txBody>
          <a:bodyPr wrap="square" lIns="0" tIns="0" rIns="0" bIns="0" rtlCol="0" anchor="ctr"/>
          <a:lstStyle/>
          <a:p>
            <a:pPr indent="0" marL="0">
              <a:buNone/>
            </a:pPr>
            <a:r>
              <a:rPr lang="en-US" sz="1600" b="1" dirty="0">
                <a:solidFill>
                  <a:srgbClr val="2A0A4A"/>
                </a:solidFill>
                <a:latin typeface="Calibri" pitchFamily="34" charset="0"/>
                <a:ea typeface="Calibri" pitchFamily="34" charset="-122"/>
                <a:cs typeface="Calibri" pitchFamily="34" charset="-120"/>
              </a:rPr>
              <a:t>supper   ·   kitten   ·   muffin   ·   valley   ·   timber   ·   river</a:t>
            </a:r>
            <a:endParaRPr lang="en-US" sz="1600" dirty="0"/>
          </a:p>
        </p:txBody>
      </p:sp>
      <p:sp>
        <p:nvSpPr>
          <p:cNvPr id="10" name="Text 8"/>
          <p:cNvSpPr/>
          <p:nvPr/>
        </p:nvSpPr>
        <p:spPr>
          <a:xfrm>
            <a:off x="365760" y="187452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SORT INTO GROUPS</a:t>
            </a:r>
            <a:endParaRPr lang="en-US" sz="1100" dirty="0"/>
          </a:p>
        </p:txBody>
      </p:sp>
      <p:sp>
        <p:nvSpPr>
          <p:cNvPr id="11" name="Shape 9"/>
          <p:cNvSpPr/>
          <p:nvPr/>
        </p:nvSpPr>
        <p:spPr>
          <a:xfrm>
            <a:off x="365760" y="2176272"/>
            <a:ext cx="4114800" cy="1051560"/>
          </a:xfrm>
          <a:prstGeom prst="roundRect">
            <a:avLst>
              <a:gd name="adj" fmla="val 8696"/>
            </a:avLst>
          </a:prstGeom>
          <a:solidFill>
            <a:srgbClr val="E8F8EF"/>
          </a:solidFill>
          <a:ln w="19050">
            <a:solidFill>
              <a:srgbClr val="4A7C2E"/>
            </a:solidFill>
            <a:prstDash val="solid"/>
          </a:ln>
        </p:spPr>
      </p:sp>
      <p:sp>
        <p:nvSpPr>
          <p:cNvPr id="12" name="Text 10"/>
          <p:cNvSpPr/>
          <p:nvPr/>
        </p:nvSpPr>
        <p:spPr>
          <a:xfrm>
            <a:off x="502920" y="2249424"/>
            <a:ext cx="3840480" cy="384048"/>
          </a:xfrm>
          <a:prstGeom prst="rect">
            <a:avLst/>
          </a:prstGeom>
          <a:noFill/>
          <a:ln/>
        </p:spPr>
        <p:txBody>
          <a:bodyPr wrap="square" lIns="0" tIns="0" rIns="0" bIns="0" rtlCol="0" anchor="ctr"/>
          <a:lstStyle/>
          <a:p>
            <a:pPr indent="0" marL="0">
              <a:buNone/>
            </a:pPr>
            <a:r>
              <a:rPr lang="en-US" sz="1300" b="1" dirty="0">
                <a:solidFill>
                  <a:srgbClr val="4A7C2E"/>
                </a:solidFill>
                <a:latin typeface="Calibri" pitchFamily="34" charset="0"/>
                <a:ea typeface="Calibri" pitchFamily="34" charset="-122"/>
                <a:cs typeface="Calibri" pitchFamily="34" charset="-120"/>
              </a:rPr>
              <a:t>Closed 1st syllable</a:t>
            </a:r>
            <a:endParaRPr lang="en-US" sz="1300" dirty="0"/>
          </a:p>
        </p:txBody>
      </p:sp>
      <p:sp>
        <p:nvSpPr>
          <p:cNvPr id="13" name="Shape 11"/>
          <p:cNvSpPr/>
          <p:nvPr/>
        </p:nvSpPr>
        <p:spPr>
          <a:xfrm>
            <a:off x="4709160" y="2176272"/>
            <a:ext cx="4114800" cy="1051560"/>
          </a:xfrm>
          <a:prstGeom prst="roundRect">
            <a:avLst>
              <a:gd name="adj" fmla="val 8696"/>
            </a:avLst>
          </a:prstGeom>
          <a:solidFill>
            <a:srgbClr val="F0E8FF"/>
          </a:solidFill>
          <a:ln w="19050">
            <a:solidFill>
              <a:srgbClr val="5C2D91"/>
            </a:solidFill>
            <a:prstDash val="solid"/>
          </a:ln>
        </p:spPr>
      </p:sp>
      <p:sp>
        <p:nvSpPr>
          <p:cNvPr id="14" name="Text 12"/>
          <p:cNvSpPr/>
          <p:nvPr/>
        </p:nvSpPr>
        <p:spPr>
          <a:xfrm>
            <a:off x="4846320" y="2249424"/>
            <a:ext cx="3840480" cy="384048"/>
          </a:xfrm>
          <a:prstGeom prst="rect">
            <a:avLst/>
          </a:prstGeom>
          <a:noFill/>
          <a:ln/>
        </p:spPr>
        <p:txBody>
          <a:bodyPr wrap="square" lIns="0" tIns="0" rIns="0" bIns="0" rtlCol="0" anchor="ctr"/>
          <a:lstStyle/>
          <a:p>
            <a:pPr indent="0" marL="0">
              <a:buNone/>
            </a:pPr>
            <a:r>
              <a:rPr lang="en-US" sz="1300" b="1" dirty="0">
                <a:solidFill>
                  <a:srgbClr val="5C2D91"/>
                </a:solidFill>
                <a:latin typeface="Calibri" pitchFamily="34" charset="0"/>
                <a:ea typeface="Calibri" pitchFamily="34" charset="-122"/>
                <a:cs typeface="Calibri" pitchFamily="34" charset="-120"/>
              </a:rPr>
              <a:t>Other</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8E8"/>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Spelling — Closed Syllables (Day 4: Review + Explain)</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Shape 2"/>
          <p:cNvSpPr/>
          <p:nvPr/>
        </p:nvSpPr>
        <p:spPr>
          <a:xfrm>
            <a:off x="6492240" y="173736"/>
            <a:ext cx="2286000" cy="502920"/>
          </a:xfrm>
          <a:prstGeom prst="roundRect">
            <a:avLst>
              <a:gd name="adj" fmla="val 21818"/>
            </a:avLst>
          </a:prstGeom>
          <a:solidFill>
            <a:srgbClr val="B8860B"/>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SORTED</a:t>
            </a:r>
            <a:endParaRPr lang="en-US" sz="1100" dirty="0"/>
          </a:p>
        </p:txBody>
      </p:sp>
      <p:sp>
        <p:nvSpPr>
          <p:cNvPr id="7" name="Shape 5"/>
          <p:cNvSpPr/>
          <p:nvPr/>
        </p:nvSpPr>
        <p:spPr>
          <a:xfrm>
            <a:off x="365760" y="1024128"/>
            <a:ext cx="4114800" cy="1426464"/>
          </a:xfrm>
          <a:prstGeom prst="roundRect">
            <a:avLst>
              <a:gd name="adj" fmla="val 6410"/>
            </a:avLst>
          </a:prstGeom>
          <a:solidFill>
            <a:srgbClr val="E8F8EF"/>
          </a:solidFill>
          <a:ln w="19050">
            <a:solidFill>
              <a:srgbClr val="4A7C2E"/>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02920" y="1097280"/>
            <a:ext cx="3840480" cy="347472"/>
          </a:xfrm>
          <a:prstGeom prst="rect">
            <a:avLst/>
          </a:prstGeom>
          <a:noFill/>
          <a:ln/>
        </p:spPr>
        <p:txBody>
          <a:bodyPr wrap="square" lIns="0" tIns="0" rIns="0" bIns="0" rtlCol="0" anchor="ctr"/>
          <a:lstStyle/>
          <a:p>
            <a:pPr indent="0" marL="0">
              <a:buNone/>
            </a:pPr>
            <a:r>
              <a:rPr lang="en-US" sz="1200" b="1" dirty="0">
                <a:solidFill>
                  <a:srgbClr val="4A7C2E"/>
                </a:solidFill>
                <a:latin typeface="Calibri" pitchFamily="34" charset="0"/>
                <a:ea typeface="Calibri" pitchFamily="34" charset="-122"/>
                <a:cs typeface="Calibri" pitchFamily="34" charset="-120"/>
              </a:rPr>
              <a:t>Closed 1st syllable</a:t>
            </a:r>
            <a:endParaRPr lang="en-US" sz="1200" dirty="0"/>
          </a:p>
        </p:txBody>
      </p:sp>
      <p:sp>
        <p:nvSpPr>
          <p:cNvPr id="9" name="Text 7"/>
          <p:cNvSpPr/>
          <p:nvPr/>
        </p:nvSpPr>
        <p:spPr>
          <a:xfrm>
            <a:off x="5943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supper</a:t>
            </a:r>
            <a:endParaRPr lang="en-US" sz="1400" dirty="0"/>
          </a:p>
        </p:txBody>
      </p:sp>
      <p:sp>
        <p:nvSpPr>
          <p:cNvPr id="10" name="Text 8"/>
          <p:cNvSpPr/>
          <p:nvPr/>
        </p:nvSpPr>
        <p:spPr>
          <a:xfrm>
            <a:off x="5943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kitten</a:t>
            </a:r>
            <a:endParaRPr lang="en-US" sz="1400" dirty="0"/>
          </a:p>
        </p:txBody>
      </p:sp>
      <p:sp>
        <p:nvSpPr>
          <p:cNvPr id="11" name="Text 9"/>
          <p:cNvSpPr/>
          <p:nvPr/>
        </p:nvSpPr>
        <p:spPr>
          <a:xfrm>
            <a:off x="594360" y="2157984"/>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muffin</a:t>
            </a:r>
            <a:endParaRPr lang="en-US" sz="1400" dirty="0"/>
          </a:p>
        </p:txBody>
      </p:sp>
      <p:sp>
        <p:nvSpPr>
          <p:cNvPr id="12" name="Shape 10"/>
          <p:cNvSpPr/>
          <p:nvPr/>
        </p:nvSpPr>
        <p:spPr>
          <a:xfrm>
            <a:off x="4709160" y="1024128"/>
            <a:ext cx="4114800" cy="1426464"/>
          </a:xfrm>
          <a:prstGeom prst="roundRect">
            <a:avLst>
              <a:gd name="adj" fmla="val 6410"/>
            </a:avLst>
          </a:prstGeom>
          <a:solidFill>
            <a:srgbClr val="F0E8FF"/>
          </a:solidFill>
          <a:ln w="19050">
            <a:solidFill>
              <a:srgbClr val="5C2D91"/>
            </a:solidFill>
            <a:prstDash val="solid"/>
          </a:ln>
          <a:effectLst>
            <a:outerShdw sx="100000" sy="100000" kx="0" ky="0" algn="bl" rotWithShape="0" blurRad="101600" dist="38100" dir="2700000">
              <a:srgbClr val="000000">
                <a:alpha val="12000"/>
              </a:srgbClr>
            </a:outerShdw>
          </a:effectLst>
        </p:spPr>
      </p:sp>
      <p:sp>
        <p:nvSpPr>
          <p:cNvPr id="13" name="Text 11"/>
          <p:cNvSpPr/>
          <p:nvPr/>
        </p:nvSpPr>
        <p:spPr>
          <a:xfrm>
            <a:off x="4846320" y="1097280"/>
            <a:ext cx="3840480" cy="347472"/>
          </a:xfrm>
          <a:prstGeom prst="rect">
            <a:avLst/>
          </a:prstGeom>
          <a:noFill/>
          <a:ln/>
        </p:spPr>
        <p:txBody>
          <a:bodyPr wrap="square" lIns="0" tIns="0" rIns="0" bIns="0" rtlCol="0" anchor="ctr"/>
          <a:lstStyle/>
          <a:p>
            <a:pPr indent="0" marL="0">
              <a:buNone/>
            </a:pPr>
            <a:r>
              <a:rPr lang="en-US" sz="1200" b="1" dirty="0">
                <a:solidFill>
                  <a:srgbClr val="5C2D91"/>
                </a:solidFill>
                <a:latin typeface="Calibri" pitchFamily="34" charset="0"/>
                <a:ea typeface="Calibri" pitchFamily="34" charset="-122"/>
                <a:cs typeface="Calibri" pitchFamily="34" charset="-120"/>
              </a:rPr>
              <a:t>Other</a:t>
            </a:r>
            <a:endParaRPr lang="en-US" sz="1200" dirty="0"/>
          </a:p>
        </p:txBody>
      </p:sp>
      <p:sp>
        <p:nvSpPr>
          <p:cNvPr id="14" name="Text 12"/>
          <p:cNvSpPr/>
          <p:nvPr/>
        </p:nvSpPr>
        <p:spPr>
          <a:xfrm>
            <a:off x="4937760" y="1463040"/>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valley</a:t>
            </a:r>
            <a:endParaRPr lang="en-US" sz="1400" dirty="0"/>
          </a:p>
        </p:txBody>
      </p:sp>
      <p:sp>
        <p:nvSpPr>
          <p:cNvPr id="15" name="Text 13"/>
          <p:cNvSpPr/>
          <p:nvPr/>
        </p:nvSpPr>
        <p:spPr>
          <a:xfrm>
            <a:off x="4937760" y="1810512"/>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timber</a:t>
            </a:r>
            <a:endParaRPr lang="en-US" sz="1400" dirty="0"/>
          </a:p>
        </p:txBody>
      </p:sp>
      <p:sp>
        <p:nvSpPr>
          <p:cNvPr id="16" name="Text 14"/>
          <p:cNvSpPr/>
          <p:nvPr/>
        </p:nvSpPr>
        <p:spPr>
          <a:xfrm>
            <a:off x="4937760" y="2157984"/>
            <a:ext cx="3749040" cy="320040"/>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  river</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Reading — Ch. 1–5 Review</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CHAPTERS</a:t>
            </a:r>
            <a:endParaRPr lang="en-US" sz="1100" dirty="0"/>
          </a:p>
        </p:txBody>
      </p:sp>
      <p:sp>
        <p:nvSpPr>
          <p:cNvPr id="5" name="Text 3"/>
          <p:cNvSpPr/>
          <p:nvPr/>
        </p:nvSpPr>
        <p:spPr>
          <a:xfrm>
            <a:off x="457200" y="1005840"/>
            <a:ext cx="8229600" cy="502920"/>
          </a:xfrm>
          <a:prstGeom prst="rect">
            <a:avLst/>
          </a:prstGeom>
          <a:noFill/>
          <a:ln/>
        </p:spPr>
        <p:txBody>
          <a:bodyPr wrap="square" lIns="0" tIns="0" rIns="0" bIns="0" rtlCol="0" anchor="ctr"/>
          <a:lstStyle/>
          <a:p>
            <a:pPr indent="0" marL="0">
              <a:buNone/>
            </a:pPr>
            <a:r>
              <a:rPr lang="en-US" sz="1800" b="1" i="1" dirty="0">
                <a:solidFill>
                  <a:srgbClr val="2A0A4A"/>
                </a:solidFill>
                <a:latin typeface="Calibri" pitchFamily="34" charset="0"/>
                <a:ea typeface="Calibri" pitchFamily="34" charset="-122"/>
                <a:cs typeface="Calibri" pitchFamily="34" charset="-120"/>
              </a:rPr>
              <a:t>Review and Writing Response</a:t>
            </a:r>
            <a:endParaRPr lang="en-US" sz="1800" dirty="0"/>
          </a:p>
        </p:txBody>
      </p:sp>
      <p:sp>
        <p:nvSpPr>
          <p:cNvPr id="6" name="Text 4"/>
          <p:cNvSpPr/>
          <p:nvPr/>
        </p:nvSpPr>
        <p:spPr>
          <a:xfrm>
            <a:off x="365760" y="1627632"/>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PAUSE &amp; THINK</a:t>
            </a:r>
            <a:endParaRPr lang="en-US" sz="1100" dirty="0"/>
          </a:p>
        </p:txBody>
      </p:sp>
      <p:sp>
        <p:nvSpPr>
          <p:cNvPr id="7" name="Shape 5"/>
          <p:cNvSpPr/>
          <p:nvPr/>
        </p:nvSpPr>
        <p:spPr>
          <a:xfrm>
            <a:off x="365760" y="1883664"/>
            <a:ext cx="8412480" cy="804672"/>
          </a:xfrm>
          <a:prstGeom prst="roundRect">
            <a:avLst>
              <a:gd name="adj" fmla="val 909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975104"/>
            <a:ext cx="7863840" cy="621792"/>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1.  When The Whipping Boy sees Jeremy tangled in string and the cat coming, she could have run. She stays and unties him instead. Later, Nicodemus and the rats agree to move her cinderblock house — a dangerous, hours-long job — because she asked for help.</a:t>
            </a:r>
            <a:endParaRPr lang="en-US" sz="1400" dirty="0"/>
          </a:p>
        </p:txBody>
      </p:sp>
      <p:sp>
        <p:nvSpPr>
          <p:cNvPr id="9" name="Shape 7"/>
          <p:cNvSpPr/>
          <p:nvPr/>
        </p:nvSpPr>
        <p:spPr>
          <a:xfrm>
            <a:off x="365760" y="2798064"/>
            <a:ext cx="8412480" cy="804672"/>
          </a:xfrm>
          <a:prstGeom prst="roundRect">
            <a:avLst>
              <a:gd name="adj" fmla="val 909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594360" y="2889504"/>
            <a:ext cx="7863840" cy="621792"/>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2.  Think back over all five chapters. What is the biggest conflict — between which characters, and over what?</a:t>
            </a:r>
            <a:endParaRPr lang="en-US" sz="1400" dirty="0"/>
          </a:p>
        </p:txBody>
      </p:sp>
      <p:sp>
        <p:nvSpPr>
          <p:cNvPr id="11" name="Shape 9"/>
          <p:cNvSpPr/>
          <p:nvPr/>
        </p:nvSpPr>
        <p:spPr>
          <a:xfrm>
            <a:off x="365760" y="3712464"/>
            <a:ext cx="8412480" cy="658368"/>
          </a:xfrm>
          <a:prstGeom prst="roundRect">
            <a:avLst>
              <a:gd name="adj" fmla="val 11111"/>
            </a:avLst>
          </a:prstGeom>
          <a:solidFill>
            <a:srgbClr val="FFF8E8"/>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594360" y="3803904"/>
            <a:ext cx="7863840" cy="475488"/>
          </a:xfrm>
          <a:prstGeom prst="rect">
            <a:avLst/>
          </a:prstGeom>
          <a:noFill/>
          <a:ln/>
        </p:spPr>
        <p:txBody>
          <a:bodyPr wrap="square" lIns="0" tIns="0" rIns="0" bIns="0" rtlCol="0" anchor="ctr"/>
          <a:lstStyle/>
          <a:p>
            <a:pPr indent="0" marL="0">
              <a:buNone/>
            </a:pPr>
            <a:r>
              <a:rPr lang="en-US" sz="1400" dirty="0">
                <a:solidFill>
                  <a:srgbClr val="1E293B"/>
                </a:solidFill>
                <a:latin typeface="Calibri" pitchFamily="34" charset="0"/>
                <a:ea typeface="Calibri" pitchFamily="34" charset="-122"/>
                <a:cs typeface="Calibri" pitchFamily="34" charset="-120"/>
              </a:rPr>
              <a:t>3.  The story has just begun. What do you predict will happen when Billy tries to read the ransom note?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Read like a Reader · Read like a Writer · Mimic</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MENTOR SENTENCE</a:t>
            </a:r>
            <a:endParaRPr lang="en-US" sz="1100" dirty="0"/>
          </a:p>
        </p:txBody>
      </p:sp>
      <p:sp>
        <p:nvSpPr>
          <p:cNvPr id="5" name="Shape 3"/>
          <p:cNvSpPr/>
          <p:nvPr/>
        </p:nvSpPr>
        <p:spPr>
          <a:xfrm>
            <a:off x="365760" y="1042416"/>
            <a:ext cx="8412480" cy="914400"/>
          </a:xfrm>
          <a:prstGeom prst="roundRect">
            <a:avLst>
              <a:gd name="adj" fmla="val 10000"/>
            </a:avLst>
          </a:prstGeom>
          <a:solidFill>
            <a:srgbClr val="F0E8FF"/>
          </a:solidFill>
          <a:ln w="12700">
            <a:solidFill>
              <a:srgbClr val="B8860B"/>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685800"/>
          </a:xfrm>
          <a:prstGeom prst="rect">
            <a:avLst/>
          </a:prstGeom>
          <a:noFill/>
          <a:ln/>
        </p:spPr>
        <p:txBody>
          <a:bodyPr wrap="square" lIns="0" tIns="0" rIns="0" bIns="0" rtlCol="0" anchor="ctr"/>
          <a:lstStyle/>
          <a:p>
            <a:pPr indent="0" marL="0">
              <a:buNone/>
            </a:pPr>
            <a:r>
              <a:rPr lang="en-US" sz="1800" i="1" dirty="0">
                <a:solidFill>
                  <a:srgbClr val="2A0A4A"/>
                </a:solidFill>
                <a:latin typeface="Calibri" pitchFamily="34" charset="0"/>
                <a:ea typeface="Calibri" pitchFamily="34" charset="-122"/>
                <a:cs typeface="Calibri" pitchFamily="34" charset="-120"/>
              </a:rPr>
              <a:t>"He had lived in the castle all his life. He had seen things a boy ought never to see."</a:t>
            </a:r>
            <a:endParaRPr lang="en-US" sz="1800" dirty="0"/>
          </a:p>
        </p:txBody>
      </p:sp>
      <p:sp>
        <p:nvSpPr>
          <p:cNvPr id="7" name="Text 5"/>
          <p:cNvSpPr/>
          <p:nvPr/>
        </p:nvSpPr>
        <p:spPr>
          <a:xfrm>
            <a:off x="457200" y="2048256"/>
            <a:ext cx="8229600" cy="347472"/>
          </a:xfrm>
          <a:prstGeom prst="rect">
            <a:avLst/>
          </a:prstGeom>
          <a:noFill/>
          <a:ln/>
        </p:spPr>
        <p:txBody>
          <a:bodyPr wrap="square" lIns="0" tIns="0" rIns="0" bIns="0" rtlCol="0" anchor="ctr"/>
          <a:lstStyle/>
          <a:p>
            <a:pPr indent="0" marL="0">
              <a:buNone/>
            </a:pPr>
            <a:r>
              <a:rPr lang="en-US" sz="1300" i="1" dirty="0">
                <a:solidFill>
                  <a:srgbClr val="5C2D91"/>
                </a:solidFill>
                <a:latin typeface="Calibri" pitchFamily="34" charset="0"/>
                <a:ea typeface="Calibri" pitchFamily="34" charset="-122"/>
                <a:cs typeface="Calibri" pitchFamily="34" charset="-120"/>
              </a:rPr>
              <a:t>📌 Craft focus: parallel sentences — same structure, escalating meaning</a:t>
            </a:r>
            <a:endParaRPr lang="en-US" sz="1300" dirty="0"/>
          </a:p>
        </p:txBody>
      </p:sp>
      <p:sp>
        <p:nvSpPr>
          <p:cNvPr id="8" name="Text 6"/>
          <p:cNvSpPr/>
          <p:nvPr/>
        </p:nvSpPr>
        <p:spPr>
          <a:xfrm>
            <a:off x="365760" y="2487168"/>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YOUR THREE JOBS</a:t>
            </a:r>
            <a:endParaRPr lang="en-US" sz="1100" dirty="0"/>
          </a:p>
        </p:txBody>
      </p:sp>
      <p:sp>
        <p:nvSpPr>
          <p:cNvPr id="9" name="Shape 7"/>
          <p:cNvSpPr/>
          <p:nvPr/>
        </p:nvSpPr>
        <p:spPr>
          <a:xfrm>
            <a:off x="365760" y="2724912"/>
            <a:ext cx="8412480" cy="438912"/>
          </a:xfrm>
          <a:prstGeom prst="roundRect">
            <a:avLst>
              <a:gd name="adj" fmla="val 20833"/>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779776"/>
            <a:ext cx="2560320" cy="329184"/>
          </a:xfrm>
          <a:prstGeom prst="rect">
            <a:avLst/>
          </a:prstGeom>
          <a:noFill/>
          <a:ln/>
        </p:spPr>
        <p:txBody>
          <a:bodyPr wrap="square" lIns="0" tIns="0" rIns="0" bIns="0" rtlCol="0" anchor="ctr"/>
          <a:lstStyle/>
          <a:p>
            <a:pPr indent="0" marL="0">
              <a:buNone/>
            </a:pPr>
            <a:r>
              <a:rPr lang="en-US" sz="1300" b="1" dirty="0">
                <a:solidFill>
                  <a:srgbClr val="2A0A4A"/>
                </a:solidFill>
                <a:latin typeface="Calibri" pitchFamily="34" charset="0"/>
                <a:ea typeface="Calibri" pitchFamily="34" charset="-122"/>
                <a:cs typeface="Calibri" pitchFamily="34" charset="-120"/>
              </a:rPr>
              <a:t>📖 Read like a Reader</a:t>
            </a:r>
            <a:endParaRPr lang="en-US" sz="1300" dirty="0"/>
          </a:p>
        </p:txBody>
      </p:sp>
      <p:sp>
        <p:nvSpPr>
          <p:cNvPr id="11" name="Text 9"/>
          <p:cNvSpPr/>
          <p:nvPr/>
        </p:nvSpPr>
        <p:spPr>
          <a:xfrm>
            <a:off x="3246120" y="2779776"/>
            <a:ext cx="5394960" cy="329184"/>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What is happening here? What does this moment reveal about the character?</a:t>
            </a:r>
            <a:endParaRPr lang="en-US" sz="1200" dirty="0"/>
          </a:p>
        </p:txBody>
      </p:sp>
      <p:sp>
        <p:nvSpPr>
          <p:cNvPr id="12" name="Shape 10"/>
          <p:cNvSpPr/>
          <p:nvPr/>
        </p:nvSpPr>
        <p:spPr>
          <a:xfrm>
            <a:off x="365760" y="3227832"/>
            <a:ext cx="8412480" cy="438912"/>
          </a:xfrm>
          <a:prstGeom prst="roundRect">
            <a:avLst>
              <a:gd name="adj" fmla="val 20833"/>
            </a:avLst>
          </a:prstGeom>
          <a:solidFill>
            <a:srgbClr val="F0E8FF"/>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3282696"/>
            <a:ext cx="2560320" cy="329184"/>
          </a:xfrm>
          <a:prstGeom prst="rect">
            <a:avLst/>
          </a:prstGeom>
          <a:noFill/>
          <a:ln/>
        </p:spPr>
        <p:txBody>
          <a:bodyPr wrap="square" lIns="0" tIns="0" rIns="0" bIns="0" rtlCol="0" anchor="ctr"/>
          <a:lstStyle/>
          <a:p>
            <a:pPr indent="0" marL="0">
              <a:buNone/>
            </a:pPr>
            <a:r>
              <a:rPr lang="en-US" sz="1300" b="1" dirty="0">
                <a:solidFill>
                  <a:srgbClr val="2A0A4A"/>
                </a:solidFill>
                <a:latin typeface="Calibri" pitchFamily="34" charset="0"/>
                <a:ea typeface="Calibri" pitchFamily="34" charset="-122"/>
                <a:cs typeface="Calibri" pitchFamily="34" charset="-120"/>
              </a:rPr>
              <a:t>✏️ Read like a Writer</a:t>
            </a:r>
            <a:endParaRPr lang="en-US" sz="1300" dirty="0"/>
          </a:p>
        </p:txBody>
      </p:sp>
      <p:sp>
        <p:nvSpPr>
          <p:cNvPr id="14" name="Text 12"/>
          <p:cNvSpPr/>
          <p:nvPr/>
        </p:nvSpPr>
        <p:spPr>
          <a:xfrm>
            <a:off x="3246120" y="3282696"/>
            <a:ext cx="5394960" cy="329184"/>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What did the author do? Name the craft technique and explain why it works.</a:t>
            </a:r>
            <a:endParaRPr lang="en-US" sz="1200" dirty="0"/>
          </a:p>
        </p:txBody>
      </p:sp>
      <p:sp>
        <p:nvSpPr>
          <p:cNvPr id="15" name="Shape 13"/>
          <p:cNvSpPr/>
          <p:nvPr/>
        </p:nvSpPr>
        <p:spPr>
          <a:xfrm>
            <a:off x="365760" y="3730752"/>
            <a:ext cx="8412480" cy="438912"/>
          </a:xfrm>
          <a:prstGeom prst="roundRect">
            <a:avLst>
              <a:gd name="adj" fmla="val 20833"/>
            </a:avLst>
          </a:prstGeom>
          <a:solidFill>
            <a:srgbClr val="E8F8EF"/>
          </a:solidFill>
          <a:ln/>
          <a:effectLst>
            <a:outerShdw sx="100000" sy="100000" kx="0" ky="0" algn="bl" rotWithShape="0" blurRad="101600" dist="38100" dir="2700000">
              <a:srgbClr val="000000">
                <a:alpha val="12000"/>
              </a:srgbClr>
            </a:outerShdw>
          </a:effectLst>
        </p:spPr>
      </p:sp>
      <p:sp>
        <p:nvSpPr>
          <p:cNvPr id="16" name="Text 14"/>
          <p:cNvSpPr/>
          <p:nvPr/>
        </p:nvSpPr>
        <p:spPr>
          <a:xfrm>
            <a:off x="594360" y="3785616"/>
            <a:ext cx="2560320" cy="329184"/>
          </a:xfrm>
          <a:prstGeom prst="rect">
            <a:avLst/>
          </a:prstGeom>
          <a:noFill/>
          <a:ln/>
        </p:spPr>
        <p:txBody>
          <a:bodyPr wrap="square" lIns="0" tIns="0" rIns="0" bIns="0" rtlCol="0" anchor="ctr"/>
          <a:lstStyle/>
          <a:p>
            <a:pPr indent="0" marL="0">
              <a:buNone/>
            </a:pPr>
            <a:r>
              <a:rPr lang="en-US" sz="1300" b="1" dirty="0">
                <a:solidFill>
                  <a:srgbClr val="2A0A4A"/>
                </a:solidFill>
                <a:latin typeface="Calibri" pitchFamily="34" charset="0"/>
                <a:ea typeface="Calibri" pitchFamily="34" charset="-122"/>
                <a:cs typeface="Calibri" pitchFamily="34" charset="-120"/>
              </a:rPr>
              <a:t>🖊️ Mimic</a:t>
            </a:r>
            <a:endParaRPr lang="en-US" sz="1300" dirty="0"/>
          </a:p>
        </p:txBody>
      </p:sp>
      <p:sp>
        <p:nvSpPr>
          <p:cNvPr id="17" name="Text 15"/>
          <p:cNvSpPr/>
          <p:nvPr/>
        </p:nvSpPr>
        <p:spPr>
          <a:xfrm>
            <a:off x="3246120" y="3785616"/>
            <a:ext cx="5394960" cy="329184"/>
          </a:xfrm>
          <a:prstGeom prst="rect">
            <a:avLst/>
          </a:prstGeom>
          <a:noFill/>
          <a:ln/>
        </p:spPr>
        <p:txBody>
          <a:bodyPr wrap="square" lIns="0" tIns="0" rIns="0" bIns="0" rtlCol="0" anchor="ctr"/>
          <a:lstStyle/>
          <a:p>
            <a:pPr indent="0" marL="0">
              <a:buNone/>
            </a:pPr>
            <a:r>
              <a:rPr lang="en-US" sz="1200" dirty="0">
                <a:solidFill>
                  <a:srgbClr val="1E293B"/>
                </a:solidFill>
                <a:latin typeface="Calibri" pitchFamily="34" charset="0"/>
                <a:ea typeface="Calibri" pitchFamily="34" charset="-122"/>
                <a:cs typeface="Calibri" pitchFamily="34" charset="-120"/>
              </a:rPr>
              <a:t>Write your own sentence using the same pattern as the author.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2A0A4A"/>
                </a:solidFill>
                <a:latin typeface="Calibri" pitchFamily="34" charset="0"/>
                <a:ea typeface="Calibri" pitchFamily="34" charset="-122"/>
                <a:cs typeface="Calibri" pitchFamily="34" charset="-120"/>
              </a:rPr>
              <a:t>✍️ Writer's Workshop — Week 18</a:t>
            </a:r>
            <a:endParaRPr lang="en-US" sz="2800" dirty="0"/>
          </a:p>
        </p:txBody>
      </p:sp>
      <p:sp>
        <p:nvSpPr>
          <p:cNvPr id="3" name="Shape 1"/>
          <p:cNvSpPr/>
          <p:nvPr/>
        </p:nvSpPr>
        <p:spPr>
          <a:xfrm>
            <a:off x="365760" y="749808"/>
            <a:ext cx="8412480" cy="0"/>
          </a:xfrm>
          <a:prstGeom prst="line">
            <a:avLst/>
          </a:prstGeom>
          <a:noFill/>
          <a:ln w="25400">
            <a:solidFill>
              <a:srgbClr val="B8860B"/>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B8860B"/>
                </a:solidFill>
                <a:latin typeface="Calibri" pitchFamily="34" charset="0"/>
                <a:ea typeface="Calibri" pitchFamily="34" charset="-122"/>
                <a:cs typeface="Calibri" pitchFamily="34" charset="-120"/>
              </a:rPr>
              <a:t>WRITING STAGE</a:t>
            </a:r>
            <a:endParaRPr lang="en-US" sz="1100" dirty="0"/>
          </a:p>
        </p:txBody>
      </p:sp>
      <p:sp>
        <p:nvSpPr>
          <p:cNvPr id="5" name="Shape 3"/>
          <p:cNvSpPr/>
          <p:nvPr/>
        </p:nvSpPr>
        <p:spPr>
          <a:xfrm>
            <a:off x="365760" y="1042416"/>
            <a:ext cx="8412480" cy="658368"/>
          </a:xfrm>
          <a:prstGeom prst="roundRect">
            <a:avLst>
              <a:gd name="adj" fmla="val 13889"/>
            </a:avLst>
          </a:prstGeom>
          <a:solidFill>
            <a:srgbClr val="FFF8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33856"/>
            <a:ext cx="7863840" cy="475488"/>
          </a:xfrm>
          <a:prstGeom prst="rect">
            <a:avLst/>
          </a:prstGeom>
          <a:noFill/>
          <a:ln/>
        </p:spPr>
        <p:txBody>
          <a:bodyPr wrap="square" lIns="0" tIns="0" rIns="0" bIns="0" rtlCol="0" anchor="ctr"/>
          <a:lstStyle/>
          <a:p>
            <a:pPr indent="0" marL="0">
              <a:buNone/>
            </a:pPr>
            <a:r>
              <a:rPr lang="en-US" sz="2200" b="1" dirty="0">
                <a:solidFill>
                  <a:srgbClr val="B8860B"/>
                </a:solidFill>
                <a:latin typeface="Calibri" pitchFamily="34" charset="0"/>
                <a:ea typeface="Calibri" pitchFamily="34" charset="-122"/>
                <a:cs typeface="Calibri" pitchFamily="34" charset="-120"/>
              </a:rPr>
              <a:t>🎯 Choose a Claim</a:t>
            </a:r>
            <a:endParaRPr lang="en-US" sz="2200" dirty="0"/>
          </a:p>
        </p:txBody>
      </p:sp>
      <p:sp>
        <p:nvSpPr>
          <p:cNvPr id="7" name="Text 5"/>
          <p:cNvSpPr/>
          <p:nvPr/>
        </p:nvSpPr>
        <p:spPr>
          <a:xfrm>
            <a:off x="365760" y="1828800"/>
            <a:ext cx="8046720" cy="292608"/>
          </a:xfrm>
          <a:prstGeom prst="rect">
            <a:avLst/>
          </a:prstGeom>
          <a:noFill/>
          <a:ln/>
        </p:spPr>
        <p:txBody>
          <a:bodyPr wrap="square" lIns="0" tIns="0" rIns="0" bIns="0" rtlCol="0" anchor="ctr"/>
          <a:lstStyle/>
          <a:p>
            <a:pPr indent="0" marL="0">
              <a:buNone/>
            </a:pPr>
            <a:r>
              <a:rPr lang="en-US" sz="1100" b="1" spc="200" kern="0" dirty="0">
                <a:solidFill>
                  <a:srgbClr val="2A0A4A"/>
                </a:solidFill>
                <a:latin typeface="Calibri" pitchFamily="34" charset="0"/>
                <a:ea typeface="Calibri" pitchFamily="34" charset="-122"/>
                <a:cs typeface="Calibri" pitchFamily="34" charset="-120"/>
              </a:rPr>
              <a:t>TODAY'S FOCUS</a:t>
            </a:r>
            <a:endParaRPr lang="en-US" sz="1100" dirty="0"/>
          </a:p>
        </p:txBody>
      </p:sp>
      <p:sp>
        <p:nvSpPr>
          <p:cNvPr id="8" name="Text 6"/>
          <p:cNvSpPr/>
          <p:nvPr/>
        </p:nvSpPr>
        <p:spPr>
          <a:xfrm>
            <a:off x="457200" y="2084832"/>
            <a:ext cx="8229600" cy="59436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Opinion: make a claim about which character has the harder life.</a:t>
            </a:r>
            <a:endParaRPr lang="en-US" sz="1500" dirty="0"/>
          </a:p>
        </p:txBody>
      </p:sp>
      <p:sp>
        <p:nvSpPr>
          <p:cNvPr id="9" name="Text 7"/>
          <p:cNvSpPr/>
          <p:nvPr/>
        </p:nvSpPr>
        <p:spPr>
          <a:xfrm>
            <a:off x="365760" y="2798064"/>
            <a:ext cx="8046720" cy="292608"/>
          </a:xfrm>
          <a:prstGeom prst="rect">
            <a:avLst/>
          </a:prstGeom>
          <a:noFill/>
          <a:ln/>
        </p:spPr>
        <p:txBody>
          <a:bodyPr wrap="square" lIns="0" tIns="0" rIns="0" bIns="0" rtlCol="0" anchor="ctr"/>
          <a:lstStyle/>
          <a:p>
            <a:pPr indent="0" marL="0">
              <a:buNone/>
            </a:pPr>
            <a:r>
              <a:rPr lang="en-US" sz="1100" b="1" spc="200" kern="0" dirty="0">
                <a:solidFill>
                  <a:srgbClr val="5C2D91"/>
                </a:solidFill>
                <a:latin typeface="Calibri" pitchFamily="34" charset="0"/>
                <a:ea typeface="Calibri" pitchFamily="34" charset="-122"/>
                <a:cs typeface="Calibri" pitchFamily="34" charset="-120"/>
              </a:rPr>
              <a:t>SENTENCE FRAMES</a:t>
            </a:r>
            <a:endParaRPr lang="en-US" sz="1100" dirty="0"/>
          </a:p>
        </p:txBody>
      </p:sp>
      <p:sp>
        <p:nvSpPr>
          <p:cNvPr id="10" name="Text 8"/>
          <p:cNvSpPr/>
          <p:nvPr/>
        </p:nvSpPr>
        <p:spPr>
          <a:xfrm>
            <a:off x="502920" y="3054096"/>
            <a:ext cx="8229600" cy="41148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  "I think ___ has the harder life because ___."</a:t>
            </a:r>
            <a:endParaRPr lang="en-US" sz="1400" dirty="0"/>
          </a:p>
        </p:txBody>
      </p:sp>
      <p:sp>
        <p:nvSpPr>
          <p:cNvPr id="11" name="Text 9"/>
          <p:cNvSpPr/>
          <p:nvPr/>
        </p:nvSpPr>
        <p:spPr>
          <a:xfrm>
            <a:off x="502920" y="3529584"/>
            <a:ext cx="8229600" cy="41148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  "One example is when ___ in Chapter ___."</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2026-07-11T02:16:31Z</dcterms:created>
  <dcterms:modified xsi:type="dcterms:W3CDTF">2026-07-11T02:16:31Z</dcterms:modified>
</cp:coreProperties>
</file>