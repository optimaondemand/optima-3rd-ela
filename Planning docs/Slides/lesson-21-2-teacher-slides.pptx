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16–17: The prince took his first whipping without crying. Something remarkable happened.
TODAY: Ch. 18–19: Small moments carry big meaning today. Watch for accidental words.
BIG Q: In Chapter 18, Jemmy accidentally calls the prince his 'friend.' What does this moment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 prince stumbled and grabbed jemmys sleeve"
Corrected: "The prince stumbled and grabbed Jemmy's sleeve."
Errors: Capital T on The; capital J on Jemmy; apostrophe in Jemmy's (possessive);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 prince stumbled and grabbed jemmys sleeve"
Corrected: "The prince stumbled and grabbed Jemmy's sleeve."
Errors: Capital T on The; capital J on Jemmy; apostrophe in Jemmy's (possessive); period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prospect — to look ahead; an expected result | inspector — one who looks into things officially | spectacle — something worth watching or seeing | respect — to look at with admiration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merriment: Happiness and cheerful laughter; joyful noise. | hubbub: A loud, busy, confusing noise from a crowd. | broadside: A large printed news sheet sold in the street. | grain-fed: Fed well on grain; the sewer rats are large and well-fed.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"They splashed [along the water's edge]." → along the water's edge | "The prince stumbled [over the roots]." → over the roots | "A torch glowed [in the distance]." → in the distance | "Jemmy waited [beneath the bridge]." → beneath the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"They splashed [along the water's edge]." → along the water's edge | "The prince stumbled [over the roots]." → over the roots | "A torch glowed [in the distance]." → in the distance | "Jemmy waited [beneath the bridge]." → beneath the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Silent-e (long vowel + silent e): stone, fire, stripe | r-controlled: corner, bottle, purple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Silent-e (long vowel + silent e): stone, fire, stripe | r-controlled: corner, bottle, purple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18–19
When The Whipping Boy sees Jeremy tangled in string and the cat coming, she could have run. She stays and unties him instead. Later, Nicodemus and the rats agree to move her cinderblock house — a dangerous, hours-long job — because she asked for help.
Jemmy accidentally calls the prince 'my friend.' How does Jemmy feel about this, and what does it suggest?
In the dark sewer, the prince grips Jemmy's hand. What does this moment mean for their friendship?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Revise &amp; Publish
Focus: Revise for strong verbs and clear transitions. Then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21  ·  DAY 2</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18–19</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Of assorted events; Being a full account of the happenings in the dark</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21  ·  Virtue: Loyalty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16–17: The prince took his first whipping without crying. Something remarkable happened.</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18–19: Small moments carry big meaning today. Watch for accidental words.</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In Chapter 18, Jemmy accidentally calls the prince his 'friend.' What does this moment mean?</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look for small moments that carry big meaning. An accidental word like 'friend' can reveal more than a whol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Jemmy straightened and folded his arms.</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stumbled and grabbed jemmys sleeve</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T on The; capital J on Jemmy; apostrophe in Jemmy's (possessive);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stumbled and grabbed jemmys sleeve</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T on The; capital J on Jemmy; apostrophe in Jemmy's (possessive); period ends.</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prince stumbled and grabbed Jemmy's sleeve.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re-</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prospect — to look ahead; an expected result</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inspector — one who looks into things officially</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spectacle — something worth watching or seeing</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respect — to look at with admiration</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merriment   ·   hubbub   ·   broadside   ·   grain-fed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merriment</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Happiness and cheerful laughter; joyful noise.</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hubbub</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loud, busy, confusing noise from a crowd.</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broadside</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large printed news sheet sold in the street.</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grain-fed</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Fed well on grain; the sewer rats are large and well-fed.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Prepositional Phrases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splashed _____.</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stumbled _____.</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 torch glowed _____.</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waited _____.</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Prepositional Phrases (Identify)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splashed </a:t>
            </a:r>
            <a:pPr indent="0" marL="0">
              <a:buNone/>
            </a:pPr>
            <a:r>
              <a:rPr lang="en-US" sz="1500" b="1" u="sng" dirty="0">
                <a:solidFill>
                  <a:srgbClr val="34B76F"/>
                </a:solidFill>
                <a:latin typeface="Calibri" pitchFamily="34" charset="0"/>
                <a:ea typeface="Calibri" pitchFamily="34" charset="-122"/>
                <a:cs typeface="Calibri" pitchFamily="34" charset="-120"/>
              </a:rPr>
              <a:t>along the water's edge</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stumbled </a:t>
            </a:r>
            <a:pPr indent="0" marL="0">
              <a:buNone/>
            </a:pPr>
            <a:r>
              <a:rPr lang="en-US" sz="1500" b="1" u="sng" dirty="0">
                <a:solidFill>
                  <a:srgbClr val="34B76F"/>
                </a:solidFill>
                <a:latin typeface="Calibri" pitchFamily="34" charset="0"/>
                <a:ea typeface="Calibri" pitchFamily="34" charset="-122"/>
                <a:cs typeface="Calibri" pitchFamily="34" charset="-120"/>
              </a:rPr>
              <a:t>over the roots</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 torch glowed </a:t>
            </a:r>
            <a:pPr indent="0" marL="0">
              <a:buNone/>
            </a:pPr>
            <a:r>
              <a:rPr lang="en-US" sz="1500" b="1" u="sng" dirty="0">
                <a:solidFill>
                  <a:srgbClr val="34B76F"/>
                </a:solidFill>
                <a:latin typeface="Calibri" pitchFamily="34" charset="0"/>
                <a:ea typeface="Calibri" pitchFamily="34" charset="-122"/>
                <a:cs typeface="Calibri" pitchFamily="34" charset="-120"/>
              </a:rPr>
              <a:t>in the distance</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waited </a:t>
            </a:r>
            <a:pPr indent="0" marL="0">
              <a:buNone/>
            </a:pPr>
            <a:r>
              <a:rPr lang="en-US" sz="1500" b="1" u="sng" dirty="0">
                <a:solidFill>
                  <a:srgbClr val="34B76F"/>
                </a:solidFill>
                <a:latin typeface="Calibri" pitchFamily="34" charset="0"/>
                <a:ea typeface="Calibri" pitchFamily="34" charset="-122"/>
                <a:cs typeface="Calibri" pitchFamily="34" charset="-120"/>
              </a:rPr>
              <a:t>beneath the bridge</a:t>
            </a:r>
            <a:pPr indent="0" marL="0">
              <a:buNone/>
            </a:pPr>
            <a:r>
              <a:rPr lang="en-US" sz="1500" dirty="0">
                <a:solidFill>
                  <a:srgbClr val="1E293B"/>
                </a:solidFill>
                <a:latin typeface="Calibri" pitchFamily="34" charset="0"/>
                <a:ea typeface="Calibri" pitchFamily="34" charset="-122"/>
                <a:cs typeface="Calibri" pitchFamily="34" charset="-120"/>
              </a:rPr>
              <a: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Syllable Review (Day 2: r-controlled + silent-e)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stone   ·   fire   ·   stripe   ·   corner   ·   bottle   ·   purple</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Silent-e (long vowel + silent e)</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r-controlled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Syllable Review (Day 2: r-controlled + silent-e)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426464"/>
          </a:xfrm>
          <a:prstGeom prst="roundRect">
            <a:avLst>
              <a:gd name="adj" fmla="val 64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Silent-e (long vowel + silent e)</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stone</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fire</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stripe</a:t>
            </a:r>
            <a:endParaRPr lang="en-US" sz="1400" dirty="0"/>
          </a:p>
        </p:txBody>
      </p:sp>
      <p:sp>
        <p:nvSpPr>
          <p:cNvPr id="12" name="Shape 10"/>
          <p:cNvSpPr/>
          <p:nvPr/>
        </p:nvSpPr>
        <p:spPr>
          <a:xfrm>
            <a:off x="4709160" y="1024128"/>
            <a:ext cx="4114800" cy="1426464"/>
          </a:xfrm>
          <a:prstGeom prst="roundRect">
            <a:avLst>
              <a:gd name="adj" fmla="val 6410"/>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r-controlled</a:t>
            </a:r>
            <a:endParaRPr lang="en-US" sz="1200" dirty="0"/>
          </a:p>
        </p:txBody>
      </p:sp>
      <p:sp>
        <p:nvSpPr>
          <p:cNvPr id="14" name="Text 12"/>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corner</a:t>
            </a:r>
            <a:endParaRPr lang="en-US" sz="1400" dirty="0"/>
          </a:p>
        </p:txBody>
      </p:sp>
      <p:sp>
        <p:nvSpPr>
          <p:cNvPr id="15" name="Text 13"/>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bottle</a:t>
            </a:r>
            <a:endParaRPr lang="en-US" sz="1400" dirty="0"/>
          </a:p>
        </p:txBody>
      </p:sp>
      <p:sp>
        <p:nvSpPr>
          <p:cNvPr id="16" name="Text 14"/>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purple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18–19</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Of assorted events; Being a full account of the happenings in the dark sewers</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Jemmy accidentally calls the prince 'my friend.' How does Jemmy feel about this, and what does it suggest?</a:t>
            </a:r>
            <a:endParaRPr lang="en-US" sz="1400" dirty="0"/>
          </a:p>
        </p:txBody>
      </p:sp>
      <p:sp>
        <p:nvSpPr>
          <p:cNvPr id="11" name="Shape 9"/>
          <p:cNvSpPr/>
          <p:nvPr/>
        </p:nvSpPr>
        <p:spPr>
          <a:xfrm>
            <a:off x="365760" y="37124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8039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In the dark sewer, the prince grips Jemmy's hand. What does this moment mean for their friendship?</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21</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Revise &amp; Publish</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Revise for strong verbs and clear transitions. Then publish.</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revised ___ by changing ___ to ___ because it is stronger."</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2026-07-11T02:16:32Z</dcterms:created>
  <dcterms:modified xsi:type="dcterms:W3CDTF">2026-07-11T02:16:32Z</dcterms:modified>
</cp:coreProperties>
</file>