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13.2. Reading: Ch. 41–42.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Give students a moment to think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of sustained writing. Stamina over polish. Do not correct spelling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fix only. Editing is conventions; revision is ideas. Name which one you are asking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or three volunteers. Praise something specific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lens: Good readers look for theme clues. A theme is a lesson the whole story teaches.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 through each highlighted word in the lesson and name what it does right before moving to the fix-it.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Roscuro finally got what he had wanted most in the world, but it tasted different than he expected. 
Look for: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Roscuro finally got what he had wanted most in the world, but it tasted different than he expected. 
Look for: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the word into base + word part. Ask what the part adds to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word appears in the chapters read this week, in the author’s own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talk through the questions before revealing the pattern.
Two adjectives: small describes the mouse, golden describes the thread. A sentence can carry as many adjectives as the writer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talk through the questions before revealing the pattern.
Two adjectives: small describes the mouse, golden describes the thread. A sentence can carry as many adjectives as the writer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small, golden, sweet,, low, dark, deep, brave, sad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small, golden, sweet,, low, dark, deep, brave, sad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A closed syllable ends in a consonant, and that consonant shuts the vowel in so it stays short: nap, kin. Long words are often just two closed syllables stuck together: nap·kin.
Answers: napkin, rabbit, basket, contest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A closed syllable ends in a consonant, and that consonant shuts the vowel in so it stays short: nap, kin. Long words are often just two closed syllables stuck together: nap·kin.
Answers: napkin, rabbit, basket, contest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chapters, then return to the pause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stage for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1A6B"/>
        </a:solidFill>
      </p:bgPr>
    </p:bg>
    <p:spTree>
      <p:nvGrpSpPr>
        <p:cNvPr id="1" name=""/>
        <p:cNvGrpSpPr/>
        <p:nvPr/>
      </p:nvGrpSpPr>
      <p:grpSpPr>
        <a:xfrm>
          <a:off x="0" y="0"/>
          <a:ext cx="0" cy="0"/>
          <a:chOff x="0" y="0"/>
          <a:chExt cx="0" cy="0"/>
        </a:xfrm>
      </p:grpSpPr>
      <p:sp>
        <p:nvSpPr>
          <p:cNvPr id="2" name="Text 0"/>
          <p:cNvSpPr/>
          <p:nvPr/>
        </p:nvSpPr>
        <p:spPr>
          <a:xfrm>
            <a:off x="0" y="822960"/>
            <a:ext cx="9144000" cy="82296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3" name="Text 1"/>
          <p:cNvSpPr/>
          <p:nvPr/>
        </p:nvSpPr>
        <p:spPr>
          <a:xfrm>
            <a:off x="457200" y="1691640"/>
            <a:ext cx="8229600" cy="566928"/>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The Tale of Despereaux</a:t>
            </a:r>
            <a:endParaRPr lang="en-US" sz="3400" dirty="0"/>
          </a:p>
        </p:txBody>
      </p:sp>
      <p:sp>
        <p:nvSpPr>
          <p:cNvPr id="4" name="Text 2"/>
          <p:cNvSpPr/>
          <p:nvPr/>
        </p:nvSpPr>
        <p:spPr>
          <a:xfrm>
            <a:off x="457200" y="2331720"/>
            <a:ext cx="8229600" cy="411480"/>
          </a:xfrm>
          <a:prstGeom prst="rect">
            <a:avLst/>
          </a:prstGeom>
          <a:noFill/>
          <a:ln/>
        </p:spPr>
        <p:txBody>
          <a:bodyPr wrap="square" lIns="0" tIns="0" rIns="0" bIns="0" rtlCol="0" anchor="ctr"/>
          <a:lstStyle/>
          <a:p>
            <a:pPr algn="ctr" indent="0" marL="0">
              <a:buNone/>
            </a:pPr>
            <a:r>
              <a:rPr lang="en-US" sz="2000" dirty="0">
                <a:solidFill>
                  <a:srgbClr val="8B6FC0"/>
                </a:solidFill>
                <a:latin typeface="Calibri" pitchFamily="34" charset="0"/>
                <a:ea typeface="Calibri" pitchFamily="34" charset="-122"/>
                <a:cs typeface="Calibri" pitchFamily="34" charset="-120"/>
              </a:rPr>
              <a:t>Lesson 13.2  ·  Ch. 41–42</a:t>
            </a:r>
            <a:endParaRPr lang="en-US" sz="2000" dirty="0"/>
          </a:p>
        </p:txBody>
      </p:sp>
      <p:sp>
        <p:nvSpPr>
          <p:cNvPr id="5" name="Text 3"/>
          <p:cNvSpPr/>
          <p:nvPr/>
        </p:nvSpPr>
        <p:spPr>
          <a:xfrm>
            <a:off x="457200" y="2880360"/>
            <a:ext cx="8229600" cy="320040"/>
          </a:xfrm>
          <a:prstGeom prst="rect">
            <a:avLst/>
          </a:prstGeom>
          <a:noFill/>
          <a:ln/>
        </p:spPr>
        <p:txBody>
          <a:bodyPr wrap="square" lIns="0" tIns="0" rIns="0" bIns="0" rtlCol="0" anchor="ctr"/>
          <a:lstStyle/>
          <a:p>
            <a:pPr algn="ctr" indent="0" marL="0">
              <a:buNone/>
            </a:pPr>
            <a:r>
              <a:rPr lang="en-US" sz="1400" dirty="0">
                <a:solidFill>
                  <a:srgbClr val="C9BCE4"/>
                </a:solidFill>
                <a:latin typeface="Calibri" pitchFamily="34" charset="0"/>
                <a:ea typeface="Calibri" pitchFamily="34" charset="-122"/>
                <a:cs typeface="Calibri" pitchFamily="34" charset="-120"/>
              </a:rPr>
              <a:t>Grade 3 ELA  ·  Virtue: Courage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10-Minute Write</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READ THE PROMPT — 1 MINUTE</a:t>
            </a:r>
            <a:endParaRPr lang="en-US" sz="1100" dirty="0"/>
          </a:p>
        </p:txBody>
      </p:sp>
      <p:sp>
        <p:nvSpPr>
          <p:cNvPr id="5" name="Shape 3"/>
          <p:cNvSpPr/>
          <p:nvPr/>
        </p:nvSpPr>
        <p:spPr>
          <a:xfrm>
            <a:off x="365760" y="1143000"/>
            <a:ext cx="8412480" cy="1737360"/>
          </a:xfrm>
          <a:prstGeom prst="roundRect">
            <a:avLst>
              <a:gd name="adj" fmla="val 5263"/>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271016"/>
            <a:ext cx="7955280" cy="148132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 king loves his daughter with his whole heart but makes ridiculous laws. Can someone be good and wrong at the same time? Write what you think.</a:t>
            </a:r>
            <a:endParaRPr lang="en-US" sz="1700" dirty="0"/>
          </a:p>
        </p:txBody>
      </p:sp>
      <p:sp>
        <p:nvSpPr>
          <p:cNvPr id="7" name="Text 5"/>
          <p:cNvSpPr/>
          <p:nvPr/>
        </p:nvSpPr>
        <p:spPr>
          <a:xfrm>
            <a:off x="365760" y="3063240"/>
            <a:ext cx="8412480" cy="36576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Think first. You will have five minutes to write.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Writing Time</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5 minutes — keep your pencil moving!</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YOUR PROMPT</a:t>
            </a:r>
            <a:endParaRPr lang="en-US" sz="1100" dirty="0"/>
          </a:p>
        </p:txBody>
      </p:sp>
      <p:sp>
        <p:nvSpPr>
          <p:cNvPr id="6" name="Shape 4"/>
          <p:cNvSpPr/>
          <p:nvPr/>
        </p:nvSpPr>
        <p:spPr>
          <a:xfrm>
            <a:off x="365760" y="1737360"/>
            <a:ext cx="8412480" cy="1417320"/>
          </a:xfrm>
          <a:prstGeom prst="roundRect">
            <a:avLst>
              <a:gd name="adj" fmla="val 6452"/>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65376"/>
            <a:ext cx="7955280" cy="11612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 king loves his daughter with his whole heart but makes ridiculous laws. Can someone be good and wrong at the same time? Write what you think.</a:t>
            </a:r>
            <a:endParaRPr lang="en-US" sz="1700" dirty="0"/>
          </a:p>
        </p:txBody>
      </p:sp>
      <p:sp>
        <p:nvSpPr>
          <p:cNvPr id="8" name="Text 6"/>
          <p:cNvSpPr/>
          <p:nvPr/>
        </p:nvSpPr>
        <p:spPr>
          <a:xfrm>
            <a:off x="365760" y="3291840"/>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Do not stop to erase. If you get stuck, write the last word again and keep going.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Edit &amp; Revise</a:t>
            </a:r>
            <a:endParaRPr lang="en-US" sz="2200" dirty="0"/>
          </a:p>
        </p:txBody>
      </p:sp>
      <p:sp>
        <p:nvSpPr>
          <p:cNvPr id="4" name="Text 2"/>
          <p:cNvSpPr/>
          <p:nvPr/>
        </p:nvSpPr>
        <p:spPr>
          <a:xfrm>
            <a:off x="365760" y="868680"/>
            <a:ext cx="8412480" cy="457200"/>
          </a:xfrm>
          <a:prstGeom prst="rect">
            <a:avLst/>
          </a:prstGeom>
          <a:noFill/>
          <a:ln/>
        </p:spPr>
        <p:txBody>
          <a:bodyPr wrap="square" lIns="0" tIns="0" rIns="0" bIns="0" rtlCol="0" anchor="ctr"/>
          <a:lstStyle/>
          <a:p>
            <a:pPr indent="0" marL="0">
              <a:buNone/>
            </a:pPr>
            <a:r>
              <a:rPr lang="en-US" sz="2400" b="1" dirty="0">
                <a:solidFill>
                  <a:srgbClr val="0E1C42"/>
                </a:solidFill>
                <a:latin typeface="Calibri" pitchFamily="34" charset="0"/>
                <a:ea typeface="Calibri" pitchFamily="34" charset="-122"/>
                <a:cs typeface="Calibri" pitchFamily="34" charset="-120"/>
              </a:rPr>
              <a:t>1 minute — pick ONE thing to fix.</a:t>
            </a:r>
            <a:endParaRPr lang="en-US" sz="2400" dirty="0"/>
          </a:p>
        </p:txBody>
      </p:sp>
      <p:sp>
        <p:nvSpPr>
          <p:cNvPr id="5" name="Text 3"/>
          <p:cNvSpPr/>
          <p:nvPr/>
        </p:nvSpPr>
        <p:spPr>
          <a:xfrm>
            <a:off x="365760" y="141732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TODAY'S EDIT FOCUS</a:t>
            </a:r>
            <a:endParaRPr lang="en-US" sz="1100" dirty="0"/>
          </a:p>
        </p:txBody>
      </p:sp>
      <p:sp>
        <p:nvSpPr>
          <p:cNvPr id="6" name="Shape 4"/>
          <p:cNvSpPr/>
          <p:nvPr/>
        </p:nvSpPr>
        <p:spPr>
          <a:xfrm>
            <a:off x="365760" y="1691640"/>
            <a:ext cx="841248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965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Did I read my writing out loud to check that it makes sense?</a:t>
            </a:r>
            <a:endParaRPr lang="en-US" sz="1700" dirty="0"/>
          </a:p>
        </p:txBody>
      </p:sp>
      <p:sp>
        <p:nvSpPr>
          <p:cNvPr id="8" name="Text 6"/>
          <p:cNvSpPr/>
          <p:nvPr/>
        </p:nvSpPr>
        <p:spPr>
          <a:xfrm>
            <a:off x="365760" y="2651760"/>
            <a:ext cx="841248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Quick check:  </a:t>
            </a:r>
            <a:pPr indent="0" marL="0">
              <a:buNone/>
            </a:pPr>
            <a:r>
              <a:rPr lang="en-US" sz="1500" dirty="0">
                <a:solidFill>
                  <a:srgbClr val="1E293B"/>
                </a:solidFill>
                <a:latin typeface="Calibri" pitchFamily="34" charset="0"/>
                <a:ea typeface="Calibri" pitchFamily="34" charset="-122"/>
                <a:cs typeface="Calibri" pitchFamily="34" charset="-120"/>
              </a:rPr>
              <a:t>capitals  ·  end punctuation  ·  circle a word you are unsure of  ·  read it aloud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Share Time</a:t>
            </a:r>
            <a:endParaRPr lang="en-US" sz="2200" dirty="0"/>
          </a:p>
        </p:txBody>
      </p:sp>
      <p:sp>
        <p:nvSpPr>
          <p:cNvPr id="4" name="Text 2"/>
          <p:cNvSpPr/>
          <p:nvPr/>
        </p:nvSpPr>
        <p:spPr>
          <a:xfrm>
            <a:off x="365760" y="1005840"/>
            <a:ext cx="8412480" cy="54864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3 minutes — let's hear your writing!</a:t>
            </a:r>
            <a:endParaRPr lang="en-US" sz="2600" dirty="0"/>
          </a:p>
        </p:txBody>
      </p:sp>
      <p:sp>
        <p:nvSpPr>
          <p:cNvPr id="5" name="Text 3"/>
          <p:cNvSpPr/>
          <p:nvPr/>
        </p:nvSpPr>
        <p:spPr>
          <a:xfrm>
            <a:off x="365760" y="1691640"/>
            <a:ext cx="8412480" cy="457200"/>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Raise your hand  ·  paste it in the chat  ·  or hold your paper up to the camera</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Today</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READING</a:t>
            </a:r>
            <a:endParaRPr lang="en-US" sz="1100" dirty="0"/>
          </a:p>
        </p:txBody>
      </p:sp>
      <p:sp>
        <p:nvSpPr>
          <p:cNvPr id="5" name="Text 3"/>
          <p:cNvSpPr/>
          <p:nvPr/>
        </p:nvSpPr>
        <p:spPr>
          <a:xfrm>
            <a:off x="365760" y="1014984"/>
            <a:ext cx="84124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Ch. 41–42</a:t>
            </a:r>
            <a:endParaRPr lang="en-US" sz="2000" dirty="0"/>
          </a:p>
        </p:txBody>
      </p:sp>
      <p:sp>
        <p:nvSpPr>
          <p:cNvPr id="6" name="Text 4"/>
          <p:cNvSpPr/>
          <p:nvPr/>
        </p:nvSpPr>
        <p:spPr>
          <a:xfrm>
            <a:off x="365760" y="15087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BIG QUESTION</a:t>
            </a:r>
            <a:endParaRPr lang="en-US" sz="1100" dirty="0"/>
          </a:p>
        </p:txBody>
      </p:sp>
      <p:sp>
        <p:nvSpPr>
          <p:cNvPr id="7" name="Shape 5"/>
          <p:cNvSpPr/>
          <p:nvPr/>
        </p:nvSpPr>
        <p:spPr>
          <a:xfrm>
            <a:off x="365760" y="1746504"/>
            <a:ext cx="8412480" cy="731520"/>
          </a:xfrm>
          <a:prstGeom prst="roundRect">
            <a:avLst>
              <a:gd name="adj" fmla="val 12500"/>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1874520"/>
            <a:ext cx="7955280" cy="4754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What has each character learned by this point?</a:t>
            </a:r>
            <a:endParaRPr lang="en-US" sz="1700" dirty="0"/>
          </a:p>
        </p:txBody>
      </p:sp>
      <p:sp>
        <p:nvSpPr>
          <p:cNvPr id="9" name="Text 7"/>
          <p:cNvSpPr/>
          <p:nvPr/>
        </p:nvSpPr>
        <p:spPr>
          <a:xfrm>
            <a:off x="365760" y="2606040"/>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READING LENS</a:t>
            </a:r>
            <a:endParaRPr lang="en-US" sz="1100" dirty="0"/>
          </a:p>
        </p:txBody>
      </p:sp>
      <p:sp>
        <p:nvSpPr>
          <p:cNvPr id="10" name="Text 8"/>
          <p:cNvSpPr/>
          <p:nvPr/>
        </p:nvSpPr>
        <p:spPr>
          <a:xfrm>
            <a:off x="365760" y="2843784"/>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Good readers look for theme clues. A theme is a lesson the whole story teaches.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CORRECT MODEL — STUDY WHAT IS RIGHT</a:t>
            </a:r>
            <a:endParaRPr lang="en-US" sz="1100" dirty="0"/>
          </a:p>
        </p:txBody>
      </p:sp>
      <p:sp>
        <p:nvSpPr>
          <p:cNvPr id="5" name="Shape 3"/>
          <p:cNvSpPr/>
          <p:nvPr/>
        </p:nvSpPr>
        <p:spPr>
          <a:xfrm>
            <a:off x="365760" y="1078992"/>
            <a:ext cx="8412480" cy="822960"/>
          </a:xfrm>
          <a:prstGeom prst="roundRect">
            <a:avLst>
              <a:gd name="adj" fmla="val 11111"/>
            </a:avLst>
          </a:prstGeom>
          <a:solidFill>
            <a:srgbClr val="E5F7FC"/>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6692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Roscuro reached the light at last, but the light did not make him happy.</a:t>
            </a:r>
            <a:endParaRPr lang="en-US" sz="1700" dirty="0"/>
          </a:p>
        </p:txBody>
      </p:sp>
      <p:sp>
        <p:nvSpPr>
          <p:cNvPr id="7" name="Text 5"/>
          <p:cNvSpPr/>
          <p:nvPr/>
        </p:nvSpPr>
        <p:spPr>
          <a:xfrm>
            <a:off x="365760" y="2103120"/>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NOTICE</a:t>
            </a:r>
            <a:endParaRPr lang="en-US" sz="1100" dirty="0"/>
          </a:p>
        </p:txBody>
      </p:sp>
      <p:sp>
        <p:nvSpPr>
          <p:cNvPr id="8" name="Text 6"/>
          <p:cNvSpPr/>
          <p:nvPr/>
        </p:nvSpPr>
        <p:spPr>
          <a:xfrm>
            <a:off x="365760" y="2359152"/>
            <a:ext cx="8412480" cy="109728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a comma comes before but because it joins two complete sentences. Roscuro is a name and starts with a capital letter. A period ends the sentence.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NOW FIX THIS ONE</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roscuro finally got what he had wanted most in the world but it tasted different than he expected</a:t>
            </a:r>
            <a:endParaRPr lang="en-US" sz="1700" dirty="0"/>
          </a:p>
        </p:txBody>
      </p:sp>
      <p:sp>
        <p:nvSpPr>
          <p:cNvPr id="7" name="Text 5"/>
          <p:cNvSpPr/>
          <p:nvPr/>
        </p:nvSpPr>
        <p:spPr>
          <a:xfrm>
            <a:off x="365760" y="2788920"/>
            <a:ext cx="8412480" cy="36576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Rewrite the sentence correctly in your notebook.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NOW FIX THIS ONE</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roscuro finally got what he had wanted most in the world but it tasted different than he expected</a:t>
            </a:r>
            <a:endParaRPr lang="en-US" sz="1700" dirty="0"/>
          </a:p>
        </p:txBody>
      </p:sp>
      <p:sp>
        <p:nvSpPr>
          <p:cNvPr id="7" name="Shape 5"/>
          <p:cNvSpPr/>
          <p:nvPr/>
        </p:nvSpPr>
        <p:spPr>
          <a:xfrm>
            <a:off x="365760" y="2743200"/>
            <a:ext cx="8412480" cy="1417320"/>
          </a:xfrm>
          <a:prstGeom prst="roundRect">
            <a:avLst>
              <a:gd name="adj" fmla="val 6452"/>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66928" y="2816352"/>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9" name="Text 7"/>
          <p:cNvSpPr/>
          <p:nvPr/>
        </p:nvSpPr>
        <p:spPr>
          <a:xfrm>
            <a:off x="566928" y="3072384"/>
            <a:ext cx="8010144" cy="68580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Roscuro finally got what he had wanted most in the world, but it tasted different than he expected.</a:t>
            </a:r>
            <a:endParaRPr lang="en-US" sz="1400" dirty="0"/>
          </a:p>
          <a:p>
            <a:pPr indent="0" marL="0">
              <a:buNone/>
            </a:pP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Morphology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NON-</a:t>
            </a:r>
            <a:endParaRPr lang="en-US" sz="1100" dirty="0"/>
          </a:p>
        </p:txBody>
      </p:sp>
      <p:sp>
        <p:nvSpPr>
          <p:cNvPr id="5" name="Shape 3"/>
          <p:cNvSpPr/>
          <p:nvPr/>
        </p:nvSpPr>
        <p:spPr>
          <a:xfrm>
            <a:off x="365760" y="1097280"/>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16152"/>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non- means not.</a:t>
            </a:r>
            <a:endParaRPr lang="en-US" sz="1500" dirty="0"/>
          </a:p>
        </p:txBody>
      </p:sp>
      <p:sp>
        <p:nvSpPr>
          <p:cNvPr id="7" name="Shape 5"/>
          <p:cNvSpPr/>
          <p:nvPr/>
        </p:nvSpPr>
        <p:spPr>
          <a:xfrm>
            <a:off x="365760" y="1792224"/>
            <a:ext cx="8412480" cy="621792"/>
          </a:xfrm>
          <a:prstGeom prst="roundRect">
            <a:avLst>
              <a:gd name="adj" fmla="val 14706"/>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11096"/>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nonfiction = writing that is not made up · nonsense = words that do not make sense · nonstop = without stopping</a:t>
            </a:r>
            <a:endParaRPr lang="en-US" sz="1500" dirty="0"/>
          </a:p>
        </p:txBody>
      </p:sp>
      <p:sp>
        <p:nvSpPr>
          <p:cNvPr id="9" name="Shape 7"/>
          <p:cNvSpPr/>
          <p:nvPr/>
        </p:nvSpPr>
        <p:spPr>
          <a:xfrm>
            <a:off x="365760" y="2487168"/>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06040"/>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Practice: Match the Word to Its Meaning! Tap a word, then tap what it means.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Vocabulary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VOCABULARY</a:t>
            </a:r>
            <a:endParaRPr lang="en-US" sz="1100" dirty="0"/>
          </a:p>
        </p:txBody>
      </p:sp>
      <p:sp>
        <p:nvSpPr>
          <p:cNvPr id="5" name="Shape 3"/>
          <p:cNvSpPr/>
          <p:nvPr/>
        </p:nvSpPr>
        <p:spPr>
          <a:xfrm>
            <a:off x="365760" y="109728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needle  </a:t>
            </a:r>
            <a:pPr indent="0" marL="0">
              <a:buNone/>
            </a:pPr>
            <a:r>
              <a:rPr lang="en-US" sz="1400" dirty="0">
                <a:solidFill>
                  <a:srgbClr val="1E293B"/>
                </a:solidFill>
                <a:latin typeface="Calibri" pitchFamily="34" charset="0"/>
                <a:ea typeface="Calibri" pitchFamily="34" charset="-122"/>
                <a:cs typeface="Calibri" pitchFamily="34" charset="-120"/>
              </a:rPr>
              <a:t>A thin, sharp metal tool for sewing — here, a mouse's sword.</a:t>
            </a:r>
            <a:endParaRPr lang="en-US" sz="1700" dirty="0"/>
          </a:p>
        </p:txBody>
      </p:sp>
      <p:sp>
        <p:nvSpPr>
          <p:cNvPr id="7" name="Shape 5"/>
          <p:cNvSpPr/>
          <p:nvPr/>
        </p:nvSpPr>
        <p:spPr>
          <a:xfrm>
            <a:off x="365760" y="18288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forgiven  </a:t>
            </a:r>
            <a:pPr indent="0" marL="0">
              <a:buNone/>
            </a:pPr>
            <a:r>
              <a:rPr lang="en-US" sz="1400" dirty="0">
                <a:solidFill>
                  <a:srgbClr val="1E293B"/>
                </a:solidFill>
                <a:latin typeface="Calibri" pitchFamily="34" charset="0"/>
                <a:ea typeface="Calibri" pitchFamily="34" charset="-122"/>
                <a:cs typeface="Calibri" pitchFamily="34" charset="-120"/>
              </a:rPr>
              <a:t>No longer blamed for something you did wrong.</a:t>
            </a:r>
            <a:endParaRPr lang="en-US" sz="1700" dirty="0"/>
          </a:p>
        </p:txBody>
      </p:sp>
      <p:sp>
        <p:nvSpPr>
          <p:cNvPr id="9" name="Shape 7"/>
          <p:cNvSpPr/>
          <p:nvPr/>
        </p:nvSpPr>
        <p:spPr>
          <a:xfrm>
            <a:off x="365760" y="256032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braver  </a:t>
            </a:r>
            <a:pPr indent="0" marL="0">
              <a:buNone/>
            </a:pPr>
            <a:r>
              <a:rPr lang="en-US" sz="1400" dirty="0">
                <a:solidFill>
                  <a:srgbClr val="1E293B"/>
                </a:solidFill>
                <a:latin typeface="Calibri" pitchFamily="34" charset="0"/>
                <a:ea typeface="Calibri" pitchFamily="34" charset="-122"/>
                <a:cs typeface="Calibri" pitchFamily="34" charset="-120"/>
              </a:rPr>
              <a:t>More willing to face something frightening.</a:t>
            </a:r>
            <a:endParaRPr lang="en-US" sz="1700" dirty="0"/>
          </a:p>
        </p:txBody>
      </p:sp>
      <p:sp>
        <p:nvSpPr>
          <p:cNvPr id="11" name="Shape 9"/>
          <p:cNvSpPr/>
          <p:nvPr/>
        </p:nvSpPr>
        <p:spPr>
          <a:xfrm>
            <a:off x="365760" y="329184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crown  </a:t>
            </a:r>
            <a:pPr indent="0" marL="0">
              <a:buNone/>
            </a:pPr>
            <a:r>
              <a:rPr lang="en-US" sz="1400" dirty="0">
                <a:solidFill>
                  <a:srgbClr val="1E293B"/>
                </a:solidFill>
                <a:latin typeface="Calibri" pitchFamily="34" charset="0"/>
                <a:ea typeface="Calibri" pitchFamily="34" charset="-122"/>
                <a:cs typeface="Calibri" pitchFamily="34" charset="-120"/>
              </a:rPr>
              <a:t>The circle of gold and jewels a king or queen wears.</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 — What do you notice?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ADJECTIVES AND COMPARING</a:t>
            </a:r>
            <a:endParaRPr lang="en-US" sz="1100" dirty="0"/>
          </a:p>
        </p:txBody>
      </p:sp>
      <p:sp>
        <p:nvSpPr>
          <p:cNvPr id="5" name="Text 3"/>
          <p:cNvSpPr/>
          <p:nvPr/>
        </p:nvSpPr>
        <p:spPr>
          <a:xfrm>
            <a:off x="365760" y="987552"/>
            <a:ext cx="8412480" cy="41148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Yesterday you named the two groups. Today the describing words are hiding in sentences — and there is never just one.</a:t>
            </a:r>
            <a:endParaRPr lang="en-US" sz="1500" dirty="0"/>
          </a:p>
        </p:txBody>
      </p:sp>
      <p:sp>
        <p:nvSpPr>
          <p:cNvPr id="6" name="Shape 4"/>
          <p:cNvSpPr/>
          <p:nvPr/>
        </p:nvSpPr>
        <p:spPr>
          <a:xfrm>
            <a:off x="365760" y="1463040"/>
            <a:ext cx="8412480" cy="658368"/>
          </a:xfrm>
          <a:prstGeom prst="roundRect">
            <a:avLst>
              <a:gd name="adj" fmla="val 13889"/>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591056"/>
            <a:ext cx="7955280" cy="402336"/>
          </a:xfrm>
          <a:prstGeom prst="rect">
            <a:avLst/>
          </a:prstGeom>
          <a:noFill/>
          <a:ln/>
        </p:spPr>
        <p:txBody>
          <a:bodyPr wrap="square" lIns="0" tIns="0" rIns="0" bIns="0" rtlCol="0" anchor="ctr"/>
          <a:lstStyle/>
          <a:p>
            <a:pPr indent="0" marL="0">
              <a:buNone/>
            </a:pPr>
            <a:endParaRPr lang="en-US" sz="1700" dirty="0"/>
          </a:p>
        </p:txBody>
      </p:sp>
      <p:sp>
        <p:nvSpPr>
          <p:cNvPr id="8" name="Text 6"/>
          <p:cNvSpPr/>
          <p:nvPr/>
        </p:nvSpPr>
        <p:spPr>
          <a:xfrm>
            <a:off x="594360" y="1591056"/>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b="1" u="sng" dirty="0">
                <a:solidFill>
                  <a:srgbClr val="C7922C"/>
                </a:solidFill>
                <a:latin typeface="Calibri" pitchFamily="34" charset="0"/>
                <a:ea typeface="Calibri" pitchFamily="34" charset="-122"/>
                <a:cs typeface="Calibri" pitchFamily="34" charset="-120"/>
              </a:rPr>
              <a:t>small</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mouse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carried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a</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b="1" u="sng" dirty="0">
                <a:solidFill>
                  <a:srgbClr val="C7922C"/>
                </a:solidFill>
                <a:latin typeface="Calibri" pitchFamily="34" charset="0"/>
                <a:ea typeface="Calibri" pitchFamily="34" charset="-122"/>
                <a:cs typeface="Calibri" pitchFamily="34" charset="-120"/>
              </a:rPr>
              <a:t>golden</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thread.</a:t>
            </a:r>
            <a:endParaRPr lang="en-US" sz="1700" dirty="0"/>
          </a:p>
        </p:txBody>
      </p:sp>
      <p:sp>
        <p:nvSpPr>
          <p:cNvPr id="9" name="Text 7"/>
          <p:cNvSpPr/>
          <p:nvPr/>
        </p:nvSpPr>
        <p:spPr>
          <a:xfrm>
            <a:off x="365760" y="2258568"/>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THINK IT THROUGH</a:t>
            </a:r>
            <a:endParaRPr lang="en-US" sz="1100" dirty="0"/>
          </a:p>
        </p:txBody>
      </p:sp>
      <p:sp>
        <p:nvSpPr>
          <p:cNvPr id="10" name="Text 8"/>
          <p:cNvSpPr/>
          <p:nvPr/>
        </p:nvSpPr>
        <p:spPr>
          <a:xfrm>
            <a:off x="365760" y="2505456"/>
            <a:ext cx="8412480" cy="2313432"/>
          </a:xfrm>
          <a:prstGeom prst="rect">
            <a:avLst/>
          </a:prstGeom>
          <a:noFill/>
          <a:ln/>
        </p:spPr>
        <p:txBody>
          <a:bodyPr wrap="square" lIns="0" tIns="0" rIns="0" bIns="0" rtlCol="0" anchor="t"/>
          <a:lstStyle/>
          <a:p>
            <a:pPr indent="0" marL="0">
              <a:buNone/>
            </a:pPr>
            <a:r>
              <a:rPr lang="en-US" sz="1400" dirty="0">
                <a:solidFill>
                  <a:srgbClr val="1E293B"/>
                </a:solidFill>
                <a:latin typeface="Calibri" pitchFamily="34" charset="0"/>
                <a:ea typeface="Calibri" pitchFamily="34" charset="-122"/>
                <a:cs typeface="Calibri" pitchFamily="34" charset="-120"/>
              </a:rPr>
              <a:t>1.  How many describing words are in the sentence above?</a:t>
            </a:r>
            <a:endParaRPr lang="en-US" sz="1400" dirty="0"/>
          </a:p>
          <a:p>
            <a:pPr indent="0" marL="0">
              <a:buNone/>
            </a:pPr>
            <a:r>
              <a:rPr lang="en-US" sz="1400" dirty="0">
                <a:solidFill>
                  <a:srgbClr val="1E293B"/>
                </a:solidFill>
                <a:latin typeface="Calibri" pitchFamily="34" charset="0"/>
                <a:ea typeface="Calibri" pitchFamily="34" charset="-122"/>
                <a:cs typeface="Calibri" pitchFamily="34" charset="-120"/>
              </a:rPr>
              <a:t>2.  What noun is each one sitting next to?</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 — What do you notice?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ADJECTIVES AND COMPARING</a:t>
            </a:r>
            <a:endParaRPr lang="en-US" sz="1100" dirty="0"/>
          </a:p>
        </p:txBody>
      </p:sp>
      <p:sp>
        <p:nvSpPr>
          <p:cNvPr id="5" name="Text 3"/>
          <p:cNvSpPr/>
          <p:nvPr/>
        </p:nvSpPr>
        <p:spPr>
          <a:xfrm>
            <a:off x="365760" y="987552"/>
            <a:ext cx="8412480" cy="41148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Yesterday you named the two groups. Today the describing words are hiding in sentences — and there is never just one.</a:t>
            </a:r>
            <a:endParaRPr lang="en-US" sz="1500" dirty="0"/>
          </a:p>
        </p:txBody>
      </p:sp>
      <p:sp>
        <p:nvSpPr>
          <p:cNvPr id="6" name="Shape 4"/>
          <p:cNvSpPr/>
          <p:nvPr/>
        </p:nvSpPr>
        <p:spPr>
          <a:xfrm>
            <a:off x="365760" y="1463040"/>
            <a:ext cx="8412480" cy="658368"/>
          </a:xfrm>
          <a:prstGeom prst="roundRect">
            <a:avLst>
              <a:gd name="adj" fmla="val 13889"/>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591056"/>
            <a:ext cx="7955280" cy="402336"/>
          </a:xfrm>
          <a:prstGeom prst="rect">
            <a:avLst/>
          </a:prstGeom>
          <a:noFill/>
          <a:ln/>
        </p:spPr>
        <p:txBody>
          <a:bodyPr wrap="square" lIns="0" tIns="0" rIns="0" bIns="0" rtlCol="0" anchor="ctr"/>
          <a:lstStyle/>
          <a:p>
            <a:pPr indent="0" marL="0">
              <a:buNone/>
            </a:pPr>
            <a:endParaRPr lang="en-US" sz="1700" dirty="0"/>
          </a:p>
        </p:txBody>
      </p:sp>
      <p:sp>
        <p:nvSpPr>
          <p:cNvPr id="8" name="Text 6"/>
          <p:cNvSpPr/>
          <p:nvPr/>
        </p:nvSpPr>
        <p:spPr>
          <a:xfrm>
            <a:off x="594360" y="1591056"/>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b="1" u="sng" dirty="0">
                <a:solidFill>
                  <a:srgbClr val="C7922C"/>
                </a:solidFill>
                <a:latin typeface="Calibri" pitchFamily="34" charset="0"/>
                <a:ea typeface="Calibri" pitchFamily="34" charset="-122"/>
                <a:cs typeface="Calibri" pitchFamily="34" charset="-120"/>
              </a:rPr>
              <a:t>small</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mouse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carried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a</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b="1" u="sng" dirty="0">
                <a:solidFill>
                  <a:srgbClr val="C7922C"/>
                </a:solidFill>
                <a:latin typeface="Calibri" pitchFamily="34" charset="0"/>
                <a:ea typeface="Calibri" pitchFamily="34" charset="-122"/>
                <a:cs typeface="Calibri" pitchFamily="34" charset="-120"/>
              </a:rPr>
              <a:t>golden</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thread.</a:t>
            </a:r>
            <a:endParaRPr lang="en-US" sz="1700" dirty="0"/>
          </a:p>
        </p:txBody>
      </p:sp>
      <p:sp>
        <p:nvSpPr>
          <p:cNvPr id="9" name="Shape 7"/>
          <p:cNvSpPr/>
          <p:nvPr/>
        </p:nvSpPr>
        <p:spPr>
          <a:xfrm>
            <a:off x="365760" y="2258568"/>
            <a:ext cx="8412480" cy="2587752"/>
          </a:xfrm>
          <a:prstGeom prst="roundRect">
            <a:avLst>
              <a:gd name="adj" fmla="val 3534"/>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66928" y="2322576"/>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  THE PATTERN</a:t>
            </a:r>
            <a:endParaRPr lang="en-US" sz="1100" dirty="0"/>
          </a:p>
        </p:txBody>
      </p:sp>
      <p:sp>
        <p:nvSpPr>
          <p:cNvPr id="11" name="Text 9"/>
          <p:cNvSpPr/>
          <p:nvPr/>
        </p:nvSpPr>
        <p:spPr>
          <a:xfrm>
            <a:off x="566928" y="2578608"/>
            <a:ext cx="8010144" cy="2130552"/>
          </a:xfrm>
          <a:prstGeom prst="rect">
            <a:avLst/>
          </a:prstGeom>
          <a:noFill/>
          <a:ln/>
        </p:spPr>
        <p:txBody>
          <a:bodyPr wrap="square" lIns="0" tIns="0" rIns="0" bIns="0" rtlCol="0" anchor="t">
            <a:normAutofit/>
          </a:bodyPr>
          <a:lstStyle/>
          <a:p>
            <a:pPr indent="0" marL="0">
              <a:buNone/>
            </a:pPr>
            <a:r>
              <a:rPr lang="en-US" sz="1300" dirty="0">
                <a:solidFill>
                  <a:srgbClr val="1E293B"/>
                </a:solidFill>
                <a:latin typeface="Calibri" pitchFamily="34" charset="0"/>
                <a:ea typeface="Calibri" pitchFamily="34" charset="-122"/>
                <a:cs typeface="Calibri" pitchFamily="34" charset="-120"/>
              </a:rPr>
              <a:t>Two adjectives: small describes the mouse, golden describes the thread. A sentence can carry as many adjectives as the writer needs.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ADJECTIVES AND COMPARING</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small mouse carried a golden thread.</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Despereaux heard the sweet, low music.</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A dark tunnel led to the deep dungeon.</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brave prisoner told a sad story.</a:t>
            </a:r>
            <a:endParaRPr lang="en-US" sz="1600" dirty="0"/>
          </a:p>
        </p:txBody>
      </p:sp>
      <p:sp>
        <p:nvSpPr>
          <p:cNvPr id="13" name="Text 11"/>
          <p:cNvSpPr/>
          <p:nvPr/>
        </p:nvSpPr>
        <p:spPr>
          <a:xfrm>
            <a:off x="365760" y="4050792"/>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Your turn. Tap every adjective in each sentence — there is more than one. The sentence only finishes when you have found them all.</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ADJECTIVES AND COMPARING</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a:t>
            </a:r>
            <a:pPr indent="0" marL="0">
              <a:buNone/>
            </a:pPr>
            <a:r>
              <a:rPr lang="en-US" sz="1600" b="1" dirty="0">
                <a:solidFill>
                  <a:srgbClr val="34B76F"/>
                </a:solidFill>
                <a:latin typeface="Calibri" pitchFamily="34" charset="0"/>
                <a:ea typeface="Calibri" pitchFamily="34" charset="-122"/>
                <a:cs typeface="Calibri" pitchFamily="34" charset="-120"/>
              </a:rPr>
              <a:t>small </a:t>
            </a:r>
            <a:pPr indent="0" marL="0">
              <a:buNone/>
            </a:pPr>
            <a:r>
              <a:rPr lang="en-US" sz="1600" dirty="0">
                <a:solidFill>
                  <a:srgbClr val="1E293B"/>
                </a:solidFill>
                <a:latin typeface="Calibri" pitchFamily="34" charset="0"/>
                <a:ea typeface="Calibri" pitchFamily="34" charset="-122"/>
                <a:cs typeface="Calibri" pitchFamily="34" charset="-120"/>
              </a:rPr>
              <a:t>mouse </a:t>
            </a:r>
            <a:pPr indent="0" marL="0">
              <a:buNone/>
            </a:pPr>
            <a:r>
              <a:rPr lang="en-US" sz="1600" dirty="0">
                <a:solidFill>
                  <a:srgbClr val="1E293B"/>
                </a:solidFill>
                <a:latin typeface="Calibri" pitchFamily="34" charset="0"/>
                <a:ea typeface="Calibri" pitchFamily="34" charset="-122"/>
                <a:cs typeface="Calibri" pitchFamily="34" charset="-120"/>
              </a:rPr>
              <a:t>carried </a:t>
            </a:r>
            <a:pPr indent="0" marL="0">
              <a:buNone/>
            </a:pPr>
            <a:r>
              <a:rPr lang="en-US" sz="1600" dirty="0">
                <a:solidFill>
                  <a:srgbClr val="1E293B"/>
                </a:solidFill>
                <a:latin typeface="Calibri" pitchFamily="34" charset="0"/>
                <a:ea typeface="Calibri" pitchFamily="34" charset="-122"/>
                <a:cs typeface="Calibri" pitchFamily="34" charset="-120"/>
              </a:rPr>
              <a:t>a </a:t>
            </a:r>
            <a:pPr indent="0" marL="0">
              <a:buNone/>
            </a:pPr>
            <a:r>
              <a:rPr lang="en-US" sz="1600" b="1" dirty="0">
                <a:solidFill>
                  <a:srgbClr val="34B76F"/>
                </a:solidFill>
                <a:latin typeface="Calibri" pitchFamily="34" charset="0"/>
                <a:ea typeface="Calibri" pitchFamily="34" charset="-122"/>
                <a:cs typeface="Calibri" pitchFamily="34" charset="-120"/>
              </a:rPr>
              <a:t>golden </a:t>
            </a:r>
            <a:pPr indent="0" marL="0">
              <a:buNone/>
            </a:pPr>
            <a:r>
              <a:rPr lang="en-US" sz="1600" dirty="0">
                <a:solidFill>
                  <a:srgbClr val="1E293B"/>
                </a:solidFill>
                <a:latin typeface="Calibri" pitchFamily="34" charset="0"/>
                <a:ea typeface="Calibri" pitchFamily="34" charset="-122"/>
                <a:cs typeface="Calibri" pitchFamily="34" charset="-120"/>
              </a:rPr>
              <a:t>thread.</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Despereaux </a:t>
            </a:r>
            <a:pPr indent="0" marL="0">
              <a:buNone/>
            </a:pPr>
            <a:r>
              <a:rPr lang="en-US" sz="1600" dirty="0">
                <a:solidFill>
                  <a:srgbClr val="1E293B"/>
                </a:solidFill>
                <a:latin typeface="Calibri" pitchFamily="34" charset="0"/>
                <a:ea typeface="Calibri" pitchFamily="34" charset="-122"/>
                <a:cs typeface="Calibri" pitchFamily="34" charset="-120"/>
              </a:rPr>
              <a:t>heard </a:t>
            </a:r>
            <a:pPr indent="0" marL="0">
              <a:buNone/>
            </a:pPr>
            <a:r>
              <a:rPr lang="en-US" sz="1600" dirty="0">
                <a:solidFill>
                  <a:srgbClr val="1E293B"/>
                </a:solidFill>
                <a:latin typeface="Calibri" pitchFamily="34" charset="0"/>
                <a:ea typeface="Calibri" pitchFamily="34" charset="-122"/>
                <a:cs typeface="Calibri" pitchFamily="34" charset="-120"/>
              </a:rPr>
              <a:t>the </a:t>
            </a:r>
            <a:pPr indent="0" marL="0">
              <a:buNone/>
            </a:pPr>
            <a:r>
              <a:rPr lang="en-US" sz="1600" b="1" dirty="0">
                <a:solidFill>
                  <a:srgbClr val="34B76F"/>
                </a:solidFill>
                <a:latin typeface="Calibri" pitchFamily="34" charset="0"/>
                <a:ea typeface="Calibri" pitchFamily="34" charset="-122"/>
                <a:cs typeface="Calibri" pitchFamily="34" charset="-120"/>
              </a:rPr>
              <a:t>sweet, </a:t>
            </a:r>
            <a:pPr indent="0" marL="0">
              <a:buNone/>
            </a:pPr>
            <a:r>
              <a:rPr lang="en-US" sz="1600" b="1" dirty="0">
                <a:solidFill>
                  <a:srgbClr val="34B76F"/>
                </a:solidFill>
                <a:latin typeface="Calibri" pitchFamily="34" charset="0"/>
                <a:ea typeface="Calibri" pitchFamily="34" charset="-122"/>
                <a:cs typeface="Calibri" pitchFamily="34" charset="-120"/>
              </a:rPr>
              <a:t>low </a:t>
            </a:r>
            <a:pPr indent="0" marL="0">
              <a:buNone/>
            </a:pPr>
            <a:r>
              <a:rPr lang="en-US" sz="1600" dirty="0">
                <a:solidFill>
                  <a:srgbClr val="1E293B"/>
                </a:solidFill>
                <a:latin typeface="Calibri" pitchFamily="34" charset="0"/>
                <a:ea typeface="Calibri" pitchFamily="34" charset="-122"/>
                <a:cs typeface="Calibri" pitchFamily="34" charset="-120"/>
              </a:rPr>
              <a:t>music.</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A </a:t>
            </a:r>
            <a:pPr indent="0" marL="0">
              <a:buNone/>
            </a:pPr>
            <a:r>
              <a:rPr lang="en-US" sz="1600" b="1" dirty="0">
                <a:solidFill>
                  <a:srgbClr val="34B76F"/>
                </a:solidFill>
                <a:latin typeface="Calibri" pitchFamily="34" charset="0"/>
                <a:ea typeface="Calibri" pitchFamily="34" charset="-122"/>
                <a:cs typeface="Calibri" pitchFamily="34" charset="-120"/>
              </a:rPr>
              <a:t>dark </a:t>
            </a:r>
            <a:pPr indent="0" marL="0">
              <a:buNone/>
            </a:pPr>
            <a:r>
              <a:rPr lang="en-US" sz="1600" dirty="0">
                <a:solidFill>
                  <a:srgbClr val="1E293B"/>
                </a:solidFill>
                <a:latin typeface="Calibri" pitchFamily="34" charset="0"/>
                <a:ea typeface="Calibri" pitchFamily="34" charset="-122"/>
                <a:cs typeface="Calibri" pitchFamily="34" charset="-120"/>
              </a:rPr>
              <a:t>tunnel </a:t>
            </a:r>
            <a:pPr indent="0" marL="0">
              <a:buNone/>
            </a:pPr>
            <a:r>
              <a:rPr lang="en-US" sz="1600" dirty="0">
                <a:solidFill>
                  <a:srgbClr val="1E293B"/>
                </a:solidFill>
                <a:latin typeface="Calibri" pitchFamily="34" charset="0"/>
                <a:ea typeface="Calibri" pitchFamily="34" charset="-122"/>
                <a:cs typeface="Calibri" pitchFamily="34" charset="-120"/>
              </a:rPr>
              <a:t>led </a:t>
            </a:r>
            <a:pPr indent="0" marL="0">
              <a:buNone/>
            </a:pPr>
            <a:r>
              <a:rPr lang="en-US" sz="1600" dirty="0">
                <a:solidFill>
                  <a:srgbClr val="1E293B"/>
                </a:solidFill>
                <a:latin typeface="Calibri" pitchFamily="34" charset="0"/>
                <a:ea typeface="Calibri" pitchFamily="34" charset="-122"/>
                <a:cs typeface="Calibri" pitchFamily="34" charset="-120"/>
              </a:rPr>
              <a:t>to </a:t>
            </a:r>
            <a:pPr indent="0" marL="0">
              <a:buNone/>
            </a:pPr>
            <a:r>
              <a:rPr lang="en-US" sz="1600" dirty="0">
                <a:solidFill>
                  <a:srgbClr val="1E293B"/>
                </a:solidFill>
                <a:latin typeface="Calibri" pitchFamily="34" charset="0"/>
                <a:ea typeface="Calibri" pitchFamily="34" charset="-122"/>
                <a:cs typeface="Calibri" pitchFamily="34" charset="-120"/>
              </a:rPr>
              <a:t>the </a:t>
            </a:r>
            <a:pPr indent="0" marL="0">
              <a:buNone/>
            </a:pPr>
            <a:r>
              <a:rPr lang="en-US" sz="1600" b="1" dirty="0">
                <a:solidFill>
                  <a:srgbClr val="34B76F"/>
                </a:solidFill>
                <a:latin typeface="Calibri" pitchFamily="34" charset="0"/>
                <a:ea typeface="Calibri" pitchFamily="34" charset="-122"/>
                <a:cs typeface="Calibri" pitchFamily="34" charset="-120"/>
              </a:rPr>
              <a:t>deep </a:t>
            </a:r>
            <a:pPr indent="0" marL="0">
              <a:buNone/>
            </a:pPr>
            <a:r>
              <a:rPr lang="en-US" sz="1600" dirty="0">
                <a:solidFill>
                  <a:srgbClr val="1E293B"/>
                </a:solidFill>
                <a:latin typeface="Calibri" pitchFamily="34" charset="0"/>
                <a:ea typeface="Calibri" pitchFamily="34" charset="-122"/>
                <a:cs typeface="Calibri" pitchFamily="34" charset="-120"/>
              </a:rPr>
              <a:t>dungeon.</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a:t>
            </a:r>
            <a:pPr indent="0" marL="0">
              <a:buNone/>
            </a:pPr>
            <a:r>
              <a:rPr lang="en-US" sz="1600" b="1" dirty="0">
                <a:solidFill>
                  <a:srgbClr val="34B76F"/>
                </a:solidFill>
                <a:latin typeface="Calibri" pitchFamily="34" charset="0"/>
                <a:ea typeface="Calibri" pitchFamily="34" charset="-122"/>
                <a:cs typeface="Calibri" pitchFamily="34" charset="-120"/>
              </a:rPr>
              <a:t>brave </a:t>
            </a:r>
            <a:pPr indent="0" marL="0">
              <a:buNone/>
            </a:pPr>
            <a:r>
              <a:rPr lang="en-US" sz="1600" dirty="0">
                <a:solidFill>
                  <a:srgbClr val="1E293B"/>
                </a:solidFill>
                <a:latin typeface="Calibri" pitchFamily="34" charset="0"/>
                <a:ea typeface="Calibri" pitchFamily="34" charset="-122"/>
                <a:cs typeface="Calibri" pitchFamily="34" charset="-120"/>
              </a:rPr>
              <a:t>prisoner </a:t>
            </a:r>
            <a:pPr indent="0" marL="0">
              <a:buNone/>
            </a:pPr>
            <a:r>
              <a:rPr lang="en-US" sz="1600" dirty="0">
                <a:solidFill>
                  <a:srgbClr val="1E293B"/>
                </a:solidFill>
                <a:latin typeface="Calibri" pitchFamily="34" charset="0"/>
                <a:ea typeface="Calibri" pitchFamily="34" charset="-122"/>
                <a:cs typeface="Calibri" pitchFamily="34" charset="-120"/>
              </a:rPr>
              <a:t>told </a:t>
            </a:r>
            <a:pPr indent="0" marL="0">
              <a:buNone/>
            </a:pPr>
            <a:r>
              <a:rPr lang="en-US" sz="1600" dirty="0">
                <a:solidFill>
                  <a:srgbClr val="1E293B"/>
                </a:solidFill>
                <a:latin typeface="Calibri" pitchFamily="34" charset="0"/>
                <a:ea typeface="Calibri" pitchFamily="34" charset="-122"/>
                <a:cs typeface="Calibri" pitchFamily="34" charset="-120"/>
              </a:rPr>
              <a:t>a </a:t>
            </a:r>
            <a:pPr indent="0" marL="0">
              <a:buNone/>
            </a:pPr>
            <a:r>
              <a:rPr lang="en-US" sz="1600" b="1" dirty="0">
                <a:solidFill>
                  <a:srgbClr val="34B76F"/>
                </a:solidFill>
                <a:latin typeface="Calibri" pitchFamily="34" charset="0"/>
                <a:ea typeface="Calibri" pitchFamily="34" charset="-122"/>
                <a:cs typeface="Calibri" pitchFamily="34" charset="-120"/>
              </a:rPr>
              <a:t>sad </a:t>
            </a:r>
            <a:pPr indent="0" marL="0">
              <a:buNone/>
            </a:pPr>
            <a:r>
              <a:rPr lang="en-US" sz="1600" dirty="0">
                <a:solidFill>
                  <a:srgbClr val="1E293B"/>
                </a:solidFill>
                <a:latin typeface="Calibri" pitchFamily="34" charset="0"/>
                <a:ea typeface="Calibri" pitchFamily="34" charset="-122"/>
                <a:cs typeface="Calibri" pitchFamily="34" charset="-120"/>
              </a:rPr>
              <a:t>story.</a:t>
            </a:r>
            <a:endParaRPr lang="en-US" sz="1600" dirty="0"/>
          </a:p>
        </p:txBody>
      </p:sp>
      <p:sp>
        <p:nvSpPr>
          <p:cNvPr id="13" name="Text 11"/>
          <p:cNvSpPr/>
          <p:nvPr/>
        </p:nvSpPr>
        <p:spPr>
          <a:xfrm>
            <a:off x="365760" y="4050792"/>
            <a:ext cx="8412480" cy="365760"/>
          </a:xfrm>
          <a:prstGeom prst="rect">
            <a:avLst/>
          </a:prstGeom>
          <a:noFill/>
          <a:ln/>
        </p:spPr>
        <p:txBody>
          <a:bodyPr wrap="square" lIns="0" tIns="0" rIns="0" bIns="0" rtlCol="0" anchor="ctr"/>
          <a:lstStyle/>
          <a:p>
            <a:pPr indent="0" marL="0">
              <a:buNone/>
            </a:pPr>
            <a:r>
              <a:rPr lang="en-US" sz="1500" b="1" dirty="0">
                <a:solidFill>
                  <a:srgbClr val="34B76F"/>
                </a:solidFill>
                <a:latin typeface="Calibri" pitchFamily="34" charset="0"/>
                <a:ea typeface="Calibri" pitchFamily="34" charset="-122"/>
                <a:cs typeface="Calibri" pitchFamily="34" charset="-120"/>
              </a:rPr>
              <a:t>✅  Answers revealed</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E1C42"/>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Spelling</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CLOSED SYLLABLES</a:t>
            </a:r>
            <a:endParaRPr lang="en-US" sz="1100" dirty="0"/>
          </a:p>
        </p:txBody>
      </p:sp>
      <p:sp>
        <p:nvSpPr>
          <p:cNvPr id="5" name="Text 3"/>
          <p:cNvSpPr/>
          <p:nvPr/>
        </p:nvSpPr>
        <p:spPr>
          <a:xfrm>
            <a:off x="365760" y="10515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  THE RULE</a:t>
            </a:r>
            <a:endParaRPr lang="en-US" sz="1100" dirty="0"/>
          </a:p>
        </p:txBody>
      </p:sp>
      <p:sp>
        <p:nvSpPr>
          <p:cNvPr id="6" name="Shape 4"/>
          <p:cNvSpPr/>
          <p:nvPr/>
        </p:nvSpPr>
        <p:spPr>
          <a:xfrm>
            <a:off x="365760" y="1298448"/>
            <a:ext cx="8412480" cy="960120"/>
          </a:xfrm>
          <a:prstGeom prst="roundRect">
            <a:avLst>
              <a:gd name="adj" fmla="val 9524"/>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426464"/>
            <a:ext cx="7955280" cy="7040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A closed syllable ends in a consonant, and that consonant shuts the vowel in so it stays short: nap, kin. Long words are often just two closed syllables stuck together: nap·kin.</a:t>
            </a:r>
            <a:endParaRPr lang="en-US" sz="1700" dirty="0"/>
          </a:p>
        </p:txBody>
      </p:sp>
      <p:sp>
        <p:nvSpPr>
          <p:cNvPr id="8" name="Text 6"/>
          <p:cNvSpPr/>
          <p:nvPr/>
        </p:nvSpPr>
        <p:spPr>
          <a:xfrm>
            <a:off x="365760" y="2395728"/>
            <a:ext cx="8412480"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Sound Detective! One word in each row is two closed syllables. Say them out loud and listen for two short vowels.</a:t>
            </a:r>
            <a:endParaRPr lang="en-US" sz="1400" dirty="0"/>
          </a:p>
        </p:txBody>
      </p:sp>
      <p:sp>
        <p:nvSpPr>
          <p:cNvPr id="9" name="Shape 7"/>
          <p:cNvSpPr/>
          <p:nvPr/>
        </p:nvSpPr>
        <p:spPr>
          <a:xfrm>
            <a:off x="365760" y="2852928"/>
            <a:ext cx="8412480" cy="438912"/>
          </a:xfrm>
          <a:prstGeom prst="roundRect">
            <a:avLst>
              <a:gd name="adj" fmla="val 20833"/>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916936"/>
            <a:ext cx="7863840" cy="310896"/>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napkin     ·     </a:t>
            </a:r>
            <a:pPr indent="0" marL="0">
              <a:buNone/>
            </a:pPr>
            <a:r>
              <a:rPr lang="en-US" sz="1500" dirty="0">
                <a:solidFill>
                  <a:srgbClr val="1E293B"/>
                </a:solidFill>
                <a:latin typeface="Calibri" pitchFamily="34" charset="0"/>
                <a:ea typeface="Calibri" pitchFamily="34" charset="-122"/>
                <a:cs typeface="Calibri" pitchFamily="34" charset="-120"/>
              </a:rPr>
              <a:t>table     ·     </a:t>
            </a:r>
            <a:pPr indent="0" marL="0">
              <a:buNone/>
            </a:pPr>
            <a:r>
              <a:rPr lang="en-US" sz="1500" dirty="0">
                <a:solidFill>
                  <a:srgbClr val="1E293B"/>
                </a:solidFill>
                <a:latin typeface="Calibri" pitchFamily="34" charset="0"/>
                <a:ea typeface="Calibri" pitchFamily="34" charset="-122"/>
                <a:cs typeface="Calibri" pitchFamily="34" charset="-120"/>
              </a:rPr>
              <a:t>paper     ·     </a:t>
            </a:r>
            <a:pPr indent="0" marL="0">
              <a:buNone/>
            </a:pPr>
            <a:r>
              <a:rPr lang="en-US" sz="1500" dirty="0">
                <a:solidFill>
                  <a:srgbClr val="1E293B"/>
                </a:solidFill>
                <a:latin typeface="Calibri" pitchFamily="34" charset="0"/>
                <a:ea typeface="Calibri" pitchFamily="34" charset="-122"/>
                <a:cs typeface="Calibri" pitchFamily="34" charset="-120"/>
              </a:rPr>
              <a:t>tiger</a:t>
            </a:r>
            <a:endParaRPr lang="en-US" sz="1500" dirty="0"/>
          </a:p>
        </p:txBody>
      </p:sp>
      <p:sp>
        <p:nvSpPr>
          <p:cNvPr id="11" name="Shape 9"/>
          <p:cNvSpPr/>
          <p:nvPr/>
        </p:nvSpPr>
        <p:spPr>
          <a:xfrm>
            <a:off x="365760" y="3337560"/>
            <a:ext cx="8412480" cy="438912"/>
          </a:xfrm>
          <a:prstGeom prst="roundRect">
            <a:avLst>
              <a:gd name="adj" fmla="val 20833"/>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01568"/>
            <a:ext cx="7863840" cy="310896"/>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open     ·     </a:t>
            </a:r>
            <a:pPr indent="0" marL="0">
              <a:buNone/>
            </a:pPr>
            <a:r>
              <a:rPr lang="en-US" sz="1500" dirty="0">
                <a:solidFill>
                  <a:srgbClr val="1E293B"/>
                </a:solidFill>
                <a:latin typeface="Calibri" pitchFamily="34" charset="0"/>
                <a:ea typeface="Calibri" pitchFamily="34" charset="-122"/>
                <a:cs typeface="Calibri" pitchFamily="34" charset="-120"/>
              </a:rPr>
              <a:t>rabbit     ·     </a:t>
            </a:r>
            <a:pPr indent="0" marL="0">
              <a:buNone/>
            </a:pPr>
            <a:r>
              <a:rPr lang="en-US" sz="1500" dirty="0">
                <a:solidFill>
                  <a:srgbClr val="1E293B"/>
                </a:solidFill>
                <a:latin typeface="Calibri" pitchFamily="34" charset="0"/>
                <a:ea typeface="Calibri" pitchFamily="34" charset="-122"/>
                <a:cs typeface="Calibri" pitchFamily="34" charset="-120"/>
              </a:rPr>
              <a:t>baby     ·     </a:t>
            </a:r>
            <a:pPr indent="0" marL="0">
              <a:buNone/>
            </a:pPr>
            <a:r>
              <a:rPr lang="en-US" sz="1500" dirty="0">
                <a:solidFill>
                  <a:srgbClr val="1E293B"/>
                </a:solidFill>
                <a:latin typeface="Calibri" pitchFamily="34" charset="0"/>
                <a:ea typeface="Calibri" pitchFamily="34" charset="-122"/>
                <a:cs typeface="Calibri" pitchFamily="34" charset="-120"/>
              </a:rPr>
              <a:t>music</a:t>
            </a:r>
            <a:endParaRPr lang="en-US" sz="1500" dirty="0"/>
          </a:p>
        </p:txBody>
      </p:sp>
      <p:sp>
        <p:nvSpPr>
          <p:cNvPr id="13" name="Shape 11"/>
          <p:cNvSpPr/>
          <p:nvPr/>
        </p:nvSpPr>
        <p:spPr>
          <a:xfrm>
            <a:off x="365760" y="3822192"/>
            <a:ext cx="8412480" cy="438912"/>
          </a:xfrm>
          <a:prstGeom prst="roundRect">
            <a:avLst>
              <a:gd name="adj" fmla="val 20833"/>
            </a:avLst>
          </a:prstGeom>
          <a:solidFill>
            <a:srgbClr val="F8FAFC"/>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886200"/>
            <a:ext cx="7863840" cy="310896"/>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robot     ·     </a:t>
            </a:r>
            <a:pPr indent="0" marL="0">
              <a:buNone/>
            </a:pPr>
            <a:r>
              <a:rPr lang="en-US" sz="1500" dirty="0">
                <a:solidFill>
                  <a:srgbClr val="1E293B"/>
                </a:solidFill>
                <a:latin typeface="Calibri" pitchFamily="34" charset="0"/>
                <a:ea typeface="Calibri" pitchFamily="34" charset="-122"/>
                <a:cs typeface="Calibri" pitchFamily="34" charset="-120"/>
              </a:rPr>
              <a:t>final     ·     </a:t>
            </a:r>
            <a:pPr indent="0" marL="0">
              <a:buNone/>
            </a:pPr>
            <a:r>
              <a:rPr lang="en-US" sz="1500" dirty="0">
                <a:solidFill>
                  <a:srgbClr val="1E293B"/>
                </a:solidFill>
                <a:latin typeface="Calibri" pitchFamily="34" charset="0"/>
                <a:ea typeface="Calibri" pitchFamily="34" charset="-122"/>
                <a:cs typeface="Calibri" pitchFamily="34" charset="-120"/>
              </a:rPr>
              <a:t>basket     ·     </a:t>
            </a:r>
            <a:pPr indent="0" marL="0">
              <a:buNone/>
            </a:pPr>
            <a:r>
              <a:rPr lang="en-US" sz="1500" dirty="0">
                <a:solidFill>
                  <a:srgbClr val="1E293B"/>
                </a:solidFill>
                <a:latin typeface="Calibri" pitchFamily="34" charset="0"/>
                <a:ea typeface="Calibri" pitchFamily="34" charset="-122"/>
                <a:cs typeface="Calibri" pitchFamily="34" charset="-120"/>
              </a:rPr>
              <a:t>lion</a:t>
            </a:r>
            <a:endParaRPr lang="en-US" sz="1500" dirty="0"/>
          </a:p>
        </p:txBody>
      </p:sp>
      <p:sp>
        <p:nvSpPr>
          <p:cNvPr id="15" name="Shape 13"/>
          <p:cNvSpPr/>
          <p:nvPr/>
        </p:nvSpPr>
        <p:spPr>
          <a:xfrm>
            <a:off x="365760" y="4306824"/>
            <a:ext cx="8412480" cy="438912"/>
          </a:xfrm>
          <a:prstGeom prst="roundRect">
            <a:avLst>
              <a:gd name="adj" fmla="val 20833"/>
            </a:avLst>
          </a:prstGeom>
          <a:solidFill>
            <a:srgbClr val="FFFFFF"/>
          </a:solidFill>
          <a:ln/>
          <a:effectLst>
            <a:outerShdw sx="100000" sy="100000" kx="0" ky="0" algn="bl" rotWithShape="0" blurRad="101600" dist="38100" dir="2700000">
              <a:srgbClr val="000000">
                <a:alpha val="12000"/>
              </a:srgbClr>
            </a:outerShdw>
          </a:effectLst>
        </p:spPr>
      </p:sp>
      <p:sp>
        <p:nvSpPr>
          <p:cNvPr id="16" name="Text 14"/>
          <p:cNvSpPr/>
          <p:nvPr/>
        </p:nvSpPr>
        <p:spPr>
          <a:xfrm>
            <a:off x="594360" y="4370832"/>
            <a:ext cx="7863840" cy="310896"/>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silent     ·     </a:t>
            </a:r>
            <a:pPr indent="0" marL="0">
              <a:buNone/>
            </a:pPr>
            <a:r>
              <a:rPr lang="en-US" sz="1500" dirty="0">
                <a:solidFill>
                  <a:srgbClr val="1E293B"/>
                </a:solidFill>
                <a:latin typeface="Calibri" pitchFamily="34" charset="0"/>
                <a:ea typeface="Calibri" pitchFamily="34" charset="-122"/>
                <a:cs typeface="Calibri" pitchFamily="34" charset="-120"/>
              </a:rPr>
              <a:t>pilot     ·     </a:t>
            </a:r>
            <a:pPr indent="0" marL="0">
              <a:buNone/>
            </a:pPr>
            <a:r>
              <a:rPr lang="en-US" sz="1500" dirty="0">
                <a:solidFill>
                  <a:srgbClr val="1E293B"/>
                </a:solidFill>
                <a:latin typeface="Calibri" pitchFamily="34" charset="0"/>
                <a:ea typeface="Calibri" pitchFamily="34" charset="-122"/>
                <a:cs typeface="Calibri" pitchFamily="34" charset="-120"/>
              </a:rPr>
              <a:t>crazy     ·     </a:t>
            </a:r>
            <a:pPr indent="0" marL="0">
              <a:buNone/>
            </a:pPr>
            <a:r>
              <a:rPr lang="en-US" sz="1500" dirty="0">
                <a:solidFill>
                  <a:srgbClr val="1E293B"/>
                </a:solidFill>
                <a:latin typeface="Calibri" pitchFamily="34" charset="0"/>
                <a:ea typeface="Calibri" pitchFamily="34" charset="-122"/>
                <a:cs typeface="Calibri" pitchFamily="34" charset="-120"/>
              </a:rPr>
              <a:t>contest</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E1C42"/>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Spelling</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CLOSED SYLLABLES</a:t>
            </a:r>
            <a:endParaRPr lang="en-US" sz="1100" dirty="0"/>
          </a:p>
        </p:txBody>
      </p:sp>
      <p:sp>
        <p:nvSpPr>
          <p:cNvPr id="5" name="Text 3"/>
          <p:cNvSpPr/>
          <p:nvPr/>
        </p:nvSpPr>
        <p:spPr>
          <a:xfrm>
            <a:off x="365760" y="10515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  THE RULE</a:t>
            </a:r>
            <a:endParaRPr lang="en-US" sz="1100" dirty="0"/>
          </a:p>
        </p:txBody>
      </p:sp>
      <p:sp>
        <p:nvSpPr>
          <p:cNvPr id="6" name="Shape 4"/>
          <p:cNvSpPr/>
          <p:nvPr/>
        </p:nvSpPr>
        <p:spPr>
          <a:xfrm>
            <a:off x="365760" y="1298448"/>
            <a:ext cx="8412480" cy="960120"/>
          </a:xfrm>
          <a:prstGeom prst="roundRect">
            <a:avLst>
              <a:gd name="adj" fmla="val 9524"/>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426464"/>
            <a:ext cx="7955280" cy="7040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A closed syllable ends in a consonant, and that consonant shuts the vowel in so it stays short: nap, kin. Long words are often just two closed syllables stuck together: nap·kin.</a:t>
            </a:r>
            <a:endParaRPr lang="en-US" sz="1700" dirty="0"/>
          </a:p>
        </p:txBody>
      </p:sp>
      <p:sp>
        <p:nvSpPr>
          <p:cNvPr id="8" name="Text 6"/>
          <p:cNvSpPr/>
          <p:nvPr/>
        </p:nvSpPr>
        <p:spPr>
          <a:xfrm>
            <a:off x="365760" y="2395728"/>
            <a:ext cx="8412480"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Sound Detective! One word in each row is two closed syllables. Say them out loud and listen for two short vowels.</a:t>
            </a:r>
            <a:endParaRPr lang="en-US" sz="1400" dirty="0"/>
          </a:p>
        </p:txBody>
      </p:sp>
      <p:sp>
        <p:nvSpPr>
          <p:cNvPr id="9" name="Shape 7"/>
          <p:cNvSpPr/>
          <p:nvPr/>
        </p:nvSpPr>
        <p:spPr>
          <a:xfrm>
            <a:off x="365760" y="2852928"/>
            <a:ext cx="8412480" cy="438912"/>
          </a:xfrm>
          <a:prstGeom prst="roundRect">
            <a:avLst>
              <a:gd name="adj" fmla="val 20833"/>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916936"/>
            <a:ext cx="7863840" cy="310896"/>
          </a:xfrm>
          <a:prstGeom prst="rect">
            <a:avLst/>
          </a:prstGeom>
          <a:noFill/>
          <a:ln/>
        </p:spPr>
        <p:txBody>
          <a:bodyPr wrap="square" lIns="0" tIns="0" rIns="0" bIns="0" rtlCol="0" anchor="ctr"/>
          <a:lstStyle/>
          <a:p>
            <a:pPr indent="0" marL="0">
              <a:buNone/>
            </a:pPr>
            <a:r>
              <a:rPr lang="en-US" sz="1500" b="1" dirty="0">
                <a:solidFill>
                  <a:srgbClr val="34B76F"/>
                </a:solidFill>
                <a:latin typeface="Calibri" pitchFamily="34" charset="0"/>
                <a:ea typeface="Calibri" pitchFamily="34" charset="-122"/>
                <a:cs typeface="Calibri" pitchFamily="34" charset="-120"/>
              </a:rPr>
              <a:t>napkin     ·     </a:t>
            </a:r>
            <a:pPr indent="0" marL="0">
              <a:buNone/>
            </a:pPr>
            <a:r>
              <a:rPr lang="en-US" sz="1500" dirty="0">
                <a:solidFill>
                  <a:srgbClr val="1E293B"/>
                </a:solidFill>
                <a:latin typeface="Calibri" pitchFamily="34" charset="0"/>
                <a:ea typeface="Calibri" pitchFamily="34" charset="-122"/>
                <a:cs typeface="Calibri" pitchFamily="34" charset="-120"/>
              </a:rPr>
              <a:t>table     ·     </a:t>
            </a:r>
            <a:pPr indent="0" marL="0">
              <a:buNone/>
            </a:pPr>
            <a:r>
              <a:rPr lang="en-US" sz="1500" dirty="0">
                <a:solidFill>
                  <a:srgbClr val="1E293B"/>
                </a:solidFill>
                <a:latin typeface="Calibri" pitchFamily="34" charset="0"/>
                <a:ea typeface="Calibri" pitchFamily="34" charset="-122"/>
                <a:cs typeface="Calibri" pitchFamily="34" charset="-120"/>
              </a:rPr>
              <a:t>paper     ·     </a:t>
            </a:r>
            <a:pPr indent="0" marL="0">
              <a:buNone/>
            </a:pPr>
            <a:r>
              <a:rPr lang="en-US" sz="1500" dirty="0">
                <a:solidFill>
                  <a:srgbClr val="1E293B"/>
                </a:solidFill>
                <a:latin typeface="Calibri" pitchFamily="34" charset="0"/>
                <a:ea typeface="Calibri" pitchFamily="34" charset="-122"/>
                <a:cs typeface="Calibri" pitchFamily="34" charset="-120"/>
              </a:rPr>
              <a:t>tiger</a:t>
            </a:r>
            <a:endParaRPr lang="en-US" sz="1500" dirty="0"/>
          </a:p>
        </p:txBody>
      </p:sp>
      <p:sp>
        <p:nvSpPr>
          <p:cNvPr id="11" name="Shape 9"/>
          <p:cNvSpPr/>
          <p:nvPr/>
        </p:nvSpPr>
        <p:spPr>
          <a:xfrm>
            <a:off x="365760" y="3337560"/>
            <a:ext cx="8412480" cy="438912"/>
          </a:xfrm>
          <a:prstGeom prst="roundRect">
            <a:avLst>
              <a:gd name="adj" fmla="val 20833"/>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01568"/>
            <a:ext cx="7863840" cy="310896"/>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open     ·     </a:t>
            </a:r>
            <a:pPr indent="0" marL="0">
              <a:buNone/>
            </a:pPr>
            <a:r>
              <a:rPr lang="en-US" sz="1500" b="1" dirty="0">
                <a:solidFill>
                  <a:srgbClr val="34B76F"/>
                </a:solidFill>
                <a:latin typeface="Calibri" pitchFamily="34" charset="0"/>
                <a:ea typeface="Calibri" pitchFamily="34" charset="-122"/>
                <a:cs typeface="Calibri" pitchFamily="34" charset="-120"/>
              </a:rPr>
              <a:t>rabbit     ·     </a:t>
            </a:r>
            <a:pPr indent="0" marL="0">
              <a:buNone/>
            </a:pPr>
            <a:r>
              <a:rPr lang="en-US" sz="1500" dirty="0">
                <a:solidFill>
                  <a:srgbClr val="1E293B"/>
                </a:solidFill>
                <a:latin typeface="Calibri" pitchFamily="34" charset="0"/>
                <a:ea typeface="Calibri" pitchFamily="34" charset="-122"/>
                <a:cs typeface="Calibri" pitchFamily="34" charset="-120"/>
              </a:rPr>
              <a:t>baby     ·     </a:t>
            </a:r>
            <a:pPr indent="0" marL="0">
              <a:buNone/>
            </a:pPr>
            <a:r>
              <a:rPr lang="en-US" sz="1500" dirty="0">
                <a:solidFill>
                  <a:srgbClr val="1E293B"/>
                </a:solidFill>
                <a:latin typeface="Calibri" pitchFamily="34" charset="0"/>
                <a:ea typeface="Calibri" pitchFamily="34" charset="-122"/>
                <a:cs typeface="Calibri" pitchFamily="34" charset="-120"/>
              </a:rPr>
              <a:t>music</a:t>
            </a:r>
            <a:endParaRPr lang="en-US" sz="1500" dirty="0"/>
          </a:p>
        </p:txBody>
      </p:sp>
      <p:sp>
        <p:nvSpPr>
          <p:cNvPr id="13" name="Shape 11"/>
          <p:cNvSpPr/>
          <p:nvPr/>
        </p:nvSpPr>
        <p:spPr>
          <a:xfrm>
            <a:off x="365760" y="3822192"/>
            <a:ext cx="8412480" cy="438912"/>
          </a:xfrm>
          <a:prstGeom prst="roundRect">
            <a:avLst>
              <a:gd name="adj" fmla="val 20833"/>
            </a:avLst>
          </a:prstGeom>
          <a:solidFill>
            <a:srgbClr val="F8FAFC"/>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886200"/>
            <a:ext cx="7863840" cy="310896"/>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robot     ·     </a:t>
            </a:r>
            <a:pPr indent="0" marL="0">
              <a:buNone/>
            </a:pPr>
            <a:r>
              <a:rPr lang="en-US" sz="1500" dirty="0">
                <a:solidFill>
                  <a:srgbClr val="1E293B"/>
                </a:solidFill>
                <a:latin typeface="Calibri" pitchFamily="34" charset="0"/>
                <a:ea typeface="Calibri" pitchFamily="34" charset="-122"/>
                <a:cs typeface="Calibri" pitchFamily="34" charset="-120"/>
              </a:rPr>
              <a:t>final     ·     </a:t>
            </a:r>
            <a:pPr indent="0" marL="0">
              <a:buNone/>
            </a:pPr>
            <a:r>
              <a:rPr lang="en-US" sz="1500" b="1" dirty="0">
                <a:solidFill>
                  <a:srgbClr val="34B76F"/>
                </a:solidFill>
                <a:latin typeface="Calibri" pitchFamily="34" charset="0"/>
                <a:ea typeface="Calibri" pitchFamily="34" charset="-122"/>
                <a:cs typeface="Calibri" pitchFamily="34" charset="-120"/>
              </a:rPr>
              <a:t>basket     ·     </a:t>
            </a:r>
            <a:pPr indent="0" marL="0">
              <a:buNone/>
            </a:pPr>
            <a:r>
              <a:rPr lang="en-US" sz="1500" dirty="0">
                <a:solidFill>
                  <a:srgbClr val="1E293B"/>
                </a:solidFill>
                <a:latin typeface="Calibri" pitchFamily="34" charset="0"/>
                <a:ea typeface="Calibri" pitchFamily="34" charset="-122"/>
                <a:cs typeface="Calibri" pitchFamily="34" charset="-120"/>
              </a:rPr>
              <a:t>lion</a:t>
            </a:r>
            <a:endParaRPr lang="en-US" sz="1500" dirty="0"/>
          </a:p>
        </p:txBody>
      </p:sp>
      <p:sp>
        <p:nvSpPr>
          <p:cNvPr id="15" name="Shape 13"/>
          <p:cNvSpPr/>
          <p:nvPr/>
        </p:nvSpPr>
        <p:spPr>
          <a:xfrm>
            <a:off x="365760" y="4306824"/>
            <a:ext cx="8412480" cy="438912"/>
          </a:xfrm>
          <a:prstGeom prst="roundRect">
            <a:avLst>
              <a:gd name="adj" fmla="val 20833"/>
            </a:avLst>
          </a:prstGeom>
          <a:solidFill>
            <a:srgbClr val="FFFFFF"/>
          </a:solidFill>
          <a:ln/>
          <a:effectLst>
            <a:outerShdw sx="100000" sy="100000" kx="0" ky="0" algn="bl" rotWithShape="0" blurRad="101600" dist="38100" dir="2700000">
              <a:srgbClr val="000000">
                <a:alpha val="12000"/>
              </a:srgbClr>
            </a:outerShdw>
          </a:effectLst>
        </p:spPr>
      </p:sp>
      <p:sp>
        <p:nvSpPr>
          <p:cNvPr id="16" name="Text 14"/>
          <p:cNvSpPr/>
          <p:nvPr/>
        </p:nvSpPr>
        <p:spPr>
          <a:xfrm>
            <a:off x="594360" y="4370832"/>
            <a:ext cx="7863840" cy="310896"/>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silent     ·     </a:t>
            </a:r>
            <a:pPr indent="0" marL="0">
              <a:buNone/>
            </a:pPr>
            <a:r>
              <a:rPr lang="en-US" sz="1500" dirty="0">
                <a:solidFill>
                  <a:srgbClr val="1E293B"/>
                </a:solidFill>
                <a:latin typeface="Calibri" pitchFamily="34" charset="0"/>
                <a:ea typeface="Calibri" pitchFamily="34" charset="-122"/>
                <a:cs typeface="Calibri" pitchFamily="34" charset="-120"/>
              </a:rPr>
              <a:t>pilot     ·     </a:t>
            </a:r>
            <a:pPr indent="0" marL="0">
              <a:buNone/>
            </a:pPr>
            <a:r>
              <a:rPr lang="en-US" sz="1500" dirty="0">
                <a:solidFill>
                  <a:srgbClr val="1E293B"/>
                </a:solidFill>
                <a:latin typeface="Calibri" pitchFamily="34" charset="0"/>
                <a:ea typeface="Calibri" pitchFamily="34" charset="-122"/>
                <a:cs typeface="Calibri" pitchFamily="34" charset="-120"/>
              </a:rPr>
              <a:t>crazy     ·     </a:t>
            </a:r>
            <a:pPr indent="0" marL="0">
              <a:buNone/>
            </a:pPr>
            <a:r>
              <a:rPr lang="en-US" sz="1500" b="1" dirty="0">
                <a:solidFill>
                  <a:srgbClr val="34B76F"/>
                </a:solidFill>
                <a:latin typeface="Calibri" pitchFamily="34" charset="0"/>
                <a:ea typeface="Calibri" pitchFamily="34" charset="-122"/>
                <a:cs typeface="Calibri" pitchFamily="34" charset="-120"/>
              </a:rPr>
              <a:t>contest</a:t>
            </a:r>
            <a:endParaRPr lang="en-US" sz="1500" dirty="0"/>
          </a:p>
        </p:txBody>
      </p:sp>
      <p:sp>
        <p:nvSpPr>
          <p:cNvPr id="17" name="Text 15"/>
          <p:cNvSpPr/>
          <p:nvPr/>
        </p:nvSpPr>
        <p:spPr>
          <a:xfrm>
            <a:off x="365760" y="4809744"/>
            <a:ext cx="8412480" cy="27432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  Answers revealed</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Read</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Ch. 41–42</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COPYWORK — FROM THE NOVEL</a:t>
            </a:r>
            <a:endParaRPr lang="en-US" sz="1100" dirty="0"/>
          </a:p>
        </p:txBody>
      </p:sp>
      <p:sp>
        <p:nvSpPr>
          <p:cNvPr id="6" name="Shape 4"/>
          <p:cNvSpPr/>
          <p:nvPr/>
        </p:nvSpPr>
        <p:spPr>
          <a:xfrm>
            <a:off x="365760" y="1719072"/>
            <a:ext cx="8412480" cy="1143000"/>
          </a:xfrm>
          <a:prstGeom prst="roundRect">
            <a:avLst>
              <a:gd name="adj" fmla="val 8000"/>
            </a:avLst>
          </a:prstGeom>
          <a:solidFill>
            <a:srgbClr val="F0E8FF"/>
          </a:solidFill>
          <a:ln w="19050">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47088"/>
            <a:ext cx="7955280" cy="88696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“There are thousands of places where she could be hidden, and only the rats would know. Your men would never be able to find her if the rats did not want her found.”</a:t>
            </a:r>
            <a:endParaRPr lang="en-US" sz="1700" dirty="0"/>
          </a:p>
        </p:txBody>
      </p:sp>
      <p:sp>
        <p:nvSpPr>
          <p:cNvPr id="8" name="Text 6"/>
          <p:cNvSpPr/>
          <p:nvPr/>
        </p:nvSpPr>
        <p:spPr>
          <a:xfrm>
            <a:off x="365760" y="301752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9" name="Text 7"/>
          <p:cNvSpPr/>
          <p:nvPr/>
        </p:nvSpPr>
        <p:spPr>
          <a:xfrm>
            <a:off x="365760" y="3273552"/>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Roscuro finally gets what he wanted. Is he satisfied? What does his reaction tell us about what he really needed?</a:t>
            </a:r>
            <a:endParaRPr lang="en-US" sz="1500" dirty="0"/>
          </a:p>
          <a:p>
            <a:pPr indent="0" marL="0">
              <a:buNone/>
            </a:pPr>
            <a:r>
              <a:rPr lang="en-US" sz="1500" dirty="0">
                <a:solidFill>
                  <a:srgbClr val="1E293B"/>
                </a:solidFill>
                <a:latin typeface="Calibri" pitchFamily="34" charset="0"/>
                <a:ea typeface="Calibri" pitchFamily="34" charset="-122"/>
                <a:cs typeface="Calibri" pitchFamily="34" charset="-120"/>
              </a:rPr>
              <a:t>•  The princess makes an unexpected choice. What does she do, and why is it so powerful?</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Writer’s Workshop</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THIS WEEK’S STAGE</a:t>
            </a:r>
            <a:endParaRPr lang="en-US" sz="1100" dirty="0"/>
          </a:p>
        </p:txBody>
      </p:sp>
      <p:sp>
        <p:nvSpPr>
          <p:cNvPr id="5" name="Text 3"/>
          <p:cNvSpPr/>
          <p:nvPr/>
        </p:nvSpPr>
        <p:spPr>
          <a:xfrm>
            <a:off x="365760" y="1078992"/>
            <a:ext cx="8412480" cy="548640"/>
          </a:xfrm>
          <a:prstGeom prst="rect">
            <a:avLst/>
          </a:prstGeom>
          <a:noFill/>
          <a:ln/>
        </p:spPr>
        <p:txBody>
          <a:bodyPr wrap="square" lIns="0" tIns="0" rIns="0" bIns="0" rtlCol="0" anchor="ctr"/>
          <a:lstStyle/>
          <a:p>
            <a:pPr indent="0" marL="0">
              <a:buNone/>
            </a:pPr>
            <a:r>
              <a:rPr lang="en-US" sz="3000" b="1" dirty="0">
                <a:solidFill>
                  <a:srgbClr val="0E1C42"/>
                </a:solidFill>
                <a:latin typeface="Calibri" pitchFamily="34" charset="0"/>
                <a:ea typeface="Calibri" pitchFamily="34" charset="-122"/>
                <a:cs typeface="Calibri" pitchFamily="34" charset="-120"/>
              </a:rPr>
              <a:t>LITERARY RESPONSE</a:t>
            </a:r>
            <a:endParaRPr lang="en-US" sz="3000" dirty="0"/>
          </a:p>
        </p:txBody>
      </p:sp>
      <p:sp>
        <p:nvSpPr>
          <p:cNvPr id="6" name="Text 4"/>
          <p:cNvSpPr/>
          <p:nvPr/>
        </p:nvSpPr>
        <p:spPr>
          <a:xfrm>
            <a:off x="365760" y="1691640"/>
            <a:ext cx="8412480" cy="457200"/>
          </a:xfrm>
          <a:prstGeom prst="rect">
            <a:avLst/>
          </a:prstGeom>
          <a:noFill/>
          <a:ln/>
        </p:spPr>
        <p:txBody>
          <a:bodyPr wrap="square" lIns="0" tIns="0" rIns="0" bIns="0" rtlCol="0" anchor="ctr"/>
          <a:lstStyle/>
          <a:p>
            <a:pPr indent="0" marL="0">
              <a:buNone/>
            </a:pPr>
            <a:r>
              <a:rPr lang="en-US" sz="1800" dirty="0">
                <a:solidFill>
                  <a:srgbClr val="1E293B"/>
                </a:solidFill>
                <a:latin typeface="Calibri" pitchFamily="34" charset="0"/>
                <a:ea typeface="Calibri" pitchFamily="34" charset="-122"/>
                <a:cs typeface="Calibri" pitchFamily="34" charset="-120"/>
              </a:rPr>
              <a:t>Identify your theme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2026-10-19T11:55:31Z</dcterms:created>
  <dcterms:modified xsi:type="dcterms:W3CDTF">2026-10-19T11:55:31Z</dcterms:modified>
</cp:coreProperties>
</file>