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13.2. Reading: Ch. 41–42.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prompt aloud. Give students a moment to think before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minutes of sustained writing. Stamina over polish. Do not correct spelling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fix only. Editing is conventions; revision is ideas. Name which one you are asking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or three volunteers. Praise something specific in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lens: Good readers look for theme clues . A theme is a lesson the whole story teaches.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Corrected:  1. Roscuro finally got what he had wanted most in the world , but it tasted different than he expected.
Look for: Did you catch the proper nouns (Roscuro, princess), the -ly adverbs (quietly, graciously), the comma before "but," and capital letters?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Corrected:  1. Roscuro finally got what he had wanted most in the world , but it tasted different than he expected.
Look for: Did you catch the proper nouns (Roscuro, princess), the -ly adverbs (quietly, graciously), the comma before "but," and capital letters?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Break the word into base + word part. Ask what the part adds to the meaning.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word appears in the chapters read this week, in the author’s own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she?”, “Gone,”, shouted,, 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she?”, “Gone,”, shouted,, 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Soft (/s/ or /j/): mice, prince, magic, gentle | Hard (/k/ or /g/): Cook, candle, gold, garlic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Soft (/s/ or /j/): mice, prince, magic, gentle | Hard (/k/ or /g/): Cook, candle, gold, garlic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chapters, then return to the pause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Writer’s Workshop stage for the week.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3D1A6B"/>
        </a:solidFill>
      </p:bgPr>
    </p:bg>
    <p:spTree>
      <p:nvGrpSpPr>
        <p:cNvPr id="1" name=""/>
        <p:cNvGrpSpPr/>
        <p:nvPr/>
      </p:nvGrpSpPr>
      <p:grpSpPr>
        <a:xfrm>
          <a:off x="0" y="0"/>
          <a:ext cx="0" cy="0"/>
          <a:chOff x="0" y="0"/>
          <a:chExt cx="0" cy="0"/>
        </a:xfrm>
      </p:grpSpPr>
      <p:sp>
        <p:nvSpPr>
          <p:cNvPr id="2" name="Text 0"/>
          <p:cNvSpPr/>
          <p:nvPr/>
        </p:nvSpPr>
        <p:spPr>
          <a:xfrm>
            <a:off x="0" y="822960"/>
            <a:ext cx="9144000" cy="822960"/>
          </a:xfrm>
          <a:prstGeom prst="rect">
            <a:avLst/>
          </a:prstGeom>
          <a:noFill/>
          <a:ln/>
        </p:spPr>
        <p:txBody>
          <a:bodyPr wrap="square" lIns="0" tIns="0" rIns="0" bIns="0" rtlCol="0" anchor="ctr"/>
          <a:lstStyle/>
          <a:p>
            <a:pPr algn="ctr" indent="0" marL="0">
              <a:buNone/>
            </a:pPr>
            <a:r>
              <a:rPr lang="en-US" sz="5200" dirty="0">
                <a:solidFill>
                  <a:srgbClr val="000000"/>
                </a:solidFill>
              </a:rPr>
              <a:t>🐭</a:t>
            </a:r>
            <a:endParaRPr lang="en-US" sz="5200" dirty="0"/>
          </a:p>
        </p:txBody>
      </p:sp>
      <p:sp>
        <p:nvSpPr>
          <p:cNvPr id="3" name="Text 1"/>
          <p:cNvSpPr/>
          <p:nvPr/>
        </p:nvSpPr>
        <p:spPr>
          <a:xfrm>
            <a:off x="457200" y="1691640"/>
            <a:ext cx="8229600" cy="566928"/>
          </a:xfrm>
          <a:prstGeom prst="rect">
            <a:avLst/>
          </a:prstGeom>
          <a:noFill/>
          <a:ln/>
        </p:spPr>
        <p:txBody>
          <a:bodyPr wrap="square" lIns="0" tIns="0" rIns="0" bIns="0" rtlCol="0" anchor="ctr"/>
          <a:lstStyle/>
          <a:p>
            <a:pPr algn="ctr" indent="0" marL="0">
              <a:buNone/>
            </a:pPr>
            <a:r>
              <a:rPr lang="en-US" sz="3400" b="1" dirty="0">
                <a:solidFill>
                  <a:srgbClr val="FFFFFF"/>
                </a:solidFill>
                <a:latin typeface="Calibri" pitchFamily="34" charset="0"/>
                <a:ea typeface="Calibri" pitchFamily="34" charset="-122"/>
                <a:cs typeface="Calibri" pitchFamily="34" charset="-120"/>
              </a:rPr>
              <a:t>The Tale of Despereaux</a:t>
            </a:r>
            <a:endParaRPr lang="en-US" sz="3400" dirty="0"/>
          </a:p>
        </p:txBody>
      </p:sp>
      <p:sp>
        <p:nvSpPr>
          <p:cNvPr id="4" name="Text 2"/>
          <p:cNvSpPr/>
          <p:nvPr/>
        </p:nvSpPr>
        <p:spPr>
          <a:xfrm>
            <a:off x="457200" y="2331720"/>
            <a:ext cx="8229600" cy="411480"/>
          </a:xfrm>
          <a:prstGeom prst="rect">
            <a:avLst/>
          </a:prstGeom>
          <a:noFill/>
          <a:ln/>
        </p:spPr>
        <p:txBody>
          <a:bodyPr wrap="square" lIns="0" tIns="0" rIns="0" bIns="0" rtlCol="0" anchor="ctr"/>
          <a:lstStyle/>
          <a:p>
            <a:pPr algn="ctr" indent="0" marL="0">
              <a:buNone/>
            </a:pPr>
            <a:r>
              <a:rPr lang="en-US" sz="2000" dirty="0">
                <a:solidFill>
                  <a:srgbClr val="8B6FC0"/>
                </a:solidFill>
                <a:latin typeface="Calibri" pitchFamily="34" charset="0"/>
                <a:ea typeface="Calibri" pitchFamily="34" charset="-122"/>
                <a:cs typeface="Calibri" pitchFamily="34" charset="-120"/>
              </a:rPr>
              <a:t>Lesson 13.2  ·  Ch. 41–42</a:t>
            </a:r>
            <a:endParaRPr lang="en-US" sz="2000" dirty="0"/>
          </a:p>
        </p:txBody>
      </p:sp>
      <p:sp>
        <p:nvSpPr>
          <p:cNvPr id="5" name="Text 3"/>
          <p:cNvSpPr/>
          <p:nvPr/>
        </p:nvSpPr>
        <p:spPr>
          <a:xfrm>
            <a:off x="457200" y="2880360"/>
            <a:ext cx="8229600" cy="320040"/>
          </a:xfrm>
          <a:prstGeom prst="rect">
            <a:avLst/>
          </a:prstGeom>
          <a:noFill/>
          <a:ln/>
        </p:spPr>
        <p:txBody>
          <a:bodyPr wrap="square" lIns="0" tIns="0" rIns="0" bIns="0" rtlCol="0" anchor="ctr"/>
          <a:lstStyle/>
          <a:p>
            <a:pPr algn="ctr" indent="0" marL="0">
              <a:buNone/>
            </a:pPr>
            <a:r>
              <a:rPr lang="en-US" sz="1400" dirty="0">
                <a:solidFill>
                  <a:srgbClr val="C9BCE4"/>
                </a:solidFill>
                <a:latin typeface="Calibri" pitchFamily="34" charset="0"/>
                <a:ea typeface="Calibri" pitchFamily="34" charset="-122"/>
                <a:cs typeface="Calibri" pitchFamily="34" charset="-120"/>
              </a:rPr>
              <a:t>Grade 3 ELA  ·  Virtue: Courage</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66928"/>
          </a:xfrm>
          <a:prstGeom prst="rect">
            <a:avLst/>
          </a:prstGeom>
          <a:solidFill>
            <a:srgbClr val="C7922C"/>
          </a:solidFill>
          <a:ln/>
        </p:spPr>
      </p:sp>
      <p:sp>
        <p:nvSpPr>
          <p:cNvPr id="3" name="Text 1"/>
          <p:cNvSpPr/>
          <p:nvPr/>
        </p:nvSpPr>
        <p:spPr>
          <a:xfrm>
            <a:off x="365760" y="54864"/>
            <a:ext cx="8412480" cy="457200"/>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  10-Minute Write</a:t>
            </a:r>
            <a:endParaRPr lang="en-US" sz="2200" dirty="0"/>
          </a:p>
        </p:txBody>
      </p:sp>
      <p:sp>
        <p:nvSpPr>
          <p:cNvPr id="4" name="Text 2"/>
          <p:cNvSpPr/>
          <p:nvPr/>
        </p:nvSpPr>
        <p:spPr>
          <a:xfrm>
            <a:off x="365760" y="822960"/>
            <a:ext cx="8229600" cy="237744"/>
          </a:xfrm>
          <a:prstGeom prst="rect">
            <a:avLst/>
          </a:prstGeom>
          <a:noFill/>
          <a:ln/>
        </p:spPr>
        <p:txBody>
          <a:bodyPr wrap="square" lIns="0" tIns="0" rIns="0" bIns="0" rtlCol="0" anchor="ctr"/>
          <a:lstStyle/>
          <a:p>
            <a:pPr indent="0" marL="0">
              <a:buNone/>
            </a:pPr>
            <a:r>
              <a:rPr lang="en-US" sz="1100" b="1" spc="100" kern="0" dirty="0">
                <a:solidFill>
                  <a:srgbClr val="C7922C"/>
                </a:solidFill>
                <a:latin typeface="Calibri" pitchFamily="34" charset="0"/>
                <a:ea typeface="Calibri" pitchFamily="34" charset="-122"/>
                <a:cs typeface="Calibri" pitchFamily="34" charset="-120"/>
              </a:rPr>
              <a:t>READ THE PROMPT — 1 MINUTE</a:t>
            </a:r>
            <a:endParaRPr lang="en-US" sz="1100" dirty="0"/>
          </a:p>
        </p:txBody>
      </p:sp>
      <p:sp>
        <p:nvSpPr>
          <p:cNvPr id="5" name="Shape 3"/>
          <p:cNvSpPr/>
          <p:nvPr/>
        </p:nvSpPr>
        <p:spPr>
          <a:xfrm>
            <a:off x="365760" y="1143000"/>
            <a:ext cx="8412480" cy="1737360"/>
          </a:xfrm>
          <a:prstGeom prst="roundRect">
            <a:avLst>
              <a:gd name="adj" fmla="val 5263"/>
            </a:avLst>
          </a:prstGeom>
          <a:solidFill>
            <a:srgbClr val="FEF6E8"/>
          </a:solidFill>
          <a:ln w="19050">
            <a:solidFill>
              <a:srgbClr val="C7922C"/>
            </a:solidFill>
            <a:prstDash val="solid"/>
          </a:ln>
          <a:effectLst>
            <a:outerShdw sx="100000" sy="100000" kx="0" ky="0" algn="bl" rotWithShape="0" blurRad="101600" dist="38100" dir="2700000">
              <a:srgbClr val="000000">
                <a:alpha val="12000"/>
              </a:srgbClr>
            </a:outerShdw>
          </a:effectLst>
        </p:spPr>
      </p:sp>
      <p:sp>
        <p:nvSpPr>
          <p:cNvPr id="6" name="Text 4"/>
          <p:cNvSpPr/>
          <p:nvPr/>
        </p:nvSpPr>
        <p:spPr>
          <a:xfrm>
            <a:off x="594360" y="1271016"/>
            <a:ext cx="7955280" cy="1481328"/>
          </a:xfrm>
          <a:prstGeom prst="rect">
            <a:avLst/>
          </a:prstGeom>
          <a:noFill/>
          <a:ln/>
        </p:spPr>
        <p:txBody>
          <a:bodyPr wrap="square" lIns="0" tIns="0" rIns="0" bIns="0" rtlCol="0" anchor="ctr"/>
          <a:lstStyle/>
          <a:p>
            <a:pPr indent="0" marL="0">
              <a:buNone/>
            </a:pPr>
            <a:r>
              <a:rPr lang="en-US" sz="1700" dirty="0">
                <a:solidFill>
                  <a:srgbClr val="1E293B"/>
                </a:solidFill>
                <a:latin typeface="Calibri" pitchFamily="34" charset="0"/>
                <a:ea typeface="Calibri" pitchFamily="34" charset="-122"/>
                <a:cs typeface="Calibri" pitchFamily="34" charset="-120"/>
              </a:rPr>
              <a:t>The king loves his daughter with his whole heart but makes ridiculous laws. Can someone be good and wrong at the same time? Write what you think.</a:t>
            </a:r>
            <a:endParaRPr lang="en-US" sz="1700" dirty="0"/>
          </a:p>
        </p:txBody>
      </p:sp>
      <p:sp>
        <p:nvSpPr>
          <p:cNvPr id="7" name="Text 5"/>
          <p:cNvSpPr/>
          <p:nvPr/>
        </p:nvSpPr>
        <p:spPr>
          <a:xfrm>
            <a:off x="365760" y="3063240"/>
            <a:ext cx="8412480" cy="365760"/>
          </a:xfrm>
          <a:prstGeom prst="rect">
            <a:avLst/>
          </a:prstGeom>
          <a:noFill/>
          <a:ln/>
        </p:spPr>
        <p:txBody>
          <a:bodyPr wrap="square" lIns="0" tIns="0" rIns="0" bIns="0" rtlCol="0" anchor="ctr"/>
          <a:lstStyle/>
          <a:p>
            <a:pPr indent="0" marL="0">
              <a:buNone/>
            </a:pPr>
            <a:r>
              <a:rPr lang="en-US" sz="1600" i="1" dirty="0">
                <a:solidFill>
                  <a:srgbClr val="64748B"/>
                </a:solidFill>
                <a:latin typeface="Calibri" pitchFamily="34" charset="0"/>
                <a:ea typeface="Calibri" pitchFamily="34" charset="-122"/>
                <a:cs typeface="Calibri" pitchFamily="34" charset="-120"/>
              </a:rPr>
              <a:t>Think first. You will have five minutes to write.</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EF6E8"/>
        </a:solidFill>
      </p:bgPr>
    </p:bg>
    <p:spTree>
      <p:nvGrpSpPr>
        <p:cNvPr id="1" name=""/>
        <p:cNvGrpSpPr/>
        <p:nvPr/>
      </p:nvGrpSpPr>
      <p:grpSpPr>
        <a:xfrm>
          <a:off x="0" y="0"/>
          <a:ext cx="0" cy="0"/>
          <a:chOff x="0" y="0"/>
          <a:chExt cx="0" cy="0"/>
        </a:xfrm>
      </p:grpSpPr>
      <p:sp>
        <p:nvSpPr>
          <p:cNvPr id="2" name="Shape 0"/>
          <p:cNvSpPr/>
          <p:nvPr/>
        </p:nvSpPr>
        <p:spPr>
          <a:xfrm>
            <a:off x="0" y="0"/>
            <a:ext cx="9144000" cy="566928"/>
          </a:xfrm>
          <a:prstGeom prst="rect">
            <a:avLst/>
          </a:prstGeom>
          <a:solidFill>
            <a:srgbClr val="C7922C"/>
          </a:solidFill>
          <a:ln/>
        </p:spPr>
      </p:sp>
      <p:sp>
        <p:nvSpPr>
          <p:cNvPr id="3" name="Text 1"/>
          <p:cNvSpPr/>
          <p:nvPr/>
        </p:nvSpPr>
        <p:spPr>
          <a:xfrm>
            <a:off x="365760" y="54864"/>
            <a:ext cx="8412480" cy="457200"/>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  Writing Time</a:t>
            </a:r>
            <a:endParaRPr lang="en-US" sz="2200" dirty="0"/>
          </a:p>
        </p:txBody>
      </p:sp>
      <p:sp>
        <p:nvSpPr>
          <p:cNvPr id="4" name="Text 2"/>
          <p:cNvSpPr/>
          <p:nvPr/>
        </p:nvSpPr>
        <p:spPr>
          <a:xfrm>
            <a:off x="365760" y="868680"/>
            <a:ext cx="8412480" cy="502920"/>
          </a:xfrm>
          <a:prstGeom prst="rect">
            <a:avLst/>
          </a:prstGeom>
          <a:noFill/>
          <a:ln/>
        </p:spPr>
        <p:txBody>
          <a:bodyPr wrap="square" lIns="0" tIns="0" rIns="0" bIns="0" rtlCol="0" anchor="ctr"/>
          <a:lstStyle/>
          <a:p>
            <a:pPr indent="0" marL="0">
              <a:buNone/>
            </a:pPr>
            <a:r>
              <a:rPr lang="en-US" sz="2600" b="1" dirty="0">
                <a:solidFill>
                  <a:srgbClr val="0E1C42"/>
                </a:solidFill>
                <a:latin typeface="Calibri" pitchFamily="34" charset="0"/>
                <a:ea typeface="Calibri" pitchFamily="34" charset="-122"/>
                <a:cs typeface="Calibri" pitchFamily="34" charset="-120"/>
              </a:rPr>
              <a:t>5 minutes — keep your pencil moving!</a:t>
            </a:r>
            <a:endParaRPr lang="en-US" sz="2600" dirty="0"/>
          </a:p>
        </p:txBody>
      </p:sp>
      <p:sp>
        <p:nvSpPr>
          <p:cNvPr id="5" name="Text 3"/>
          <p:cNvSpPr/>
          <p:nvPr/>
        </p:nvSpPr>
        <p:spPr>
          <a:xfrm>
            <a:off x="365760" y="1463040"/>
            <a:ext cx="8229600" cy="237744"/>
          </a:xfrm>
          <a:prstGeom prst="rect">
            <a:avLst/>
          </a:prstGeom>
          <a:noFill/>
          <a:ln/>
        </p:spPr>
        <p:txBody>
          <a:bodyPr wrap="square" lIns="0" tIns="0" rIns="0" bIns="0" rtlCol="0" anchor="ctr"/>
          <a:lstStyle/>
          <a:p>
            <a:pPr indent="0" marL="0">
              <a:buNone/>
            </a:pPr>
            <a:r>
              <a:rPr lang="en-US" sz="1100" b="1" spc="100" kern="0" dirty="0">
                <a:solidFill>
                  <a:srgbClr val="C7922C"/>
                </a:solidFill>
                <a:latin typeface="Calibri" pitchFamily="34" charset="0"/>
                <a:ea typeface="Calibri" pitchFamily="34" charset="-122"/>
                <a:cs typeface="Calibri" pitchFamily="34" charset="-120"/>
              </a:rPr>
              <a:t>YOUR PROMPT</a:t>
            </a:r>
            <a:endParaRPr lang="en-US" sz="1100" dirty="0"/>
          </a:p>
        </p:txBody>
      </p:sp>
      <p:sp>
        <p:nvSpPr>
          <p:cNvPr id="6" name="Shape 4"/>
          <p:cNvSpPr/>
          <p:nvPr/>
        </p:nvSpPr>
        <p:spPr>
          <a:xfrm>
            <a:off x="365760" y="1737360"/>
            <a:ext cx="8412480" cy="1417320"/>
          </a:xfrm>
          <a:prstGeom prst="roundRect">
            <a:avLst>
              <a:gd name="adj" fmla="val 6452"/>
            </a:avLst>
          </a:prstGeom>
          <a:solidFill>
            <a:srgbClr val="FFFFFF"/>
          </a:solidFill>
          <a:ln w="19050">
            <a:solidFill>
              <a:srgbClr val="C7922C"/>
            </a:solidFill>
            <a:prstDash val="solid"/>
          </a:ln>
          <a:effectLst>
            <a:outerShdw sx="100000" sy="100000" kx="0" ky="0" algn="bl" rotWithShape="0" blurRad="101600" dist="38100" dir="2700000">
              <a:srgbClr val="000000">
                <a:alpha val="12000"/>
              </a:srgbClr>
            </a:outerShdw>
          </a:effectLst>
        </p:spPr>
      </p:sp>
      <p:sp>
        <p:nvSpPr>
          <p:cNvPr id="7" name="Text 5"/>
          <p:cNvSpPr/>
          <p:nvPr/>
        </p:nvSpPr>
        <p:spPr>
          <a:xfrm>
            <a:off x="594360" y="1865376"/>
            <a:ext cx="7955280" cy="1161288"/>
          </a:xfrm>
          <a:prstGeom prst="rect">
            <a:avLst/>
          </a:prstGeom>
          <a:noFill/>
          <a:ln/>
        </p:spPr>
        <p:txBody>
          <a:bodyPr wrap="square" lIns="0" tIns="0" rIns="0" bIns="0" rtlCol="0" anchor="ctr"/>
          <a:lstStyle/>
          <a:p>
            <a:pPr indent="0" marL="0">
              <a:buNone/>
            </a:pPr>
            <a:r>
              <a:rPr lang="en-US" sz="1700" dirty="0">
                <a:solidFill>
                  <a:srgbClr val="1E293B"/>
                </a:solidFill>
                <a:latin typeface="Calibri" pitchFamily="34" charset="0"/>
                <a:ea typeface="Calibri" pitchFamily="34" charset="-122"/>
                <a:cs typeface="Calibri" pitchFamily="34" charset="-120"/>
              </a:rPr>
              <a:t>The king loves his daughter with his whole heart but makes ridiculous laws. Can someone be good and wrong at the same time? Write what you think.</a:t>
            </a:r>
            <a:endParaRPr lang="en-US" sz="1700" dirty="0"/>
          </a:p>
        </p:txBody>
      </p:sp>
      <p:sp>
        <p:nvSpPr>
          <p:cNvPr id="8" name="Text 6"/>
          <p:cNvSpPr/>
          <p:nvPr/>
        </p:nvSpPr>
        <p:spPr>
          <a:xfrm>
            <a:off x="365760" y="3291840"/>
            <a:ext cx="8412480" cy="365760"/>
          </a:xfrm>
          <a:prstGeom prst="rect">
            <a:avLst/>
          </a:prstGeom>
          <a:noFill/>
          <a:ln/>
        </p:spPr>
        <p:txBody>
          <a:bodyPr wrap="square" lIns="0" tIns="0" rIns="0" bIns="0" rtlCol="0" anchor="ctr"/>
          <a:lstStyle/>
          <a:p>
            <a:pPr indent="0" marL="0">
              <a:buNone/>
            </a:pPr>
            <a:r>
              <a:rPr lang="en-US" sz="1500" i="1" dirty="0">
                <a:solidFill>
                  <a:srgbClr val="64748B"/>
                </a:solidFill>
                <a:latin typeface="Calibri" pitchFamily="34" charset="0"/>
                <a:ea typeface="Calibri" pitchFamily="34" charset="-122"/>
                <a:cs typeface="Calibri" pitchFamily="34" charset="-120"/>
              </a:rPr>
              <a:t>Do not stop to erase. If you get stuck, write the last word again and keep going.</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8F8EF"/>
        </a:solidFill>
      </p:bgPr>
    </p:bg>
    <p:spTree>
      <p:nvGrpSpPr>
        <p:cNvPr id="1" name=""/>
        <p:cNvGrpSpPr/>
        <p:nvPr/>
      </p:nvGrpSpPr>
      <p:grpSpPr>
        <a:xfrm>
          <a:off x="0" y="0"/>
          <a:ext cx="0" cy="0"/>
          <a:chOff x="0" y="0"/>
          <a:chExt cx="0" cy="0"/>
        </a:xfrm>
      </p:grpSpPr>
      <p:sp>
        <p:nvSpPr>
          <p:cNvPr id="2" name="Shape 0"/>
          <p:cNvSpPr/>
          <p:nvPr/>
        </p:nvSpPr>
        <p:spPr>
          <a:xfrm>
            <a:off x="0" y="0"/>
            <a:ext cx="9144000" cy="566928"/>
          </a:xfrm>
          <a:prstGeom prst="rect">
            <a:avLst/>
          </a:prstGeom>
          <a:solidFill>
            <a:srgbClr val="34B76F"/>
          </a:solidFill>
          <a:ln/>
        </p:spPr>
      </p:sp>
      <p:sp>
        <p:nvSpPr>
          <p:cNvPr id="3" name="Text 1"/>
          <p:cNvSpPr/>
          <p:nvPr/>
        </p:nvSpPr>
        <p:spPr>
          <a:xfrm>
            <a:off x="365760" y="54864"/>
            <a:ext cx="8412480" cy="457200"/>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  Edit &amp; Revise</a:t>
            </a:r>
            <a:endParaRPr lang="en-US" sz="2200" dirty="0"/>
          </a:p>
        </p:txBody>
      </p:sp>
      <p:sp>
        <p:nvSpPr>
          <p:cNvPr id="4" name="Text 2"/>
          <p:cNvSpPr/>
          <p:nvPr/>
        </p:nvSpPr>
        <p:spPr>
          <a:xfrm>
            <a:off x="365760" y="868680"/>
            <a:ext cx="8412480" cy="457200"/>
          </a:xfrm>
          <a:prstGeom prst="rect">
            <a:avLst/>
          </a:prstGeom>
          <a:noFill/>
          <a:ln/>
        </p:spPr>
        <p:txBody>
          <a:bodyPr wrap="square" lIns="0" tIns="0" rIns="0" bIns="0" rtlCol="0" anchor="ctr"/>
          <a:lstStyle/>
          <a:p>
            <a:pPr indent="0" marL="0">
              <a:buNone/>
            </a:pPr>
            <a:r>
              <a:rPr lang="en-US" sz="2400" b="1" dirty="0">
                <a:solidFill>
                  <a:srgbClr val="0E1C42"/>
                </a:solidFill>
                <a:latin typeface="Calibri" pitchFamily="34" charset="0"/>
                <a:ea typeface="Calibri" pitchFamily="34" charset="-122"/>
                <a:cs typeface="Calibri" pitchFamily="34" charset="-120"/>
              </a:rPr>
              <a:t>1 minute — pick ONE thing to fix.</a:t>
            </a:r>
            <a:endParaRPr lang="en-US" sz="2400" dirty="0"/>
          </a:p>
        </p:txBody>
      </p:sp>
      <p:sp>
        <p:nvSpPr>
          <p:cNvPr id="5" name="Text 3"/>
          <p:cNvSpPr/>
          <p:nvPr/>
        </p:nvSpPr>
        <p:spPr>
          <a:xfrm>
            <a:off x="365760" y="1417320"/>
            <a:ext cx="8229600" cy="237744"/>
          </a:xfrm>
          <a:prstGeom prst="rect">
            <a:avLst/>
          </a:prstGeom>
          <a:noFill/>
          <a:ln/>
        </p:spPr>
        <p:txBody>
          <a:bodyPr wrap="square" lIns="0" tIns="0" rIns="0" bIns="0" rtlCol="0" anchor="ctr"/>
          <a:lstStyle/>
          <a:p>
            <a:pPr indent="0" marL="0">
              <a:buNone/>
            </a:pPr>
            <a:r>
              <a:rPr lang="en-US" sz="1100" b="1" spc="100" kern="0" dirty="0">
                <a:solidFill>
                  <a:srgbClr val="34B76F"/>
                </a:solidFill>
                <a:latin typeface="Calibri" pitchFamily="34" charset="0"/>
                <a:ea typeface="Calibri" pitchFamily="34" charset="-122"/>
                <a:cs typeface="Calibri" pitchFamily="34" charset="-120"/>
              </a:rPr>
              <a:t>TODAY'S EDIT FOCUS</a:t>
            </a:r>
            <a:endParaRPr lang="en-US" sz="1100" dirty="0"/>
          </a:p>
        </p:txBody>
      </p:sp>
      <p:sp>
        <p:nvSpPr>
          <p:cNvPr id="6" name="Shape 4"/>
          <p:cNvSpPr/>
          <p:nvPr/>
        </p:nvSpPr>
        <p:spPr>
          <a:xfrm>
            <a:off x="365760" y="1691640"/>
            <a:ext cx="8412480" cy="777240"/>
          </a:xfrm>
          <a:prstGeom prst="roundRect">
            <a:avLst>
              <a:gd name="adj" fmla="val 11765"/>
            </a:avLst>
          </a:prstGeom>
          <a:solidFill>
            <a:srgbClr val="FFFFFF"/>
          </a:solidFill>
          <a:ln w="19050">
            <a:solidFill>
              <a:srgbClr val="34B76F"/>
            </a:solidFill>
            <a:prstDash val="solid"/>
          </a:ln>
          <a:effectLst>
            <a:outerShdw sx="100000" sy="100000" kx="0" ky="0" algn="bl" rotWithShape="0" blurRad="101600" dist="38100" dir="2700000">
              <a:srgbClr val="000000">
                <a:alpha val="12000"/>
              </a:srgbClr>
            </a:outerShdw>
          </a:effectLst>
        </p:spPr>
      </p:sp>
      <p:sp>
        <p:nvSpPr>
          <p:cNvPr id="7" name="Text 5"/>
          <p:cNvSpPr/>
          <p:nvPr/>
        </p:nvSpPr>
        <p:spPr>
          <a:xfrm>
            <a:off x="594360" y="1819656"/>
            <a:ext cx="7955280" cy="521208"/>
          </a:xfrm>
          <a:prstGeom prst="rect">
            <a:avLst/>
          </a:prstGeom>
          <a:noFill/>
          <a:ln/>
        </p:spPr>
        <p:txBody>
          <a:bodyPr wrap="square" lIns="0" tIns="0" rIns="0" bIns="0" rtlCol="0" anchor="ctr"/>
          <a:lstStyle/>
          <a:p>
            <a:pPr indent="0" marL="0">
              <a:buNone/>
            </a:pPr>
            <a:r>
              <a:rPr lang="en-US" sz="1700" dirty="0">
                <a:solidFill>
                  <a:srgbClr val="1E293B"/>
                </a:solidFill>
                <a:latin typeface="Calibri" pitchFamily="34" charset="0"/>
                <a:ea typeface="Calibri" pitchFamily="34" charset="-122"/>
                <a:cs typeface="Calibri" pitchFamily="34" charset="-120"/>
              </a:rPr>
              <a:t>Did I read my writing out loud to check that it makes sense?</a:t>
            </a:r>
            <a:endParaRPr lang="en-US" sz="1700" dirty="0"/>
          </a:p>
        </p:txBody>
      </p:sp>
      <p:sp>
        <p:nvSpPr>
          <p:cNvPr id="8" name="Text 6"/>
          <p:cNvSpPr/>
          <p:nvPr/>
        </p:nvSpPr>
        <p:spPr>
          <a:xfrm>
            <a:off x="365760" y="2651760"/>
            <a:ext cx="8412480" cy="365760"/>
          </a:xfrm>
          <a:prstGeom prst="rect">
            <a:avLst/>
          </a:prstGeom>
          <a:noFill/>
          <a:ln/>
        </p:spPr>
        <p:txBody>
          <a:bodyPr wrap="square" lIns="0" tIns="0" rIns="0" bIns="0" rtlCol="0" anchor="ctr"/>
          <a:lstStyle/>
          <a:p>
            <a:pPr indent="0" marL="0">
              <a:buNone/>
            </a:pPr>
            <a:r>
              <a:rPr lang="en-US" sz="1500" b="1" dirty="0">
                <a:solidFill>
                  <a:srgbClr val="1E293B"/>
                </a:solidFill>
                <a:latin typeface="Calibri" pitchFamily="34" charset="0"/>
                <a:ea typeface="Calibri" pitchFamily="34" charset="-122"/>
                <a:cs typeface="Calibri" pitchFamily="34" charset="-120"/>
              </a:rPr>
              <a:t>Quick check:  </a:t>
            </a:r>
            <a:pPr indent="0" marL="0">
              <a:buNone/>
            </a:pPr>
            <a:r>
              <a:rPr lang="en-US" sz="1500" dirty="0">
                <a:solidFill>
                  <a:srgbClr val="1E293B"/>
                </a:solidFill>
                <a:latin typeface="Calibri" pitchFamily="34" charset="0"/>
                <a:ea typeface="Calibri" pitchFamily="34" charset="-122"/>
                <a:cs typeface="Calibri" pitchFamily="34" charset="-120"/>
              </a:rPr>
              <a:t>capitals  ·  end punctuation  ·  circle a word you are unsure of  ·  read it aloud</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5F7FC"/>
        </a:solidFill>
      </p:bgPr>
    </p:bg>
    <p:spTree>
      <p:nvGrpSpPr>
        <p:cNvPr id="1" name=""/>
        <p:cNvGrpSpPr/>
        <p:nvPr/>
      </p:nvGrpSpPr>
      <p:grpSpPr>
        <a:xfrm>
          <a:off x="0" y="0"/>
          <a:ext cx="0" cy="0"/>
          <a:chOff x="0" y="0"/>
          <a:chExt cx="0" cy="0"/>
        </a:xfrm>
      </p:grpSpPr>
      <p:sp>
        <p:nvSpPr>
          <p:cNvPr id="2" name="Shape 0"/>
          <p:cNvSpPr/>
          <p:nvPr/>
        </p:nvSpPr>
        <p:spPr>
          <a:xfrm>
            <a:off x="0" y="0"/>
            <a:ext cx="9144000" cy="566928"/>
          </a:xfrm>
          <a:prstGeom prst="rect">
            <a:avLst/>
          </a:prstGeom>
          <a:solidFill>
            <a:srgbClr val="55C8E8"/>
          </a:solidFill>
          <a:ln/>
        </p:spPr>
      </p:sp>
      <p:sp>
        <p:nvSpPr>
          <p:cNvPr id="3" name="Text 1"/>
          <p:cNvSpPr/>
          <p:nvPr/>
        </p:nvSpPr>
        <p:spPr>
          <a:xfrm>
            <a:off x="365760" y="54864"/>
            <a:ext cx="8412480" cy="457200"/>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  Share Time</a:t>
            </a:r>
            <a:endParaRPr lang="en-US" sz="2200" dirty="0"/>
          </a:p>
        </p:txBody>
      </p:sp>
      <p:sp>
        <p:nvSpPr>
          <p:cNvPr id="4" name="Text 2"/>
          <p:cNvSpPr/>
          <p:nvPr/>
        </p:nvSpPr>
        <p:spPr>
          <a:xfrm>
            <a:off x="365760" y="1005840"/>
            <a:ext cx="8412480" cy="548640"/>
          </a:xfrm>
          <a:prstGeom prst="rect">
            <a:avLst/>
          </a:prstGeom>
          <a:noFill/>
          <a:ln/>
        </p:spPr>
        <p:txBody>
          <a:bodyPr wrap="square" lIns="0" tIns="0" rIns="0" bIns="0" rtlCol="0" anchor="ctr"/>
          <a:lstStyle/>
          <a:p>
            <a:pPr indent="0" marL="0">
              <a:buNone/>
            </a:pPr>
            <a:r>
              <a:rPr lang="en-US" sz="2600" b="1" dirty="0">
                <a:solidFill>
                  <a:srgbClr val="0E1C42"/>
                </a:solidFill>
                <a:latin typeface="Calibri" pitchFamily="34" charset="0"/>
                <a:ea typeface="Calibri" pitchFamily="34" charset="-122"/>
                <a:cs typeface="Calibri" pitchFamily="34" charset="-120"/>
              </a:rPr>
              <a:t>3 minutes — let's hear your writing!</a:t>
            </a:r>
            <a:endParaRPr lang="en-US" sz="2600" dirty="0"/>
          </a:p>
        </p:txBody>
      </p:sp>
      <p:sp>
        <p:nvSpPr>
          <p:cNvPr id="5" name="Text 3"/>
          <p:cNvSpPr/>
          <p:nvPr/>
        </p:nvSpPr>
        <p:spPr>
          <a:xfrm>
            <a:off x="365760" y="1691640"/>
            <a:ext cx="8412480" cy="457200"/>
          </a:xfrm>
          <a:prstGeom prst="rect">
            <a:avLst/>
          </a:prstGeom>
          <a:noFill/>
          <a:ln/>
        </p:spPr>
        <p:txBody>
          <a:bodyPr wrap="square" lIns="0" tIns="0" rIns="0" bIns="0" rtlCol="0" anchor="ctr"/>
          <a:lstStyle/>
          <a:p>
            <a:pPr indent="0" marL="0">
              <a:buNone/>
            </a:pPr>
            <a:r>
              <a:rPr lang="en-US" sz="1700" dirty="0">
                <a:solidFill>
                  <a:srgbClr val="1E293B"/>
                </a:solidFill>
                <a:latin typeface="Calibri" pitchFamily="34" charset="0"/>
                <a:ea typeface="Calibri" pitchFamily="34" charset="-122"/>
                <a:cs typeface="Calibri" pitchFamily="34" charset="-120"/>
              </a:rPr>
              <a:t>Raise your hand  ·  paste it in the chat  ·  or hold your paper up to the camera</a:t>
            </a:r>
            <a:endParaRPr lang="en-US" sz="1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9144000" cy="566928"/>
          </a:xfrm>
          <a:prstGeom prst="rect">
            <a:avLst/>
          </a:prstGeom>
          <a:solidFill>
            <a:srgbClr val="8B6FC0"/>
          </a:solidFill>
          <a:ln/>
        </p:spPr>
      </p:sp>
      <p:sp>
        <p:nvSpPr>
          <p:cNvPr id="3" name="Text 1"/>
          <p:cNvSpPr/>
          <p:nvPr/>
        </p:nvSpPr>
        <p:spPr>
          <a:xfrm>
            <a:off x="365760" y="54864"/>
            <a:ext cx="8412480" cy="457200"/>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  Today</a:t>
            </a:r>
            <a:endParaRPr lang="en-US" sz="2200" dirty="0"/>
          </a:p>
        </p:txBody>
      </p:sp>
      <p:sp>
        <p:nvSpPr>
          <p:cNvPr id="4" name="Text 2"/>
          <p:cNvSpPr/>
          <p:nvPr/>
        </p:nvSpPr>
        <p:spPr>
          <a:xfrm>
            <a:off x="365760" y="777240"/>
            <a:ext cx="8229600" cy="237744"/>
          </a:xfrm>
          <a:prstGeom prst="rect">
            <a:avLst/>
          </a:prstGeom>
          <a:noFill/>
          <a:ln/>
        </p:spPr>
        <p:txBody>
          <a:bodyPr wrap="square" lIns="0" tIns="0" rIns="0" bIns="0" rtlCol="0" anchor="ctr"/>
          <a:lstStyle/>
          <a:p>
            <a:pPr indent="0" marL="0">
              <a:buNone/>
            </a:pPr>
            <a:r>
              <a:rPr lang="en-US" sz="1100" b="1" spc="100" kern="0" dirty="0">
                <a:solidFill>
                  <a:srgbClr val="8B6FC0"/>
                </a:solidFill>
                <a:latin typeface="Calibri" pitchFamily="34" charset="0"/>
                <a:ea typeface="Calibri" pitchFamily="34" charset="-122"/>
                <a:cs typeface="Calibri" pitchFamily="34" charset="-120"/>
              </a:rPr>
              <a:t>READING</a:t>
            </a:r>
            <a:endParaRPr lang="en-US" sz="1100" dirty="0"/>
          </a:p>
        </p:txBody>
      </p:sp>
      <p:sp>
        <p:nvSpPr>
          <p:cNvPr id="5" name="Text 3"/>
          <p:cNvSpPr/>
          <p:nvPr/>
        </p:nvSpPr>
        <p:spPr>
          <a:xfrm>
            <a:off x="365760" y="1014984"/>
            <a:ext cx="8412480" cy="365760"/>
          </a:xfrm>
          <a:prstGeom prst="rect">
            <a:avLst/>
          </a:prstGeom>
          <a:noFill/>
          <a:ln/>
        </p:spPr>
        <p:txBody>
          <a:bodyPr wrap="square" lIns="0" tIns="0" rIns="0" bIns="0" rtlCol="0" anchor="ctr"/>
          <a:lstStyle/>
          <a:p>
            <a:pPr indent="0" marL="0">
              <a:buNone/>
            </a:pPr>
            <a:r>
              <a:rPr lang="en-US" sz="2000" b="1" dirty="0">
                <a:solidFill>
                  <a:srgbClr val="0E1C42"/>
                </a:solidFill>
                <a:latin typeface="Calibri" pitchFamily="34" charset="0"/>
                <a:ea typeface="Calibri" pitchFamily="34" charset="-122"/>
                <a:cs typeface="Calibri" pitchFamily="34" charset="-120"/>
              </a:rPr>
              <a:t>Ch. 41–42</a:t>
            </a:r>
            <a:endParaRPr lang="en-US" sz="2000" dirty="0"/>
          </a:p>
        </p:txBody>
      </p:sp>
      <p:sp>
        <p:nvSpPr>
          <p:cNvPr id="6" name="Text 4"/>
          <p:cNvSpPr/>
          <p:nvPr/>
        </p:nvSpPr>
        <p:spPr>
          <a:xfrm>
            <a:off x="365760" y="1508760"/>
            <a:ext cx="8229600" cy="237744"/>
          </a:xfrm>
          <a:prstGeom prst="rect">
            <a:avLst/>
          </a:prstGeom>
          <a:noFill/>
          <a:ln/>
        </p:spPr>
        <p:txBody>
          <a:bodyPr wrap="square" lIns="0" tIns="0" rIns="0" bIns="0" rtlCol="0" anchor="ctr"/>
          <a:lstStyle/>
          <a:p>
            <a:pPr indent="0" marL="0">
              <a:buNone/>
            </a:pPr>
            <a:r>
              <a:rPr lang="en-US" sz="1100" b="1" spc="100" kern="0" dirty="0">
                <a:solidFill>
                  <a:srgbClr val="C7922C"/>
                </a:solidFill>
                <a:latin typeface="Calibri" pitchFamily="34" charset="0"/>
                <a:ea typeface="Calibri" pitchFamily="34" charset="-122"/>
                <a:cs typeface="Calibri" pitchFamily="34" charset="-120"/>
              </a:rPr>
              <a:t>BIG QUESTION</a:t>
            </a:r>
            <a:endParaRPr lang="en-US" sz="1100" dirty="0"/>
          </a:p>
        </p:txBody>
      </p:sp>
      <p:sp>
        <p:nvSpPr>
          <p:cNvPr id="7" name="Shape 5"/>
          <p:cNvSpPr/>
          <p:nvPr/>
        </p:nvSpPr>
        <p:spPr>
          <a:xfrm>
            <a:off x="365760" y="1746504"/>
            <a:ext cx="8412480" cy="731520"/>
          </a:xfrm>
          <a:prstGeom prst="roundRect">
            <a:avLst>
              <a:gd name="adj" fmla="val 12500"/>
            </a:avLst>
          </a:prstGeom>
          <a:solidFill>
            <a:srgbClr val="FEF6E8"/>
          </a:solidFill>
          <a:ln w="19050">
            <a:solidFill>
              <a:srgbClr val="C7922C"/>
            </a:solidFill>
            <a:prstDash val="solid"/>
          </a:ln>
          <a:effectLst>
            <a:outerShdw sx="100000" sy="100000" kx="0" ky="0" algn="bl" rotWithShape="0" blurRad="101600" dist="38100" dir="2700000">
              <a:srgbClr val="000000">
                <a:alpha val="12000"/>
              </a:srgbClr>
            </a:outerShdw>
          </a:effectLst>
        </p:spPr>
      </p:sp>
      <p:sp>
        <p:nvSpPr>
          <p:cNvPr id="8" name="Text 6"/>
          <p:cNvSpPr/>
          <p:nvPr/>
        </p:nvSpPr>
        <p:spPr>
          <a:xfrm>
            <a:off x="594360" y="1874520"/>
            <a:ext cx="7955280" cy="475488"/>
          </a:xfrm>
          <a:prstGeom prst="rect">
            <a:avLst/>
          </a:prstGeom>
          <a:noFill/>
          <a:ln/>
        </p:spPr>
        <p:txBody>
          <a:bodyPr wrap="square" lIns="0" tIns="0" rIns="0" bIns="0" rtlCol="0" anchor="ctr"/>
          <a:lstStyle/>
          <a:p>
            <a:pPr indent="0" marL="0">
              <a:buNone/>
            </a:pPr>
            <a:r>
              <a:rPr lang="en-US" sz="1700" dirty="0">
                <a:solidFill>
                  <a:srgbClr val="1E293B"/>
                </a:solidFill>
                <a:latin typeface="Calibri" pitchFamily="34" charset="0"/>
                <a:ea typeface="Calibri" pitchFamily="34" charset="-122"/>
                <a:cs typeface="Calibri" pitchFamily="34" charset="-120"/>
              </a:rPr>
              <a:t>What has each character learned by this point?</a:t>
            </a:r>
            <a:endParaRPr lang="en-US" sz="1700" dirty="0"/>
          </a:p>
        </p:txBody>
      </p:sp>
      <p:sp>
        <p:nvSpPr>
          <p:cNvPr id="9" name="Text 7"/>
          <p:cNvSpPr/>
          <p:nvPr/>
        </p:nvSpPr>
        <p:spPr>
          <a:xfrm>
            <a:off x="365760" y="2606040"/>
            <a:ext cx="8229600" cy="237744"/>
          </a:xfrm>
          <a:prstGeom prst="rect">
            <a:avLst/>
          </a:prstGeom>
          <a:noFill/>
          <a:ln/>
        </p:spPr>
        <p:txBody>
          <a:bodyPr wrap="square" lIns="0" tIns="0" rIns="0" bIns="0" rtlCol="0" anchor="ctr"/>
          <a:lstStyle/>
          <a:p>
            <a:pPr indent="0" marL="0">
              <a:buNone/>
            </a:pPr>
            <a:r>
              <a:rPr lang="en-US" sz="1100" b="1" spc="100" kern="0" dirty="0">
                <a:solidFill>
                  <a:srgbClr val="55C8E8"/>
                </a:solidFill>
                <a:latin typeface="Calibri" pitchFamily="34" charset="0"/>
                <a:ea typeface="Calibri" pitchFamily="34" charset="-122"/>
                <a:cs typeface="Calibri" pitchFamily="34" charset="-120"/>
              </a:rPr>
              <a:t>READING LENS</a:t>
            </a:r>
            <a:endParaRPr lang="en-US" sz="1100" dirty="0"/>
          </a:p>
        </p:txBody>
      </p:sp>
      <p:sp>
        <p:nvSpPr>
          <p:cNvPr id="10" name="Text 8"/>
          <p:cNvSpPr/>
          <p:nvPr/>
        </p:nvSpPr>
        <p:spPr>
          <a:xfrm>
            <a:off x="365760" y="2843784"/>
            <a:ext cx="8412480" cy="914400"/>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Good readers look for theme clues . A theme is a lesson the whole story teaches.</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9144000" cy="566928"/>
          </a:xfrm>
          <a:prstGeom prst="rect">
            <a:avLst/>
          </a:prstGeom>
          <a:solidFill>
            <a:srgbClr val="55C8E8"/>
          </a:solidFill>
          <a:ln/>
        </p:spPr>
      </p:sp>
      <p:sp>
        <p:nvSpPr>
          <p:cNvPr id="3" name="Text 1"/>
          <p:cNvSpPr/>
          <p:nvPr/>
        </p:nvSpPr>
        <p:spPr>
          <a:xfrm>
            <a:off x="365760" y="54864"/>
            <a:ext cx="8412480" cy="457200"/>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  Daily Oral Language</a:t>
            </a:r>
            <a:endParaRPr lang="en-US" sz="2200" dirty="0"/>
          </a:p>
        </p:txBody>
      </p:sp>
      <p:sp>
        <p:nvSpPr>
          <p:cNvPr id="4" name="Text 2"/>
          <p:cNvSpPr/>
          <p:nvPr/>
        </p:nvSpPr>
        <p:spPr>
          <a:xfrm>
            <a:off x="365760" y="749808"/>
            <a:ext cx="8229600" cy="237744"/>
          </a:xfrm>
          <a:prstGeom prst="rect">
            <a:avLst/>
          </a:prstGeom>
          <a:noFill/>
          <a:ln/>
        </p:spPr>
        <p:txBody>
          <a:bodyPr wrap="square" lIns="0" tIns="0" rIns="0" bIns="0" rtlCol="0" anchor="ctr"/>
          <a:lstStyle/>
          <a:p>
            <a:pPr indent="0" marL="0">
              <a:buNone/>
            </a:pPr>
            <a:r>
              <a:rPr lang="en-US" sz="1100" b="1" spc="100" kern="0" dirty="0">
                <a:solidFill>
                  <a:srgbClr val="55C8E8"/>
                </a:solidFill>
                <a:latin typeface="Calibri" pitchFamily="34" charset="0"/>
                <a:ea typeface="Calibri" pitchFamily="34" charset="-122"/>
                <a:cs typeface="Calibri" pitchFamily="34" charset="-120"/>
              </a:rPr>
              <a:t>FIX THESE SENTENCES</a:t>
            </a:r>
            <a:endParaRPr lang="en-US" sz="1100" dirty="0"/>
          </a:p>
        </p:txBody>
      </p:sp>
      <p:sp>
        <p:nvSpPr>
          <p:cNvPr id="5" name="Shape 3"/>
          <p:cNvSpPr/>
          <p:nvPr/>
        </p:nvSpPr>
        <p:spPr>
          <a:xfrm>
            <a:off x="365760" y="1024128"/>
            <a:ext cx="8412480" cy="777240"/>
          </a:xfrm>
          <a:prstGeom prst="roundRect">
            <a:avLst>
              <a:gd name="adj" fmla="val 11765"/>
            </a:avLst>
          </a:prstGeom>
          <a:solidFill>
            <a:srgbClr val="FFFFFF"/>
          </a:solidFill>
          <a:ln w="19050">
            <a:solidFill>
              <a:srgbClr val="55C8E8"/>
            </a:solidFill>
            <a:prstDash val="solid"/>
          </a:ln>
          <a:effectLst>
            <a:outerShdw sx="100000" sy="100000" kx="0" ky="0" algn="bl" rotWithShape="0" blurRad="101600" dist="38100" dir="2700000">
              <a:srgbClr val="000000">
                <a:alpha val="12000"/>
              </a:srgbClr>
            </a:outerShdw>
          </a:effectLst>
        </p:spPr>
      </p:sp>
      <p:sp>
        <p:nvSpPr>
          <p:cNvPr id="6" name="Text 4"/>
          <p:cNvSpPr/>
          <p:nvPr/>
        </p:nvSpPr>
        <p:spPr>
          <a:xfrm>
            <a:off x="594360" y="1152144"/>
            <a:ext cx="7955280" cy="521208"/>
          </a:xfrm>
          <a:prstGeom prst="rect">
            <a:avLst/>
          </a:prstGeom>
          <a:noFill/>
          <a:ln/>
        </p:spPr>
        <p:txBody>
          <a:bodyPr wrap="square" lIns="0" tIns="0" rIns="0" bIns="0" rtlCol="0" anchor="ctr"/>
          <a:lstStyle/>
          <a:p>
            <a:pPr indent="0" marL="0">
              <a:buNone/>
            </a:pPr>
            <a:r>
              <a:rPr lang="en-US" sz="1700" dirty="0">
                <a:solidFill>
                  <a:srgbClr val="1E293B"/>
                </a:solidFill>
                <a:latin typeface="Calibri" pitchFamily="34" charset="0"/>
                <a:ea typeface="Calibri" pitchFamily="34" charset="-122"/>
                <a:cs typeface="Calibri" pitchFamily="34" charset="-120"/>
              </a:rPr>
              <a:t>1. roscuro finally got what he had wanted most in the world but it tasted different than he expected</a:t>
            </a:r>
            <a:endParaRPr lang="en-US" sz="1700" dirty="0"/>
          </a:p>
        </p:txBody>
      </p:sp>
      <p:sp>
        <p:nvSpPr>
          <p:cNvPr id="7" name="Shape 5"/>
          <p:cNvSpPr/>
          <p:nvPr/>
        </p:nvSpPr>
        <p:spPr>
          <a:xfrm>
            <a:off x="365760" y="1874520"/>
            <a:ext cx="8412480" cy="777240"/>
          </a:xfrm>
          <a:prstGeom prst="roundRect">
            <a:avLst>
              <a:gd name="adj" fmla="val 11765"/>
            </a:avLst>
          </a:prstGeom>
          <a:solidFill>
            <a:srgbClr val="FFFFFF"/>
          </a:solidFill>
          <a:ln w="19050">
            <a:solidFill>
              <a:srgbClr val="55C8E8"/>
            </a:solidFill>
            <a:prstDash val="solid"/>
          </a:ln>
          <a:effectLst>
            <a:outerShdw sx="100000" sy="100000" kx="0" ky="0" algn="bl" rotWithShape="0" blurRad="101600" dist="38100" dir="2700000">
              <a:srgbClr val="000000">
                <a:alpha val="12000"/>
              </a:srgbClr>
            </a:outerShdw>
          </a:effectLst>
        </p:spPr>
      </p:sp>
      <p:sp>
        <p:nvSpPr>
          <p:cNvPr id="8" name="Text 6"/>
          <p:cNvSpPr/>
          <p:nvPr/>
        </p:nvSpPr>
        <p:spPr>
          <a:xfrm>
            <a:off x="594360" y="2002536"/>
            <a:ext cx="7955280" cy="521208"/>
          </a:xfrm>
          <a:prstGeom prst="rect">
            <a:avLst/>
          </a:prstGeom>
          <a:noFill/>
          <a:ln/>
        </p:spPr>
        <p:txBody>
          <a:bodyPr wrap="square" lIns="0" tIns="0" rIns="0" bIns="0" rtlCol="0" anchor="ctr"/>
          <a:lstStyle/>
          <a:p>
            <a:pPr indent="0" marL="0">
              <a:buNone/>
            </a:pPr>
            <a:r>
              <a:rPr lang="en-US" sz="1700" dirty="0">
                <a:solidFill>
                  <a:srgbClr val="1E293B"/>
                </a:solidFill>
                <a:latin typeface="Calibri" pitchFamily="34" charset="0"/>
                <a:ea typeface="Calibri" pitchFamily="34" charset="-122"/>
                <a:cs typeface="Calibri" pitchFamily="34" charset="-120"/>
              </a:rPr>
              <a:t>2. the princess quietly and graciously gave him something he had never expected to receive</a:t>
            </a:r>
            <a:endParaRPr lang="en-US" sz="1700" dirty="0"/>
          </a:p>
        </p:txBody>
      </p:sp>
      <p:sp>
        <p:nvSpPr>
          <p:cNvPr id="9" name="Text 7"/>
          <p:cNvSpPr/>
          <p:nvPr/>
        </p:nvSpPr>
        <p:spPr>
          <a:xfrm>
            <a:off x="365760" y="2788920"/>
            <a:ext cx="8412480" cy="365760"/>
          </a:xfrm>
          <a:prstGeom prst="rect">
            <a:avLst/>
          </a:prstGeom>
          <a:noFill/>
          <a:ln/>
        </p:spPr>
        <p:txBody>
          <a:bodyPr wrap="square" lIns="0" tIns="0" rIns="0" bIns="0" rtlCol="0" anchor="ctr"/>
          <a:lstStyle/>
          <a:p>
            <a:pPr indent="0" marL="0">
              <a:buNone/>
            </a:pPr>
            <a:r>
              <a:rPr lang="en-US" sz="1600" b="1" dirty="0">
                <a:solidFill>
                  <a:srgbClr val="0E1C42"/>
                </a:solidFill>
                <a:latin typeface="Calibri" pitchFamily="34" charset="0"/>
                <a:ea typeface="Calibri" pitchFamily="34" charset="-122"/>
                <a:cs typeface="Calibri" pitchFamily="34" charset="-120"/>
              </a:rPr>
              <a:t>Rewrite both sentences correctly in your notebook.</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9144000" cy="566928"/>
          </a:xfrm>
          <a:prstGeom prst="rect">
            <a:avLst/>
          </a:prstGeom>
          <a:solidFill>
            <a:srgbClr val="55C8E8"/>
          </a:solidFill>
          <a:ln/>
        </p:spPr>
      </p:sp>
      <p:sp>
        <p:nvSpPr>
          <p:cNvPr id="3" name="Text 1"/>
          <p:cNvSpPr/>
          <p:nvPr/>
        </p:nvSpPr>
        <p:spPr>
          <a:xfrm>
            <a:off x="365760" y="54864"/>
            <a:ext cx="8412480" cy="457200"/>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  Daily Oral Language</a:t>
            </a:r>
            <a:endParaRPr lang="en-US" sz="2200" dirty="0"/>
          </a:p>
        </p:txBody>
      </p:sp>
      <p:sp>
        <p:nvSpPr>
          <p:cNvPr id="4" name="Text 2"/>
          <p:cNvSpPr/>
          <p:nvPr/>
        </p:nvSpPr>
        <p:spPr>
          <a:xfrm>
            <a:off x="365760" y="749808"/>
            <a:ext cx="8229600" cy="237744"/>
          </a:xfrm>
          <a:prstGeom prst="rect">
            <a:avLst/>
          </a:prstGeom>
          <a:noFill/>
          <a:ln/>
        </p:spPr>
        <p:txBody>
          <a:bodyPr wrap="square" lIns="0" tIns="0" rIns="0" bIns="0" rtlCol="0" anchor="ctr"/>
          <a:lstStyle/>
          <a:p>
            <a:pPr indent="0" marL="0">
              <a:buNone/>
            </a:pPr>
            <a:r>
              <a:rPr lang="en-US" sz="1100" b="1" spc="100" kern="0" dirty="0">
                <a:solidFill>
                  <a:srgbClr val="55C8E8"/>
                </a:solidFill>
                <a:latin typeface="Calibri" pitchFamily="34" charset="0"/>
                <a:ea typeface="Calibri" pitchFamily="34" charset="-122"/>
                <a:cs typeface="Calibri" pitchFamily="34" charset="-120"/>
              </a:rPr>
              <a:t>FIX THESE SENTENCES</a:t>
            </a:r>
            <a:endParaRPr lang="en-US" sz="1100" dirty="0"/>
          </a:p>
        </p:txBody>
      </p:sp>
      <p:sp>
        <p:nvSpPr>
          <p:cNvPr id="5" name="Shape 3"/>
          <p:cNvSpPr/>
          <p:nvPr/>
        </p:nvSpPr>
        <p:spPr>
          <a:xfrm>
            <a:off x="365760" y="1024128"/>
            <a:ext cx="8412480" cy="777240"/>
          </a:xfrm>
          <a:prstGeom prst="roundRect">
            <a:avLst>
              <a:gd name="adj" fmla="val 11765"/>
            </a:avLst>
          </a:prstGeom>
          <a:solidFill>
            <a:srgbClr val="FFFFFF"/>
          </a:solidFill>
          <a:ln w="19050">
            <a:solidFill>
              <a:srgbClr val="55C8E8"/>
            </a:solidFill>
            <a:prstDash val="solid"/>
          </a:ln>
          <a:effectLst>
            <a:outerShdw sx="100000" sy="100000" kx="0" ky="0" algn="bl" rotWithShape="0" blurRad="101600" dist="38100" dir="2700000">
              <a:srgbClr val="000000">
                <a:alpha val="12000"/>
              </a:srgbClr>
            </a:outerShdw>
          </a:effectLst>
        </p:spPr>
      </p:sp>
      <p:sp>
        <p:nvSpPr>
          <p:cNvPr id="6" name="Text 4"/>
          <p:cNvSpPr/>
          <p:nvPr/>
        </p:nvSpPr>
        <p:spPr>
          <a:xfrm>
            <a:off x="594360" y="1152144"/>
            <a:ext cx="7955280" cy="521208"/>
          </a:xfrm>
          <a:prstGeom prst="rect">
            <a:avLst/>
          </a:prstGeom>
          <a:noFill/>
          <a:ln/>
        </p:spPr>
        <p:txBody>
          <a:bodyPr wrap="square" lIns="0" tIns="0" rIns="0" bIns="0" rtlCol="0" anchor="ctr"/>
          <a:lstStyle/>
          <a:p>
            <a:pPr indent="0" marL="0">
              <a:buNone/>
            </a:pPr>
            <a:r>
              <a:rPr lang="en-US" sz="1700" dirty="0">
                <a:solidFill>
                  <a:srgbClr val="1E293B"/>
                </a:solidFill>
                <a:latin typeface="Calibri" pitchFamily="34" charset="0"/>
                <a:ea typeface="Calibri" pitchFamily="34" charset="-122"/>
                <a:cs typeface="Calibri" pitchFamily="34" charset="-120"/>
              </a:rPr>
              <a:t>1. roscuro finally got what he had wanted most in the world but it tasted different than he expected</a:t>
            </a:r>
            <a:endParaRPr lang="en-US" sz="1700" dirty="0"/>
          </a:p>
        </p:txBody>
      </p:sp>
      <p:sp>
        <p:nvSpPr>
          <p:cNvPr id="7" name="Shape 5"/>
          <p:cNvSpPr/>
          <p:nvPr/>
        </p:nvSpPr>
        <p:spPr>
          <a:xfrm>
            <a:off x="365760" y="1874520"/>
            <a:ext cx="8412480" cy="777240"/>
          </a:xfrm>
          <a:prstGeom prst="roundRect">
            <a:avLst>
              <a:gd name="adj" fmla="val 11765"/>
            </a:avLst>
          </a:prstGeom>
          <a:solidFill>
            <a:srgbClr val="FFFFFF"/>
          </a:solidFill>
          <a:ln w="19050">
            <a:solidFill>
              <a:srgbClr val="55C8E8"/>
            </a:solidFill>
            <a:prstDash val="solid"/>
          </a:ln>
          <a:effectLst>
            <a:outerShdw sx="100000" sy="100000" kx="0" ky="0" algn="bl" rotWithShape="0" blurRad="101600" dist="38100" dir="2700000">
              <a:srgbClr val="000000">
                <a:alpha val="12000"/>
              </a:srgbClr>
            </a:outerShdw>
          </a:effectLst>
        </p:spPr>
      </p:sp>
      <p:sp>
        <p:nvSpPr>
          <p:cNvPr id="8" name="Text 6"/>
          <p:cNvSpPr/>
          <p:nvPr/>
        </p:nvSpPr>
        <p:spPr>
          <a:xfrm>
            <a:off x="594360" y="2002536"/>
            <a:ext cx="7955280" cy="521208"/>
          </a:xfrm>
          <a:prstGeom prst="rect">
            <a:avLst/>
          </a:prstGeom>
          <a:noFill/>
          <a:ln/>
        </p:spPr>
        <p:txBody>
          <a:bodyPr wrap="square" lIns="0" tIns="0" rIns="0" bIns="0" rtlCol="0" anchor="ctr"/>
          <a:lstStyle/>
          <a:p>
            <a:pPr indent="0" marL="0">
              <a:buNone/>
            </a:pPr>
            <a:r>
              <a:rPr lang="en-US" sz="1700" dirty="0">
                <a:solidFill>
                  <a:srgbClr val="1E293B"/>
                </a:solidFill>
                <a:latin typeface="Calibri" pitchFamily="34" charset="0"/>
                <a:ea typeface="Calibri" pitchFamily="34" charset="-122"/>
                <a:cs typeface="Calibri" pitchFamily="34" charset="-120"/>
              </a:rPr>
              <a:t>2. the princess quietly and graciously gave him something he had never expected to receive</a:t>
            </a:r>
            <a:endParaRPr lang="en-US" sz="1700" dirty="0"/>
          </a:p>
        </p:txBody>
      </p:sp>
      <p:sp>
        <p:nvSpPr>
          <p:cNvPr id="9" name="Shape 7"/>
          <p:cNvSpPr/>
          <p:nvPr/>
        </p:nvSpPr>
        <p:spPr>
          <a:xfrm>
            <a:off x="365760" y="2743200"/>
            <a:ext cx="8412480" cy="1417320"/>
          </a:xfrm>
          <a:prstGeom prst="roundRect">
            <a:avLst>
              <a:gd name="adj" fmla="val 6452"/>
            </a:avLst>
          </a:prstGeom>
          <a:solidFill>
            <a:srgbClr val="E8F8EF"/>
          </a:solidFill>
          <a:ln/>
          <a:effectLst>
            <a:outerShdw sx="100000" sy="100000" kx="0" ky="0" algn="bl" rotWithShape="0" blurRad="101600" dist="38100" dir="2700000">
              <a:srgbClr val="000000">
                <a:alpha val="12000"/>
              </a:srgbClr>
            </a:outerShdw>
          </a:effectLst>
        </p:spPr>
      </p:sp>
      <p:sp>
        <p:nvSpPr>
          <p:cNvPr id="10" name="Text 8"/>
          <p:cNvSpPr/>
          <p:nvPr/>
        </p:nvSpPr>
        <p:spPr>
          <a:xfrm>
            <a:off x="566928" y="2816352"/>
            <a:ext cx="8229600" cy="237744"/>
          </a:xfrm>
          <a:prstGeom prst="rect">
            <a:avLst/>
          </a:prstGeom>
          <a:noFill/>
          <a:ln/>
        </p:spPr>
        <p:txBody>
          <a:bodyPr wrap="square" lIns="0" tIns="0" rIns="0" bIns="0" rtlCol="0" anchor="ctr"/>
          <a:lstStyle/>
          <a:p>
            <a:pPr indent="0" marL="0">
              <a:buNone/>
            </a:pPr>
            <a:r>
              <a:rPr lang="en-US" sz="1100" b="1" spc="100" kern="0" dirty="0">
                <a:solidFill>
                  <a:srgbClr val="34B76F"/>
                </a:solidFill>
                <a:latin typeface="Calibri" pitchFamily="34" charset="0"/>
                <a:ea typeface="Calibri" pitchFamily="34" charset="-122"/>
                <a:cs typeface="Calibri" pitchFamily="34" charset="-120"/>
              </a:rPr>
              <a:t>✅  CORRECTED</a:t>
            </a:r>
            <a:endParaRPr lang="en-US" sz="1100" dirty="0"/>
          </a:p>
        </p:txBody>
      </p:sp>
      <p:sp>
        <p:nvSpPr>
          <p:cNvPr id="11" name="Text 9"/>
          <p:cNvSpPr/>
          <p:nvPr/>
        </p:nvSpPr>
        <p:spPr>
          <a:xfrm>
            <a:off x="566928" y="3072384"/>
            <a:ext cx="8010144" cy="685800"/>
          </a:xfrm>
          <a:prstGeom prst="rect">
            <a:avLst/>
          </a:prstGeom>
          <a:noFill/>
          <a:ln/>
        </p:spPr>
        <p:txBody>
          <a:bodyPr wrap="square" lIns="0" tIns="0" rIns="0" bIns="0" rtlCol="0" anchor="ctr"/>
          <a:lstStyle/>
          <a:p>
            <a:pPr indent="0" marL="0">
              <a:buNone/>
            </a:pPr>
            <a:endParaRPr lang="en-US" sz="1400" dirty="0"/>
          </a:p>
          <a:p>
            <a:pPr indent="0" marL="0">
              <a:buNone/>
            </a:pPr>
            <a:r>
              <a:rPr lang="en-US" sz="1400" i="1" dirty="0">
                <a:solidFill>
                  <a:srgbClr val="1E293B"/>
                </a:solidFill>
                <a:latin typeface="Calibri" pitchFamily="34" charset="0"/>
                <a:ea typeface="Calibri" pitchFamily="34" charset="-122"/>
                <a:cs typeface="Calibri" pitchFamily="34" charset="-120"/>
              </a:rPr>
              <a:t>1. Roscuro finally got what he had wanted most in the world , but it tasted different than he expected.</a:t>
            </a:r>
            <a:endParaRPr lang="en-US" sz="1400" dirty="0"/>
          </a:p>
        </p:txBody>
      </p:sp>
      <p:sp>
        <p:nvSpPr>
          <p:cNvPr id="12" name="Text 10"/>
          <p:cNvSpPr/>
          <p:nvPr/>
        </p:nvSpPr>
        <p:spPr>
          <a:xfrm>
            <a:off x="566928" y="3767328"/>
            <a:ext cx="8010144" cy="320040"/>
          </a:xfrm>
          <a:prstGeom prst="rect">
            <a:avLst/>
          </a:prstGeom>
          <a:noFill/>
          <a:ln/>
        </p:spPr>
        <p:txBody>
          <a:bodyPr wrap="square" lIns="0" tIns="0" rIns="0" bIns="0" rtlCol="0" anchor="ctr"/>
          <a:lstStyle/>
          <a:p>
            <a:pPr indent="0" marL="0">
              <a:buNone/>
            </a:pPr>
            <a:r>
              <a:rPr lang="en-US" sz="1200" dirty="0">
                <a:solidFill>
                  <a:srgbClr val="64748B"/>
                </a:solidFill>
                <a:latin typeface="Calibri" pitchFamily="34" charset="0"/>
                <a:ea typeface="Calibri" pitchFamily="34" charset="-122"/>
                <a:cs typeface="Calibri" pitchFamily="34" charset="-120"/>
              </a:rPr>
              <a:t>Did you catch the proper nouns (Roscuro, princess), the -ly adverbs (quietly, graciously), the comma before "but," and capital letters?</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66928"/>
          </a:xfrm>
          <a:prstGeom prst="rect">
            <a:avLst/>
          </a:prstGeom>
          <a:solidFill>
            <a:srgbClr val="8B6FC0"/>
          </a:solidFill>
          <a:ln/>
        </p:spPr>
      </p:sp>
      <p:sp>
        <p:nvSpPr>
          <p:cNvPr id="3" name="Text 1"/>
          <p:cNvSpPr/>
          <p:nvPr/>
        </p:nvSpPr>
        <p:spPr>
          <a:xfrm>
            <a:off x="365760" y="54864"/>
            <a:ext cx="8412480" cy="457200"/>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  Morphology</a:t>
            </a:r>
            <a:endParaRPr lang="en-US" sz="2200" dirty="0"/>
          </a:p>
        </p:txBody>
      </p:sp>
      <p:sp>
        <p:nvSpPr>
          <p:cNvPr id="4" name="Text 2"/>
          <p:cNvSpPr/>
          <p:nvPr/>
        </p:nvSpPr>
        <p:spPr>
          <a:xfrm>
            <a:off x="365760" y="804672"/>
            <a:ext cx="8229600" cy="237744"/>
          </a:xfrm>
          <a:prstGeom prst="rect">
            <a:avLst/>
          </a:prstGeom>
          <a:noFill/>
          <a:ln/>
        </p:spPr>
        <p:txBody>
          <a:bodyPr wrap="square" lIns="0" tIns="0" rIns="0" bIns="0" rtlCol="0" anchor="ctr"/>
          <a:lstStyle/>
          <a:p>
            <a:pPr indent="0" marL="0">
              <a:buNone/>
            </a:pPr>
            <a:r>
              <a:rPr lang="en-US" sz="1100" b="1" spc="100" kern="0" dirty="0">
                <a:solidFill>
                  <a:srgbClr val="8B6FC0"/>
                </a:solidFill>
                <a:latin typeface="Calibri" pitchFamily="34" charset="0"/>
                <a:ea typeface="Calibri" pitchFamily="34" charset="-122"/>
                <a:cs typeface="Calibri" pitchFamily="34" charset="-120"/>
              </a:rPr>
              <a:t>-TION</a:t>
            </a:r>
            <a:endParaRPr lang="en-US" sz="1100" dirty="0"/>
          </a:p>
        </p:txBody>
      </p:sp>
      <p:sp>
        <p:nvSpPr>
          <p:cNvPr id="5" name="Shape 3"/>
          <p:cNvSpPr/>
          <p:nvPr/>
        </p:nvSpPr>
        <p:spPr>
          <a:xfrm>
            <a:off x="365760" y="1097280"/>
            <a:ext cx="8412480" cy="621792"/>
          </a:xfrm>
          <a:prstGeom prst="roundRect">
            <a:avLst>
              <a:gd name="adj" fmla="val 14706"/>
            </a:avLst>
          </a:prstGeom>
          <a:solidFill>
            <a:srgbClr val="F0E8FF"/>
          </a:solidFill>
          <a:ln/>
          <a:effectLst>
            <a:outerShdw sx="100000" sy="100000" kx="0" ky="0" algn="bl" rotWithShape="0" blurRad="101600" dist="38100" dir="2700000">
              <a:srgbClr val="000000">
                <a:alpha val="12000"/>
              </a:srgbClr>
            </a:outerShdw>
          </a:effectLst>
        </p:spPr>
      </p:sp>
      <p:sp>
        <p:nvSpPr>
          <p:cNvPr id="6" name="Text 4"/>
          <p:cNvSpPr/>
          <p:nvPr/>
        </p:nvSpPr>
        <p:spPr>
          <a:xfrm>
            <a:off x="594360" y="1216152"/>
            <a:ext cx="7863840" cy="384048"/>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  action — base word: act</a:t>
            </a:r>
            <a:endParaRPr lang="en-US" sz="1500" dirty="0"/>
          </a:p>
        </p:txBody>
      </p:sp>
      <p:sp>
        <p:nvSpPr>
          <p:cNvPr id="7" name="Shape 5"/>
          <p:cNvSpPr/>
          <p:nvPr/>
        </p:nvSpPr>
        <p:spPr>
          <a:xfrm>
            <a:off x="365760" y="1792224"/>
            <a:ext cx="8412480" cy="621792"/>
          </a:xfrm>
          <a:prstGeom prst="roundRect">
            <a:avLst>
              <a:gd name="adj" fmla="val 14706"/>
            </a:avLst>
          </a:prstGeom>
          <a:solidFill>
            <a:srgbClr val="F8F4FF"/>
          </a:solidFill>
          <a:ln/>
          <a:effectLst>
            <a:outerShdw sx="100000" sy="100000" kx="0" ky="0" algn="bl" rotWithShape="0" blurRad="101600" dist="38100" dir="2700000">
              <a:srgbClr val="000000">
                <a:alpha val="12000"/>
              </a:srgbClr>
            </a:outerShdw>
          </a:effectLst>
        </p:spPr>
      </p:sp>
      <p:sp>
        <p:nvSpPr>
          <p:cNvPr id="8" name="Text 6"/>
          <p:cNvSpPr/>
          <p:nvPr/>
        </p:nvSpPr>
        <p:spPr>
          <a:xfrm>
            <a:off x="594360" y="1911096"/>
            <a:ext cx="7863840" cy="384048"/>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  direction — base word: direct</a:t>
            </a:r>
            <a:endParaRPr lang="en-US" sz="1500" dirty="0"/>
          </a:p>
        </p:txBody>
      </p:sp>
      <p:sp>
        <p:nvSpPr>
          <p:cNvPr id="9" name="Shape 7"/>
          <p:cNvSpPr/>
          <p:nvPr/>
        </p:nvSpPr>
        <p:spPr>
          <a:xfrm>
            <a:off x="365760" y="2487168"/>
            <a:ext cx="8412480" cy="621792"/>
          </a:xfrm>
          <a:prstGeom prst="roundRect">
            <a:avLst>
              <a:gd name="adj" fmla="val 14706"/>
            </a:avLst>
          </a:prstGeom>
          <a:solidFill>
            <a:srgbClr val="F0E8FF"/>
          </a:solidFill>
          <a:ln/>
          <a:effectLst>
            <a:outerShdw sx="100000" sy="100000" kx="0" ky="0" algn="bl" rotWithShape="0" blurRad="101600" dist="38100" dir="2700000">
              <a:srgbClr val="000000">
                <a:alpha val="12000"/>
              </a:srgbClr>
            </a:outerShdw>
          </a:effectLst>
        </p:spPr>
      </p:sp>
      <p:sp>
        <p:nvSpPr>
          <p:cNvPr id="10" name="Text 8"/>
          <p:cNvSpPr/>
          <p:nvPr/>
        </p:nvSpPr>
        <p:spPr>
          <a:xfrm>
            <a:off x="594360" y="2606040"/>
            <a:ext cx="7863840" cy="384048"/>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  celebration — base word: celebrate</a:t>
            </a:r>
            <a:endParaRPr lang="en-US" sz="1500" dirty="0"/>
          </a:p>
        </p:txBody>
      </p:sp>
      <p:sp>
        <p:nvSpPr>
          <p:cNvPr id="11" name="Shape 9"/>
          <p:cNvSpPr/>
          <p:nvPr/>
        </p:nvSpPr>
        <p:spPr>
          <a:xfrm>
            <a:off x="365760" y="3182112"/>
            <a:ext cx="8412480" cy="621792"/>
          </a:xfrm>
          <a:prstGeom prst="roundRect">
            <a:avLst>
              <a:gd name="adj" fmla="val 14706"/>
            </a:avLst>
          </a:prstGeom>
          <a:solidFill>
            <a:srgbClr val="F8F4FF"/>
          </a:solidFill>
          <a:ln/>
          <a:effectLst>
            <a:outerShdw sx="100000" sy="100000" kx="0" ky="0" algn="bl" rotWithShape="0" blurRad="101600" dist="38100" dir="2700000">
              <a:srgbClr val="000000">
                <a:alpha val="12000"/>
              </a:srgbClr>
            </a:outerShdw>
          </a:effectLst>
        </p:spPr>
      </p:sp>
      <p:sp>
        <p:nvSpPr>
          <p:cNvPr id="12" name="Text 10"/>
          <p:cNvSpPr/>
          <p:nvPr/>
        </p:nvSpPr>
        <p:spPr>
          <a:xfrm>
            <a:off x="594360" y="3300984"/>
            <a:ext cx="7863840" cy="384048"/>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  invention — base word: invent</a:t>
            </a:r>
            <a:endParaRPr lang="en-US" sz="15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66928"/>
          </a:xfrm>
          <a:prstGeom prst="rect">
            <a:avLst/>
          </a:prstGeom>
          <a:solidFill>
            <a:srgbClr val="55C8E8"/>
          </a:solidFill>
          <a:ln/>
        </p:spPr>
      </p:sp>
      <p:sp>
        <p:nvSpPr>
          <p:cNvPr id="3" name="Text 1"/>
          <p:cNvSpPr/>
          <p:nvPr/>
        </p:nvSpPr>
        <p:spPr>
          <a:xfrm>
            <a:off x="365760" y="54864"/>
            <a:ext cx="8412480" cy="457200"/>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  Vocabulary</a:t>
            </a:r>
            <a:endParaRPr lang="en-US" sz="2200" dirty="0"/>
          </a:p>
        </p:txBody>
      </p:sp>
      <p:sp>
        <p:nvSpPr>
          <p:cNvPr id="4" name="Text 2"/>
          <p:cNvSpPr/>
          <p:nvPr/>
        </p:nvSpPr>
        <p:spPr>
          <a:xfrm>
            <a:off x="365760" y="804672"/>
            <a:ext cx="8229600" cy="237744"/>
          </a:xfrm>
          <a:prstGeom prst="rect">
            <a:avLst/>
          </a:prstGeom>
          <a:noFill/>
          <a:ln/>
        </p:spPr>
        <p:txBody>
          <a:bodyPr wrap="square" lIns="0" tIns="0" rIns="0" bIns="0" rtlCol="0" anchor="ctr"/>
          <a:lstStyle/>
          <a:p>
            <a:pPr indent="0" marL="0">
              <a:buNone/>
            </a:pPr>
            <a:r>
              <a:rPr lang="en-US" sz="1100" b="1" spc="100" kern="0" dirty="0">
                <a:solidFill>
                  <a:srgbClr val="55C8E8"/>
                </a:solidFill>
                <a:latin typeface="Calibri" pitchFamily="34" charset="0"/>
                <a:ea typeface="Calibri" pitchFamily="34" charset="-122"/>
                <a:cs typeface="Calibri" pitchFamily="34" charset="-120"/>
              </a:rPr>
              <a:t>VOCABULARY</a:t>
            </a:r>
            <a:endParaRPr lang="en-US" sz="1100" dirty="0"/>
          </a:p>
        </p:txBody>
      </p:sp>
      <p:sp>
        <p:nvSpPr>
          <p:cNvPr id="5" name="Shape 3"/>
          <p:cNvSpPr/>
          <p:nvPr/>
        </p:nvSpPr>
        <p:spPr>
          <a:xfrm>
            <a:off x="365760" y="1097280"/>
            <a:ext cx="8412480" cy="658368"/>
          </a:xfrm>
          <a:prstGeom prst="roundRect">
            <a:avLst>
              <a:gd name="adj" fmla="val 13889"/>
            </a:avLst>
          </a:prstGeom>
          <a:solidFill>
            <a:srgbClr val="E5F7FC"/>
          </a:solidFill>
          <a:ln/>
          <a:effectLst>
            <a:outerShdw sx="100000" sy="100000" kx="0" ky="0" algn="bl" rotWithShape="0" blurRad="101600" dist="38100" dir="2700000">
              <a:srgbClr val="000000">
                <a:alpha val="12000"/>
              </a:srgbClr>
            </a:outerShdw>
          </a:effectLst>
        </p:spPr>
      </p:sp>
      <p:sp>
        <p:nvSpPr>
          <p:cNvPr id="6" name="Text 4"/>
          <p:cNvSpPr/>
          <p:nvPr/>
        </p:nvSpPr>
        <p:spPr>
          <a:xfrm>
            <a:off x="594360" y="1225296"/>
            <a:ext cx="7863840" cy="420624"/>
          </a:xfrm>
          <a:prstGeom prst="rect">
            <a:avLst/>
          </a:prstGeom>
          <a:noFill/>
          <a:ln/>
        </p:spPr>
        <p:txBody>
          <a:bodyPr wrap="square" lIns="0" tIns="0" rIns="0" bIns="0" rtlCol="0" anchor="ctr"/>
          <a:lstStyle/>
          <a:p>
            <a:pPr indent="0" marL="0">
              <a:buNone/>
            </a:pPr>
            <a:r>
              <a:rPr lang="en-US" sz="1700" b="1" dirty="0">
                <a:solidFill>
                  <a:srgbClr val="0E1C42"/>
                </a:solidFill>
                <a:latin typeface="Calibri" pitchFamily="34" charset="0"/>
                <a:ea typeface="Calibri" pitchFamily="34" charset="-122"/>
                <a:cs typeface="Calibri" pitchFamily="34" charset="-120"/>
              </a:rPr>
              <a:t>needle  </a:t>
            </a:r>
            <a:pPr indent="0" marL="0">
              <a:buNone/>
            </a:pPr>
            <a:r>
              <a:rPr lang="en-US" sz="1400" dirty="0">
                <a:solidFill>
                  <a:srgbClr val="1E293B"/>
                </a:solidFill>
                <a:latin typeface="Calibri" pitchFamily="34" charset="0"/>
                <a:ea typeface="Calibri" pitchFamily="34" charset="-122"/>
                <a:cs typeface="Calibri" pitchFamily="34" charset="-120"/>
              </a:rPr>
              <a:t>A thin, sharp metal tool for sewing — here, a mouse's sword.</a:t>
            </a:r>
            <a:endParaRPr lang="en-US" sz="1700" dirty="0"/>
          </a:p>
        </p:txBody>
      </p:sp>
      <p:sp>
        <p:nvSpPr>
          <p:cNvPr id="7" name="Shape 5"/>
          <p:cNvSpPr/>
          <p:nvPr/>
        </p:nvSpPr>
        <p:spPr>
          <a:xfrm>
            <a:off x="365760" y="1828800"/>
            <a:ext cx="8412480" cy="658368"/>
          </a:xfrm>
          <a:prstGeom prst="roundRect">
            <a:avLst>
              <a:gd name="adj" fmla="val 13889"/>
            </a:avLst>
          </a:prstGeom>
          <a:solidFill>
            <a:srgbClr val="FFFFFF"/>
          </a:solidFill>
          <a:ln/>
          <a:effectLst>
            <a:outerShdw sx="100000" sy="100000" kx="0" ky="0" algn="bl" rotWithShape="0" blurRad="101600" dist="38100" dir="2700000">
              <a:srgbClr val="000000">
                <a:alpha val="12000"/>
              </a:srgbClr>
            </a:outerShdw>
          </a:effectLst>
        </p:spPr>
      </p:sp>
      <p:sp>
        <p:nvSpPr>
          <p:cNvPr id="8" name="Text 6"/>
          <p:cNvSpPr/>
          <p:nvPr/>
        </p:nvSpPr>
        <p:spPr>
          <a:xfrm>
            <a:off x="594360" y="1956816"/>
            <a:ext cx="7863840" cy="420624"/>
          </a:xfrm>
          <a:prstGeom prst="rect">
            <a:avLst/>
          </a:prstGeom>
          <a:noFill/>
          <a:ln/>
        </p:spPr>
        <p:txBody>
          <a:bodyPr wrap="square" lIns="0" tIns="0" rIns="0" bIns="0" rtlCol="0" anchor="ctr"/>
          <a:lstStyle/>
          <a:p>
            <a:pPr indent="0" marL="0">
              <a:buNone/>
            </a:pPr>
            <a:r>
              <a:rPr lang="en-US" sz="1700" b="1" dirty="0">
                <a:solidFill>
                  <a:srgbClr val="0E1C42"/>
                </a:solidFill>
                <a:latin typeface="Calibri" pitchFamily="34" charset="0"/>
                <a:ea typeface="Calibri" pitchFamily="34" charset="-122"/>
                <a:cs typeface="Calibri" pitchFamily="34" charset="-120"/>
              </a:rPr>
              <a:t>forgiven  </a:t>
            </a:r>
            <a:pPr indent="0" marL="0">
              <a:buNone/>
            </a:pPr>
            <a:r>
              <a:rPr lang="en-US" sz="1400" dirty="0">
                <a:solidFill>
                  <a:srgbClr val="1E293B"/>
                </a:solidFill>
                <a:latin typeface="Calibri" pitchFamily="34" charset="0"/>
                <a:ea typeface="Calibri" pitchFamily="34" charset="-122"/>
                <a:cs typeface="Calibri" pitchFamily="34" charset="-120"/>
              </a:rPr>
              <a:t>No longer blamed for something you did wrong.</a:t>
            </a:r>
            <a:endParaRPr lang="en-US" sz="1700" dirty="0"/>
          </a:p>
        </p:txBody>
      </p:sp>
      <p:sp>
        <p:nvSpPr>
          <p:cNvPr id="9" name="Shape 7"/>
          <p:cNvSpPr/>
          <p:nvPr/>
        </p:nvSpPr>
        <p:spPr>
          <a:xfrm>
            <a:off x="365760" y="2560320"/>
            <a:ext cx="8412480" cy="658368"/>
          </a:xfrm>
          <a:prstGeom prst="roundRect">
            <a:avLst>
              <a:gd name="adj" fmla="val 13889"/>
            </a:avLst>
          </a:prstGeom>
          <a:solidFill>
            <a:srgbClr val="E5F7FC"/>
          </a:solidFill>
          <a:ln/>
          <a:effectLst>
            <a:outerShdw sx="100000" sy="100000" kx="0" ky="0" algn="bl" rotWithShape="0" blurRad="101600" dist="38100" dir="2700000">
              <a:srgbClr val="000000">
                <a:alpha val="12000"/>
              </a:srgbClr>
            </a:outerShdw>
          </a:effectLst>
        </p:spPr>
      </p:sp>
      <p:sp>
        <p:nvSpPr>
          <p:cNvPr id="10" name="Text 8"/>
          <p:cNvSpPr/>
          <p:nvPr/>
        </p:nvSpPr>
        <p:spPr>
          <a:xfrm>
            <a:off x="594360" y="2688336"/>
            <a:ext cx="7863840" cy="420624"/>
          </a:xfrm>
          <a:prstGeom prst="rect">
            <a:avLst/>
          </a:prstGeom>
          <a:noFill/>
          <a:ln/>
        </p:spPr>
        <p:txBody>
          <a:bodyPr wrap="square" lIns="0" tIns="0" rIns="0" bIns="0" rtlCol="0" anchor="ctr"/>
          <a:lstStyle/>
          <a:p>
            <a:pPr indent="0" marL="0">
              <a:buNone/>
            </a:pPr>
            <a:r>
              <a:rPr lang="en-US" sz="1700" b="1" dirty="0">
                <a:solidFill>
                  <a:srgbClr val="0E1C42"/>
                </a:solidFill>
                <a:latin typeface="Calibri" pitchFamily="34" charset="0"/>
                <a:ea typeface="Calibri" pitchFamily="34" charset="-122"/>
                <a:cs typeface="Calibri" pitchFamily="34" charset="-120"/>
              </a:rPr>
              <a:t>braver  </a:t>
            </a:r>
            <a:pPr indent="0" marL="0">
              <a:buNone/>
            </a:pPr>
            <a:r>
              <a:rPr lang="en-US" sz="1400" dirty="0">
                <a:solidFill>
                  <a:srgbClr val="1E293B"/>
                </a:solidFill>
                <a:latin typeface="Calibri" pitchFamily="34" charset="0"/>
                <a:ea typeface="Calibri" pitchFamily="34" charset="-122"/>
                <a:cs typeface="Calibri" pitchFamily="34" charset="-120"/>
              </a:rPr>
              <a:t>More willing to face something frightening.</a:t>
            </a:r>
            <a:endParaRPr lang="en-US" sz="1700" dirty="0"/>
          </a:p>
        </p:txBody>
      </p:sp>
      <p:sp>
        <p:nvSpPr>
          <p:cNvPr id="11" name="Shape 9"/>
          <p:cNvSpPr/>
          <p:nvPr/>
        </p:nvSpPr>
        <p:spPr>
          <a:xfrm>
            <a:off x="365760" y="3291840"/>
            <a:ext cx="8412480" cy="658368"/>
          </a:xfrm>
          <a:prstGeom prst="roundRect">
            <a:avLst>
              <a:gd name="adj" fmla="val 13889"/>
            </a:avLst>
          </a:prstGeom>
          <a:solidFill>
            <a:srgbClr val="FFFFFF"/>
          </a:solidFill>
          <a:ln/>
          <a:effectLst>
            <a:outerShdw sx="100000" sy="100000" kx="0" ky="0" algn="bl" rotWithShape="0" blurRad="101600" dist="38100" dir="2700000">
              <a:srgbClr val="000000">
                <a:alpha val="12000"/>
              </a:srgbClr>
            </a:outerShdw>
          </a:effectLst>
        </p:spPr>
      </p:sp>
      <p:sp>
        <p:nvSpPr>
          <p:cNvPr id="12" name="Text 10"/>
          <p:cNvSpPr/>
          <p:nvPr/>
        </p:nvSpPr>
        <p:spPr>
          <a:xfrm>
            <a:off x="594360" y="3419856"/>
            <a:ext cx="7863840" cy="420624"/>
          </a:xfrm>
          <a:prstGeom prst="rect">
            <a:avLst/>
          </a:prstGeom>
          <a:noFill/>
          <a:ln/>
        </p:spPr>
        <p:txBody>
          <a:bodyPr wrap="square" lIns="0" tIns="0" rIns="0" bIns="0" rtlCol="0" anchor="ctr"/>
          <a:lstStyle/>
          <a:p>
            <a:pPr indent="0" marL="0">
              <a:buNone/>
            </a:pPr>
            <a:r>
              <a:rPr lang="en-US" sz="1700" b="1" dirty="0">
                <a:solidFill>
                  <a:srgbClr val="0E1C42"/>
                </a:solidFill>
                <a:latin typeface="Calibri" pitchFamily="34" charset="0"/>
                <a:ea typeface="Calibri" pitchFamily="34" charset="-122"/>
                <a:cs typeface="Calibri" pitchFamily="34" charset="-120"/>
              </a:rPr>
              <a:t>crown  </a:t>
            </a:r>
            <a:pPr indent="0" marL="0">
              <a:buNone/>
            </a:pPr>
            <a:r>
              <a:rPr lang="en-US" sz="1400" dirty="0">
                <a:solidFill>
                  <a:srgbClr val="1E293B"/>
                </a:solidFill>
                <a:latin typeface="Calibri" pitchFamily="34" charset="0"/>
                <a:ea typeface="Calibri" pitchFamily="34" charset="-122"/>
                <a:cs typeface="Calibri" pitchFamily="34" charset="-120"/>
              </a:rPr>
              <a:t>The circle of gold and jewels a king or queen wears.</a:t>
            </a:r>
            <a:endParaRPr lang="en-US" sz="1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9144000" cy="566928"/>
          </a:xfrm>
          <a:prstGeom prst="rect">
            <a:avLst/>
          </a:prstGeom>
          <a:solidFill>
            <a:srgbClr val="C7922C"/>
          </a:solidFill>
          <a:ln/>
        </p:spPr>
      </p:sp>
      <p:sp>
        <p:nvSpPr>
          <p:cNvPr id="3" name="Text 1"/>
          <p:cNvSpPr/>
          <p:nvPr/>
        </p:nvSpPr>
        <p:spPr>
          <a:xfrm>
            <a:off x="365760" y="54864"/>
            <a:ext cx="8412480" cy="457200"/>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  Grammar</a:t>
            </a:r>
            <a:endParaRPr lang="en-US" sz="2200" dirty="0"/>
          </a:p>
        </p:txBody>
      </p:sp>
      <p:sp>
        <p:nvSpPr>
          <p:cNvPr id="4" name="Text 2"/>
          <p:cNvSpPr/>
          <p:nvPr/>
        </p:nvSpPr>
        <p:spPr>
          <a:xfrm>
            <a:off x="365760" y="777240"/>
            <a:ext cx="8229600" cy="237744"/>
          </a:xfrm>
          <a:prstGeom prst="rect">
            <a:avLst/>
          </a:prstGeom>
          <a:noFill/>
          <a:ln/>
        </p:spPr>
        <p:txBody>
          <a:bodyPr wrap="square" lIns="0" tIns="0" rIns="0" bIns="0" rtlCol="0" anchor="ctr"/>
          <a:lstStyle/>
          <a:p>
            <a:pPr indent="0" marL="0">
              <a:buNone/>
            </a:pPr>
            <a:r>
              <a:rPr lang="en-US" sz="1100" b="1" spc="100" kern="0" dirty="0">
                <a:solidFill>
                  <a:srgbClr val="C7922C"/>
                </a:solidFill>
                <a:latin typeface="Calibri" pitchFamily="34" charset="0"/>
                <a:ea typeface="Calibri" pitchFamily="34" charset="-122"/>
                <a:cs typeface="Calibri" pitchFamily="34" charset="-120"/>
              </a:rPr>
              <a:t>DIALOGUE: PUTTING IT TO WORK</a:t>
            </a:r>
            <a:endParaRPr lang="en-US" sz="1100" dirty="0"/>
          </a:p>
        </p:txBody>
      </p:sp>
      <p:sp>
        <p:nvSpPr>
          <p:cNvPr id="5" name="Shape 3"/>
          <p:cNvSpPr/>
          <p:nvPr/>
        </p:nvSpPr>
        <p:spPr>
          <a:xfrm>
            <a:off x="365760" y="1078992"/>
            <a:ext cx="8412480" cy="658368"/>
          </a:xfrm>
          <a:prstGeom prst="roundRect">
            <a:avLst>
              <a:gd name="adj" fmla="val 13889"/>
            </a:avLst>
          </a:prstGeom>
          <a:solidFill>
            <a:srgbClr val="FEF6E8"/>
          </a:solidFill>
          <a:ln/>
          <a:effectLst>
            <a:outerShdw sx="100000" sy="100000" kx="0" ky="0" algn="bl" rotWithShape="0" blurRad="101600" dist="38100" dir="2700000">
              <a:srgbClr val="000000">
                <a:alpha val="12000"/>
              </a:srgbClr>
            </a:outerShdw>
          </a:effectLst>
        </p:spPr>
      </p:sp>
      <p:sp>
        <p:nvSpPr>
          <p:cNvPr id="6" name="Text 4"/>
          <p:cNvSpPr/>
          <p:nvPr/>
        </p:nvSpPr>
        <p:spPr>
          <a:xfrm>
            <a:off x="594360" y="1225296"/>
            <a:ext cx="7863840" cy="402336"/>
          </a:xfrm>
          <a:prstGeom prst="rect">
            <a:avLst/>
          </a:prstGeom>
          <a:noFill/>
          <a:ln/>
        </p:spPr>
        <p:txBody>
          <a:bodyPr wrap="square" lIns="0" tIns="0" rIns="0" bIns="0" rtlCol="0" anchor="ctr"/>
          <a:lstStyle/>
          <a:p>
            <a:pPr indent="0" marL="0">
              <a:buNone/>
            </a:pPr>
            <a:r>
              <a:rPr lang="en-US" sz="1600" dirty="0">
                <a:solidFill>
                  <a:srgbClr val="1E293B"/>
                </a:solidFill>
                <a:latin typeface="Calibri" pitchFamily="34" charset="0"/>
                <a:ea typeface="Calibri" pitchFamily="34" charset="-122"/>
                <a:cs typeface="Calibri" pitchFamily="34" charset="-120"/>
              </a:rPr>
              <a:t>“Where is she?” asked Despereaux.</a:t>
            </a:r>
            <a:endParaRPr lang="en-US" sz="1600" dirty="0"/>
          </a:p>
        </p:txBody>
      </p:sp>
      <p:sp>
        <p:nvSpPr>
          <p:cNvPr id="7" name="Shape 5"/>
          <p:cNvSpPr/>
          <p:nvPr/>
        </p:nvSpPr>
        <p:spPr>
          <a:xfrm>
            <a:off x="365760" y="1810512"/>
            <a:ext cx="8412480" cy="658368"/>
          </a:xfrm>
          <a:prstGeom prst="roundRect">
            <a:avLst>
              <a:gd name="adj" fmla="val 13889"/>
            </a:avLst>
          </a:prstGeom>
          <a:solidFill>
            <a:srgbClr val="FFFFFF"/>
          </a:solidFill>
          <a:ln/>
          <a:effectLst>
            <a:outerShdw sx="100000" sy="100000" kx="0" ky="0" algn="bl" rotWithShape="0" blurRad="101600" dist="38100" dir="2700000">
              <a:srgbClr val="000000">
                <a:alpha val="12000"/>
              </a:srgbClr>
            </a:outerShdw>
          </a:effectLst>
        </p:spPr>
      </p:sp>
      <p:sp>
        <p:nvSpPr>
          <p:cNvPr id="8" name="Text 6"/>
          <p:cNvSpPr/>
          <p:nvPr/>
        </p:nvSpPr>
        <p:spPr>
          <a:xfrm>
            <a:off x="594360" y="1956816"/>
            <a:ext cx="7863840" cy="402336"/>
          </a:xfrm>
          <a:prstGeom prst="rect">
            <a:avLst/>
          </a:prstGeom>
          <a:noFill/>
          <a:ln/>
        </p:spPr>
        <p:txBody>
          <a:bodyPr wrap="square" lIns="0" tIns="0" rIns="0" bIns="0" rtlCol="0" anchor="ctr"/>
          <a:lstStyle/>
          <a:p>
            <a:pPr indent="0" marL="0">
              <a:buNone/>
            </a:pPr>
            <a:r>
              <a:rPr lang="en-US" sz="1600" dirty="0">
                <a:solidFill>
                  <a:srgbClr val="1E293B"/>
                </a:solidFill>
                <a:latin typeface="Calibri" pitchFamily="34" charset="0"/>
                <a:ea typeface="Calibri" pitchFamily="34" charset="-122"/>
                <a:cs typeface="Calibri" pitchFamily="34" charset="-120"/>
              </a:rPr>
              <a:t>“Gone,” said Cook quietly.</a:t>
            </a:r>
            <a:endParaRPr lang="en-US" sz="1600" dirty="0"/>
          </a:p>
        </p:txBody>
      </p:sp>
      <p:sp>
        <p:nvSpPr>
          <p:cNvPr id="9" name="Shape 7"/>
          <p:cNvSpPr/>
          <p:nvPr/>
        </p:nvSpPr>
        <p:spPr>
          <a:xfrm>
            <a:off x="365760" y="2542032"/>
            <a:ext cx="8412480" cy="658368"/>
          </a:xfrm>
          <a:prstGeom prst="roundRect">
            <a:avLst>
              <a:gd name="adj" fmla="val 13889"/>
            </a:avLst>
          </a:prstGeom>
          <a:solidFill>
            <a:srgbClr val="FEF6E8"/>
          </a:solidFill>
          <a:ln/>
          <a:effectLst>
            <a:outerShdw sx="100000" sy="100000" kx="0" ky="0" algn="bl" rotWithShape="0" blurRad="101600" dist="38100" dir="2700000">
              <a:srgbClr val="000000">
                <a:alpha val="12000"/>
              </a:srgbClr>
            </a:outerShdw>
          </a:effectLst>
        </p:spPr>
      </p:sp>
      <p:sp>
        <p:nvSpPr>
          <p:cNvPr id="10" name="Text 8"/>
          <p:cNvSpPr/>
          <p:nvPr/>
        </p:nvSpPr>
        <p:spPr>
          <a:xfrm>
            <a:off x="594360" y="2688336"/>
            <a:ext cx="7863840" cy="402336"/>
          </a:xfrm>
          <a:prstGeom prst="rect">
            <a:avLst/>
          </a:prstGeom>
          <a:noFill/>
          <a:ln/>
        </p:spPr>
        <p:txBody>
          <a:bodyPr wrap="square" lIns="0" tIns="0" rIns="0" bIns="0" rtlCol="0" anchor="ctr"/>
          <a:lstStyle/>
          <a:p>
            <a:pPr indent="0" marL="0">
              <a:buNone/>
            </a:pPr>
            <a:r>
              <a:rPr lang="en-US" sz="1600" dirty="0">
                <a:solidFill>
                  <a:srgbClr val="1E293B"/>
                </a:solidFill>
                <a:latin typeface="Calibri" pitchFamily="34" charset="0"/>
                <a:ea typeface="Calibri" pitchFamily="34" charset="-122"/>
                <a:cs typeface="Calibri" pitchFamily="34" charset="-120"/>
              </a:rPr>
              <a:t>The king shouted, “Find her!”</a:t>
            </a:r>
            <a:endParaRPr lang="en-US" sz="1600" dirty="0"/>
          </a:p>
        </p:txBody>
      </p:sp>
      <p:sp>
        <p:nvSpPr>
          <p:cNvPr id="11" name="Shape 9"/>
          <p:cNvSpPr/>
          <p:nvPr/>
        </p:nvSpPr>
        <p:spPr>
          <a:xfrm>
            <a:off x="365760" y="3273552"/>
            <a:ext cx="8412480" cy="658368"/>
          </a:xfrm>
          <a:prstGeom prst="roundRect">
            <a:avLst>
              <a:gd name="adj" fmla="val 13889"/>
            </a:avLst>
          </a:prstGeom>
          <a:solidFill>
            <a:srgbClr val="FFFFFF"/>
          </a:solidFill>
          <a:ln/>
          <a:effectLst>
            <a:outerShdw sx="100000" sy="100000" kx="0" ky="0" algn="bl" rotWithShape="0" blurRad="101600" dist="38100" dir="2700000">
              <a:srgbClr val="000000">
                <a:alpha val="12000"/>
              </a:srgbClr>
            </a:outerShdw>
          </a:effectLst>
        </p:spPr>
      </p:sp>
      <p:sp>
        <p:nvSpPr>
          <p:cNvPr id="12" name="Text 10"/>
          <p:cNvSpPr/>
          <p:nvPr/>
        </p:nvSpPr>
        <p:spPr>
          <a:xfrm>
            <a:off x="594360" y="3419856"/>
            <a:ext cx="7863840" cy="402336"/>
          </a:xfrm>
          <a:prstGeom prst="rect">
            <a:avLst/>
          </a:prstGeom>
          <a:noFill/>
          <a:ln/>
        </p:spPr>
        <p:txBody>
          <a:bodyPr wrap="square" lIns="0" tIns="0" rIns="0" bIns="0" rtlCol="0" anchor="ctr"/>
          <a:lstStyle/>
          <a:p>
            <a:pPr indent="0" marL="0">
              <a:buNone/>
            </a:pPr>
            <a:r>
              <a:rPr lang="en-US" sz="1600" dirty="0">
                <a:solidFill>
                  <a:srgbClr val="1E293B"/>
                </a:solidFill>
                <a:latin typeface="Calibri" pitchFamily="34" charset="0"/>
                <a:ea typeface="Calibri" pitchFamily="34" charset="-122"/>
                <a:cs typeface="Calibri" pitchFamily="34" charset="-120"/>
              </a:rPr>
              <a:t>“I will go,” said the mouse.</a:t>
            </a:r>
            <a:endParaRPr lang="en-US" sz="1600" dirty="0"/>
          </a:p>
        </p:txBody>
      </p:sp>
      <p:sp>
        <p:nvSpPr>
          <p:cNvPr id="13" name="Text 11"/>
          <p:cNvSpPr/>
          <p:nvPr/>
        </p:nvSpPr>
        <p:spPr>
          <a:xfrm>
            <a:off x="365760" y="4050792"/>
            <a:ext cx="8412480" cy="365760"/>
          </a:xfrm>
          <a:prstGeom prst="rect">
            <a:avLst/>
          </a:prstGeom>
          <a:noFill/>
          <a:ln/>
        </p:spPr>
        <p:txBody>
          <a:bodyPr wrap="square" lIns="0" tIns="0" rIns="0" bIns="0" rtlCol="0" anchor="ctr"/>
          <a:lstStyle/>
          <a:p>
            <a:pPr indent="0" marL="0">
              <a:buNone/>
            </a:pPr>
            <a:r>
              <a:rPr lang="en-US" sz="1500" i="1" dirty="0">
                <a:solidFill>
                  <a:srgbClr val="64748B"/>
                </a:solidFill>
                <a:latin typeface="Calibri" pitchFamily="34" charset="0"/>
                <a:ea typeface="Calibri" pitchFamily="34" charset="-122"/>
                <a:cs typeface="Calibri" pitchFamily="34" charset="-120"/>
              </a:rPr>
              <a:t>Your turn. Find the punctuation mark that ends the spoken words. Tap a word to check — green means you got it.</a:t>
            </a:r>
            <a:endParaRPr lang="en-US" sz="15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9144000" cy="566928"/>
          </a:xfrm>
          <a:prstGeom prst="rect">
            <a:avLst/>
          </a:prstGeom>
          <a:solidFill>
            <a:srgbClr val="C7922C"/>
          </a:solidFill>
          <a:ln/>
        </p:spPr>
      </p:sp>
      <p:sp>
        <p:nvSpPr>
          <p:cNvPr id="3" name="Text 1"/>
          <p:cNvSpPr/>
          <p:nvPr/>
        </p:nvSpPr>
        <p:spPr>
          <a:xfrm>
            <a:off x="365760" y="54864"/>
            <a:ext cx="8412480" cy="457200"/>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  Grammar</a:t>
            </a:r>
            <a:endParaRPr lang="en-US" sz="2200" dirty="0"/>
          </a:p>
        </p:txBody>
      </p:sp>
      <p:sp>
        <p:nvSpPr>
          <p:cNvPr id="4" name="Text 2"/>
          <p:cNvSpPr/>
          <p:nvPr/>
        </p:nvSpPr>
        <p:spPr>
          <a:xfrm>
            <a:off x="365760" y="777240"/>
            <a:ext cx="8229600" cy="237744"/>
          </a:xfrm>
          <a:prstGeom prst="rect">
            <a:avLst/>
          </a:prstGeom>
          <a:noFill/>
          <a:ln/>
        </p:spPr>
        <p:txBody>
          <a:bodyPr wrap="square" lIns="0" tIns="0" rIns="0" bIns="0" rtlCol="0" anchor="ctr"/>
          <a:lstStyle/>
          <a:p>
            <a:pPr indent="0" marL="0">
              <a:buNone/>
            </a:pPr>
            <a:r>
              <a:rPr lang="en-US" sz="1100" b="1" spc="100" kern="0" dirty="0">
                <a:solidFill>
                  <a:srgbClr val="C7922C"/>
                </a:solidFill>
                <a:latin typeface="Calibri" pitchFamily="34" charset="0"/>
                <a:ea typeface="Calibri" pitchFamily="34" charset="-122"/>
                <a:cs typeface="Calibri" pitchFamily="34" charset="-120"/>
              </a:rPr>
              <a:t>DIALOGUE: PUTTING IT TO WORK</a:t>
            </a:r>
            <a:endParaRPr lang="en-US" sz="1100" dirty="0"/>
          </a:p>
        </p:txBody>
      </p:sp>
      <p:sp>
        <p:nvSpPr>
          <p:cNvPr id="5" name="Shape 3"/>
          <p:cNvSpPr/>
          <p:nvPr/>
        </p:nvSpPr>
        <p:spPr>
          <a:xfrm>
            <a:off x="365760" y="1078992"/>
            <a:ext cx="8412480" cy="658368"/>
          </a:xfrm>
          <a:prstGeom prst="roundRect">
            <a:avLst>
              <a:gd name="adj" fmla="val 13889"/>
            </a:avLst>
          </a:prstGeom>
          <a:solidFill>
            <a:srgbClr val="FEF6E8"/>
          </a:solidFill>
          <a:ln/>
          <a:effectLst>
            <a:outerShdw sx="100000" sy="100000" kx="0" ky="0" algn="bl" rotWithShape="0" blurRad="101600" dist="38100" dir="2700000">
              <a:srgbClr val="000000">
                <a:alpha val="12000"/>
              </a:srgbClr>
            </a:outerShdw>
          </a:effectLst>
        </p:spPr>
      </p:sp>
      <p:sp>
        <p:nvSpPr>
          <p:cNvPr id="6" name="Text 4"/>
          <p:cNvSpPr/>
          <p:nvPr/>
        </p:nvSpPr>
        <p:spPr>
          <a:xfrm>
            <a:off x="594360" y="1225296"/>
            <a:ext cx="7863840" cy="402336"/>
          </a:xfrm>
          <a:prstGeom prst="rect">
            <a:avLst/>
          </a:prstGeom>
          <a:noFill/>
          <a:ln/>
        </p:spPr>
        <p:txBody>
          <a:bodyPr wrap="square" lIns="0" tIns="0" rIns="0" bIns="0" rtlCol="0" anchor="ctr"/>
          <a:lstStyle/>
          <a:p>
            <a:pPr indent="0" marL="0">
              <a:buNone/>
            </a:pPr>
            <a:r>
              <a:rPr lang="en-US" sz="1600" dirty="0">
                <a:solidFill>
                  <a:srgbClr val="1E293B"/>
                </a:solidFill>
                <a:latin typeface="Calibri" pitchFamily="34" charset="0"/>
                <a:ea typeface="Calibri" pitchFamily="34" charset="-122"/>
                <a:cs typeface="Calibri" pitchFamily="34" charset="-120"/>
              </a:rPr>
              <a:t>“Where is </a:t>
            </a:r>
            <a:pPr indent="0" marL="0">
              <a:buNone/>
            </a:pPr>
            <a:r>
              <a:rPr lang="en-US" sz="1600" b="1" dirty="0">
                <a:solidFill>
                  <a:srgbClr val="34B76F"/>
                </a:solidFill>
                <a:latin typeface="Calibri" pitchFamily="34" charset="0"/>
                <a:ea typeface="Calibri" pitchFamily="34" charset="-122"/>
                <a:cs typeface="Calibri" pitchFamily="34" charset="-120"/>
              </a:rPr>
              <a:t>she?”</a:t>
            </a:r>
            <a:pPr indent="0" marL="0">
              <a:buNone/>
            </a:pPr>
            <a:r>
              <a:rPr lang="en-US" sz="1600" dirty="0">
                <a:solidFill>
                  <a:srgbClr val="1E293B"/>
                </a:solidFill>
                <a:latin typeface="Calibri" pitchFamily="34" charset="0"/>
                <a:ea typeface="Calibri" pitchFamily="34" charset="-122"/>
                <a:cs typeface="Calibri" pitchFamily="34" charset="-120"/>
              </a:rPr>
              <a:t> asked Despereaux.</a:t>
            </a:r>
            <a:endParaRPr lang="en-US" sz="1600" dirty="0"/>
          </a:p>
        </p:txBody>
      </p:sp>
      <p:sp>
        <p:nvSpPr>
          <p:cNvPr id="7" name="Shape 5"/>
          <p:cNvSpPr/>
          <p:nvPr/>
        </p:nvSpPr>
        <p:spPr>
          <a:xfrm>
            <a:off x="365760" y="1810512"/>
            <a:ext cx="8412480" cy="658368"/>
          </a:xfrm>
          <a:prstGeom prst="roundRect">
            <a:avLst>
              <a:gd name="adj" fmla="val 13889"/>
            </a:avLst>
          </a:prstGeom>
          <a:solidFill>
            <a:srgbClr val="FFFFFF"/>
          </a:solidFill>
          <a:ln/>
          <a:effectLst>
            <a:outerShdw sx="100000" sy="100000" kx="0" ky="0" algn="bl" rotWithShape="0" blurRad="101600" dist="38100" dir="2700000">
              <a:srgbClr val="000000">
                <a:alpha val="12000"/>
              </a:srgbClr>
            </a:outerShdw>
          </a:effectLst>
        </p:spPr>
      </p:sp>
      <p:sp>
        <p:nvSpPr>
          <p:cNvPr id="8" name="Text 6"/>
          <p:cNvSpPr/>
          <p:nvPr/>
        </p:nvSpPr>
        <p:spPr>
          <a:xfrm>
            <a:off x="594360" y="1956816"/>
            <a:ext cx="7863840" cy="402336"/>
          </a:xfrm>
          <a:prstGeom prst="rect">
            <a:avLst/>
          </a:prstGeom>
          <a:noFill/>
          <a:ln/>
        </p:spPr>
        <p:txBody>
          <a:bodyPr wrap="square" lIns="0" tIns="0" rIns="0" bIns="0" rtlCol="0" anchor="ctr"/>
          <a:lstStyle/>
          <a:p>
            <a:pPr indent="0" marL="0">
              <a:buNone/>
            </a:pPr>
            <a:r>
              <a:rPr lang="en-US" sz="1600" b="1" dirty="0">
                <a:solidFill>
                  <a:srgbClr val="34B76F"/>
                </a:solidFill>
                <a:latin typeface="Calibri" pitchFamily="34" charset="0"/>
                <a:ea typeface="Calibri" pitchFamily="34" charset="-122"/>
                <a:cs typeface="Calibri" pitchFamily="34" charset="-120"/>
              </a:rPr>
              <a:t>“Gone,”</a:t>
            </a:r>
            <a:pPr indent="0" marL="0">
              <a:buNone/>
            </a:pPr>
            <a:r>
              <a:rPr lang="en-US" sz="1600" dirty="0">
                <a:solidFill>
                  <a:srgbClr val="1E293B"/>
                </a:solidFill>
                <a:latin typeface="Calibri" pitchFamily="34" charset="0"/>
                <a:ea typeface="Calibri" pitchFamily="34" charset="-122"/>
                <a:cs typeface="Calibri" pitchFamily="34" charset="-120"/>
              </a:rPr>
              <a:t> said Cook quietly.</a:t>
            </a:r>
            <a:endParaRPr lang="en-US" sz="1600" dirty="0"/>
          </a:p>
        </p:txBody>
      </p:sp>
      <p:sp>
        <p:nvSpPr>
          <p:cNvPr id="9" name="Shape 7"/>
          <p:cNvSpPr/>
          <p:nvPr/>
        </p:nvSpPr>
        <p:spPr>
          <a:xfrm>
            <a:off x="365760" y="2542032"/>
            <a:ext cx="8412480" cy="658368"/>
          </a:xfrm>
          <a:prstGeom prst="roundRect">
            <a:avLst>
              <a:gd name="adj" fmla="val 13889"/>
            </a:avLst>
          </a:prstGeom>
          <a:solidFill>
            <a:srgbClr val="FEF6E8"/>
          </a:solidFill>
          <a:ln/>
          <a:effectLst>
            <a:outerShdw sx="100000" sy="100000" kx="0" ky="0" algn="bl" rotWithShape="0" blurRad="101600" dist="38100" dir="2700000">
              <a:srgbClr val="000000">
                <a:alpha val="12000"/>
              </a:srgbClr>
            </a:outerShdw>
          </a:effectLst>
        </p:spPr>
      </p:sp>
      <p:sp>
        <p:nvSpPr>
          <p:cNvPr id="10" name="Text 8"/>
          <p:cNvSpPr/>
          <p:nvPr/>
        </p:nvSpPr>
        <p:spPr>
          <a:xfrm>
            <a:off x="594360" y="2688336"/>
            <a:ext cx="7863840" cy="402336"/>
          </a:xfrm>
          <a:prstGeom prst="rect">
            <a:avLst/>
          </a:prstGeom>
          <a:noFill/>
          <a:ln/>
        </p:spPr>
        <p:txBody>
          <a:bodyPr wrap="square" lIns="0" tIns="0" rIns="0" bIns="0" rtlCol="0" anchor="ctr"/>
          <a:lstStyle/>
          <a:p>
            <a:pPr indent="0" marL="0">
              <a:buNone/>
            </a:pPr>
            <a:r>
              <a:rPr lang="en-US" sz="1600" dirty="0">
                <a:solidFill>
                  <a:srgbClr val="1E293B"/>
                </a:solidFill>
                <a:latin typeface="Calibri" pitchFamily="34" charset="0"/>
                <a:ea typeface="Calibri" pitchFamily="34" charset="-122"/>
                <a:cs typeface="Calibri" pitchFamily="34" charset="-120"/>
              </a:rPr>
              <a:t>The king </a:t>
            </a:r>
            <a:pPr indent="0" marL="0">
              <a:buNone/>
            </a:pPr>
            <a:r>
              <a:rPr lang="en-US" sz="1600" b="1" dirty="0">
                <a:solidFill>
                  <a:srgbClr val="34B76F"/>
                </a:solidFill>
                <a:latin typeface="Calibri" pitchFamily="34" charset="0"/>
                <a:ea typeface="Calibri" pitchFamily="34" charset="-122"/>
                <a:cs typeface="Calibri" pitchFamily="34" charset="-120"/>
              </a:rPr>
              <a:t>shouted,</a:t>
            </a:r>
            <a:pPr indent="0" marL="0">
              <a:buNone/>
            </a:pPr>
            <a:r>
              <a:rPr lang="en-US" sz="1600" dirty="0">
                <a:solidFill>
                  <a:srgbClr val="1E293B"/>
                </a:solidFill>
                <a:latin typeface="Calibri" pitchFamily="34" charset="0"/>
                <a:ea typeface="Calibri" pitchFamily="34" charset="-122"/>
                <a:cs typeface="Calibri" pitchFamily="34" charset="-120"/>
              </a:rPr>
              <a:t> “Find her!”</a:t>
            </a:r>
            <a:endParaRPr lang="en-US" sz="1600" dirty="0"/>
          </a:p>
        </p:txBody>
      </p:sp>
      <p:sp>
        <p:nvSpPr>
          <p:cNvPr id="11" name="Shape 9"/>
          <p:cNvSpPr/>
          <p:nvPr/>
        </p:nvSpPr>
        <p:spPr>
          <a:xfrm>
            <a:off x="365760" y="3273552"/>
            <a:ext cx="8412480" cy="658368"/>
          </a:xfrm>
          <a:prstGeom prst="roundRect">
            <a:avLst>
              <a:gd name="adj" fmla="val 13889"/>
            </a:avLst>
          </a:prstGeom>
          <a:solidFill>
            <a:srgbClr val="FFFFFF"/>
          </a:solidFill>
          <a:ln/>
          <a:effectLst>
            <a:outerShdw sx="100000" sy="100000" kx="0" ky="0" algn="bl" rotWithShape="0" blurRad="101600" dist="38100" dir="2700000">
              <a:srgbClr val="000000">
                <a:alpha val="12000"/>
              </a:srgbClr>
            </a:outerShdw>
          </a:effectLst>
        </p:spPr>
      </p:sp>
      <p:sp>
        <p:nvSpPr>
          <p:cNvPr id="12" name="Text 10"/>
          <p:cNvSpPr/>
          <p:nvPr/>
        </p:nvSpPr>
        <p:spPr>
          <a:xfrm>
            <a:off x="594360" y="3419856"/>
            <a:ext cx="7863840" cy="402336"/>
          </a:xfrm>
          <a:prstGeom prst="rect">
            <a:avLst/>
          </a:prstGeom>
          <a:noFill/>
          <a:ln/>
        </p:spPr>
        <p:txBody>
          <a:bodyPr wrap="square" lIns="0" tIns="0" rIns="0" bIns="0" rtlCol="0" anchor="ctr"/>
          <a:lstStyle/>
          <a:p>
            <a:pPr indent="0" marL="0">
              <a:buNone/>
            </a:pPr>
            <a:r>
              <a:rPr lang="en-US" sz="1600" dirty="0">
                <a:solidFill>
                  <a:srgbClr val="1E293B"/>
                </a:solidFill>
                <a:latin typeface="Calibri" pitchFamily="34" charset="0"/>
                <a:ea typeface="Calibri" pitchFamily="34" charset="-122"/>
                <a:cs typeface="Calibri" pitchFamily="34" charset="-120"/>
              </a:rPr>
              <a:t>“I will </a:t>
            </a:r>
            <a:pPr indent="0" marL="0">
              <a:buNone/>
            </a:pPr>
            <a:r>
              <a:rPr lang="en-US" sz="1600" b="1" dirty="0">
                <a:solidFill>
                  <a:srgbClr val="34B76F"/>
                </a:solidFill>
                <a:latin typeface="Calibri" pitchFamily="34" charset="0"/>
                <a:ea typeface="Calibri" pitchFamily="34" charset="-122"/>
                <a:cs typeface="Calibri" pitchFamily="34" charset="-120"/>
              </a:rPr>
              <a:t>go,”</a:t>
            </a:r>
            <a:pPr indent="0" marL="0">
              <a:buNone/>
            </a:pPr>
            <a:r>
              <a:rPr lang="en-US" sz="1600" dirty="0">
                <a:solidFill>
                  <a:srgbClr val="1E293B"/>
                </a:solidFill>
                <a:latin typeface="Calibri" pitchFamily="34" charset="0"/>
                <a:ea typeface="Calibri" pitchFamily="34" charset="-122"/>
                <a:cs typeface="Calibri" pitchFamily="34" charset="-120"/>
              </a:rPr>
              <a:t> said the mouse.</a:t>
            </a:r>
            <a:endParaRPr lang="en-US" sz="1600" dirty="0"/>
          </a:p>
        </p:txBody>
      </p:sp>
      <p:sp>
        <p:nvSpPr>
          <p:cNvPr id="13" name="Text 11"/>
          <p:cNvSpPr/>
          <p:nvPr/>
        </p:nvSpPr>
        <p:spPr>
          <a:xfrm>
            <a:off x="365760" y="4050792"/>
            <a:ext cx="8412480" cy="365760"/>
          </a:xfrm>
          <a:prstGeom prst="rect">
            <a:avLst/>
          </a:prstGeom>
          <a:noFill/>
          <a:ln/>
        </p:spPr>
        <p:txBody>
          <a:bodyPr wrap="square" lIns="0" tIns="0" rIns="0" bIns="0" rtlCol="0" anchor="ctr"/>
          <a:lstStyle/>
          <a:p>
            <a:pPr indent="0" marL="0">
              <a:buNone/>
            </a:pPr>
            <a:r>
              <a:rPr lang="en-US" sz="1500" b="1" dirty="0">
                <a:solidFill>
                  <a:srgbClr val="34B76F"/>
                </a:solidFill>
                <a:latin typeface="Calibri" pitchFamily="34" charset="0"/>
                <a:ea typeface="Calibri" pitchFamily="34" charset="-122"/>
                <a:cs typeface="Calibri" pitchFamily="34" charset="-120"/>
              </a:rPr>
              <a:t>✅  Answers revealed</a:t>
            </a:r>
            <a:endParaRPr lang="en-US" sz="15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9144000" cy="566928"/>
          </a:xfrm>
          <a:prstGeom prst="rect">
            <a:avLst/>
          </a:prstGeom>
          <a:solidFill>
            <a:srgbClr val="0E1C42"/>
          </a:solidFill>
          <a:ln/>
        </p:spPr>
      </p:sp>
      <p:sp>
        <p:nvSpPr>
          <p:cNvPr id="3" name="Text 1"/>
          <p:cNvSpPr/>
          <p:nvPr/>
        </p:nvSpPr>
        <p:spPr>
          <a:xfrm>
            <a:off x="365760" y="54864"/>
            <a:ext cx="8412480" cy="457200"/>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  Spelling</a:t>
            </a:r>
            <a:endParaRPr lang="en-US" sz="2200" dirty="0"/>
          </a:p>
        </p:txBody>
      </p:sp>
      <p:sp>
        <p:nvSpPr>
          <p:cNvPr id="4" name="Text 2"/>
          <p:cNvSpPr/>
          <p:nvPr/>
        </p:nvSpPr>
        <p:spPr>
          <a:xfrm>
            <a:off x="365760" y="777240"/>
            <a:ext cx="8229600" cy="237744"/>
          </a:xfrm>
          <a:prstGeom prst="rect">
            <a:avLst/>
          </a:prstGeom>
          <a:noFill/>
          <a:ln/>
        </p:spPr>
        <p:txBody>
          <a:bodyPr wrap="square" lIns="0" tIns="0" rIns="0" bIns="0" rtlCol="0" anchor="ctr"/>
          <a:lstStyle/>
          <a:p>
            <a:pPr indent="0" marL="0">
              <a:buNone/>
            </a:pPr>
            <a:r>
              <a:rPr lang="en-US" sz="1100" b="1" spc="100" kern="0" dirty="0">
                <a:solidFill>
                  <a:srgbClr val="0E1C42"/>
                </a:solidFill>
                <a:latin typeface="Calibri" pitchFamily="34" charset="0"/>
                <a:ea typeface="Calibri" pitchFamily="34" charset="-122"/>
                <a:cs typeface="Calibri" pitchFamily="34" charset="-120"/>
              </a:rPr>
              <a:t>SOFT C AND SOFT G</a:t>
            </a:r>
            <a:endParaRPr lang="en-US" sz="1100" dirty="0"/>
          </a:p>
        </p:txBody>
      </p:sp>
      <p:sp>
        <p:nvSpPr>
          <p:cNvPr id="5" name="Text 3"/>
          <p:cNvSpPr/>
          <p:nvPr/>
        </p:nvSpPr>
        <p:spPr>
          <a:xfrm>
            <a:off x="365760" y="1078992"/>
            <a:ext cx="8229600" cy="237744"/>
          </a:xfrm>
          <a:prstGeom prst="rect">
            <a:avLst/>
          </a:prstGeom>
          <a:noFill/>
          <a:ln/>
        </p:spPr>
        <p:txBody>
          <a:bodyPr wrap="square" lIns="0" tIns="0" rIns="0" bIns="0" rtlCol="0" anchor="ctr"/>
          <a:lstStyle/>
          <a:p>
            <a:pPr indent="0" marL="0">
              <a:buNone/>
            </a:pPr>
            <a:r>
              <a:rPr lang="en-US" sz="1100" b="1" spc="100" kern="0" dirty="0">
                <a:solidFill>
                  <a:srgbClr val="64748B"/>
                </a:solidFill>
                <a:latin typeface="Calibri" pitchFamily="34" charset="0"/>
                <a:ea typeface="Calibri" pitchFamily="34" charset="-122"/>
                <a:cs typeface="Calibri" pitchFamily="34" charset="-120"/>
              </a:rPr>
              <a:t>WORD BANK</a:t>
            </a:r>
            <a:endParaRPr lang="en-US" sz="1100" dirty="0"/>
          </a:p>
        </p:txBody>
      </p:sp>
      <p:sp>
        <p:nvSpPr>
          <p:cNvPr id="6" name="Shape 4"/>
          <p:cNvSpPr/>
          <p:nvPr/>
        </p:nvSpPr>
        <p:spPr>
          <a:xfrm>
            <a:off x="365760" y="1353312"/>
            <a:ext cx="8412480" cy="1005840"/>
          </a:xfrm>
          <a:prstGeom prst="roundRect">
            <a:avLst>
              <a:gd name="adj" fmla="val 9091"/>
            </a:avLst>
          </a:prstGeom>
          <a:solidFill>
            <a:srgbClr val="FFFFFF"/>
          </a:solidFill>
          <a:ln w="19050">
            <a:solidFill>
              <a:srgbClr val="0E1C42"/>
            </a:solidFill>
            <a:prstDash val="solid"/>
          </a:ln>
          <a:effectLst>
            <a:outerShdw sx="100000" sy="100000" kx="0" ky="0" algn="bl" rotWithShape="0" blurRad="101600" dist="38100" dir="2700000">
              <a:srgbClr val="000000">
                <a:alpha val="12000"/>
              </a:srgbClr>
            </a:outerShdw>
          </a:effectLst>
        </p:spPr>
      </p:sp>
      <p:sp>
        <p:nvSpPr>
          <p:cNvPr id="7" name="Text 5"/>
          <p:cNvSpPr/>
          <p:nvPr/>
        </p:nvSpPr>
        <p:spPr>
          <a:xfrm>
            <a:off x="594360" y="1481328"/>
            <a:ext cx="7955280" cy="749808"/>
          </a:xfrm>
          <a:prstGeom prst="rect">
            <a:avLst/>
          </a:prstGeom>
          <a:noFill/>
          <a:ln/>
        </p:spPr>
        <p:txBody>
          <a:bodyPr wrap="square" lIns="0" tIns="0" rIns="0" bIns="0" rtlCol="0" anchor="ctr"/>
          <a:lstStyle/>
          <a:p>
            <a:pPr indent="0" marL="0">
              <a:buNone/>
            </a:pPr>
            <a:r>
              <a:rPr lang="en-US" sz="1700" dirty="0">
                <a:solidFill>
                  <a:srgbClr val="0E1C42"/>
                </a:solidFill>
                <a:latin typeface="Calibri" pitchFamily="34" charset="0"/>
                <a:ea typeface="Calibri" pitchFamily="34" charset="-122"/>
                <a:cs typeface="Calibri" pitchFamily="34" charset="-120"/>
              </a:rPr>
              <a:t>mice   ·   prince   ·   magic   ·   gentle   ·   Cook   ·   candle   ·   gold   ·   garlic</a:t>
            </a:r>
            <a:endParaRPr lang="en-US" sz="1700" dirty="0"/>
          </a:p>
        </p:txBody>
      </p:sp>
      <p:sp>
        <p:nvSpPr>
          <p:cNvPr id="8" name="Text 6"/>
          <p:cNvSpPr/>
          <p:nvPr/>
        </p:nvSpPr>
        <p:spPr>
          <a:xfrm>
            <a:off x="365760" y="2514600"/>
            <a:ext cx="8412480" cy="457200"/>
          </a:xfrm>
          <a:prstGeom prst="rect">
            <a:avLst/>
          </a:prstGeom>
          <a:noFill/>
          <a:ln/>
        </p:spPr>
        <p:txBody>
          <a:bodyPr wrap="square" lIns="0" tIns="0" rIns="0" bIns="0" rtlCol="0" anchor="ctr"/>
          <a:lstStyle/>
          <a:p>
            <a:pPr indent="0" marL="0">
              <a:buNone/>
            </a:pPr>
            <a:r>
              <a:rPr lang="en-US" sz="1500" i="1" dirty="0">
                <a:solidFill>
                  <a:srgbClr val="64748B"/>
                </a:solidFill>
                <a:latin typeface="Calibri" pitchFamily="34" charset="0"/>
                <a:ea typeface="Calibri" pitchFamily="34" charset="-122"/>
                <a:cs typeface="Calibri" pitchFamily="34" charset="-120"/>
              </a:rPr>
              <a:t>Which column does each word belong in?  Columns: Soft (/s/ or /j/)  |  Hard (/k/ or /g/)</a:t>
            </a:r>
            <a:endParaRPr lang="en-US" sz="15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9144000" cy="566928"/>
          </a:xfrm>
          <a:prstGeom prst="rect">
            <a:avLst/>
          </a:prstGeom>
          <a:solidFill>
            <a:srgbClr val="0E1C42"/>
          </a:solidFill>
          <a:ln/>
        </p:spPr>
      </p:sp>
      <p:sp>
        <p:nvSpPr>
          <p:cNvPr id="3" name="Text 1"/>
          <p:cNvSpPr/>
          <p:nvPr/>
        </p:nvSpPr>
        <p:spPr>
          <a:xfrm>
            <a:off x="365760" y="54864"/>
            <a:ext cx="8412480" cy="457200"/>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  Spelling</a:t>
            </a:r>
            <a:endParaRPr lang="en-US" sz="2200" dirty="0"/>
          </a:p>
        </p:txBody>
      </p:sp>
      <p:sp>
        <p:nvSpPr>
          <p:cNvPr id="4" name="Text 2"/>
          <p:cNvSpPr/>
          <p:nvPr/>
        </p:nvSpPr>
        <p:spPr>
          <a:xfrm>
            <a:off x="365760" y="777240"/>
            <a:ext cx="8229600" cy="237744"/>
          </a:xfrm>
          <a:prstGeom prst="rect">
            <a:avLst/>
          </a:prstGeom>
          <a:noFill/>
          <a:ln/>
        </p:spPr>
        <p:txBody>
          <a:bodyPr wrap="square" lIns="0" tIns="0" rIns="0" bIns="0" rtlCol="0" anchor="ctr"/>
          <a:lstStyle/>
          <a:p>
            <a:pPr indent="0" marL="0">
              <a:buNone/>
            </a:pPr>
            <a:r>
              <a:rPr lang="en-US" sz="1100" b="1" spc="100" kern="0" dirty="0">
                <a:solidFill>
                  <a:srgbClr val="0E1C42"/>
                </a:solidFill>
                <a:latin typeface="Calibri" pitchFamily="34" charset="0"/>
                <a:ea typeface="Calibri" pitchFamily="34" charset="-122"/>
                <a:cs typeface="Calibri" pitchFamily="34" charset="-120"/>
              </a:rPr>
              <a:t>SOFT C AND SOFT G</a:t>
            </a:r>
            <a:endParaRPr lang="en-US" sz="1100" dirty="0"/>
          </a:p>
        </p:txBody>
      </p:sp>
      <p:sp>
        <p:nvSpPr>
          <p:cNvPr id="5" name="Shape 3"/>
          <p:cNvSpPr/>
          <p:nvPr/>
        </p:nvSpPr>
        <p:spPr>
          <a:xfrm>
            <a:off x="411480" y="1078992"/>
            <a:ext cx="4114800" cy="457200"/>
          </a:xfrm>
          <a:prstGeom prst="roundRect">
            <a:avLst>
              <a:gd name="adj" fmla="val 16000"/>
            </a:avLst>
          </a:prstGeom>
          <a:solidFill>
            <a:srgbClr val="0E1C42"/>
          </a:solidFill>
          <a:ln/>
        </p:spPr>
      </p:sp>
      <p:sp>
        <p:nvSpPr>
          <p:cNvPr id="6" name="Text 4"/>
          <p:cNvSpPr/>
          <p:nvPr/>
        </p:nvSpPr>
        <p:spPr>
          <a:xfrm>
            <a:off x="457200" y="1133856"/>
            <a:ext cx="4023360"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Soft (/s/ or /j/)</a:t>
            </a:r>
            <a:endParaRPr lang="en-US" sz="1300" dirty="0"/>
          </a:p>
        </p:txBody>
      </p:sp>
      <p:sp>
        <p:nvSpPr>
          <p:cNvPr id="7" name="Shape 5"/>
          <p:cNvSpPr/>
          <p:nvPr/>
        </p:nvSpPr>
        <p:spPr>
          <a:xfrm>
            <a:off x="411480" y="1591056"/>
            <a:ext cx="4114800" cy="2103120"/>
          </a:xfrm>
          <a:prstGeom prst="roundRect">
            <a:avLst>
              <a:gd name="adj" fmla="val 4348"/>
            </a:avLst>
          </a:prstGeom>
          <a:solidFill>
            <a:srgbClr val="FFFFFF"/>
          </a:solidFill>
          <a:ln/>
          <a:effectLst>
            <a:outerShdw sx="100000" sy="100000" kx="0" ky="0" algn="bl" rotWithShape="0" blurRad="101600" dist="38100" dir="2700000">
              <a:srgbClr val="000000">
                <a:alpha val="12000"/>
              </a:srgbClr>
            </a:outerShdw>
          </a:effectLst>
        </p:spPr>
      </p:sp>
      <p:sp>
        <p:nvSpPr>
          <p:cNvPr id="8" name="Text 6"/>
          <p:cNvSpPr/>
          <p:nvPr/>
        </p:nvSpPr>
        <p:spPr>
          <a:xfrm>
            <a:off x="502920" y="1700784"/>
            <a:ext cx="3931920" cy="1883664"/>
          </a:xfrm>
          <a:prstGeom prst="rect">
            <a:avLst/>
          </a:prstGeom>
          <a:noFill/>
          <a:ln/>
        </p:spPr>
        <p:txBody>
          <a:bodyPr wrap="square" lIns="0" tIns="0" rIns="0" bIns="0" rtlCol="0" anchor="ctr"/>
          <a:lstStyle/>
          <a:p>
            <a:pPr algn="ctr" indent="0" marL="0">
              <a:buNone/>
            </a:pPr>
            <a:r>
              <a:rPr lang="en-US" sz="1400" dirty="0">
                <a:solidFill>
                  <a:srgbClr val="1E293B"/>
                </a:solidFill>
                <a:latin typeface="Calibri" pitchFamily="34" charset="0"/>
                <a:ea typeface="Calibri" pitchFamily="34" charset="-122"/>
                <a:cs typeface="Calibri" pitchFamily="34" charset="-120"/>
              </a:rPr>
              <a:t>mice</a:t>
            </a:r>
            <a:endParaRPr lang="en-US" sz="1400" dirty="0"/>
          </a:p>
          <a:p>
            <a:pPr algn="ctr" indent="0" marL="0">
              <a:buNone/>
            </a:pPr>
            <a:r>
              <a:rPr lang="en-US" sz="1400" dirty="0">
                <a:solidFill>
                  <a:srgbClr val="1E293B"/>
                </a:solidFill>
                <a:latin typeface="Calibri" pitchFamily="34" charset="0"/>
                <a:ea typeface="Calibri" pitchFamily="34" charset="-122"/>
                <a:cs typeface="Calibri" pitchFamily="34" charset="-120"/>
              </a:rPr>
              <a:t>prince</a:t>
            </a:r>
            <a:endParaRPr lang="en-US" sz="1400" dirty="0"/>
          </a:p>
          <a:p>
            <a:pPr algn="ctr" indent="0" marL="0">
              <a:buNone/>
            </a:pPr>
            <a:r>
              <a:rPr lang="en-US" sz="1400" dirty="0">
                <a:solidFill>
                  <a:srgbClr val="1E293B"/>
                </a:solidFill>
                <a:latin typeface="Calibri" pitchFamily="34" charset="0"/>
                <a:ea typeface="Calibri" pitchFamily="34" charset="-122"/>
                <a:cs typeface="Calibri" pitchFamily="34" charset="-120"/>
              </a:rPr>
              <a:t>magic</a:t>
            </a:r>
            <a:endParaRPr lang="en-US" sz="1400" dirty="0"/>
          </a:p>
          <a:p>
            <a:pPr algn="ctr" indent="0" marL="0">
              <a:buNone/>
            </a:pPr>
            <a:r>
              <a:rPr lang="en-US" sz="1400" dirty="0">
                <a:solidFill>
                  <a:srgbClr val="1E293B"/>
                </a:solidFill>
                <a:latin typeface="Calibri" pitchFamily="34" charset="0"/>
                <a:ea typeface="Calibri" pitchFamily="34" charset="-122"/>
                <a:cs typeface="Calibri" pitchFamily="34" charset="-120"/>
              </a:rPr>
              <a:t>gentle</a:t>
            </a:r>
            <a:endParaRPr lang="en-US" sz="1400" dirty="0"/>
          </a:p>
        </p:txBody>
      </p:sp>
      <p:sp>
        <p:nvSpPr>
          <p:cNvPr id="9" name="Shape 7"/>
          <p:cNvSpPr/>
          <p:nvPr/>
        </p:nvSpPr>
        <p:spPr>
          <a:xfrm>
            <a:off x="4617720" y="1078992"/>
            <a:ext cx="4114800" cy="457200"/>
          </a:xfrm>
          <a:prstGeom prst="roundRect">
            <a:avLst>
              <a:gd name="adj" fmla="val 16000"/>
            </a:avLst>
          </a:prstGeom>
          <a:solidFill>
            <a:srgbClr val="0E1C42"/>
          </a:solidFill>
          <a:ln/>
        </p:spPr>
      </p:sp>
      <p:sp>
        <p:nvSpPr>
          <p:cNvPr id="10" name="Text 8"/>
          <p:cNvSpPr/>
          <p:nvPr/>
        </p:nvSpPr>
        <p:spPr>
          <a:xfrm>
            <a:off x="4663440" y="1133856"/>
            <a:ext cx="4023360"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Hard (/k/ or /g/)</a:t>
            </a:r>
            <a:endParaRPr lang="en-US" sz="1300" dirty="0"/>
          </a:p>
        </p:txBody>
      </p:sp>
      <p:sp>
        <p:nvSpPr>
          <p:cNvPr id="11" name="Shape 9"/>
          <p:cNvSpPr/>
          <p:nvPr/>
        </p:nvSpPr>
        <p:spPr>
          <a:xfrm>
            <a:off x="4617720" y="1591056"/>
            <a:ext cx="4114800" cy="2103120"/>
          </a:xfrm>
          <a:prstGeom prst="roundRect">
            <a:avLst>
              <a:gd name="adj" fmla="val 4348"/>
            </a:avLst>
          </a:prstGeom>
          <a:solidFill>
            <a:srgbClr val="FFFFFF"/>
          </a:solidFill>
          <a:ln/>
          <a:effectLst>
            <a:outerShdw sx="100000" sy="100000" kx="0" ky="0" algn="bl" rotWithShape="0" blurRad="101600" dist="38100" dir="2700000">
              <a:srgbClr val="000000">
                <a:alpha val="12000"/>
              </a:srgbClr>
            </a:outerShdw>
          </a:effectLst>
        </p:spPr>
      </p:sp>
      <p:sp>
        <p:nvSpPr>
          <p:cNvPr id="12" name="Text 10"/>
          <p:cNvSpPr/>
          <p:nvPr/>
        </p:nvSpPr>
        <p:spPr>
          <a:xfrm>
            <a:off x="4709160" y="1700784"/>
            <a:ext cx="3931920" cy="1883664"/>
          </a:xfrm>
          <a:prstGeom prst="rect">
            <a:avLst/>
          </a:prstGeom>
          <a:noFill/>
          <a:ln/>
        </p:spPr>
        <p:txBody>
          <a:bodyPr wrap="square" lIns="0" tIns="0" rIns="0" bIns="0" rtlCol="0" anchor="ctr"/>
          <a:lstStyle/>
          <a:p>
            <a:pPr algn="ctr" indent="0" marL="0">
              <a:buNone/>
            </a:pPr>
            <a:r>
              <a:rPr lang="en-US" sz="1400" dirty="0">
                <a:solidFill>
                  <a:srgbClr val="1E293B"/>
                </a:solidFill>
                <a:latin typeface="Calibri" pitchFamily="34" charset="0"/>
                <a:ea typeface="Calibri" pitchFamily="34" charset="-122"/>
                <a:cs typeface="Calibri" pitchFamily="34" charset="-120"/>
              </a:rPr>
              <a:t>Cook</a:t>
            </a:r>
            <a:endParaRPr lang="en-US" sz="1400" dirty="0"/>
          </a:p>
          <a:p>
            <a:pPr algn="ctr" indent="0" marL="0">
              <a:buNone/>
            </a:pPr>
            <a:r>
              <a:rPr lang="en-US" sz="1400" dirty="0">
                <a:solidFill>
                  <a:srgbClr val="1E293B"/>
                </a:solidFill>
                <a:latin typeface="Calibri" pitchFamily="34" charset="0"/>
                <a:ea typeface="Calibri" pitchFamily="34" charset="-122"/>
                <a:cs typeface="Calibri" pitchFamily="34" charset="-120"/>
              </a:rPr>
              <a:t>candle</a:t>
            </a:r>
            <a:endParaRPr lang="en-US" sz="1400" dirty="0"/>
          </a:p>
          <a:p>
            <a:pPr algn="ctr" indent="0" marL="0">
              <a:buNone/>
            </a:pPr>
            <a:r>
              <a:rPr lang="en-US" sz="1400" dirty="0">
                <a:solidFill>
                  <a:srgbClr val="1E293B"/>
                </a:solidFill>
                <a:latin typeface="Calibri" pitchFamily="34" charset="0"/>
                <a:ea typeface="Calibri" pitchFamily="34" charset="-122"/>
                <a:cs typeface="Calibri" pitchFamily="34" charset="-120"/>
              </a:rPr>
              <a:t>gold</a:t>
            </a:r>
            <a:endParaRPr lang="en-US" sz="1400" dirty="0"/>
          </a:p>
          <a:p>
            <a:pPr algn="ctr" indent="0" marL="0">
              <a:buNone/>
            </a:pPr>
            <a:r>
              <a:rPr lang="en-US" sz="1400" dirty="0">
                <a:solidFill>
                  <a:srgbClr val="1E293B"/>
                </a:solidFill>
                <a:latin typeface="Calibri" pitchFamily="34" charset="0"/>
                <a:ea typeface="Calibri" pitchFamily="34" charset="-122"/>
                <a:cs typeface="Calibri" pitchFamily="34" charset="-120"/>
              </a:rPr>
              <a:t>garlic</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66928"/>
          </a:xfrm>
          <a:prstGeom prst="rect">
            <a:avLst/>
          </a:prstGeom>
          <a:solidFill>
            <a:srgbClr val="8B6FC0"/>
          </a:solidFill>
          <a:ln/>
        </p:spPr>
      </p:sp>
      <p:sp>
        <p:nvSpPr>
          <p:cNvPr id="3" name="Text 1"/>
          <p:cNvSpPr/>
          <p:nvPr/>
        </p:nvSpPr>
        <p:spPr>
          <a:xfrm>
            <a:off x="365760" y="54864"/>
            <a:ext cx="8412480" cy="457200"/>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  Read</a:t>
            </a:r>
            <a:endParaRPr lang="en-US" sz="2200" dirty="0"/>
          </a:p>
        </p:txBody>
      </p:sp>
      <p:sp>
        <p:nvSpPr>
          <p:cNvPr id="4" name="Text 2"/>
          <p:cNvSpPr/>
          <p:nvPr/>
        </p:nvSpPr>
        <p:spPr>
          <a:xfrm>
            <a:off x="365760" y="868680"/>
            <a:ext cx="8412480" cy="502920"/>
          </a:xfrm>
          <a:prstGeom prst="rect">
            <a:avLst/>
          </a:prstGeom>
          <a:noFill/>
          <a:ln/>
        </p:spPr>
        <p:txBody>
          <a:bodyPr wrap="square" lIns="0" tIns="0" rIns="0" bIns="0" rtlCol="0" anchor="ctr"/>
          <a:lstStyle/>
          <a:p>
            <a:pPr indent="0" marL="0">
              <a:buNone/>
            </a:pPr>
            <a:r>
              <a:rPr lang="en-US" sz="2600" b="1" dirty="0">
                <a:solidFill>
                  <a:srgbClr val="0E1C42"/>
                </a:solidFill>
                <a:latin typeface="Calibri" pitchFamily="34" charset="0"/>
                <a:ea typeface="Calibri" pitchFamily="34" charset="-122"/>
                <a:cs typeface="Calibri" pitchFamily="34" charset="-120"/>
              </a:rPr>
              <a:t>Ch. 41–42</a:t>
            </a:r>
            <a:endParaRPr lang="en-US" sz="2600" dirty="0"/>
          </a:p>
        </p:txBody>
      </p:sp>
      <p:sp>
        <p:nvSpPr>
          <p:cNvPr id="5" name="Text 3"/>
          <p:cNvSpPr/>
          <p:nvPr/>
        </p:nvSpPr>
        <p:spPr>
          <a:xfrm>
            <a:off x="365760" y="1463040"/>
            <a:ext cx="8229600" cy="237744"/>
          </a:xfrm>
          <a:prstGeom prst="rect">
            <a:avLst/>
          </a:prstGeom>
          <a:noFill/>
          <a:ln/>
        </p:spPr>
        <p:txBody>
          <a:bodyPr wrap="square" lIns="0" tIns="0" rIns="0" bIns="0" rtlCol="0" anchor="ctr"/>
          <a:lstStyle/>
          <a:p>
            <a:pPr indent="0" marL="0">
              <a:buNone/>
            </a:pPr>
            <a:r>
              <a:rPr lang="en-US" sz="1100" b="1" spc="100" kern="0" dirty="0">
                <a:solidFill>
                  <a:srgbClr val="8B6FC0"/>
                </a:solidFill>
                <a:latin typeface="Calibri" pitchFamily="34" charset="0"/>
                <a:ea typeface="Calibri" pitchFamily="34" charset="-122"/>
                <a:cs typeface="Calibri" pitchFamily="34" charset="-120"/>
              </a:rPr>
              <a:t>COPYWORK — FROM THE NOVEL</a:t>
            </a:r>
            <a:endParaRPr lang="en-US" sz="1100" dirty="0"/>
          </a:p>
        </p:txBody>
      </p:sp>
      <p:sp>
        <p:nvSpPr>
          <p:cNvPr id="6" name="Shape 4"/>
          <p:cNvSpPr/>
          <p:nvPr/>
        </p:nvSpPr>
        <p:spPr>
          <a:xfrm>
            <a:off x="365760" y="1719072"/>
            <a:ext cx="8412480" cy="1143000"/>
          </a:xfrm>
          <a:prstGeom prst="roundRect">
            <a:avLst>
              <a:gd name="adj" fmla="val 8000"/>
            </a:avLst>
          </a:prstGeom>
          <a:solidFill>
            <a:srgbClr val="F0E8FF"/>
          </a:solidFill>
          <a:ln w="19050">
            <a:solidFill>
              <a:srgbClr val="8B6FC0"/>
            </a:solidFill>
            <a:prstDash val="solid"/>
          </a:ln>
          <a:effectLst>
            <a:outerShdw sx="100000" sy="100000" kx="0" ky="0" algn="bl" rotWithShape="0" blurRad="101600" dist="38100" dir="2700000">
              <a:srgbClr val="000000">
                <a:alpha val="12000"/>
              </a:srgbClr>
            </a:outerShdw>
          </a:effectLst>
        </p:spPr>
      </p:sp>
      <p:sp>
        <p:nvSpPr>
          <p:cNvPr id="7" name="Text 5"/>
          <p:cNvSpPr/>
          <p:nvPr/>
        </p:nvSpPr>
        <p:spPr>
          <a:xfrm>
            <a:off x="594360" y="1847088"/>
            <a:ext cx="7955280" cy="886968"/>
          </a:xfrm>
          <a:prstGeom prst="rect">
            <a:avLst/>
          </a:prstGeom>
          <a:noFill/>
          <a:ln/>
        </p:spPr>
        <p:txBody>
          <a:bodyPr wrap="square" lIns="0" tIns="0" rIns="0" bIns="0" rtlCol="0" anchor="ctr"/>
          <a:lstStyle/>
          <a:p>
            <a:pPr indent="0" marL="0">
              <a:buNone/>
            </a:pPr>
            <a:r>
              <a:rPr lang="en-US" sz="1700" dirty="0">
                <a:solidFill>
                  <a:srgbClr val="1E293B"/>
                </a:solidFill>
                <a:latin typeface="Calibri" pitchFamily="34" charset="0"/>
                <a:ea typeface="Calibri" pitchFamily="34" charset="-122"/>
                <a:cs typeface="Calibri" pitchFamily="34" charset="-120"/>
              </a:rPr>
              <a:t>“There are thousands of places where she could be hidden, and only the rats would know. Your men would never be able to find her if the rats did not want her found.”</a:t>
            </a:r>
            <a:endParaRPr lang="en-US" sz="1700" dirty="0"/>
          </a:p>
        </p:txBody>
      </p:sp>
      <p:sp>
        <p:nvSpPr>
          <p:cNvPr id="8" name="Text 6"/>
          <p:cNvSpPr/>
          <p:nvPr/>
        </p:nvSpPr>
        <p:spPr>
          <a:xfrm>
            <a:off x="365760" y="3017520"/>
            <a:ext cx="8229600" cy="237744"/>
          </a:xfrm>
          <a:prstGeom prst="rect">
            <a:avLst/>
          </a:prstGeom>
          <a:noFill/>
          <a:ln/>
        </p:spPr>
        <p:txBody>
          <a:bodyPr wrap="square" lIns="0" tIns="0" rIns="0" bIns="0" rtlCol="0" anchor="ctr"/>
          <a:lstStyle/>
          <a:p>
            <a:pPr indent="0" marL="0">
              <a:buNone/>
            </a:pPr>
            <a:r>
              <a:rPr lang="en-US" sz="1100" b="1" spc="100" kern="0" dirty="0">
                <a:solidFill>
                  <a:srgbClr val="C7922C"/>
                </a:solidFill>
                <a:latin typeface="Calibri" pitchFamily="34" charset="0"/>
                <a:ea typeface="Calibri" pitchFamily="34" charset="-122"/>
                <a:cs typeface="Calibri" pitchFamily="34" charset="-120"/>
              </a:rPr>
              <a:t>PAUSE &amp; THINK</a:t>
            </a:r>
            <a:endParaRPr lang="en-US" sz="1100" dirty="0"/>
          </a:p>
        </p:txBody>
      </p:sp>
      <p:sp>
        <p:nvSpPr>
          <p:cNvPr id="9" name="Text 7"/>
          <p:cNvSpPr/>
          <p:nvPr/>
        </p:nvSpPr>
        <p:spPr>
          <a:xfrm>
            <a:off x="365760" y="3273552"/>
            <a:ext cx="8412480" cy="914400"/>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  Roscuro finally gets what he wanted. Is he satisfied? What does his reaction tell us about what he really needed?</a:t>
            </a:r>
            <a:endParaRPr lang="en-US" sz="1500" dirty="0"/>
          </a:p>
          <a:p>
            <a:pPr indent="0" marL="0">
              <a:buNone/>
            </a:pPr>
            <a:r>
              <a:rPr lang="en-US" sz="1500" dirty="0">
                <a:solidFill>
                  <a:srgbClr val="1E293B"/>
                </a:solidFill>
                <a:latin typeface="Calibri" pitchFamily="34" charset="0"/>
                <a:ea typeface="Calibri" pitchFamily="34" charset="-122"/>
                <a:cs typeface="Calibri" pitchFamily="34" charset="-120"/>
              </a:rPr>
              <a:t>•  The princess makes an unexpected choice. What does she do, and why is it so powerful?</a:t>
            </a:r>
            <a:endParaRPr lang="en-US" sz="15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66928"/>
          </a:xfrm>
          <a:prstGeom prst="rect">
            <a:avLst/>
          </a:prstGeom>
          <a:solidFill>
            <a:srgbClr val="34B76F"/>
          </a:solidFill>
          <a:ln/>
        </p:spPr>
      </p:sp>
      <p:sp>
        <p:nvSpPr>
          <p:cNvPr id="3" name="Text 1"/>
          <p:cNvSpPr/>
          <p:nvPr/>
        </p:nvSpPr>
        <p:spPr>
          <a:xfrm>
            <a:off x="365760" y="54864"/>
            <a:ext cx="8412480" cy="457200"/>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  Writer’s Workshop</a:t>
            </a:r>
            <a:endParaRPr lang="en-US" sz="2200" dirty="0"/>
          </a:p>
        </p:txBody>
      </p:sp>
      <p:sp>
        <p:nvSpPr>
          <p:cNvPr id="4" name="Text 2"/>
          <p:cNvSpPr/>
          <p:nvPr/>
        </p:nvSpPr>
        <p:spPr>
          <a:xfrm>
            <a:off x="365760" y="822960"/>
            <a:ext cx="8229600" cy="237744"/>
          </a:xfrm>
          <a:prstGeom prst="rect">
            <a:avLst/>
          </a:prstGeom>
          <a:noFill/>
          <a:ln/>
        </p:spPr>
        <p:txBody>
          <a:bodyPr wrap="square" lIns="0" tIns="0" rIns="0" bIns="0" rtlCol="0" anchor="ctr"/>
          <a:lstStyle/>
          <a:p>
            <a:pPr indent="0" marL="0">
              <a:buNone/>
            </a:pPr>
            <a:r>
              <a:rPr lang="en-US" sz="1100" b="1" spc="100" kern="0" dirty="0">
                <a:solidFill>
                  <a:srgbClr val="34B76F"/>
                </a:solidFill>
                <a:latin typeface="Calibri" pitchFamily="34" charset="0"/>
                <a:ea typeface="Calibri" pitchFamily="34" charset="-122"/>
                <a:cs typeface="Calibri" pitchFamily="34" charset="-120"/>
              </a:rPr>
              <a:t>THIS WEEK’S STAGE</a:t>
            </a:r>
            <a:endParaRPr lang="en-US" sz="1100" dirty="0"/>
          </a:p>
        </p:txBody>
      </p:sp>
      <p:sp>
        <p:nvSpPr>
          <p:cNvPr id="5" name="Text 3"/>
          <p:cNvSpPr/>
          <p:nvPr/>
        </p:nvSpPr>
        <p:spPr>
          <a:xfrm>
            <a:off x="365760" y="1078992"/>
            <a:ext cx="8412480" cy="548640"/>
          </a:xfrm>
          <a:prstGeom prst="rect">
            <a:avLst/>
          </a:prstGeom>
          <a:noFill/>
          <a:ln/>
        </p:spPr>
        <p:txBody>
          <a:bodyPr wrap="square" lIns="0" tIns="0" rIns="0" bIns="0" rtlCol="0" anchor="ctr"/>
          <a:lstStyle/>
          <a:p>
            <a:pPr indent="0" marL="0">
              <a:buNone/>
            </a:pPr>
            <a:r>
              <a:rPr lang="en-US" sz="3000" b="1" dirty="0">
                <a:solidFill>
                  <a:srgbClr val="0E1C42"/>
                </a:solidFill>
                <a:latin typeface="Calibri" pitchFamily="34" charset="0"/>
                <a:ea typeface="Calibri" pitchFamily="34" charset="-122"/>
                <a:cs typeface="Calibri" pitchFamily="34" charset="-120"/>
              </a:rPr>
              <a:t>LITERARY RESPONSE</a:t>
            </a:r>
            <a:endParaRPr lang="en-US" sz="3000" dirty="0"/>
          </a:p>
        </p:txBody>
      </p:sp>
      <p:sp>
        <p:nvSpPr>
          <p:cNvPr id="6" name="Text 4"/>
          <p:cNvSpPr/>
          <p:nvPr/>
        </p:nvSpPr>
        <p:spPr>
          <a:xfrm>
            <a:off x="365760" y="1691640"/>
            <a:ext cx="8412480" cy="457200"/>
          </a:xfrm>
          <a:prstGeom prst="rect">
            <a:avLst/>
          </a:prstGeom>
          <a:noFill/>
          <a:ln/>
        </p:spPr>
        <p:txBody>
          <a:bodyPr wrap="square" lIns="0" tIns="0" rIns="0" bIns="0" rtlCol="0" anchor="ctr"/>
          <a:lstStyle/>
          <a:p>
            <a:pPr indent="0" marL="0">
              <a:buNone/>
            </a:pPr>
            <a:r>
              <a:rPr lang="en-US" sz="1800" dirty="0">
                <a:solidFill>
                  <a:srgbClr val="1E293B"/>
                </a:solidFill>
                <a:latin typeface="Calibri" pitchFamily="34" charset="0"/>
                <a:ea typeface="Calibri" pitchFamily="34" charset="-122"/>
                <a:cs typeface="Calibri" pitchFamily="34" charset="-120"/>
              </a:rPr>
              <a:t>Identify your theme</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Optima Academy Online</dc:creator>
  <cp:lastModifiedBy>Optima Academy Online</cp:lastModifiedBy>
  <cp:revision>1</cp:revision>
  <dcterms:created xsi:type="dcterms:W3CDTF">2026-09-08T13:30:00Z</dcterms:created>
  <dcterms:modified xsi:type="dcterms:W3CDTF">2026-09-08T13:30:00Z</dcterms:modified>
</cp:coreProperties>
</file>