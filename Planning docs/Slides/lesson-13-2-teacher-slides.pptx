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13.2. Reading: Ch. 41–42.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Give students a moment to think before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of sustained writing. Stamina over polish. Do not correct spelling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fix only. Editing is conventions; revision is ideas. Name which one you are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or three volunteers. Praise something specific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lens: Good readers look for theme clues . A theme is a lesson the whole story teaches.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1. Roscuro finally got what he had wanted most in the world , but it tasted different than he expected.
Look for: Did you catch the proper nouns (Roscuro, princess), the -ly adverbs (quietly, graciously), the comma before "but," and capital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1. Roscuro finally got what he had wanted most in the world , but it tasted different than he expected.
Look for: Did you catch the proper nouns (Roscuro, princess), the -ly adverbs (quietly, graciously), the comma before "but," and capital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the word into base + word part. Ask what the part adds to the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word appears in the chapters read this week, in the author’s own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she?”, “Gone,”, shouted,,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she?”, “Gone,”, shouted,,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Soft (/s/ or /j/): mice, prince, magic, gentle | Hard (/k/ or /g/): Cook, candle, gold, garlic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Soft (/s/ or /j/): mice, prince, magic, gentle | Hard (/k/ or /g/): Cook, candle, gold, garlic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chapters, then return to the pause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Writer’s Workshop stage for the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1A6B"/>
        </a:solidFill>
      </p:bgPr>
    </p:bg>
    <p:spTree>
      <p:nvGrpSpPr>
        <p:cNvPr id="1" name=""/>
        <p:cNvGrpSpPr/>
        <p:nvPr/>
      </p:nvGrpSpPr>
      <p:grpSpPr>
        <a:xfrm>
          <a:off x="0" y="0"/>
          <a:ext cx="0" cy="0"/>
          <a:chOff x="0" y="0"/>
          <a:chExt cx="0" cy="0"/>
        </a:xfrm>
      </p:grpSpPr>
      <p:sp>
        <p:nvSpPr>
          <p:cNvPr id="2" name="Text 0"/>
          <p:cNvSpPr/>
          <p:nvPr/>
        </p:nvSpPr>
        <p:spPr>
          <a:xfrm>
            <a:off x="0" y="822960"/>
            <a:ext cx="9144000" cy="822960"/>
          </a:xfrm>
          <a:prstGeom prst="rect">
            <a:avLst/>
          </a:prstGeom>
          <a:noFill/>
          <a:ln/>
        </p:spPr>
        <p:txBody>
          <a:bodyPr wrap="square" lIns="0" tIns="0" rIns="0" bIns="0" rtlCol="0" anchor="ctr"/>
          <a:lstStyle/>
          <a:p>
            <a:pPr algn="ctr" indent="0" marL="0">
              <a:buNone/>
            </a:pPr>
            <a:r>
              <a:rPr lang="en-US" sz="5200" dirty="0">
                <a:solidFill>
                  <a:srgbClr val="000000"/>
                </a:solidFill>
              </a:rPr>
              <a:t>🐭</a:t>
            </a:r>
            <a:endParaRPr lang="en-US" sz="5200" dirty="0"/>
          </a:p>
        </p:txBody>
      </p:sp>
      <p:sp>
        <p:nvSpPr>
          <p:cNvPr id="3" name="Text 1"/>
          <p:cNvSpPr/>
          <p:nvPr/>
        </p:nvSpPr>
        <p:spPr>
          <a:xfrm>
            <a:off x="457200" y="1691640"/>
            <a:ext cx="8229600" cy="566928"/>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The Tale of Despereaux</a:t>
            </a:r>
            <a:endParaRPr lang="en-US" sz="3400" dirty="0"/>
          </a:p>
        </p:txBody>
      </p:sp>
      <p:sp>
        <p:nvSpPr>
          <p:cNvPr id="4" name="Text 2"/>
          <p:cNvSpPr/>
          <p:nvPr/>
        </p:nvSpPr>
        <p:spPr>
          <a:xfrm>
            <a:off x="457200" y="2331720"/>
            <a:ext cx="8229600" cy="411480"/>
          </a:xfrm>
          <a:prstGeom prst="rect">
            <a:avLst/>
          </a:prstGeom>
          <a:noFill/>
          <a:ln/>
        </p:spPr>
        <p:txBody>
          <a:bodyPr wrap="square" lIns="0" tIns="0" rIns="0" bIns="0" rtlCol="0" anchor="ctr"/>
          <a:lstStyle/>
          <a:p>
            <a:pPr algn="ctr" indent="0" marL="0">
              <a:buNone/>
            </a:pPr>
            <a:r>
              <a:rPr lang="en-US" sz="2000" dirty="0">
                <a:solidFill>
                  <a:srgbClr val="8B6FC0"/>
                </a:solidFill>
                <a:latin typeface="Calibri" pitchFamily="34" charset="0"/>
                <a:ea typeface="Calibri" pitchFamily="34" charset="-122"/>
                <a:cs typeface="Calibri" pitchFamily="34" charset="-120"/>
              </a:rPr>
              <a:t>Lesson 13.2  ·  Ch. 41–42</a:t>
            </a:r>
            <a:endParaRPr lang="en-US" sz="2000" dirty="0"/>
          </a:p>
        </p:txBody>
      </p:sp>
      <p:sp>
        <p:nvSpPr>
          <p:cNvPr id="5" name="Text 3"/>
          <p:cNvSpPr/>
          <p:nvPr/>
        </p:nvSpPr>
        <p:spPr>
          <a:xfrm>
            <a:off x="457200" y="2880360"/>
            <a:ext cx="8229600" cy="320040"/>
          </a:xfrm>
          <a:prstGeom prst="rect">
            <a:avLst/>
          </a:prstGeom>
          <a:noFill/>
          <a:ln/>
        </p:spPr>
        <p:txBody>
          <a:bodyPr wrap="square" lIns="0" tIns="0" rIns="0" bIns="0" rtlCol="0" anchor="ctr"/>
          <a:lstStyle/>
          <a:p>
            <a:pPr algn="ctr" indent="0" marL="0">
              <a:buNone/>
            </a:pPr>
            <a:r>
              <a:rPr lang="en-US" sz="1400" dirty="0">
                <a:solidFill>
                  <a:srgbClr val="C9BCE4"/>
                </a:solidFill>
                <a:latin typeface="Calibri" pitchFamily="34" charset="0"/>
                <a:ea typeface="Calibri" pitchFamily="34" charset="-122"/>
                <a:cs typeface="Calibri" pitchFamily="34" charset="-120"/>
              </a:rPr>
              <a:t>Grade 3 ELA  ·  Virtue: Courage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10-Minute Write</a:t>
            </a:r>
            <a:endParaRPr lang="en-US" sz="2200" dirty="0"/>
          </a:p>
        </p:txBody>
      </p:sp>
      <p:sp>
        <p:nvSpPr>
          <p:cNvPr id="4" name="Text 2"/>
          <p:cNvSpPr/>
          <p:nvPr/>
        </p:nvSpPr>
        <p:spPr>
          <a:xfrm>
            <a:off x="365760" y="8229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READ THE PROMPT — 1 MINUTE</a:t>
            </a:r>
            <a:endParaRPr lang="en-US" sz="1100" dirty="0"/>
          </a:p>
        </p:txBody>
      </p:sp>
      <p:sp>
        <p:nvSpPr>
          <p:cNvPr id="5" name="Shape 3"/>
          <p:cNvSpPr/>
          <p:nvPr/>
        </p:nvSpPr>
        <p:spPr>
          <a:xfrm>
            <a:off x="365760" y="1143000"/>
            <a:ext cx="8412480" cy="1737360"/>
          </a:xfrm>
          <a:prstGeom prst="roundRect">
            <a:avLst>
              <a:gd name="adj" fmla="val 5263"/>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271016"/>
            <a:ext cx="7955280" cy="148132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The king loves his daughter with his whole heart but makes ridiculous laws. Can someone be good and wrong at the same time? Write what you think.</a:t>
            </a:r>
            <a:endParaRPr lang="en-US" sz="1700" dirty="0"/>
          </a:p>
        </p:txBody>
      </p:sp>
      <p:sp>
        <p:nvSpPr>
          <p:cNvPr id="7" name="Text 5"/>
          <p:cNvSpPr/>
          <p:nvPr/>
        </p:nvSpPr>
        <p:spPr>
          <a:xfrm>
            <a:off x="365760" y="3063240"/>
            <a:ext cx="8412480" cy="365760"/>
          </a:xfrm>
          <a:prstGeom prst="rect">
            <a:avLst/>
          </a:prstGeom>
          <a:noFill/>
          <a:ln/>
        </p:spPr>
        <p:txBody>
          <a:bodyPr wrap="square" lIns="0" tIns="0" rIns="0" bIns="0" rtlCol="0" anchor="ctr"/>
          <a:lstStyle/>
          <a:p>
            <a:pPr indent="0" marL="0">
              <a:buNone/>
            </a:pPr>
            <a:r>
              <a:rPr lang="en-US" sz="1600" i="1" dirty="0">
                <a:solidFill>
                  <a:srgbClr val="64748B"/>
                </a:solidFill>
                <a:latin typeface="Calibri" pitchFamily="34" charset="0"/>
                <a:ea typeface="Calibri" pitchFamily="34" charset="-122"/>
                <a:cs typeface="Calibri" pitchFamily="34" charset="-120"/>
              </a:rPr>
              <a:t>Think first. You will have five minutes to write.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Writing Time</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5 minutes — keep your pencil moving!</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YOUR PROMPT</a:t>
            </a:r>
            <a:endParaRPr lang="en-US" sz="1100" dirty="0"/>
          </a:p>
        </p:txBody>
      </p:sp>
      <p:sp>
        <p:nvSpPr>
          <p:cNvPr id="6" name="Shape 4"/>
          <p:cNvSpPr/>
          <p:nvPr/>
        </p:nvSpPr>
        <p:spPr>
          <a:xfrm>
            <a:off x="365760" y="1737360"/>
            <a:ext cx="8412480" cy="1417320"/>
          </a:xfrm>
          <a:prstGeom prst="roundRect">
            <a:avLst>
              <a:gd name="adj" fmla="val 6452"/>
            </a:avLst>
          </a:prstGeom>
          <a:solidFill>
            <a:srgbClr val="FFFFFF"/>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65376"/>
            <a:ext cx="7955280" cy="11612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The king loves his daughter with his whole heart but makes ridiculous laws. Can someone be good and wrong at the same time? Write what you think.</a:t>
            </a:r>
            <a:endParaRPr lang="en-US" sz="1700" dirty="0"/>
          </a:p>
        </p:txBody>
      </p:sp>
      <p:sp>
        <p:nvSpPr>
          <p:cNvPr id="8" name="Text 6"/>
          <p:cNvSpPr/>
          <p:nvPr/>
        </p:nvSpPr>
        <p:spPr>
          <a:xfrm>
            <a:off x="365760" y="3291840"/>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Do not stop to erase. If you get stuck, write the last word again and keep going.</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34B76F"/>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Edit &amp; Revise</a:t>
            </a:r>
            <a:endParaRPr lang="en-US" sz="2200" dirty="0"/>
          </a:p>
        </p:txBody>
      </p:sp>
      <p:sp>
        <p:nvSpPr>
          <p:cNvPr id="4" name="Text 2"/>
          <p:cNvSpPr/>
          <p:nvPr/>
        </p:nvSpPr>
        <p:spPr>
          <a:xfrm>
            <a:off x="365760" y="868680"/>
            <a:ext cx="8412480" cy="457200"/>
          </a:xfrm>
          <a:prstGeom prst="rect">
            <a:avLst/>
          </a:prstGeom>
          <a:noFill/>
          <a:ln/>
        </p:spPr>
        <p:txBody>
          <a:bodyPr wrap="square" lIns="0" tIns="0" rIns="0" bIns="0" rtlCol="0" anchor="ctr"/>
          <a:lstStyle/>
          <a:p>
            <a:pPr indent="0" marL="0">
              <a:buNone/>
            </a:pPr>
            <a:r>
              <a:rPr lang="en-US" sz="2400" b="1" dirty="0">
                <a:solidFill>
                  <a:srgbClr val="0E1C42"/>
                </a:solidFill>
                <a:latin typeface="Calibri" pitchFamily="34" charset="0"/>
                <a:ea typeface="Calibri" pitchFamily="34" charset="-122"/>
                <a:cs typeface="Calibri" pitchFamily="34" charset="-120"/>
              </a:rPr>
              <a:t>1 minute — pick ONE thing to fix.</a:t>
            </a:r>
            <a:endParaRPr lang="en-US" sz="2400" dirty="0"/>
          </a:p>
        </p:txBody>
      </p:sp>
      <p:sp>
        <p:nvSpPr>
          <p:cNvPr id="5" name="Text 3"/>
          <p:cNvSpPr/>
          <p:nvPr/>
        </p:nvSpPr>
        <p:spPr>
          <a:xfrm>
            <a:off x="365760" y="1417320"/>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TODAY'S EDIT FOCUS</a:t>
            </a:r>
            <a:endParaRPr lang="en-US" sz="1100" dirty="0"/>
          </a:p>
        </p:txBody>
      </p:sp>
      <p:sp>
        <p:nvSpPr>
          <p:cNvPr id="6" name="Shape 4"/>
          <p:cNvSpPr/>
          <p:nvPr/>
        </p:nvSpPr>
        <p:spPr>
          <a:xfrm>
            <a:off x="365760" y="1691640"/>
            <a:ext cx="841248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1965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Did I read my writing out loud to check that it makes sense?</a:t>
            </a:r>
            <a:endParaRPr lang="en-US" sz="1700" dirty="0"/>
          </a:p>
        </p:txBody>
      </p:sp>
      <p:sp>
        <p:nvSpPr>
          <p:cNvPr id="8" name="Text 6"/>
          <p:cNvSpPr/>
          <p:nvPr/>
        </p:nvSpPr>
        <p:spPr>
          <a:xfrm>
            <a:off x="365760" y="2651760"/>
            <a:ext cx="8412480" cy="36576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Quick check:  </a:t>
            </a:r>
            <a:pPr indent="0" marL="0">
              <a:buNone/>
            </a:pPr>
            <a:r>
              <a:rPr lang="en-US" sz="1500" dirty="0">
                <a:solidFill>
                  <a:srgbClr val="1E293B"/>
                </a:solidFill>
                <a:latin typeface="Calibri" pitchFamily="34" charset="0"/>
                <a:ea typeface="Calibri" pitchFamily="34" charset="-122"/>
                <a:cs typeface="Calibri" pitchFamily="34" charset="-120"/>
              </a:rPr>
              <a:t>capitals  ·  end punctuation  ·  circle a word you are unsure of  ·  read it aloud</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Share Time</a:t>
            </a:r>
            <a:endParaRPr lang="en-US" sz="2200" dirty="0"/>
          </a:p>
        </p:txBody>
      </p:sp>
      <p:sp>
        <p:nvSpPr>
          <p:cNvPr id="4" name="Text 2"/>
          <p:cNvSpPr/>
          <p:nvPr/>
        </p:nvSpPr>
        <p:spPr>
          <a:xfrm>
            <a:off x="365760" y="1005840"/>
            <a:ext cx="8412480" cy="54864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3 minutes — let's hear your writing!</a:t>
            </a:r>
            <a:endParaRPr lang="en-US" sz="2600" dirty="0"/>
          </a:p>
        </p:txBody>
      </p:sp>
      <p:sp>
        <p:nvSpPr>
          <p:cNvPr id="5" name="Text 3"/>
          <p:cNvSpPr/>
          <p:nvPr/>
        </p:nvSpPr>
        <p:spPr>
          <a:xfrm>
            <a:off x="365760" y="1691640"/>
            <a:ext cx="8412480" cy="457200"/>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Raise your hand  ·  paste it in the chat  ·  or hold your paper up to the camera</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8B6FC0"/>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Today</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READING</a:t>
            </a:r>
            <a:endParaRPr lang="en-US" sz="1100" dirty="0"/>
          </a:p>
        </p:txBody>
      </p:sp>
      <p:sp>
        <p:nvSpPr>
          <p:cNvPr id="5" name="Text 3"/>
          <p:cNvSpPr/>
          <p:nvPr/>
        </p:nvSpPr>
        <p:spPr>
          <a:xfrm>
            <a:off x="365760" y="1014984"/>
            <a:ext cx="8412480" cy="365760"/>
          </a:xfrm>
          <a:prstGeom prst="rect">
            <a:avLst/>
          </a:prstGeom>
          <a:noFill/>
          <a:ln/>
        </p:spPr>
        <p:txBody>
          <a:bodyPr wrap="square" lIns="0" tIns="0" rIns="0" bIns="0" rtlCol="0" anchor="ctr"/>
          <a:lstStyle/>
          <a:p>
            <a:pPr indent="0" marL="0">
              <a:buNone/>
            </a:pPr>
            <a:r>
              <a:rPr lang="en-US" sz="2000" b="1" dirty="0">
                <a:solidFill>
                  <a:srgbClr val="0E1C42"/>
                </a:solidFill>
                <a:latin typeface="Calibri" pitchFamily="34" charset="0"/>
                <a:ea typeface="Calibri" pitchFamily="34" charset="-122"/>
                <a:cs typeface="Calibri" pitchFamily="34" charset="-120"/>
              </a:rPr>
              <a:t>Ch. 41–42</a:t>
            </a:r>
            <a:endParaRPr lang="en-US" sz="2000" dirty="0"/>
          </a:p>
        </p:txBody>
      </p:sp>
      <p:sp>
        <p:nvSpPr>
          <p:cNvPr id="6" name="Text 4"/>
          <p:cNvSpPr/>
          <p:nvPr/>
        </p:nvSpPr>
        <p:spPr>
          <a:xfrm>
            <a:off x="365760" y="15087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365760" y="1746504"/>
            <a:ext cx="8412480" cy="731520"/>
          </a:xfrm>
          <a:prstGeom prst="roundRect">
            <a:avLst>
              <a:gd name="adj" fmla="val 12500"/>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874520"/>
            <a:ext cx="7955280" cy="4754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What has each character learned by this point?</a:t>
            </a:r>
            <a:endParaRPr lang="en-US" sz="1700" dirty="0"/>
          </a:p>
        </p:txBody>
      </p:sp>
      <p:sp>
        <p:nvSpPr>
          <p:cNvPr id="9" name="Text 7"/>
          <p:cNvSpPr/>
          <p:nvPr/>
        </p:nvSpPr>
        <p:spPr>
          <a:xfrm>
            <a:off x="365760" y="2606040"/>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READING LENS</a:t>
            </a:r>
            <a:endParaRPr lang="en-US" sz="1100" dirty="0"/>
          </a:p>
        </p:txBody>
      </p:sp>
      <p:sp>
        <p:nvSpPr>
          <p:cNvPr id="10" name="Text 8"/>
          <p:cNvSpPr/>
          <p:nvPr/>
        </p:nvSpPr>
        <p:spPr>
          <a:xfrm>
            <a:off x="365760" y="2843784"/>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look for theme clues . A theme is a lesson the whole story teaches.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1. roscuro finally got what he had wanted most in the world but it tasted different than he expected</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2. the princess quietly and graciously gave him something he had never expected to receive</a:t>
            </a:r>
            <a:endParaRPr lang="en-US" sz="1700" dirty="0"/>
          </a:p>
        </p:txBody>
      </p:sp>
      <p:sp>
        <p:nvSpPr>
          <p:cNvPr id="9" name="Text 7"/>
          <p:cNvSpPr/>
          <p:nvPr/>
        </p:nvSpPr>
        <p:spPr>
          <a:xfrm>
            <a:off x="365760" y="2788920"/>
            <a:ext cx="841248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Rewrite both sentences correctly in your notebook.</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1. roscuro finally got what he had wanted most in the world but it tasted different than he expected</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2. the princess quietly and graciously gave him something he had never expected to receive</a:t>
            </a:r>
            <a:endParaRPr lang="en-US" sz="1700" dirty="0"/>
          </a:p>
        </p:txBody>
      </p:sp>
      <p:sp>
        <p:nvSpPr>
          <p:cNvPr id="9" name="Shape 7"/>
          <p:cNvSpPr/>
          <p:nvPr/>
        </p:nvSpPr>
        <p:spPr>
          <a:xfrm>
            <a:off x="365760" y="2743200"/>
            <a:ext cx="8412480" cy="1417320"/>
          </a:xfrm>
          <a:prstGeom prst="roundRect">
            <a:avLst>
              <a:gd name="adj" fmla="val 6452"/>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66928" y="2816352"/>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1" name="Text 9"/>
          <p:cNvSpPr/>
          <p:nvPr/>
        </p:nvSpPr>
        <p:spPr>
          <a:xfrm>
            <a:off x="566928" y="3072384"/>
            <a:ext cx="8010144" cy="685800"/>
          </a:xfrm>
          <a:prstGeom prst="rect">
            <a:avLst/>
          </a:prstGeom>
          <a:noFill/>
          <a:ln/>
        </p:spPr>
        <p:txBody>
          <a:bodyPr wrap="square" lIns="0" tIns="0" rIns="0" bIns="0" rtlCol="0" anchor="ctr"/>
          <a:lstStyle/>
          <a:p>
            <a:pPr indent="0" marL="0">
              <a:buNone/>
            </a:pPr>
            <a:endParaRPr lang="en-US" sz="1400" dirty="0"/>
          </a:p>
          <a:p>
            <a:pPr indent="0" marL="0">
              <a:buNone/>
            </a:pPr>
            <a:r>
              <a:rPr lang="en-US" sz="1400" i="1" dirty="0">
                <a:solidFill>
                  <a:srgbClr val="1E293B"/>
                </a:solidFill>
                <a:latin typeface="Calibri" pitchFamily="34" charset="0"/>
                <a:ea typeface="Calibri" pitchFamily="34" charset="-122"/>
                <a:cs typeface="Calibri" pitchFamily="34" charset="-120"/>
              </a:rPr>
              <a:t>1. Roscuro finally got what he had wanted most in the world , but it tasted different than he expected.</a:t>
            </a:r>
            <a:endParaRPr lang="en-US" sz="1400" dirty="0"/>
          </a:p>
        </p:txBody>
      </p:sp>
      <p:sp>
        <p:nvSpPr>
          <p:cNvPr id="12" name="Text 10"/>
          <p:cNvSpPr/>
          <p:nvPr/>
        </p:nvSpPr>
        <p:spPr>
          <a:xfrm>
            <a:off x="566928" y="3767328"/>
            <a:ext cx="8010144"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Did you catch the proper nouns (Roscuro, princess), the -ly adverbs (quietly, graciously), the comma before "but," and capital letters?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8B6FC0"/>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Morphology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-TION</a:t>
            </a:r>
            <a:endParaRPr lang="en-US" sz="1100" dirty="0"/>
          </a:p>
        </p:txBody>
      </p:sp>
      <p:sp>
        <p:nvSpPr>
          <p:cNvPr id="5" name="Shape 3"/>
          <p:cNvSpPr/>
          <p:nvPr/>
        </p:nvSpPr>
        <p:spPr>
          <a:xfrm>
            <a:off x="365760" y="1097280"/>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16152"/>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action — base word: act</a:t>
            </a:r>
            <a:endParaRPr lang="en-US" sz="1500" dirty="0"/>
          </a:p>
        </p:txBody>
      </p:sp>
      <p:sp>
        <p:nvSpPr>
          <p:cNvPr id="7" name="Shape 5"/>
          <p:cNvSpPr/>
          <p:nvPr/>
        </p:nvSpPr>
        <p:spPr>
          <a:xfrm>
            <a:off x="365760" y="1792224"/>
            <a:ext cx="8412480" cy="621792"/>
          </a:xfrm>
          <a:prstGeom prst="roundRect">
            <a:avLst>
              <a:gd name="adj" fmla="val 14706"/>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11096"/>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direction — base word: direct</a:t>
            </a:r>
            <a:endParaRPr lang="en-US" sz="1500" dirty="0"/>
          </a:p>
        </p:txBody>
      </p:sp>
      <p:sp>
        <p:nvSpPr>
          <p:cNvPr id="9" name="Shape 7"/>
          <p:cNvSpPr/>
          <p:nvPr/>
        </p:nvSpPr>
        <p:spPr>
          <a:xfrm>
            <a:off x="365760" y="2487168"/>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06040"/>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celebration — base word: celebrate</a:t>
            </a:r>
            <a:endParaRPr lang="en-US" sz="1500" dirty="0"/>
          </a:p>
        </p:txBody>
      </p:sp>
      <p:sp>
        <p:nvSpPr>
          <p:cNvPr id="11" name="Shape 9"/>
          <p:cNvSpPr/>
          <p:nvPr/>
        </p:nvSpPr>
        <p:spPr>
          <a:xfrm>
            <a:off x="365760" y="3182112"/>
            <a:ext cx="8412480" cy="621792"/>
          </a:xfrm>
          <a:prstGeom prst="roundRect">
            <a:avLst>
              <a:gd name="adj" fmla="val 14706"/>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300984"/>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invention — base word: invent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Vocabulary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VOCABULARY</a:t>
            </a:r>
            <a:endParaRPr lang="en-US" sz="1100" dirty="0"/>
          </a:p>
        </p:txBody>
      </p:sp>
      <p:sp>
        <p:nvSpPr>
          <p:cNvPr id="5" name="Shape 3"/>
          <p:cNvSpPr/>
          <p:nvPr/>
        </p:nvSpPr>
        <p:spPr>
          <a:xfrm>
            <a:off x="365760" y="109728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needle  </a:t>
            </a:r>
            <a:pPr indent="0" marL="0">
              <a:buNone/>
            </a:pPr>
            <a:r>
              <a:rPr lang="en-US" sz="1400" dirty="0">
                <a:solidFill>
                  <a:srgbClr val="1E293B"/>
                </a:solidFill>
                <a:latin typeface="Calibri" pitchFamily="34" charset="0"/>
                <a:ea typeface="Calibri" pitchFamily="34" charset="-122"/>
                <a:cs typeface="Calibri" pitchFamily="34" charset="-120"/>
              </a:rPr>
              <a:t>A thin, sharp metal tool for sewing — here, a mouse's sword.</a:t>
            </a:r>
            <a:endParaRPr lang="en-US" sz="1700" dirty="0"/>
          </a:p>
        </p:txBody>
      </p:sp>
      <p:sp>
        <p:nvSpPr>
          <p:cNvPr id="7" name="Shape 5"/>
          <p:cNvSpPr/>
          <p:nvPr/>
        </p:nvSpPr>
        <p:spPr>
          <a:xfrm>
            <a:off x="365760" y="18288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forgiven  </a:t>
            </a:r>
            <a:pPr indent="0" marL="0">
              <a:buNone/>
            </a:pPr>
            <a:r>
              <a:rPr lang="en-US" sz="1400" dirty="0">
                <a:solidFill>
                  <a:srgbClr val="1E293B"/>
                </a:solidFill>
                <a:latin typeface="Calibri" pitchFamily="34" charset="0"/>
                <a:ea typeface="Calibri" pitchFamily="34" charset="-122"/>
                <a:cs typeface="Calibri" pitchFamily="34" charset="-120"/>
              </a:rPr>
              <a:t>No longer blamed for something you did wrong.</a:t>
            </a:r>
            <a:endParaRPr lang="en-US" sz="1700" dirty="0"/>
          </a:p>
        </p:txBody>
      </p:sp>
      <p:sp>
        <p:nvSpPr>
          <p:cNvPr id="9" name="Shape 7"/>
          <p:cNvSpPr/>
          <p:nvPr/>
        </p:nvSpPr>
        <p:spPr>
          <a:xfrm>
            <a:off x="365760" y="256032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braver  </a:t>
            </a:r>
            <a:pPr indent="0" marL="0">
              <a:buNone/>
            </a:pPr>
            <a:r>
              <a:rPr lang="en-US" sz="1400" dirty="0">
                <a:solidFill>
                  <a:srgbClr val="1E293B"/>
                </a:solidFill>
                <a:latin typeface="Calibri" pitchFamily="34" charset="0"/>
                <a:ea typeface="Calibri" pitchFamily="34" charset="-122"/>
                <a:cs typeface="Calibri" pitchFamily="34" charset="-120"/>
              </a:rPr>
              <a:t>More willing to face something frightening.</a:t>
            </a:r>
            <a:endParaRPr lang="en-US" sz="1700" dirty="0"/>
          </a:p>
        </p:txBody>
      </p:sp>
      <p:sp>
        <p:nvSpPr>
          <p:cNvPr id="11" name="Shape 9"/>
          <p:cNvSpPr/>
          <p:nvPr/>
        </p:nvSpPr>
        <p:spPr>
          <a:xfrm>
            <a:off x="365760" y="329184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crown  </a:t>
            </a:r>
            <a:pPr indent="0" marL="0">
              <a:buNone/>
            </a:pPr>
            <a:r>
              <a:rPr lang="en-US" sz="1400" dirty="0">
                <a:solidFill>
                  <a:srgbClr val="1E293B"/>
                </a:solidFill>
                <a:latin typeface="Calibri" pitchFamily="34" charset="0"/>
                <a:ea typeface="Calibri" pitchFamily="34" charset="-122"/>
                <a:cs typeface="Calibri" pitchFamily="34" charset="-120"/>
              </a:rPr>
              <a:t>The circle of gold and jewels a king or queen wears.</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DIALOGUE: PUTTING IT TO WORK</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“Where is she?” asked Despereaux.</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“Gone,” said Cook quietly.</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king shouted, “Find her!”</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“I will go,” said the mouse.</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Your turn. Find the punctuation mark that ends the spoken words. Tap a word to check — green means you got it.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DIALOGUE: PUTTING IT TO WORK</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“Where is </a:t>
            </a:r>
            <a:pPr indent="0" marL="0">
              <a:buNone/>
            </a:pPr>
            <a:r>
              <a:rPr lang="en-US" sz="1600" b="1" dirty="0">
                <a:solidFill>
                  <a:srgbClr val="34B76F"/>
                </a:solidFill>
                <a:latin typeface="Calibri" pitchFamily="34" charset="0"/>
                <a:ea typeface="Calibri" pitchFamily="34" charset="-122"/>
                <a:cs typeface="Calibri" pitchFamily="34" charset="-120"/>
              </a:rPr>
              <a:t>she?”</a:t>
            </a:r>
            <a:pPr indent="0" marL="0">
              <a:buNone/>
            </a:pPr>
            <a:r>
              <a:rPr lang="en-US" sz="1600" dirty="0">
                <a:solidFill>
                  <a:srgbClr val="1E293B"/>
                </a:solidFill>
                <a:latin typeface="Calibri" pitchFamily="34" charset="0"/>
                <a:ea typeface="Calibri" pitchFamily="34" charset="-122"/>
                <a:cs typeface="Calibri" pitchFamily="34" charset="-120"/>
              </a:rPr>
              <a:t> asked Despereaux.</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b="1" dirty="0">
                <a:solidFill>
                  <a:srgbClr val="34B76F"/>
                </a:solidFill>
                <a:latin typeface="Calibri" pitchFamily="34" charset="0"/>
                <a:ea typeface="Calibri" pitchFamily="34" charset="-122"/>
                <a:cs typeface="Calibri" pitchFamily="34" charset="-120"/>
              </a:rPr>
              <a:t>“Gone,”</a:t>
            </a:r>
            <a:pPr indent="0" marL="0">
              <a:buNone/>
            </a:pPr>
            <a:r>
              <a:rPr lang="en-US" sz="1600" dirty="0">
                <a:solidFill>
                  <a:srgbClr val="1E293B"/>
                </a:solidFill>
                <a:latin typeface="Calibri" pitchFamily="34" charset="0"/>
                <a:ea typeface="Calibri" pitchFamily="34" charset="-122"/>
                <a:cs typeface="Calibri" pitchFamily="34" charset="-120"/>
              </a:rPr>
              <a:t> said Cook quietly.</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king </a:t>
            </a:r>
            <a:pPr indent="0" marL="0">
              <a:buNone/>
            </a:pPr>
            <a:r>
              <a:rPr lang="en-US" sz="1600" b="1" dirty="0">
                <a:solidFill>
                  <a:srgbClr val="34B76F"/>
                </a:solidFill>
                <a:latin typeface="Calibri" pitchFamily="34" charset="0"/>
                <a:ea typeface="Calibri" pitchFamily="34" charset="-122"/>
                <a:cs typeface="Calibri" pitchFamily="34" charset="-120"/>
              </a:rPr>
              <a:t>shouted,</a:t>
            </a:r>
            <a:pPr indent="0" marL="0">
              <a:buNone/>
            </a:pPr>
            <a:r>
              <a:rPr lang="en-US" sz="1600" dirty="0">
                <a:solidFill>
                  <a:srgbClr val="1E293B"/>
                </a:solidFill>
                <a:latin typeface="Calibri" pitchFamily="34" charset="0"/>
                <a:ea typeface="Calibri" pitchFamily="34" charset="-122"/>
                <a:cs typeface="Calibri" pitchFamily="34" charset="-120"/>
              </a:rPr>
              <a:t> “Find her!”</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“I will </a:t>
            </a:r>
            <a:pPr indent="0" marL="0">
              <a:buNone/>
            </a:pPr>
            <a:r>
              <a:rPr lang="en-US" sz="1600" b="1" dirty="0">
                <a:solidFill>
                  <a:srgbClr val="34B76F"/>
                </a:solidFill>
                <a:latin typeface="Calibri" pitchFamily="34" charset="0"/>
                <a:ea typeface="Calibri" pitchFamily="34" charset="-122"/>
                <a:cs typeface="Calibri" pitchFamily="34" charset="-120"/>
              </a:rPr>
              <a:t>go,”</a:t>
            </a:r>
            <a:pPr indent="0" marL="0">
              <a:buNone/>
            </a:pPr>
            <a:r>
              <a:rPr lang="en-US" sz="1600" dirty="0">
                <a:solidFill>
                  <a:srgbClr val="1E293B"/>
                </a:solidFill>
                <a:latin typeface="Calibri" pitchFamily="34" charset="0"/>
                <a:ea typeface="Calibri" pitchFamily="34" charset="-122"/>
                <a:cs typeface="Calibri" pitchFamily="34" charset="-120"/>
              </a:rPr>
              <a:t> said the mouse.</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b="1" dirty="0">
                <a:solidFill>
                  <a:srgbClr val="34B76F"/>
                </a:solidFill>
                <a:latin typeface="Calibri" pitchFamily="34" charset="0"/>
                <a:ea typeface="Calibri" pitchFamily="34" charset="-122"/>
                <a:cs typeface="Calibri" pitchFamily="34" charset="-120"/>
              </a:rPr>
              <a:t>✅  Answers revealed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SOFT C AND SOFT G</a:t>
            </a:r>
            <a:endParaRPr lang="en-US" sz="1100" dirty="0"/>
          </a:p>
        </p:txBody>
      </p:sp>
      <p:sp>
        <p:nvSpPr>
          <p:cNvPr id="5" name="Text 3"/>
          <p:cNvSpPr/>
          <p:nvPr/>
        </p:nvSpPr>
        <p:spPr>
          <a:xfrm>
            <a:off x="365760" y="1078992"/>
            <a:ext cx="8229600" cy="237744"/>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6" name="Shape 4"/>
          <p:cNvSpPr/>
          <p:nvPr/>
        </p:nvSpPr>
        <p:spPr>
          <a:xfrm>
            <a:off x="365760" y="1353312"/>
            <a:ext cx="8412480" cy="1005840"/>
          </a:xfrm>
          <a:prstGeom prst="roundRect">
            <a:avLst>
              <a:gd name="adj" fmla="val 9091"/>
            </a:avLst>
          </a:prstGeom>
          <a:solidFill>
            <a:srgbClr val="FFFFFF"/>
          </a:solidFill>
          <a:ln w="19050">
            <a:solidFill>
              <a:srgbClr val="0E1C42"/>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481328"/>
            <a:ext cx="7955280" cy="749808"/>
          </a:xfrm>
          <a:prstGeom prst="rect">
            <a:avLst/>
          </a:prstGeom>
          <a:noFill/>
          <a:ln/>
        </p:spPr>
        <p:txBody>
          <a:bodyPr wrap="square" lIns="0" tIns="0" rIns="0" bIns="0" rtlCol="0" anchor="ctr"/>
          <a:lstStyle/>
          <a:p>
            <a:pPr indent="0" marL="0">
              <a:buNone/>
            </a:pPr>
            <a:r>
              <a:rPr lang="en-US" sz="1700" dirty="0">
                <a:solidFill>
                  <a:srgbClr val="0E1C42"/>
                </a:solidFill>
                <a:latin typeface="Calibri" pitchFamily="34" charset="0"/>
                <a:ea typeface="Calibri" pitchFamily="34" charset="-122"/>
                <a:cs typeface="Calibri" pitchFamily="34" charset="-120"/>
              </a:rPr>
              <a:t>mice   ·   prince   ·   magic   ·   gentle   ·   Cook   ·   candle   ·   gold   ·   garlic</a:t>
            </a:r>
            <a:endParaRPr lang="en-US" sz="1700" dirty="0"/>
          </a:p>
        </p:txBody>
      </p:sp>
      <p:sp>
        <p:nvSpPr>
          <p:cNvPr id="8" name="Text 6"/>
          <p:cNvSpPr/>
          <p:nvPr/>
        </p:nvSpPr>
        <p:spPr>
          <a:xfrm>
            <a:off x="365760" y="2514600"/>
            <a:ext cx="8412480" cy="45720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Which column does each word belong in?  Columns: Soft (/s/ or /j/)  |  Hard (/k/ or /g/)</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SOFT C AND SOFT G</a:t>
            </a:r>
            <a:endParaRPr lang="en-US" sz="1100" dirty="0"/>
          </a:p>
        </p:txBody>
      </p:sp>
      <p:sp>
        <p:nvSpPr>
          <p:cNvPr id="5" name="Shape 3"/>
          <p:cNvSpPr/>
          <p:nvPr/>
        </p:nvSpPr>
        <p:spPr>
          <a:xfrm>
            <a:off x="411480" y="1078992"/>
            <a:ext cx="4114800" cy="457200"/>
          </a:xfrm>
          <a:prstGeom prst="roundRect">
            <a:avLst>
              <a:gd name="adj" fmla="val 16000"/>
            </a:avLst>
          </a:prstGeom>
          <a:solidFill>
            <a:srgbClr val="0E1C42"/>
          </a:solidFill>
          <a:ln/>
        </p:spPr>
      </p:sp>
      <p:sp>
        <p:nvSpPr>
          <p:cNvPr id="6" name="Text 4"/>
          <p:cNvSpPr/>
          <p:nvPr/>
        </p:nvSpPr>
        <p:spPr>
          <a:xfrm>
            <a:off x="457200" y="1133856"/>
            <a:ext cx="40233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Soft (/s/ or /j/)</a:t>
            </a:r>
            <a:endParaRPr lang="en-US" sz="1300" dirty="0"/>
          </a:p>
        </p:txBody>
      </p:sp>
      <p:sp>
        <p:nvSpPr>
          <p:cNvPr id="7" name="Shape 5"/>
          <p:cNvSpPr/>
          <p:nvPr/>
        </p:nvSpPr>
        <p:spPr>
          <a:xfrm>
            <a:off x="411480" y="1591056"/>
            <a:ext cx="4114800" cy="2103120"/>
          </a:xfrm>
          <a:prstGeom prst="roundRect">
            <a:avLst>
              <a:gd name="adj" fmla="val 4348"/>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02920" y="1700784"/>
            <a:ext cx="393192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mice</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prince</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magic</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gentle</a:t>
            </a:r>
            <a:endParaRPr lang="en-US" sz="1400" dirty="0"/>
          </a:p>
        </p:txBody>
      </p:sp>
      <p:sp>
        <p:nvSpPr>
          <p:cNvPr id="9" name="Shape 7"/>
          <p:cNvSpPr/>
          <p:nvPr/>
        </p:nvSpPr>
        <p:spPr>
          <a:xfrm>
            <a:off x="4617720" y="1078992"/>
            <a:ext cx="4114800" cy="457200"/>
          </a:xfrm>
          <a:prstGeom prst="roundRect">
            <a:avLst>
              <a:gd name="adj" fmla="val 16000"/>
            </a:avLst>
          </a:prstGeom>
          <a:solidFill>
            <a:srgbClr val="0E1C42"/>
          </a:solidFill>
          <a:ln/>
        </p:spPr>
      </p:sp>
      <p:sp>
        <p:nvSpPr>
          <p:cNvPr id="10" name="Text 8"/>
          <p:cNvSpPr/>
          <p:nvPr/>
        </p:nvSpPr>
        <p:spPr>
          <a:xfrm>
            <a:off x="4663440" y="1133856"/>
            <a:ext cx="40233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Hard (/k/ or /g/)</a:t>
            </a:r>
            <a:endParaRPr lang="en-US" sz="1300" dirty="0"/>
          </a:p>
        </p:txBody>
      </p:sp>
      <p:sp>
        <p:nvSpPr>
          <p:cNvPr id="11" name="Shape 9"/>
          <p:cNvSpPr/>
          <p:nvPr/>
        </p:nvSpPr>
        <p:spPr>
          <a:xfrm>
            <a:off x="4617720" y="1591056"/>
            <a:ext cx="4114800" cy="2103120"/>
          </a:xfrm>
          <a:prstGeom prst="roundRect">
            <a:avLst>
              <a:gd name="adj" fmla="val 4348"/>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4709160" y="1700784"/>
            <a:ext cx="393192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Cook</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candle</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gold</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garlic</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8B6FC0"/>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Read</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Ch. 41–42</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COPYWORK — FROM THE NOVEL</a:t>
            </a:r>
            <a:endParaRPr lang="en-US" sz="1100" dirty="0"/>
          </a:p>
        </p:txBody>
      </p:sp>
      <p:sp>
        <p:nvSpPr>
          <p:cNvPr id="6" name="Shape 4"/>
          <p:cNvSpPr/>
          <p:nvPr/>
        </p:nvSpPr>
        <p:spPr>
          <a:xfrm>
            <a:off x="365760" y="1719072"/>
            <a:ext cx="8412480" cy="1143000"/>
          </a:xfrm>
          <a:prstGeom prst="roundRect">
            <a:avLst>
              <a:gd name="adj" fmla="val 8000"/>
            </a:avLst>
          </a:prstGeom>
          <a:solidFill>
            <a:srgbClr val="F0E8FF"/>
          </a:solidFill>
          <a:ln w="19050">
            <a:solidFill>
              <a:srgbClr val="8B6FC0"/>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47088"/>
            <a:ext cx="7955280" cy="88696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“There are thousands of places where she could be hidden, and only the rats would know. Your men would never be able to find her if the rats did not want her found.”</a:t>
            </a:r>
            <a:endParaRPr lang="en-US" sz="1700" dirty="0"/>
          </a:p>
        </p:txBody>
      </p:sp>
      <p:sp>
        <p:nvSpPr>
          <p:cNvPr id="8" name="Text 6"/>
          <p:cNvSpPr/>
          <p:nvPr/>
        </p:nvSpPr>
        <p:spPr>
          <a:xfrm>
            <a:off x="365760" y="301752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PAUSE &amp; THINK</a:t>
            </a:r>
            <a:endParaRPr lang="en-US" sz="1100" dirty="0"/>
          </a:p>
        </p:txBody>
      </p:sp>
      <p:sp>
        <p:nvSpPr>
          <p:cNvPr id="9" name="Text 7"/>
          <p:cNvSpPr/>
          <p:nvPr/>
        </p:nvSpPr>
        <p:spPr>
          <a:xfrm>
            <a:off x="365760" y="3273552"/>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What has each character learned by this point?</a:t>
            </a:r>
            <a:endParaRPr lang="en-US" sz="1500" dirty="0"/>
          </a:p>
          <a:p>
            <a:pPr indent="0" marL="0">
              <a:buNone/>
            </a:pPr>
            <a:r>
              <a:rPr lang="en-US" sz="1500" dirty="0">
                <a:solidFill>
                  <a:srgbClr val="1E293B"/>
                </a:solidFill>
                <a:latin typeface="Calibri" pitchFamily="34" charset="0"/>
                <a:ea typeface="Calibri" pitchFamily="34" charset="-122"/>
                <a:cs typeface="Calibri" pitchFamily="34" charset="-120"/>
              </a:rPr>
              <a:t>•  What does "light" represent beyond the physical kind?</a:t>
            </a:r>
            <a:endParaRPr lang="en-US" sz="1500" dirty="0"/>
          </a:p>
          <a:p>
            <a:pPr indent="0" marL="0">
              <a:buNone/>
            </a:pPr>
            <a:r>
              <a:rPr lang="en-US" sz="1500" dirty="0">
                <a:solidFill>
                  <a:srgbClr val="1E293B"/>
                </a:solidFill>
                <a:latin typeface="Calibri" pitchFamily="34" charset="0"/>
                <a:ea typeface="Calibri" pitchFamily="34" charset="-122"/>
                <a:cs typeface="Calibri" pitchFamily="34" charset="-120"/>
              </a:rPr>
              <a:t>•  What lesson do you think the author most wants readers to take away?</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34B76F"/>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Writer’s Workshop</a:t>
            </a:r>
            <a:endParaRPr lang="en-US" sz="2200" dirty="0"/>
          </a:p>
        </p:txBody>
      </p:sp>
      <p:sp>
        <p:nvSpPr>
          <p:cNvPr id="4" name="Text 2"/>
          <p:cNvSpPr/>
          <p:nvPr/>
        </p:nvSpPr>
        <p:spPr>
          <a:xfrm>
            <a:off x="365760" y="822960"/>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THIS WEEK’S STAGE</a:t>
            </a:r>
            <a:endParaRPr lang="en-US" sz="1100" dirty="0"/>
          </a:p>
        </p:txBody>
      </p:sp>
      <p:sp>
        <p:nvSpPr>
          <p:cNvPr id="5" name="Text 3"/>
          <p:cNvSpPr/>
          <p:nvPr/>
        </p:nvSpPr>
        <p:spPr>
          <a:xfrm>
            <a:off x="365760" y="1078992"/>
            <a:ext cx="8412480" cy="548640"/>
          </a:xfrm>
          <a:prstGeom prst="rect">
            <a:avLst/>
          </a:prstGeom>
          <a:noFill/>
          <a:ln/>
        </p:spPr>
        <p:txBody>
          <a:bodyPr wrap="square" lIns="0" tIns="0" rIns="0" bIns="0" rtlCol="0" anchor="ctr"/>
          <a:lstStyle/>
          <a:p>
            <a:pPr indent="0" marL="0">
              <a:buNone/>
            </a:pPr>
            <a:r>
              <a:rPr lang="en-US" sz="3000" b="1" dirty="0">
                <a:solidFill>
                  <a:srgbClr val="0E1C42"/>
                </a:solidFill>
                <a:latin typeface="Calibri" pitchFamily="34" charset="0"/>
                <a:ea typeface="Calibri" pitchFamily="34" charset="-122"/>
                <a:cs typeface="Calibri" pitchFamily="34" charset="-120"/>
              </a:rPr>
              <a:t>LITERARY RESPONSE</a:t>
            </a:r>
            <a:endParaRPr lang="en-US" sz="3000" dirty="0"/>
          </a:p>
        </p:txBody>
      </p:sp>
      <p:sp>
        <p:nvSpPr>
          <p:cNvPr id="6" name="Text 4"/>
          <p:cNvSpPr/>
          <p:nvPr/>
        </p:nvSpPr>
        <p:spPr>
          <a:xfrm>
            <a:off x="365760" y="1691640"/>
            <a:ext cx="8412480" cy="457200"/>
          </a:xfrm>
          <a:prstGeom prst="rect">
            <a:avLst/>
          </a:prstGeom>
          <a:noFill/>
          <a:ln/>
        </p:spPr>
        <p:txBody>
          <a:bodyPr wrap="square" lIns="0" tIns="0" rIns="0" bIns="0" rtlCol="0" anchor="ctr"/>
          <a:lstStyle/>
          <a:p>
            <a:pPr indent="0" marL="0">
              <a:buNone/>
            </a:pPr>
            <a:r>
              <a:rPr lang="en-US" sz="1800" dirty="0">
                <a:solidFill>
                  <a:srgbClr val="1E293B"/>
                </a:solidFill>
                <a:latin typeface="Calibri" pitchFamily="34" charset="0"/>
                <a:ea typeface="Calibri" pitchFamily="34" charset="-122"/>
                <a:cs typeface="Calibri" pitchFamily="34" charset="-120"/>
              </a:rPr>
              <a:t>Identify your theme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Optima Academy Online</dc:creator>
  <cp:lastModifiedBy>Optima Academy Online</cp:lastModifiedBy>
  <cp:revision>1</cp:revision>
  <dcterms:created xsi:type="dcterms:W3CDTF">2026-09-07T02:49:07Z</dcterms:created>
  <dcterms:modified xsi:type="dcterms:W3CDTF">2026-09-07T02:49:07Z</dcterms:modified>
</cp:coreProperties>
</file>