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6.2. Reading: How Does a Letter Travel?.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nonfiction readers look for the central idea as they read. The central idea is the most important point the author wants you to understand. Supporting details back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After the letters are sorted by ZIP code , they are loaded onto trucks , trains , or airplanes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Corrected: 
Look for: After the letters are sorted by ZIP code , they are loaded onto trucks , trains , or airplanes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Stanley, California, A, Mississippi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Stanley, California, A, Mississippi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Compound word: mailbox, postcard, landmark, notebook | Not a compound word: compass, envelope, journey,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Compound word: mailbox, postcard, landmark, notebook | Not a compound word: compass, envelope, journey,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A2E"/>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2600" b="1" dirty="0">
                <a:solidFill>
                  <a:srgbClr val="FFFFFF"/>
                </a:solidFill>
                <a:latin typeface="Calibri" pitchFamily="34" charset="0"/>
                <a:ea typeface="Calibri" pitchFamily="34" charset="-122"/>
                <a:cs typeface="Calibri" pitchFamily="34" charset="-120"/>
              </a:rPr>
              <a:t>Nonfiction: Maps, Mail &amp; Places</a:t>
            </a:r>
            <a:endParaRPr lang="en-US" sz="26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5CB85C"/>
                </a:solidFill>
                <a:latin typeface="Calibri" pitchFamily="34" charset="0"/>
                <a:ea typeface="Calibri" pitchFamily="34" charset="-122"/>
                <a:cs typeface="Calibri" pitchFamily="34" charset="-120"/>
              </a:rPr>
              <a:t>Lesson 6.2  ·  How Does a Letter Travel?</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Diligence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Write about a letter or package you have received. Who was it from?</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Write about a letter or package you have received. Who was it from?</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use a capital letter for every name and place?</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CB85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How Does a Letter Travel?</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What happens to a letter between the moment you drop it in a mailbox and the moment someone opens it?</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nonfiction readers look for the central idea as they read. The central idea is the most important point the author wants you to understand. Supporting details back it up.</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When the letter reaches the right city, it goes to another post office.</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after the letters are sorted by zip code they are loaded onto trucks trains or airplanes</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When the letter reaches the right city, it goes to another post office.</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after the letters are sorted by zip code they are loaded onto trucks trains or airplanes</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Corrected:</a:t>
            </a:r>
            <a:endParaRPr lang="en-US" sz="1400" dirty="0"/>
          </a:p>
          <a:p>
            <a:pPr indent="0" marL="0">
              <a:buNone/>
            </a:pP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After the letters are sorted by ZIP code , they are loaded onto trucks , trains , or airplanes .</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CB85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PREFIX MIS- MEANS WRONG</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mis- + read = misread — to read wrong</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mis- + lead = mislead — to lead someone in the wrong direction</a:t>
            </a:r>
            <a:endParaRPr lang="en-US" sz="1500" dirty="0"/>
          </a:p>
        </p:txBody>
      </p:sp>
      <p:sp>
        <p:nvSpPr>
          <p:cNvPr id="9" name="Shape 7"/>
          <p:cNvSpPr/>
          <p:nvPr/>
        </p:nvSpPr>
        <p:spPr>
          <a:xfrm>
            <a:off x="365760" y="2487168"/>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06040"/>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Practice: Match the word to its base!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THIS WEEK’S WORDS</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map  </a:t>
            </a:r>
            <a:pPr indent="0" marL="0">
              <a:buNone/>
            </a:pPr>
            <a:r>
              <a:rPr lang="en-US" sz="1400" dirty="0">
                <a:solidFill>
                  <a:srgbClr val="1E293B"/>
                </a:solidFill>
                <a:latin typeface="Calibri" pitchFamily="34" charset="0"/>
                <a:ea typeface="Calibri" pitchFamily="34" charset="-122"/>
                <a:cs typeface="Calibri" pitchFamily="34" charset="-120"/>
              </a:rPr>
              <a:t>A drawing that shows what a place looks like from above.</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compass rose  </a:t>
            </a:r>
            <a:pPr indent="0" marL="0">
              <a:buNone/>
            </a:pPr>
            <a:r>
              <a:rPr lang="en-US" sz="1400" dirty="0">
                <a:solidFill>
                  <a:srgbClr val="1E293B"/>
                </a:solidFill>
                <a:latin typeface="Calibri" pitchFamily="34" charset="0"/>
                <a:ea typeface="Calibri" pitchFamily="34" charset="-122"/>
                <a:cs typeface="Calibri" pitchFamily="34" charset="-120"/>
              </a:rPr>
              <a:t>A symbol showing directions on a map.</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scale  </a:t>
            </a:r>
            <a:pPr indent="0" marL="0">
              <a:buNone/>
            </a:pPr>
            <a:r>
              <a:rPr lang="en-US" sz="1400" dirty="0">
                <a:solidFill>
                  <a:srgbClr val="1E293B"/>
                </a:solidFill>
                <a:latin typeface="Calibri" pitchFamily="34" charset="0"/>
                <a:ea typeface="Calibri" pitchFamily="34" charset="-122"/>
                <a:cs typeface="Calibri" pitchFamily="34" charset="-120"/>
              </a:rPr>
              <a:t>A line that helps measure real distances on a map.</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key  </a:t>
            </a:r>
            <a:pPr indent="0" marL="0">
              <a:buNone/>
            </a:pPr>
            <a:r>
              <a:rPr lang="en-US" sz="1400" dirty="0">
                <a:solidFill>
                  <a:srgbClr val="1E293B"/>
                </a:solidFill>
                <a:latin typeface="Calibri" pitchFamily="34" charset="0"/>
                <a:ea typeface="Calibri" pitchFamily="34" charset="-122"/>
                <a:cs typeface="Calibri" pitchFamily="34" charset="-120"/>
              </a:rPr>
              <a:t>A box that explains symbols on a map.</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COMMON AND PROPER NOUNS REVIEW</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Stanley folded the letter and mailed it.</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postcard came from California last week.</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A mail carrier brings letters to every house.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Mississippi River runs south through many states.</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Tap the proper noun in each sentence — the one that names a specific place and starts with a capital letter. Tap a word to check — green means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COMMON AND PROPER NOUNS REVIEW</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Stanley</a:t>
            </a:r>
            <a:pPr indent="0" marL="0">
              <a:buNone/>
            </a:pPr>
            <a:r>
              <a:rPr lang="en-US" sz="1600" dirty="0">
                <a:solidFill>
                  <a:srgbClr val="1E293B"/>
                </a:solidFill>
                <a:latin typeface="Calibri" pitchFamily="34" charset="0"/>
                <a:ea typeface="Calibri" pitchFamily="34" charset="-122"/>
                <a:cs typeface="Calibri" pitchFamily="34" charset="-120"/>
              </a:rPr>
              <a:t> folded the letter and mailed it.</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postcard came from </a:t>
            </a:r>
            <a:pPr indent="0" marL="0">
              <a:buNone/>
            </a:pPr>
            <a:r>
              <a:rPr lang="en-US" sz="1600" b="1" dirty="0">
                <a:solidFill>
                  <a:srgbClr val="34B76F"/>
                </a:solidFill>
                <a:latin typeface="Calibri" pitchFamily="34" charset="0"/>
                <a:ea typeface="Calibri" pitchFamily="34" charset="-122"/>
                <a:cs typeface="Calibri" pitchFamily="34" charset="-120"/>
              </a:rPr>
              <a:t>California</a:t>
            </a:r>
            <a:pPr indent="0" marL="0">
              <a:buNone/>
            </a:pPr>
            <a:r>
              <a:rPr lang="en-US" sz="1600" dirty="0">
                <a:solidFill>
                  <a:srgbClr val="1E293B"/>
                </a:solidFill>
                <a:latin typeface="Calibri" pitchFamily="34" charset="0"/>
                <a:ea typeface="Calibri" pitchFamily="34" charset="-122"/>
                <a:cs typeface="Calibri" pitchFamily="34" charset="-120"/>
              </a:rPr>
              <a:t> last week.</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A</a:t>
            </a:r>
            <a:pPr indent="0" marL="0">
              <a:buNone/>
            </a:pPr>
            <a:r>
              <a:rPr lang="en-US" sz="1600" dirty="0">
                <a:solidFill>
                  <a:srgbClr val="1E293B"/>
                </a:solidFill>
                <a:latin typeface="Calibri" pitchFamily="34" charset="0"/>
                <a:ea typeface="Calibri" pitchFamily="34" charset="-122"/>
                <a:cs typeface="Calibri" pitchFamily="34" charset="-120"/>
              </a:rPr>
              <a:t> mail carrier brings letters to every house.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a:t>
            </a:r>
            <a:pPr indent="0" marL="0">
              <a:buNone/>
            </a:pPr>
            <a:r>
              <a:rPr lang="en-US" sz="1600" b="1" dirty="0">
                <a:solidFill>
                  <a:srgbClr val="34B76F"/>
                </a:solidFill>
                <a:latin typeface="Calibri" pitchFamily="34" charset="0"/>
                <a:ea typeface="Calibri" pitchFamily="34" charset="-122"/>
                <a:cs typeface="Calibri" pitchFamily="34" charset="-120"/>
              </a:rPr>
              <a:t>Mississippi</a:t>
            </a:r>
            <a:pPr indent="0" marL="0">
              <a:buNone/>
            </a:pPr>
            <a:r>
              <a:rPr lang="en-US" sz="1600" dirty="0">
                <a:solidFill>
                  <a:srgbClr val="1E293B"/>
                </a:solidFill>
                <a:latin typeface="Calibri" pitchFamily="34" charset="0"/>
                <a:ea typeface="Calibri" pitchFamily="34" charset="-122"/>
                <a:cs typeface="Calibri" pitchFamily="34" charset="-120"/>
              </a:rPr>
              <a:t> River runs south through many states.</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COMPOUND WORDS</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mailbox   ·   postcard   ·   landmark   ·   notebook   ·   compass   ·   envelope   ·   journey   ·   letter</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Compound word  |  Not a compound word</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COMPOUND WORDS</a:t>
            </a:r>
            <a:endParaRPr lang="en-US" sz="1100" dirty="0"/>
          </a:p>
        </p:txBody>
      </p:sp>
      <p:sp>
        <p:nvSpPr>
          <p:cNvPr id="5" name="Shape 3"/>
          <p:cNvSpPr/>
          <p:nvPr/>
        </p:nvSpPr>
        <p:spPr>
          <a:xfrm>
            <a:off x="411480" y="1078992"/>
            <a:ext cx="4114800" cy="457200"/>
          </a:xfrm>
          <a:prstGeom prst="roundRect">
            <a:avLst>
              <a:gd name="adj" fmla="val 16000"/>
            </a:avLst>
          </a:prstGeom>
          <a:solidFill>
            <a:srgbClr val="0E1C42"/>
          </a:solidFill>
          <a:ln/>
        </p:spPr>
      </p:sp>
      <p:sp>
        <p:nvSpPr>
          <p:cNvPr id="6" name="Text 4"/>
          <p:cNvSpPr/>
          <p:nvPr/>
        </p:nvSpPr>
        <p:spPr>
          <a:xfrm>
            <a:off x="45720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Compound word</a:t>
            </a:r>
            <a:endParaRPr lang="en-US" sz="1300" dirty="0"/>
          </a:p>
        </p:txBody>
      </p:sp>
      <p:sp>
        <p:nvSpPr>
          <p:cNvPr id="7" name="Shape 5"/>
          <p:cNvSpPr/>
          <p:nvPr/>
        </p:nvSpPr>
        <p:spPr>
          <a:xfrm>
            <a:off x="41148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mailbox</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postcard</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landmark</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notebook</a:t>
            </a:r>
            <a:endParaRPr lang="en-US" sz="1400" dirty="0"/>
          </a:p>
        </p:txBody>
      </p:sp>
      <p:sp>
        <p:nvSpPr>
          <p:cNvPr id="9" name="Shape 7"/>
          <p:cNvSpPr/>
          <p:nvPr/>
        </p:nvSpPr>
        <p:spPr>
          <a:xfrm>
            <a:off x="4617720" y="1078992"/>
            <a:ext cx="4114800" cy="457200"/>
          </a:xfrm>
          <a:prstGeom prst="roundRect">
            <a:avLst>
              <a:gd name="adj" fmla="val 16000"/>
            </a:avLst>
          </a:prstGeom>
          <a:solidFill>
            <a:srgbClr val="0E1C42"/>
          </a:solidFill>
          <a:ln/>
        </p:spPr>
      </p:sp>
      <p:sp>
        <p:nvSpPr>
          <p:cNvPr id="10" name="Text 8"/>
          <p:cNvSpPr/>
          <p:nvPr/>
        </p:nvSpPr>
        <p:spPr>
          <a:xfrm>
            <a:off x="466344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Not a compound word</a:t>
            </a:r>
            <a:endParaRPr lang="en-US" sz="1300" dirty="0"/>
          </a:p>
        </p:txBody>
      </p:sp>
      <p:sp>
        <p:nvSpPr>
          <p:cNvPr id="11" name="Shape 9"/>
          <p:cNvSpPr/>
          <p:nvPr/>
        </p:nvSpPr>
        <p:spPr>
          <a:xfrm>
            <a:off x="461772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470916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compass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envelope</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journey</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letter</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CB85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How Does a Letter Travel?</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6" name="Text 4"/>
          <p:cNvSpPr/>
          <p:nvPr/>
        </p:nvSpPr>
        <p:spPr>
          <a:xfrm>
            <a:off x="365760" y="171907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Stop when the letter reaches the right city and goes to another post office. You have read half the journey. Is this article mainly about the mailbox, the ZIP code, or the whole trip? Name the central idea, and one detail that supports it.</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2026-09-09T12:44:17Z</dcterms:created>
  <dcterms:modified xsi:type="dcterms:W3CDTF">2026-09-09T12:44:17Z</dcterms:modified>
</cp:coreProperties>
</file>