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6.2. Reading: How Does a Letter Travel?.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prompt aloud. Give students a moment to think before writing.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minutes of sustained writing. Stamina over polish. Do not correct spelling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fix only. Editing is conventions; revision is ideas. Name which one you are asking for.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or three volunteers. Praise something specific in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lens: Good nonfiction readers look for the central idea as they read. The central idea is the most important point the author wants you to understand. Supporting details back it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Corrected: Corrected: 
Look for: After the letters are sorted by ZIP code , they are loaded onto trucks , trains , or airplanes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Corrected: Corrected: 
Look for: After the letters are sorted by ZIP code , they are loaded onto trucks , trains , or airplanes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Break the word into base + word part. Ask what the part adds to the meaning.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word appears in the chapters read this week, in the author’s own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Stanley, California, A, Mississippi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Stanley, California, A, Mississippi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Compound word: mailbox, postcard, landmark, notebook | Not a compound word: compass, envelope, journey, letter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Compound word: mailbox, postcard, landmark, notebook | Not a compound word: compass, envelope, journey, letter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chapters, then return to the pause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4A2E"/>
        </a:solidFill>
      </p:bgPr>
    </p:bg>
    <p:spTree>
      <p:nvGrpSpPr>
        <p:cNvPr id="1" name=""/>
        <p:cNvGrpSpPr/>
        <p:nvPr/>
      </p:nvGrpSpPr>
      <p:grpSpPr>
        <a:xfrm>
          <a:off x="0" y="0"/>
          <a:ext cx="0" cy="0"/>
          <a:chOff x="0" y="0"/>
          <a:chExt cx="0" cy="0"/>
        </a:xfrm>
      </p:grpSpPr>
      <p:sp>
        <p:nvSpPr>
          <p:cNvPr id="2" name="Text 0"/>
          <p:cNvSpPr/>
          <p:nvPr/>
        </p:nvSpPr>
        <p:spPr>
          <a:xfrm>
            <a:off x="0" y="822960"/>
            <a:ext cx="9144000" cy="822960"/>
          </a:xfrm>
          <a:prstGeom prst="rect">
            <a:avLst/>
          </a:prstGeom>
          <a:noFill/>
          <a:ln/>
        </p:spPr>
        <p:txBody>
          <a:bodyPr wrap="square" lIns="0" tIns="0" rIns="0" bIns="0" rtlCol="0" anchor="ctr"/>
          <a:lstStyle/>
          <a:p>
            <a:pPr algn="ctr" indent="0" marL="0">
              <a:buNone/>
            </a:pPr>
            <a:r>
              <a:rPr lang="en-US" sz="5200" dirty="0">
                <a:solidFill>
                  <a:srgbClr val="000000"/>
                </a:solidFill>
              </a:rPr>
              <a:t>🗺️</a:t>
            </a:r>
            <a:endParaRPr lang="en-US" sz="5200" dirty="0"/>
          </a:p>
        </p:txBody>
      </p:sp>
      <p:sp>
        <p:nvSpPr>
          <p:cNvPr id="3" name="Text 1"/>
          <p:cNvSpPr/>
          <p:nvPr/>
        </p:nvSpPr>
        <p:spPr>
          <a:xfrm>
            <a:off x="457200" y="1691640"/>
            <a:ext cx="8229600" cy="566928"/>
          </a:xfrm>
          <a:prstGeom prst="rect">
            <a:avLst/>
          </a:prstGeom>
          <a:noFill/>
          <a:ln/>
        </p:spPr>
        <p:txBody>
          <a:bodyPr wrap="square" lIns="0" tIns="0" rIns="0" bIns="0"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Nonfiction: Maps, Mail &amp; Places</a:t>
            </a:r>
            <a:endParaRPr lang="en-US" sz="2600" dirty="0"/>
          </a:p>
        </p:txBody>
      </p:sp>
      <p:sp>
        <p:nvSpPr>
          <p:cNvPr id="4" name="Text 2"/>
          <p:cNvSpPr/>
          <p:nvPr/>
        </p:nvSpPr>
        <p:spPr>
          <a:xfrm>
            <a:off x="457200" y="2331720"/>
            <a:ext cx="8229600" cy="411480"/>
          </a:xfrm>
          <a:prstGeom prst="rect">
            <a:avLst/>
          </a:prstGeom>
          <a:noFill/>
          <a:ln/>
        </p:spPr>
        <p:txBody>
          <a:bodyPr wrap="square" lIns="0" tIns="0" rIns="0" bIns="0" rtlCol="0" anchor="ctr"/>
          <a:lstStyle/>
          <a:p>
            <a:pPr algn="ctr" indent="0" marL="0">
              <a:buNone/>
            </a:pPr>
            <a:r>
              <a:rPr lang="en-US" sz="2000" dirty="0">
                <a:solidFill>
                  <a:srgbClr val="5CB85C"/>
                </a:solidFill>
                <a:latin typeface="Calibri" pitchFamily="34" charset="0"/>
                <a:ea typeface="Calibri" pitchFamily="34" charset="-122"/>
                <a:cs typeface="Calibri" pitchFamily="34" charset="-120"/>
              </a:rPr>
              <a:t>Lesson 6.2  ·  How Does a Letter Travel?</a:t>
            </a:r>
            <a:endParaRPr lang="en-US" sz="2000" dirty="0"/>
          </a:p>
        </p:txBody>
      </p:sp>
      <p:sp>
        <p:nvSpPr>
          <p:cNvPr id="5" name="Text 3"/>
          <p:cNvSpPr/>
          <p:nvPr/>
        </p:nvSpPr>
        <p:spPr>
          <a:xfrm>
            <a:off x="457200" y="2880360"/>
            <a:ext cx="8229600" cy="320040"/>
          </a:xfrm>
          <a:prstGeom prst="rect">
            <a:avLst/>
          </a:prstGeom>
          <a:noFill/>
          <a:ln/>
        </p:spPr>
        <p:txBody>
          <a:bodyPr wrap="square" lIns="0" tIns="0" rIns="0" bIns="0" rtlCol="0" anchor="ctr"/>
          <a:lstStyle/>
          <a:p>
            <a:pPr algn="ctr" indent="0" marL="0">
              <a:buNone/>
            </a:pPr>
            <a:r>
              <a:rPr lang="en-US" sz="1400" dirty="0">
                <a:solidFill>
                  <a:srgbClr val="C9BCE4"/>
                </a:solidFill>
                <a:latin typeface="Calibri" pitchFamily="34" charset="0"/>
                <a:ea typeface="Calibri" pitchFamily="34" charset="-122"/>
                <a:cs typeface="Calibri" pitchFamily="34" charset="-120"/>
              </a:rPr>
              <a:t>Grade 3 ELA  ·  Virtue: Diligence</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C7922C"/>
          </a:solidFill>
          <a:ln/>
        </p:spPr>
      </p:sp>
      <p:sp>
        <p:nvSpPr>
          <p:cNvPr id="3" name="Text 1"/>
          <p:cNvSpPr/>
          <p:nvPr/>
        </p:nvSpPr>
        <p:spPr>
          <a:xfrm>
            <a:off x="365760" y="54864"/>
            <a:ext cx="8412480" cy="4572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  10-Minute Write</a:t>
            </a:r>
            <a:endParaRPr lang="en-US" sz="2200" dirty="0"/>
          </a:p>
        </p:txBody>
      </p:sp>
      <p:sp>
        <p:nvSpPr>
          <p:cNvPr id="4" name="Text 2"/>
          <p:cNvSpPr/>
          <p:nvPr/>
        </p:nvSpPr>
        <p:spPr>
          <a:xfrm>
            <a:off x="365760" y="822960"/>
            <a:ext cx="8229600" cy="237744"/>
          </a:xfrm>
          <a:prstGeom prst="rect">
            <a:avLst/>
          </a:prstGeom>
          <a:noFill/>
          <a:ln/>
        </p:spPr>
        <p:txBody>
          <a:bodyPr wrap="square" lIns="0" tIns="0" rIns="0" bIns="0" rtlCol="0" anchor="ctr"/>
          <a:lstStyle/>
          <a:p>
            <a:pPr indent="0" marL="0">
              <a:buNone/>
            </a:pPr>
            <a:r>
              <a:rPr lang="en-US" sz="1100" b="1" spc="100" kern="0" dirty="0">
                <a:solidFill>
                  <a:srgbClr val="C7922C"/>
                </a:solidFill>
                <a:latin typeface="Calibri" pitchFamily="34" charset="0"/>
                <a:ea typeface="Calibri" pitchFamily="34" charset="-122"/>
                <a:cs typeface="Calibri" pitchFamily="34" charset="-120"/>
              </a:rPr>
              <a:t>READ THE PROMPT — 1 MINUTE</a:t>
            </a:r>
            <a:endParaRPr lang="en-US" sz="1100" dirty="0"/>
          </a:p>
        </p:txBody>
      </p:sp>
      <p:sp>
        <p:nvSpPr>
          <p:cNvPr id="5" name="Shape 3"/>
          <p:cNvSpPr/>
          <p:nvPr/>
        </p:nvSpPr>
        <p:spPr>
          <a:xfrm>
            <a:off x="365760" y="1143000"/>
            <a:ext cx="8412480" cy="1737360"/>
          </a:xfrm>
          <a:prstGeom prst="roundRect">
            <a:avLst>
              <a:gd name="adj" fmla="val 5263"/>
            </a:avLst>
          </a:prstGeom>
          <a:solidFill>
            <a:srgbClr val="FEF6E8"/>
          </a:solidFill>
          <a:ln w="19050">
            <a:solidFill>
              <a:srgbClr val="C7922C"/>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594360" y="1271016"/>
            <a:ext cx="7955280" cy="1481328"/>
          </a:xfrm>
          <a:prstGeom prst="rect">
            <a:avLst/>
          </a:prstGeom>
          <a:noFill/>
          <a:ln/>
        </p:spPr>
        <p:txBody>
          <a:bodyPr wrap="square" lIns="0" tIns="0" rIns="0" bIns="0" rtlCol="0" anchor="ctr"/>
          <a:lstStyle/>
          <a:p>
            <a:pPr indent="0" marL="0">
              <a:buNone/>
            </a:pPr>
            <a:r>
              <a:rPr lang="en-US" sz="1700" dirty="0">
                <a:solidFill>
                  <a:srgbClr val="1E293B"/>
                </a:solidFill>
                <a:latin typeface="Calibri" pitchFamily="34" charset="0"/>
                <a:ea typeface="Calibri" pitchFamily="34" charset="-122"/>
                <a:cs typeface="Calibri" pitchFamily="34" charset="-120"/>
              </a:rPr>
              <a:t>Write about a letter or package you have received. Who was it from?</a:t>
            </a:r>
            <a:endParaRPr lang="en-US" sz="1700" dirty="0"/>
          </a:p>
        </p:txBody>
      </p:sp>
      <p:sp>
        <p:nvSpPr>
          <p:cNvPr id="7" name="Text 5"/>
          <p:cNvSpPr/>
          <p:nvPr/>
        </p:nvSpPr>
        <p:spPr>
          <a:xfrm>
            <a:off x="365760" y="3063240"/>
            <a:ext cx="8412480" cy="365760"/>
          </a:xfrm>
          <a:prstGeom prst="rect">
            <a:avLst/>
          </a:prstGeom>
          <a:noFill/>
          <a:ln/>
        </p:spPr>
        <p:txBody>
          <a:bodyPr wrap="square" lIns="0" tIns="0" rIns="0" bIns="0" rtlCol="0" anchor="ctr"/>
          <a:lstStyle/>
          <a:p>
            <a:pPr indent="0" marL="0">
              <a:buNone/>
            </a:pPr>
            <a:r>
              <a:rPr lang="en-US" sz="1600" i="1" dirty="0">
                <a:solidFill>
                  <a:srgbClr val="64748B"/>
                </a:solidFill>
                <a:latin typeface="Calibri" pitchFamily="34" charset="0"/>
                <a:ea typeface="Calibri" pitchFamily="34" charset="-122"/>
                <a:cs typeface="Calibri" pitchFamily="34" charset="-120"/>
              </a:rPr>
              <a:t>Think first. You will have five minutes to write.</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EF6E8"/>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C7922C"/>
          </a:solidFill>
          <a:ln/>
        </p:spPr>
      </p:sp>
      <p:sp>
        <p:nvSpPr>
          <p:cNvPr id="3" name="Text 1"/>
          <p:cNvSpPr/>
          <p:nvPr/>
        </p:nvSpPr>
        <p:spPr>
          <a:xfrm>
            <a:off x="365760" y="54864"/>
            <a:ext cx="8412480" cy="4572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  Writing Time</a:t>
            </a:r>
            <a:endParaRPr lang="en-US" sz="2200" dirty="0"/>
          </a:p>
        </p:txBody>
      </p:sp>
      <p:sp>
        <p:nvSpPr>
          <p:cNvPr id="4" name="Text 2"/>
          <p:cNvSpPr/>
          <p:nvPr/>
        </p:nvSpPr>
        <p:spPr>
          <a:xfrm>
            <a:off x="365760" y="868680"/>
            <a:ext cx="8412480" cy="502920"/>
          </a:xfrm>
          <a:prstGeom prst="rect">
            <a:avLst/>
          </a:prstGeom>
          <a:noFill/>
          <a:ln/>
        </p:spPr>
        <p:txBody>
          <a:bodyPr wrap="square" lIns="0" tIns="0" rIns="0" bIns="0" rtlCol="0" anchor="ctr"/>
          <a:lstStyle/>
          <a:p>
            <a:pPr indent="0" marL="0">
              <a:buNone/>
            </a:pPr>
            <a:r>
              <a:rPr lang="en-US" sz="2600" b="1" dirty="0">
                <a:solidFill>
                  <a:srgbClr val="0E1C42"/>
                </a:solidFill>
                <a:latin typeface="Calibri" pitchFamily="34" charset="0"/>
                <a:ea typeface="Calibri" pitchFamily="34" charset="-122"/>
                <a:cs typeface="Calibri" pitchFamily="34" charset="-120"/>
              </a:rPr>
              <a:t>5 minutes — keep your pencil moving!</a:t>
            </a:r>
            <a:endParaRPr lang="en-US" sz="2600" dirty="0"/>
          </a:p>
        </p:txBody>
      </p:sp>
      <p:sp>
        <p:nvSpPr>
          <p:cNvPr id="5" name="Text 3"/>
          <p:cNvSpPr/>
          <p:nvPr/>
        </p:nvSpPr>
        <p:spPr>
          <a:xfrm>
            <a:off x="365760" y="1463040"/>
            <a:ext cx="8229600" cy="237744"/>
          </a:xfrm>
          <a:prstGeom prst="rect">
            <a:avLst/>
          </a:prstGeom>
          <a:noFill/>
          <a:ln/>
        </p:spPr>
        <p:txBody>
          <a:bodyPr wrap="square" lIns="0" tIns="0" rIns="0" bIns="0" rtlCol="0" anchor="ctr"/>
          <a:lstStyle/>
          <a:p>
            <a:pPr indent="0" marL="0">
              <a:buNone/>
            </a:pPr>
            <a:r>
              <a:rPr lang="en-US" sz="1100" b="1" spc="100" kern="0" dirty="0">
                <a:solidFill>
                  <a:srgbClr val="C7922C"/>
                </a:solidFill>
                <a:latin typeface="Calibri" pitchFamily="34" charset="0"/>
                <a:ea typeface="Calibri" pitchFamily="34" charset="-122"/>
                <a:cs typeface="Calibri" pitchFamily="34" charset="-120"/>
              </a:rPr>
              <a:t>YOUR PROMPT</a:t>
            </a:r>
            <a:endParaRPr lang="en-US" sz="1100" dirty="0"/>
          </a:p>
        </p:txBody>
      </p:sp>
      <p:sp>
        <p:nvSpPr>
          <p:cNvPr id="6" name="Shape 4"/>
          <p:cNvSpPr/>
          <p:nvPr/>
        </p:nvSpPr>
        <p:spPr>
          <a:xfrm>
            <a:off x="365760" y="1737360"/>
            <a:ext cx="8412480" cy="1417320"/>
          </a:xfrm>
          <a:prstGeom prst="roundRect">
            <a:avLst>
              <a:gd name="adj" fmla="val 6452"/>
            </a:avLst>
          </a:prstGeom>
          <a:solidFill>
            <a:srgbClr val="FFFFFF"/>
          </a:solidFill>
          <a:ln w="19050">
            <a:solidFill>
              <a:srgbClr val="C7922C"/>
            </a:solidFill>
            <a:prstDash val="solid"/>
          </a:ln>
          <a:effectLst>
            <a:outerShdw sx="100000" sy="100000" kx="0" ky="0" algn="bl" rotWithShape="0" blurRad="101600" dist="38100" dir="2700000">
              <a:srgbClr val="000000">
                <a:alpha val="12000"/>
              </a:srgbClr>
            </a:outerShdw>
          </a:effectLst>
        </p:spPr>
      </p:sp>
      <p:sp>
        <p:nvSpPr>
          <p:cNvPr id="7" name="Text 5"/>
          <p:cNvSpPr/>
          <p:nvPr/>
        </p:nvSpPr>
        <p:spPr>
          <a:xfrm>
            <a:off x="594360" y="1865376"/>
            <a:ext cx="7955280" cy="1161288"/>
          </a:xfrm>
          <a:prstGeom prst="rect">
            <a:avLst/>
          </a:prstGeom>
          <a:noFill/>
          <a:ln/>
        </p:spPr>
        <p:txBody>
          <a:bodyPr wrap="square" lIns="0" tIns="0" rIns="0" bIns="0" rtlCol="0" anchor="ctr"/>
          <a:lstStyle/>
          <a:p>
            <a:pPr indent="0" marL="0">
              <a:buNone/>
            </a:pPr>
            <a:r>
              <a:rPr lang="en-US" sz="1700" dirty="0">
                <a:solidFill>
                  <a:srgbClr val="1E293B"/>
                </a:solidFill>
                <a:latin typeface="Calibri" pitchFamily="34" charset="0"/>
                <a:ea typeface="Calibri" pitchFamily="34" charset="-122"/>
                <a:cs typeface="Calibri" pitchFamily="34" charset="-120"/>
              </a:rPr>
              <a:t>Write about a letter or package you have received. Who was it from?</a:t>
            </a:r>
            <a:endParaRPr lang="en-US" sz="1700" dirty="0"/>
          </a:p>
        </p:txBody>
      </p:sp>
      <p:sp>
        <p:nvSpPr>
          <p:cNvPr id="8" name="Text 6"/>
          <p:cNvSpPr/>
          <p:nvPr/>
        </p:nvSpPr>
        <p:spPr>
          <a:xfrm>
            <a:off x="365760" y="3291840"/>
            <a:ext cx="8412480" cy="365760"/>
          </a:xfrm>
          <a:prstGeom prst="rect">
            <a:avLst/>
          </a:prstGeom>
          <a:noFill/>
          <a:ln/>
        </p:spPr>
        <p:txBody>
          <a:bodyPr wrap="square" lIns="0" tIns="0" rIns="0" bIns="0" rtlCol="0" anchor="ctr"/>
          <a:lstStyle/>
          <a:p>
            <a:pPr indent="0" marL="0">
              <a:buNone/>
            </a:pPr>
            <a:r>
              <a:rPr lang="en-US" sz="1500" i="1" dirty="0">
                <a:solidFill>
                  <a:srgbClr val="64748B"/>
                </a:solidFill>
                <a:latin typeface="Calibri" pitchFamily="34" charset="0"/>
                <a:ea typeface="Calibri" pitchFamily="34" charset="-122"/>
                <a:cs typeface="Calibri" pitchFamily="34" charset="-120"/>
              </a:rPr>
              <a:t>Do not stop to erase. If you get stuck, write the last word again and keep going.</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E8F8EF"/>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34B76F"/>
          </a:solidFill>
          <a:ln/>
        </p:spPr>
      </p:sp>
      <p:sp>
        <p:nvSpPr>
          <p:cNvPr id="3" name="Text 1"/>
          <p:cNvSpPr/>
          <p:nvPr/>
        </p:nvSpPr>
        <p:spPr>
          <a:xfrm>
            <a:off x="365760" y="54864"/>
            <a:ext cx="8412480" cy="4572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  Edit &amp; Revise</a:t>
            </a:r>
            <a:endParaRPr lang="en-US" sz="2200" dirty="0"/>
          </a:p>
        </p:txBody>
      </p:sp>
      <p:sp>
        <p:nvSpPr>
          <p:cNvPr id="4" name="Text 2"/>
          <p:cNvSpPr/>
          <p:nvPr/>
        </p:nvSpPr>
        <p:spPr>
          <a:xfrm>
            <a:off x="365760" y="868680"/>
            <a:ext cx="8412480" cy="457200"/>
          </a:xfrm>
          <a:prstGeom prst="rect">
            <a:avLst/>
          </a:prstGeom>
          <a:noFill/>
          <a:ln/>
        </p:spPr>
        <p:txBody>
          <a:bodyPr wrap="square" lIns="0" tIns="0" rIns="0" bIns="0" rtlCol="0" anchor="ctr"/>
          <a:lstStyle/>
          <a:p>
            <a:pPr indent="0" marL="0">
              <a:buNone/>
            </a:pPr>
            <a:r>
              <a:rPr lang="en-US" sz="2400" b="1" dirty="0">
                <a:solidFill>
                  <a:srgbClr val="0E1C42"/>
                </a:solidFill>
                <a:latin typeface="Calibri" pitchFamily="34" charset="0"/>
                <a:ea typeface="Calibri" pitchFamily="34" charset="-122"/>
                <a:cs typeface="Calibri" pitchFamily="34" charset="-120"/>
              </a:rPr>
              <a:t>1 minute — pick ONE thing to fix.</a:t>
            </a:r>
            <a:endParaRPr lang="en-US" sz="2400" dirty="0"/>
          </a:p>
        </p:txBody>
      </p:sp>
      <p:sp>
        <p:nvSpPr>
          <p:cNvPr id="5" name="Text 3"/>
          <p:cNvSpPr/>
          <p:nvPr/>
        </p:nvSpPr>
        <p:spPr>
          <a:xfrm>
            <a:off x="365760" y="1417320"/>
            <a:ext cx="8229600" cy="237744"/>
          </a:xfrm>
          <a:prstGeom prst="rect">
            <a:avLst/>
          </a:prstGeom>
          <a:noFill/>
          <a:ln/>
        </p:spPr>
        <p:txBody>
          <a:bodyPr wrap="square" lIns="0" tIns="0" rIns="0" bIns="0" rtlCol="0" anchor="ctr"/>
          <a:lstStyle/>
          <a:p>
            <a:pPr indent="0" marL="0">
              <a:buNone/>
            </a:pPr>
            <a:r>
              <a:rPr lang="en-US" sz="1100" b="1" spc="100" kern="0" dirty="0">
                <a:solidFill>
                  <a:srgbClr val="34B76F"/>
                </a:solidFill>
                <a:latin typeface="Calibri" pitchFamily="34" charset="0"/>
                <a:ea typeface="Calibri" pitchFamily="34" charset="-122"/>
                <a:cs typeface="Calibri" pitchFamily="34" charset="-120"/>
              </a:rPr>
              <a:t>TODAY'S EDIT FOCUS</a:t>
            </a:r>
            <a:endParaRPr lang="en-US" sz="1100" dirty="0"/>
          </a:p>
        </p:txBody>
      </p:sp>
      <p:sp>
        <p:nvSpPr>
          <p:cNvPr id="6" name="Shape 4"/>
          <p:cNvSpPr/>
          <p:nvPr/>
        </p:nvSpPr>
        <p:spPr>
          <a:xfrm>
            <a:off x="365760" y="1691640"/>
            <a:ext cx="8412480" cy="777240"/>
          </a:xfrm>
          <a:prstGeom prst="roundRect">
            <a:avLst>
              <a:gd name="adj" fmla="val 11765"/>
            </a:avLst>
          </a:prstGeom>
          <a:solidFill>
            <a:srgbClr val="FFFFFF"/>
          </a:solidFill>
          <a:ln w="19050">
            <a:solidFill>
              <a:srgbClr val="34B76F"/>
            </a:solidFill>
            <a:prstDash val="solid"/>
          </a:ln>
          <a:effectLst>
            <a:outerShdw sx="100000" sy="100000" kx="0" ky="0" algn="bl" rotWithShape="0" blurRad="101600" dist="38100" dir="2700000">
              <a:srgbClr val="000000">
                <a:alpha val="12000"/>
              </a:srgbClr>
            </a:outerShdw>
          </a:effectLst>
        </p:spPr>
      </p:sp>
      <p:sp>
        <p:nvSpPr>
          <p:cNvPr id="7" name="Text 5"/>
          <p:cNvSpPr/>
          <p:nvPr/>
        </p:nvSpPr>
        <p:spPr>
          <a:xfrm>
            <a:off x="594360" y="1819656"/>
            <a:ext cx="7955280" cy="521208"/>
          </a:xfrm>
          <a:prstGeom prst="rect">
            <a:avLst/>
          </a:prstGeom>
          <a:noFill/>
          <a:ln/>
        </p:spPr>
        <p:txBody>
          <a:bodyPr wrap="square" lIns="0" tIns="0" rIns="0" bIns="0" rtlCol="0" anchor="ctr"/>
          <a:lstStyle/>
          <a:p>
            <a:pPr indent="0" marL="0">
              <a:buNone/>
            </a:pPr>
            <a:r>
              <a:rPr lang="en-US" sz="1700" dirty="0">
                <a:solidFill>
                  <a:srgbClr val="1E293B"/>
                </a:solidFill>
                <a:latin typeface="Calibri" pitchFamily="34" charset="0"/>
                <a:ea typeface="Calibri" pitchFamily="34" charset="-122"/>
                <a:cs typeface="Calibri" pitchFamily="34" charset="-120"/>
              </a:rPr>
              <a:t>Did I use a capital letter for every name and place?</a:t>
            </a:r>
            <a:endParaRPr lang="en-US" sz="1700" dirty="0"/>
          </a:p>
        </p:txBody>
      </p:sp>
      <p:sp>
        <p:nvSpPr>
          <p:cNvPr id="8" name="Text 6"/>
          <p:cNvSpPr/>
          <p:nvPr/>
        </p:nvSpPr>
        <p:spPr>
          <a:xfrm>
            <a:off x="365760" y="2651760"/>
            <a:ext cx="8412480" cy="365760"/>
          </a:xfrm>
          <a:prstGeom prst="rect">
            <a:avLst/>
          </a:prstGeom>
          <a:noFill/>
          <a:ln/>
        </p:spPr>
        <p:txBody>
          <a:bodyPr wrap="square" lIns="0" tIns="0" rIns="0" bIns="0" rtlCol="0" anchor="ctr"/>
          <a:lstStyle/>
          <a:p>
            <a:pPr indent="0" marL="0">
              <a:buNone/>
            </a:pPr>
            <a:r>
              <a:rPr lang="en-US" sz="1500" b="1" dirty="0">
                <a:solidFill>
                  <a:srgbClr val="1E293B"/>
                </a:solidFill>
                <a:latin typeface="Calibri" pitchFamily="34" charset="0"/>
                <a:ea typeface="Calibri" pitchFamily="34" charset="-122"/>
                <a:cs typeface="Calibri" pitchFamily="34" charset="-120"/>
              </a:rPr>
              <a:t>Quick check:  </a:t>
            </a:r>
            <a:pPr indent="0" marL="0">
              <a:buNone/>
            </a:pPr>
            <a:r>
              <a:rPr lang="en-US" sz="1500" dirty="0">
                <a:solidFill>
                  <a:srgbClr val="1E293B"/>
                </a:solidFill>
                <a:latin typeface="Calibri" pitchFamily="34" charset="0"/>
                <a:ea typeface="Calibri" pitchFamily="34" charset="-122"/>
                <a:cs typeface="Calibri" pitchFamily="34" charset="-120"/>
              </a:rPr>
              <a:t>capitals  ·  end punctuation  ·  circle a word you are unsure of  ·  read it aloud</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5F7FC"/>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55C8E8"/>
          </a:solidFill>
          <a:ln/>
        </p:spPr>
      </p:sp>
      <p:sp>
        <p:nvSpPr>
          <p:cNvPr id="3" name="Text 1"/>
          <p:cNvSpPr/>
          <p:nvPr/>
        </p:nvSpPr>
        <p:spPr>
          <a:xfrm>
            <a:off x="365760" y="54864"/>
            <a:ext cx="8412480" cy="4572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  Share Time</a:t>
            </a:r>
            <a:endParaRPr lang="en-US" sz="2200" dirty="0"/>
          </a:p>
        </p:txBody>
      </p:sp>
      <p:sp>
        <p:nvSpPr>
          <p:cNvPr id="4" name="Text 2"/>
          <p:cNvSpPr/>
          <p:nvPr/>
        </p:nvSpPr>
        <p:spPr>
          <a:xfrm>
            <a:off x="365760" y="1005840"/>
            <a:ext cx="8412480" cy="548640"/>
          </a:xfrm>
          <a:prstGeom prst="rect">
            <a:avLst/>
          </a:prstGeom>
          <a:noFill/>
          <a:ln/>
        </p:spPr>
        <p:txBody>
          <a:bodyPr wrap="square" lIns="0" tIns="0" rIns="0" bIns="0" rtlCol="0" anchor="ctr"/>
          <a:lstStyle/>
          <a:p>
            <a:pPr indent="0" marL="0">
              <a:buNone/>
            </a:pPr>
            <a:r>
              <a:rPr lang="en-US" sz="2600" b="1" dirty="0">
                <a:solidFill>
                  <a:srgbClr val="0E1C42"/>
                </a:solidFill>
                <a:latin typeface="Calibri" pitchFamily="34" charset="0"/>
                <a:ea typeface="Calibri" pitchFamily="34" charset="-122"/>
                <a:cs typeface="Calibri" pitchFamily="34" charset="-120"/>
              </a:rPr>
              <a:t>3 minutes — let's hear your writing!</a:t>
            </a:r>
            <a:endParaRPr lang="en-US" sz="2600" dirty="0"/>
          </a:p>
        </p:txBody>
      </p:sp>
      <p:sp>
        <p:nvSpPr>
          <p:cNvPr id="5" name="Text 3"/>
          <p:cNvSpPr/>
          <p:nvPr/>
        </p:nvSpPr>
        <p:spPr>
          <a:xfrm>
            <a:off x="365760" y="1691640"/>
            <a:ext cx="8412480" cy="457200"/>
          </a:xfrm>
          <a:prstGeom prst="rect">
            <a:avLst/>
          </a:prstGeom>
          <a:noFill/>
          <a:ln/>
        </p:spPr>
        <p:txBody>
          <a:bodyPr wrap="square" lIns="0" tIns="0" rIns="0" bIns="0" rtlCol="0" anchor="ctr"/>
          <a:lstStyle/>
          <a:p>
            <a:pPr indent="0" marL="0">
              <a:buNone/>
            </a:pPr>
            <a:r>
              <a:rPr lang="en-US" sz="1700" dirty="0">
                <a:solidFill>
                  <a:srgbClr val="1E293B"/>
                </a:solidFill>
                <a:latin typeface="Calibri" pitchFamily="34" charset="0"/>
                <a:ea typeface="Calibri" pitchFamily="34" charset="-122"/>
                <a:cs typeface="Calibri" pitchFamily="34" charset="-120"/>
              </a:rPr>
              <a:t>Raise your hand  ·  paste it in the chat  ·  or hold your paper up to the camera</a:t>
            </a:r>
            <a:endParaRPr lang="en-US" sz="1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5CB85C"/>
          </a:solidFill>
          <a:ln/>
        </p:spPr>
      </p:sp>
      <p:sp>
        <p:nvSpPr>
          <p:cNvPr id="3" name="Text 1"/>
          <p:cNvSpPr/>
          <p:nvPr/>
        </p:nvSpPr>
        <p:spPr>
          <a:xfrm>
            <a:off x="365760" y="54864"/>
            <a:ext cx="8412480" cy="4572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  Today</a:t>
            </a:r>
            <a:endParaRPr lang="en-US" sz="2200" dirty="0"/>
          </a:p>
        </p:txBody>
      </p:sp>
      <p:sp>
        <p:nvSpPr>
          <p:cNvPr id="4" name="Text 2"/>
          <p:cNvSpPr/>
          <p:nvPr/>
        </p:nvSpPr>
        <p:spPr>
          <a:xfrm>
            <a:off x="365760" y="777240"/>
            <a:ext cx="8229600" cy="237744"/>
          </a:xfrm>
          <a:prstGeom prst="rect">
            <a:avLst/>
          </a:prstGeom>
          <a:noFill/>
          <a:ln/>
        </p:spPr>
        <p:txBody>
          <a:bodyPr wrap="square" lIns="0" tIns="0" rIns="0" bIns="0" rtlCol="0" anchor="ctr"/>
          <a:lstStyle/>
          <a:p>
            <a:pPr indent="0" marL="0">
              <a:buNone/>
            </a:pPr>
            <a:r>
              <a:rPr lang="en-US" sz="1100" b="1" spc="100" kern="0" dirty="0">
                <a:solidFill>
                  <a:srgbClr val="8B6FC0"/>
                </a:solidFill>
                <a:latin typeface="Calibri" pitchFamily="34" charset="0"/>
                <a:ea typeface="Calibri" pitchFamily="34" charset="-122"/>
                <a:cs typeface="Calibri" pitchFamily="34" charset="-120"/>
              </a:rPr>
              <a:t>READING</a:t>
            </a:r>
            <a:endParaRPr lang="en-US" sz="1100" dirty="0"/>
          </a:p>
        </p:txBody>
      </p:sp>
      <p:sp>
        <p:nvSpPr>
          <p:cNvPr id="5" name="Text 3"/>
          <p:cNvSpPr/>
          <p:nvPr/>
        </p:nvSpPr>
        <p:spPr>
          <a:xfrm>
            <a:off x="365760" y="1014984"/>
            <a:ext cx="8412480" cy="365760"/>
          </a:xfrm>
          <a:prstGeom prst="rect">
            <a:avLst/>
          </a:prstGeom>
          <a:noFill/>
          <a:ln/>
        </p:spPr>
        <p:txBody>
          <a:bodyPr wrap="square" lIns="0" tIns="0" rIns="0" bIns="0" rtlCol="0" anchor="ctr"/>
          <a:lstStyle/>
          <a:p>
            <a:pPr indent="0" marL="0">
              <a:buNone/>
            </a:pPr>
            <a:r>
              <a:rPr lang="en-US" sz="2000" b="1" dirty="0">
                <a:solidFill>
                  <a:srgbClr val="0E1C42"/>
                </a:solidFill>
                <a:latin typeface="Calibri" pitchFamily="34" charset="0"/>
                <a:ea typeface="Calibri" pitchFamily="34" charset="-122"/>
                <a:cs typeface="Calibri" pitchFamily="34" charset="-120"/>
              </a:rPr>
              <a:t>How Does a Letter Travel?</a:t>
            </a:r>
            <a:endParaRPr lang="en-US" sz="2000" dirty="0"/>
          </a:p>
        </p:txBody>
      </p:sp>
      <p:sp>
        <p:nvSpPr>
          <p:cNvPr id="6" name="Text 4"/>
          <p:cNvSpPr/>
          <p:nvPr/>
        </p:nvSpPr>
        <p:spPr>
          <a:xfrm>
            <a:off x="365760" y="1508760"/>
            <a:ext cx="8229600" cy="237744"/>
          </a:xfrm>
          <a:prstGeom prst="rect">
            <a:avLst/>
          </a:prstGeom>
          <a:noFill/>
          <a:ln/>
        </p:spPr>
        <p:txBody>
          <a:bodyPr wrap="square" lIns="0" tIns="0" rIns="0" bIns="0" rtlCol="0" anchor="ctr"/>
          <a:lstStyle/>
          <a:p>
            <a:pPr indent="0" marL="0">
              <a:buNone/>
            </a:pPr>
            <a:r>
              <a:rPr lang="en-US" sz="1100" b="1" spc="100" kern="0" dirty="0">
                <a:solidFill>
                  <a:srgbClr val="C7922C"/>
                </a:solidFill>
                <a:latin typeface="Calibri" pitchFamily="34" charset="0"/>
                <a:ea typeface="Calibri" pitchFamily="34" charset="-122"/>
                <a:cs typeface="Calibri" pitchFamily="34" charset="-120"/>
              </a:rPr>
              <a:t>BIG QUESTION</a:t>
            </a:r>
            <a:endParaRPr lang="en-US" sz="1100" dirty="0"/>
          </a:p>
        </p:txBody>
      </p:sp>
      <p:sp>
        <p:nvSpPr>
          <p:cNvPr id="7" name="Shape 5"/>
          <p:cNvSpPr/>
          <p:nvPr/>
        </p:nvSpPr>
        <p:spPr>
          <a:xfrm>
            <a:off x="365760" y="1746504"/>
            <a:ext cx="8412480" cy="731520"/>
          </a:xfrm>
          <a:prstGeom prst="roundRect">
            <a:avLst>
              <a:gd name="adj" fmla="val 12500"/>
            </a:avLst>
          </a:prstGeom>
          <a:solidFill>
            <a:srgbClr val="FEF6E8"/>
          </a:solidFill>
          <a:ln w="19050">
            <a:solidFill>
              <a:srgbClr val="C7922C"/>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94360" y="1874520"/>
            <a:ext cx="7955280" cy="475488"/>
          </a:xfrm>
          <a:prstGeom prst="rect">
            <a:avLst/>
          </a:prstGeom>
          <a:noFill/>
          <a:ln/>
        </p:spPr>
        <p:txBody>
          <a:bodyPr wrap="square" lIns="0" tIns="0" rIns="0" bIns="0" rtlCol="0" anchor="ctr"/>
          <a:lstStyle/>
          <a:p>
            <a:pPr indent="0" marL="0">
              <a:buNone/>
            </a:pPr>
            <a:r>
              <a:rPr lang="en-US" sz="1700" dirty="0">
                <a:solidFill>
                  <a:srgbClr val="1E293B"/>
                </a:solidFill>
                <a:latin typeface="Calibri" pitchFamily="34" charset="0"/>
                <a:ea typeface="Calibri" pitchFamily="34" charset="-122"/>
                <a:cs typeface="Calibri" pitchFamily="34" charset="-120"/>
              </a:rPr>
              <a:t>What happens to a letter between the moment you drop it in a mailbox and the moment someone opens it?</a:t>
            </a:r>
            <a:endParaRPr lang="en-US" sz="1700" dirty="0"/>
          </a:p>
        </p:txBody>
      </p:sp>
      <p:sp>
        <p:nvSpPr>
          <p:cNvPr id="9" name="Text 7"/>
          <p:cNvSpPr/>
          <p:nvPr/>
        </p:nvSpPr>
        <p:spPr>
          <a:xfrm>
            <a:off x="365760" y="2606040"/>
            <a:ext cx="8229600" cy="237744"/>
          </a:xfrm>
          <a:prstGeom prst="rect">
            <a:avLst/>
          </a:prstGeom>
          <a:noFill/>
          <a:ln/>
        </p:spPr>
        <p:txBody>
          <a:bodyPr wrap="square" lIns="0" tIns="0" rIns="0" bIns="0"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READING LENS</a:t>
            </a:r>
            <a:endParaRPr lang="en-US" sz="1100" dirty="0"/>
          </a:p>
        </p:txBody>
      </p:sp>
      <p:sp>
        <p:nvSpPr>
          <p:cNvPr id="10" name="Text 8"/>
          <p:cNvSpPr/>
          <p:nvPr/>
        </p:nvSpPr>
        <p:spPr>
          <a:xfrm>
            <a:off x="365760" y="2843784"/>
            <a:ext cx="8412480" cy="914400"/>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Good nonfiction readers look for the central idea as they read. The central idea is the most important point the author wants you to understand. Supporting details back it up.</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55C8E8"/>
          </a:solidFill>
          <a:ln/>
        </p:spPr>
      </p:sp>
      <p:sp>
        <p:nvSpPr>
          <p:cNvPr id="3" name="Text 1"/>
          <p:cNvSpPr/>
          <p:nvPr/>
        </p:nvSpPr>
        <p:spPr>
          <a:xfrm>
            <a:off x="365760" y="54864"/>
            <a:ext cx="8412480" cy="4572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  Daily Oral Language</a:t>
            </a:r>
            <a:endParaRPr lang="en-US" sz="2200" dirty="0"/>
          </a:p>
        </p:txBody>
      </p:sp>
      <p:sp>
        <p:nvSpPr>
          <p:cNvPr id="4" name="Text 2"/>
          <p:cNvSpPr/>
          <p:nvPr/>
        </p:nvSpPr>
        <p:spPr>
          <a:xfrm>
            <a:off x="365760" y="749808"/>
            <a:ext cx="8229600" cy="237744"/>
          </a:xfrm>
          <a:prstGeom prst="rect">
            <a:avLst/>
          </a:prstGeom>
          <a:noFill/>
          <a:ln/>
        </p:spPr>
        <p:txBody>
          <a:bodyPr wrap="square" lIns="0" tIns="0" rIns="0" bIns="0"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FIX THESE SENTENCES</a:t>
            </a:r>
            <a:endParaRPr lang="en-US" sz="1100" dirty="0"/>
          </a:p>
        </p:txBody>
      </p:sp>
      <p:sp>
        <p:nvSpPr>
          <p:cNvPr id="5" name="Shape 3"/>
          <p:cNvSpPr/>
          <p:nvPr/>
        </p:nvSpPr>
        <p:spPr>
          <a:xfrm>
            <a:off x="365760" y="1024128"/>
            <a:ext cx="8412480" cy="777240"/>
          </a:xfrm>
          <a:prstGeom prst="roundRect">
            <a:avLst>
              <a:gd name="adj" fmla="val 11765"/>
            </a:avLst>
          </a:prstGeom>
          <a:solidFill>
            <a:srgbClr val="FFFFFF"/>
          </a:solidFill>
          <a:ln w="19050">
            <a:solidFill>
              <a:srgbClr val="55C8E8"/>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594360" y="1152144"/>
            <a:ext cx="7955280" cy="521208"/>
          </a:xfrm>
          <a:prstGeom prst="rect">
            <a:avLst/>
          </a:prstGeom>
          <a:noFill/>
          <a:ln/>
        </p:spPr>
        <p:txBody>
          <a:bodyPr wrap="square" lIns="0" tIns="0" rIns="0" bIns="0" rtlCol="0" anchor="ctr"/>
          <a:lstStyle/>
          <a:p>
            <a:pPr indent="0" marL="0">
              <a:buNone/>
            </a:pPr>
            <a:r>
              <a:rPr lang="en-US" sz="1700" dirty="0">
                <a:solidFill>
                  <a:srgbClr val="1E293B"/>
                </a:solidFill>
                <a:latin typeface="Calibri" pitchFamily="34" charset="0"/>
                <a:ea typeface="Calibri" pitchFamily="34" charset="-122"/>
                <a:cs typeface="Calibri" pitchFamily="34" charset="-120"/>
              </a:rPr>
              <a:t>When the letter reaches the right city, it goes to another post office.</a:t>
            </a:r>
            <a:endParaRPr lang="en-US" sz="1700" dirty="0"/>
          </a:p>
        </p:txBody>
      </p:sp>
      <p:sp>
        <p:nvSpPr>
          <p:cNvPr id="7" name="Shape 5"/>
          <p:cNvSpPr/>
          <p:nvPr/>
        </p:nvSpPr>
        <p:spPr>
          <a:xfrm>
            <a:off x="365760" y="1874520"/>
            <a:ext cx="8412480" cy="777240"/>
          </a:xfrm>
          <a:prstGeom prst="roundRect">
            <a:avLst>
              <a:gd name="adj" fmla="val 11765"/>
            </a:avLst>
          </a:prstGeom>
          <a:solidFill>
            <a:srgbClr val="FFFFFF"/>
          </a:solidFill>
          <a:ln w="19050">
            <a:solidFill>
              <a:srgbClr val="55C8E8"/>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94360" y="2002536"/>
            <a:ext cx="7955280" cy="521208"/>
          </a:xfrm>
          <a:prstGeom prst="rect">
            <a:avLst/>
          </a:prstGeom>
          <a:noFill/>
          <a:ln/>
        </p:spPr>
        <p:txBody>
          <a:bodyPr wrap="square" lIns="0" tIns="0" rIns="0" bIns="0" rtlCol="0" anchor="ctr"/>
          <a:lstStyle/>
          <a:p>
            <a:pPr indent="0" marL="0">
              <a:buNone/>
            </a:pPr>
            <a:r>
              <a:rPr lang="en-US" sz="1700" dirty="0">
                <a:solidFill>
                  <a:srgbClr val="1E293B"/>
                </a:solidFill>
                <a:latin typeface="Calibri" pitchFamily="34" charset="0"/>
                <a:ea typeface="Calibri" pitchFamily="34" charset="-122"/>
                <a:cs typeface="Calibri" pitchFamily="34" charset="-120"/>
              </a:rPr>
              <a:t>after the letters are sorted by zip code they are loaded onto trucks trains or airplanes</a:t>
            </a:r>
            <a:endParaRPr lang="en-US" sz="1700" dirty="0"/>
          </a:p>
        </p:txBody>
      </p:sp>
      <p:sp>
        <p:nvSpPr>
          <p:cNvPr id="9" name="Text 7"/>
          <p:cNvSpPr/>
          <p:nvPr/>
        </p:nvSpPr>
        <p:spPr>
          <a:xfrm>
            <a:off x="365760" y="2788920"/>
            <a:ext cx="8412480" cy="365760"/>
          </a:xfrm>
          <a:prstGeom prst="rect">
            <a:avLst/>
          </a:prstGeom>
          <a:noFill/>
          <a:ln/>
        </p:spPr>
        <p:txBody>
          <a:bodyPr wrap="square" lIns="0" tIns="0" rIns="0" bIns="0" rtlCol="0" anchor="ctr"/>
          <a:lstStyle/>
          <a:p>
            <a:pPr indent="0" marL="0">
              <a:buNone/>
            </a:pPr>
            <a:r>
              <a:rPr lang="en-US" sz="1600" b="1" dirty="0">
                <a:solidFill>
                  <a:srgbClr val="0E1C42"/>
                </a:solidFill>
                <a:latin typeface="Calibri" pitchFamily="34" charset="0"/>
                <a:ea typeface="Calibri" pitchFamily="34" charset="-122"/>
                <a:cs typeface="Calibri" pitchFamily="34" charset="-120"/>
              </a:rPr>
              <a:t>Rewrite both sentences correctly in your notebook.</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55C8E8"/>
          </a:solidFill>
          <a:ln/>
        </p:spPr>
      </p:sp>
      <p:sp>
        <p:nvSpPr>
          <p:cNvPr id="3" name="Text 1"/>
          <p:cNvSpPr/>
          <p:nvPr/>
        </p:nvSpPr>
        <p:spPr>
          <a:xfrm>
            <a:off x="365760" y="54864"/>
            <a:ext cx="8412480" cy="4572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  Daily Oral Language</a:t>
            </a:r>
            <a:endParaRPr lang="en-US" sz="2200" dirty="0"/>
          </a:p>
        </p:txBody>
      </p:sp>
      <p:sp>
        <p:nvSpPr>
          <p:cNvPr id="4" name="Text 2"/>
          <p:cNvSpPr/>
          <p:nvPr/>
        </p:nvSpPr>
        <p:spPr>
          <a:xfrm>
            <a:off x="365760" y="749808"/>
            <a:ext cx="8229600" cy="237744"/>
          </a:xfrm>
          <a:prstGeom prst="rect">
            <a:avLst/>
          </a:prstGeom>
          <a:noFill/>
          <a:ln/>
        </p:spPr>
        <p:txBody>
          <a:bodyPr wrap="square" lIns="0" tIns="0" rIns="0" bIns="0"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FIX THESE SENTENCES</a:t>
            </a:r>
            <a:endParaRPr lang="en-US" sz="1100" dirty="0"/>
          </a:p>
        </p:txBody>
      </p:sp>
      <p:sp>
        <p:nvSpPr>
          <p:cNvPr id="5" name="Shape 3"/>
          <p:cNvSpPr/>
          <p:nvPr/>
        </p:nvSpPr>
        <p:spPr>
          <a:xfrm>
            <a:off x="365760" y="1024128"/>
            <a:ext cx="8412480" cy="777240"/>
          </a:xfrm>
          <a:prstGeom prst="roundRect">
            <a:avLst>
              <a:gd name="adj" fmla="val 11765"/>
            </a:avLst>
          </a:prstGeom>
          <a:solidFill>
            <a:srgbClr val="FFFFFF"/>
          </a:solidFill>
          <a:ln w="19050">
            <a:solidFill>
              <a:srgbClr val="55C8E8"/>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594360" y="1152144"/>
            <a:ext cx="7955280" cy="521208"/>
          </a:xfrm>
          <a:prstGeom prst="rect">
            <a:avLst/>
          </a:prstGeom>
          <a:noFill/>
          <a:ln/>
        </p:spPr>
        <p:txBody>
          <a:bodyPr wrap="square" lIns="0" tIns="0" rIns="0" bIns="0" rtlCol="0" anchor="ctr"/>
          <a:lstStyle/>
          <a:p>
            <a:pPr indent="0" marL="0">
              <a:buNone/>
            </a:pPr>
            <a:r>
              <a:rPr lang="en-US" sz="1700" dirty="0">
                <a:solidFill>
                  <a:srgbClr val="1E293B"/>
                </a:solidFill>
                <a:latin typeface="Calibri" pitchFamily="34" charset="0"/>
                <a:ea typeface="Calibri" pitchFamily="34" charset="-122"/>
                <a:cs typeface="Calibri" pitchFamily="34" charset="-120"/>
              </a:rPr>
              <a:t>When the letter reaches the right city, it goes to another post office.</a:t>
            </a:r>
            <a:endParaRPr lang="en-US" sz="1700" dirty="0"/>
          </a:p>
        </p:txBody>
      </p:sp>
      <p:sp>
        <p:nvSpPr>
          <p:cNvPr id="7" name="Shape 5"/>
          <p:cNvSpPr/>
          <p:nvPr/>
        </p:nvSpPr>
        <p:spPr>
          <a:xfrm>
            <a:off x="365760" y="1874520"/>
            <a:ext cx="8412480" cy="777240"/>
          </a:xfrm>
          <a:prstGeom prst="roundRect">
            <a:avLst>
              <a:gd name="adj" fmla="val 11765"/>
            </a:avLst>
          </a:prstGeom>
          <a:solidFill>
            <a:srgbClr val="FFFFFF"/>
          </a:solidFill>
          <a:ln w="19050">
            <a:solidFill>
              <a:srgbClr val="55C8E8"/>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94360" y="2002536"/>
            <a:ext cx="7955280" cy="521208"/>
          </a:xfrm>
          <a:prstGeom prst="rect">
            <a:avLst/>
          </a:prstGeom>
          <a:noFill/>
          <a:ln/>
        </p:spPr>
        <p:txBody>
          <a:bodyPr wrap="square" lIns="0" tIns="0" rIns="0" bIns="0" rtlCol="0" anchor="ctr"/>
          <a:lstStyle/>
          <a:p>
            <a:pPr indent="0" marL="0">
              <a:buNone/>
            </a:pPr>
            <a:r>
              <a:rPr lang="en-US" sz="1700" dirty="0">
                <a:solidFill>
                  <a:srgbClr val="1E293B"/>
                </a:solidFill>
                <a:latin typeface="Calibri" pitchFamily="34" charset="0"/>
                <a:ea typeface="Calibri" pitchFamily="34" charset="-122"/>
                <a:cs typeface="Calibri" pitchFamily="34" charset="-120"/>
              </a:rPr>
              <a:t>after the letters are sorted by zip code they are loaded onto trucks trains or airplanes</a:t>
            </a:r>
            <a:endParaRPr lang="en-US" sz="1700" dirty="0"/>
          </a:p>
        </p:txBody>
      </p:sp>
      <p:sp>
        <p:nvSpPr>
          <p:cNvPr id="9" name="Shape 7"/>
          <p:cNvSpPr/>
          <p:nvPr/>
        </p:nvSpPr>
        <p:spPr>
          <a:xfrm>
            <a:off x="365760" y="2743200"/>
            <a:ext cx="8412480" cy="1417320"/>
          </a:xfrm>
          <a:prstGeom prst="roundRect">
            <a:avLst>
              <a:gd name="adj" fmla="val 6452"/>
            </a:avLst>
          </a:prstGeom>
          <a:solidFill>
            <a:srgbClr val="E8F8EF"/>
          </a:solidFill>
          <a:ln/>
          <a:effectLst>
            <a:outerShdw sx="100000" sy="100000" kx="0" ky="0" algn="bl" rotWithShape="0" blurRad="101600" dist="38100" dir="2700000">
              <a:srgbClr val="000000">
                <a:alpha val="12000"/>
              </a:srgbClr>
            </a:outerShdw>
          </a:effectLst>
        </p:spPr>
      </p:sp>
      <p:sp>
        <p:nvSpPr>
          <p:cNvPr id="10" name="Text 8"/>
          <p:cNvSpPr/>
          <p:nvPr/>
        </p:nvSpPr>
        <p:spPr>
          <a:xfrm>
            <a:off x="566928" y="2816352"/>
            <a:ext cx="8229600" cy="237744"/>
          </a:xfrm>
          <a:prstGeom prst="rect">
            <a:avLst/>
          </a:prstGeom>
          <a:noFill/>
          <a:ln/>
        </p:spPr>
        <p:txBody>
          <a:bodyPr wrap="square" lIns="0" tIns="0" rIns="0" bIns="0" rtlCol="0" anchor="ctr"/>
          <a:lstStyle/>
          <a:p>
            <a:pPr indent="0" marL="0">
              <a:buNone/>
            </a:pPr>
            <a:r>
              <a:rPr lang="en-US" sz="1100" b="1" spc="100" kern="0" dirty="0">
                <a:solidFill>
                  <a:srgbClr val="34B76F"/>
                </a:solidFill>
                <a:latin typeface="Calibri" pitchFamily="34" charset="0"/>
                <a:ea typeface="Calibri" pitchFamily="34" charset="-122"/>
                <a:cs typeface="Calibri" pitchFamily="34" charset="-120"/>
              </a:rPr>
              <a:t>✅  CORRECTED</a:t>
            </a:r>
            <a:endParaRPr lang="en-US" sz="1100" dirty="0"/>
          </a:p>
        </p:txBody>
      </p:sp>
      <p:sp>
        <p:nvSpPr>
          <p:cNvPr id="11" name="Text 9"/>
          <p:cNvSpPr/>
          <p:nvPr/>
        </p:nvSpPr>
        <p:spPr>
          <a:xfrm>
            <a:off x="566928" y="3072384"/>
            <a:ext cx="8010144" cy="685800"/>
          </a:xfrm>
          <a:prstGeom prst="rect">
            <a:avLst/>
          </a:prstGeom>
          <a:noFill/>
          <a:ln/>
        </p:spPr>
        <p:txBody>
          <a:bodyPr wrap="square" lIns="0" tIns="0" rIns="0" bIns="0" rtlCol="0" anchor="ctr"/>
          <a:lstStyle/>
          <a:p>
            <a:pPr indent="0" marL="0">
              <a:buNone/>
            </a:pPr>
            <a:r>
              <a:rPr lang="en-US" sz="1400" i="1" dirty="0">
                <a:solidFill>
                  <a:srgbClr val="1E293B"/>
                </a:solidFill>
                <a:latin typeface="Calibri" pitchFamily="34" charset="0"/>
                <a:ea typeface="Calibri" pitchFamily="34" charset="-122"/>
                <a:cs typeface="Calibri" pitchFamily="34" charset="-120"/>
              </a:rPr>
              <a:t>Corrected:</a:t>
            </a:r>
            <a:endParaRPr lang="en-US" sz="1400" dirty="0"/>
          </a:p>
          <a:p>
            <a:pPr indent="0" marL="0">
              <a:buNone/>
            </a:pPr>
            <a:endParaRPr lang="en-US" sz="1400" dirty="0"/>
          </a:p>
        </p:txBody>
      </p:sp>
      <p:sp>
        <p:nvSpPr>
          <p:cNvPr id="12" name="Text 10"/>
          <p:cNvSpPr/>
          <p:nvPr/>
        </p:nvSpPr>
        <p:spPr>
          <a:xfrm>
            <a:off x="566928" y="3767328"/>
            <a:ext cx="8010144" cy="320040"/>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After the letters are sorted by ZIP code , they are loaded onto trucks , trains , or airplanes .</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5CB85C"/>
          </a:solidFill>
          <a:ln/>
        </p:spPr>
      </p:sp>
      <p:sp>
        <p:nvSpPr>
          <p:cNvPr id="3" name="Text 1"/>
          <p:cNvSpPr/>
          <p:nvPr/>
        </p:nvSpPr>
        <p:spPr>
          <a:xfrm>
            <a:off x="365760" y="54864"/>
            <a:ext cx="8412480" cy="4572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  Morphology</a:t>
            </a:r>
            <a:endParaRPr lang="en-US" sz="2200" dirty="0"/>
          </a:p>
        </p:txBody>
      </p:sp>
      <p:sp>
        <p:nvSpPr>
          <p:cNvPr id="4" name="Text 2"/>
          <p:cNvSpPr/>
          <p:nvPr/>
        </p:nvSpPr>
        <p:spPr>
          <a:xfrm>
            <a:off x="365760" y="804672"/>
            <a:ext cx="8229600" cy="237744"/>
          </a:xfrm>
          <a:prstGeom prst="rect">
            <a:avLst/>
          </a:prstGeom>
          <a:noFill/>
          <a:ln/>
        </p:spPr>
        <p:txBody>
          <a:bodyPr wrap="square" lIns="0" tIns="0" rIns="0" bIns="0" rtlCol="0" anchor="ctr"/>
          <a:lstStyle/>
          <a:p>
            <a:pPr indent="0" marL="0">
              <a:buNone/>
            </a:pPr>
            <a:r>
              <a:rPr lang="en-US" sz="1100" b="1" spc="100" kern="0" dirty="0">
                <a:solidFill>
                  <a:srgbClr val="8B6FC0"/>
                </a:solidFill>
                <a:latin typeface="Calibri" pitchFamily="34" charset="0"/>
                <a:ea typeface="Calibri" pitchFamily="34" charset="-122"/>
                <a:cs typeface="Calibri" pitchFamily="34" charset="-120"/>
              </a:rPr>
              <a:t>PREFIX MIS- MEANS WRONG</a:t>
            </a:r>
            <a:endParaRPr lang="en-US" sz="1100" dirty="0"/>
          </a:p>
        </p:txBody>
      </p:sp>
      <p:sp>
        <p:nvSpPr>
          <p:cNvPr id="5" name="Shape 3"/>
          <p:cNvSpPr/>
          <p:nvPr/>
        </p:nvSpPr>
        <p:spPr>
          <a:xfrm>
            <a:off x="365760" y="1097280"/>
            <a:ext cx="8412480" cy="621792"/>
          </a:xfrm>
          <a:prstGeom prst="roundRect">
            <a:avLst>
              <a:gd name="adj" fmla="val 14706"/>
            </a:avLst>
          </a:prstGeom>
          <a:solidFill>
            <a:srgbClr val="F0E8FF"/>
          </a:solidFill>
          <a:ln/>
          <a:effectLst>
            <a:outerShdw sx="100000" sy="100000" kx="0" ky="0" algn="bl" rotWithShape="0" blurRad="101600" dist="38100" dir="2700000">
              <a:srgbClr val="000000">
                <a:alpha val="12000"/>
              </a:srgbClr>
            </a:outerShdw>
          </a:effectLst>
        </p:spPr>
      </p:sp>
      <p:sp>
        <p:nvSpPr>
          <p:cNvPr id="6" name="Text 4"/>
          <p:cNvSpPr/>
          <p:nvPr/>
        </p:nvSpPr>
        <p:spPr>
          <a:xfrm>
            <a:off x="594360" y="1216152"/>
            <a:ext cx="7863840" cy="384048"/>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  mis- + read = misread — to read wrong</a:t>
            </a:r>
            <a:endParaRPr lang="en-US" sz="1500" dirty="0"/>
          </a:p>
        </p:txBody>
      </p:sp>
      <p:sp>
        <p:nvSpPr>
          <p:cNvPr id="7" name="Shape 5"/>
          <p:cNvSpPr/>
          <p:nvPr/>
        </p:nvSpPr>
        <p:spPr>
          <a:xfrm>
            <a:off x="365760" y="1792224"/>
            <a:ext cx="8412480" cy="621792"/>
          </a:xfrm>
          <a:prstGeom prst="roundRect">
            <a:avLst>
              <a:gd name="adj" fmla="val 14706"/>
            </a:avLst>
          </a:prstGeom>
          <a:solidFill>
            <a:srgbClr val="F8F4FF"/>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911096"/>
            <a:ext cx="7863840" cy="384048"/>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  mis- + lead = mislead — to lead someone in the wrong direction</a:t>
            </a:r>
            <a:endParaRPr lang="en-US" sz="1500" dirty="0"/>
          </a:p>
        </p:txBody>
      </p:sp>
      <p:sp>
        <p:nvSpPr>
          <p:cNvPr id="9" name="Shape 7"/>
          <p:cNvSpPr/>
          <p:nvPr/>
        </p:nvSpPr>
        <p:spPr>
          <a:xfrm>
            <a:off x="365760" y="2487168"/>
            <a:ext cx="8412480" cy="621792"/>
          </a:xfrm>
          <a:prstGeom prst="roundRect">
            <a:avLst>
              <a:gd name="adj" fmla="val 14706"/>
            </a:avLst>
          </a:prstGeom>
          <a:solidFill>
            <a:srgbClr val="F0E8FF"/>
          </a:solidFill>
          <a:ln/>
          <a:effectLst>
            <a:outerShdw sx="100000" sy="100000" kx="0" ky="0" algn="bl" rotWithShape="0" blurRad="101600" dist="38100" dir="2700000">
              <a:srgbClr val="000000">
                <a:alpha val="12000"/>
              </a:srgbClr>
            </a:outerShdw>
          </a:effectLst>
        </p:spPr>
      </p:sp>
      <p:sp>
        <p:nvSpPr>
          <p:cNvPr id="10" name="Text 8"/>
          <p:cNvSpPr/>
          <p:nvPr/>
        </p:nvSpPr>
        <p:spPr>
          <a:xfrm>
            <a:off x="594360" y="2606040"/>
            <a:ext cx="7863840" cy="384048"/>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  Practice: Match the word to its base!</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55C8E8"/>
          </a:solidFill>
          <a:ln/>
        </p:spPr>
      </p:sp>
      <p:sp>
        <p:nvSpPr>
          <p:cNvPr id="3" name="Text 1"/>
          <p:cNvSpPr/>
          <p:nvPr/>
        </p:nvSpPr>
        <p:spPr>
          <a:xfrm>
            <a:off x="365760" y="54864"/>
            <a:ext cx="8412480" cy="4572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  Vocabulary</a:t>
            </a:r>
            <a:endParaRPr lang="en-US" sz="2200" dirty="0"/>
          </a:p>
        </p:txBody>
      </p:sp>
      <p:sp>
        <p:nvSpPr>
          <p:cNvPr id="4" name="Text 2"/>
          <p:cNvSpPr/>
          <p:nvPr/>
        </p:nvSpPr>
        <p:spPr>
          <a:xfrm>
            <a:off x="365760" y="804672"/>
            <a:ext cx="8229600" cy="237744"/>
          </a:xfrm>
          <a:prstGeom prst="rect">
            <a:avLst/>
          </a:prstGeom>
          <a:noFill/>
          <a:ln/>
        </p:spPr>
        <p:txBody>
          <a:bodyPr wrap="square" lIns="0" tIns="0" rIns="0" bIns="0"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THIS WEEK’S WORDS</a:t>
            </a:r>
            <a:endParaRPr lang="en-US" sz="1100" dirty="0"/>
          </a:p>
        </p:txBody>
      </p:sp>
      <p:sp>
        <p:nvSpPr>
          <p:cNvPr id="5" name="Shape 3"/>
          <p:cNvSpPr/>
          <p:nvPr/>
        </p:nvSpPr>
        <p:spPr>
          <a:xfrm>
            <a:off x="365760" y="1097280"/>
            <a:ext cx="8412480" cy="658368"/>
          </a:xfrm>
          <a:prstGeom prst="roundRect">
            <a:avLst>
              <a:gd name="adj" fmla="val 13889"/>
            </a:avLst>
          </a:prstGeom>
          <a:solidFill>
            <a:srgbClr val="E5F7FC"/>
          </a:solidFill>
          <a:ln/>
          <a:effectLst>
            <a:outerShdw sx="100000" sy="100000" kx="0" ky="0" algn="bl" rotWithShape="0" blurRad="101600" dist="38100" dir="2700000">
              <a:srgbClr val="000000">
                <a:alpha val="12000"/>
              </a:srgbClr>
            </a:outerShdw>
          </a:effectLst>
        </p:spPr>
      </p:sp>
      <p:sp>
        <p:nvSpPr>
          <p:cNvPr id="6" name="Text 4"/>
          <p:cNvSpPr/>
          <p:nvPr/>
        </p:nvSpPr>
        <p:spPr>
          <a:xfrm>
            <a:off x="594360" y="1225296"/>
            <a:ext cx="7863840" cy="420624"/>
          </a:xfrm>
          <a:prstGeom prst="rect">
            <a:avLst/>
          </a:prstGeom>
          <a:noFill/>
          <a:ln/>
        </p:spPr>
        <p:txBody>
          <a:bodyPr wrap="square" lIns="0" tIns="0" rIns="0" bIns="0" rtlCol="0" anchor="ctr"/>
          <a:lstStyle/>
          <a:p>
            <a:pPr indent="0" marL="0">
              <a:buNone/>
            </a:pPr>
            <a:r>
              <a:rPr lang="en-US" sz="1700" b="1" dirty="0">
                <a:solidFill>
                  <a:srgbClr val="0E1C42"/>
                </a:solidFill>
                <a:latin typeface="Calibri" pitchFamily="34" charset="0"/>
                <a:ea typeface="Calibri" pitchFamily="34" charset="-122"/>
                <a:cs typeface="Calibri" pitchFamily="34" charset="-120"/>
              </a:rPr>
              <a:t>map  </a:t>
            </a:r>
            <a:pPr indent="0" marL="0">
              <a:buNone/>
            </a:pPr>
            <a:r>
              <a:rPr lang="en-US" sz="1400" dirty="0">
                <a:solidFill>
                  <a:srgbClr val="1E293B"/>
                </a:solidFill>
                <a:latin typeface="Calibri" pitchFamily="34" charset="0"/>
                <a:ea typeface="Calibri" pitchFamily="34" charset="-122"/>
                <a:cs typeface="Calibri" pitchFamily="34" charset="-120"/>
              </a:rPr>
              <a:t>A drawing that shows what a place looks like from above.</a:t>
            </a:r>
            <a:endParaRPr lang="en-US" sz="1700" dirty="0"/>
          </a:p>
        </p:txBody>
      </p:sp>
      <p:sp>
        <p:nvSpPr>
          <p:cNvPr id="7" name="Shape 5"/>
          <p:cNvSpPr/>
          <p:nvPr/>
        </p:nvSpPr>
        <p:spPr>
          <a:xfrm>
            <a:off x="365760" y="1828800"/>
            <a:ext cx="8412480" cy="658368"/>
          </a:xfrm>
          <a:prstGeom prst="roundRect">
            <a:avLst>
              <a:gd name="adj" fmla="val 13889"/>
            </a:avLst>
          </a:prstGeom>
          <a:solidFill>
            <a:srgbClr val="FFFFFF"/>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956816"/>
            <a:ext cx="7863840" cy="420624"/>
          </a:xfrm>
          <a:prstGeom prst="rect">
            <a:avLst/>
          </a:prstGeom>
          <a:noFill/>
          <a:ln/>
        </p:spPr>
        <p:txBody>
          <a:bodyPr wrap="square" lIns="0" tIns="0" rIns="0" bIns="0" rtlCol="0" anchor="ctr"/>
          <a:lstStyle/>
          <a:p>
            <a:pPr indent="0" marL="0">
              <a:buNone/>
            </a:pPr>
            <a:r>
              <a:rPr lang="en-US" sz="1700" b="1" dirty="0">
                <a:solidFill>
                  <a:srgbClr val="0E1C42"/>
                </a:solidFill>
                <a:latin typeface="Calibri" pitchFamily="34" charset="0"/>
                <a:ea typeface="Calibri" pitchFamily="34" charset="-122"/>
                <a:cs typeface="Calibri" pitchFamily="34" charset="-120"/>
              </a:rPr>
              <a:t>compass rose  </a:t>
            </a:r>
            <a:pPr indent="0" marL="0">
              <a:buNone/>
            </a:pPr>
            <a:r>
              <a:rPr lang="en-US" sz="1400" dirty="0">
                <a:solidFill>
                  <a:srgbClr val="1E293B"/>
                </a:solidFill>
                <a:latin typeface="Calibri" pitchFamily="34" charset="0"/>
                <a:ea typeface="Calibri" pitchFamily="34" charset="-122"/>
                <a:cs typeface="Calibri" pitchFamily="34" charset="-120"/>
              </a:rPr>
              <a:t>A symbol showing directions on a map.</a:t>
            </a:r>
            <a:endParaRPr lang="en-US" sz="1700" dirty="0"/>
          </a:p>
        </p:txBody>
      </p:sp>
      <p:sp>
        <p:nvSpPr>
          <p:cNvPr id="9" name="Shape 7"/>
          <p:cNvSpPr/>
          <p:nvPr/>
        </p:nvSpPr>
        <p:spPr>
          <a:xfrm>
            <a:off x="365760" y="2560320"/>
            <a:ext cx="8412480" cy="658368"/>
          </a:xfrm>
          <a:prstGeom prst="roundRect">
            <a:avLst>
              <a:gd name="adj" fmla="val 13889"/>
            </a:avLst>
          </a:prstGeom>
          <a:solidFill>
            <a:srgbClr val="E5F7FC"/>
          </a:solidFill>
          <a:ln/>
          <a:effectLst>
            <a:outerShdw sx="100000" sy="100000" kx="0" ky="0" algn="bl" rotWithShape="0" blurRad="101600" dist="38100" dir="2700000">
              <a:srgbClr val="000000">
                <a:alpha val="12000"/>
              </a:srgbClr>
            </a:outerShdw>
          </a:effectLst>
        </p:spPr>
      </p:sp>
      <p:sp>
        <p:nvSpPr>
          <p:cNvPr id="10" name="Text 8"/>
          <p:cNvSpPr/>
          <p:nvPr/>
        </p:nvSpPr>
        <p:spPr>
          <a:xfrm>
            <a:off x="594360" y="2688336"/>
            <a:ext cx="7863840" cy="420624"/>
          </a:xfrm>
          <a:prstGeom prst="rect">
            <a:avLst/>
          </a:prstGeom>
          <a:noFill/>
          <a:ln/>
        </p:spPr>
        <p:txBody>
          <a:bodyPr wrap="square" lIns="0" tIns="0" rIns="0" bIns="0" rtlCol="0" anchor="ctr"/>
          <a:lstStyle/>
          <a:p>
            <a:pPr indent="0" marL="0">
              <a:buNone/>
            </a:pPr>
            <a:r>
              <a:rPr lang="en-US" sz="1700" b="1" dirty="0">
                <a:solidFill>
                  <a:srgbClr val="0E1C42"/>
                </a:solidFill>
                <a:latin typeface="Calibri" pitchFamily="34" charset="0"/>
                <a:ea typeface="Calibri" pitchFamily="34" charset="-122"/>
                <a:cs typeface="Calibri" pitchFamily="34" charset="-120"/>
              </a:rPr>
              <a:t>scale  </a:t>
            </a:r>
            <a:pPr indent="0" marL="0">
              <a:buNone/>
            </a:pPr>
            <a:r>
              <a:rPr lang="en-US" sz="1400" dirty="0">
                <a:solidFill>
                  <a:srgbClr val="1E293B"/>
                </a:solidFill>
                <a:latin typeface="Calibri" pitchFamily="34" charset="0"/>
                <a:ea typeface="Calibri" pitchFamily="34" charset="-122"/>
                <a:cs typeface="Calibri" pitchFamily="34" charset="-120"/>
              </a:rPr>
              <a:t>A line that helps measure real distances on a map.</a:t>
            </a:r>
            <a:endParaRPr lang="en-US" sz="1700" dirty="0"/>
          </a:p>
        </p:txBody>
      </p:sp>
      <p:sp>
        <p:nvSpPr>
          <p:cNvPr id="11" name="Shape 9"/>
          <p:cNvSpPr/>
          <p:nvPr/>
        </p:nvSpPr>
        <p:spPr>
          <a:xfrm>
            <a:off x="365760" y="3291840"/>
            <a:ext cx="8412480" cy="658368"/>
          </a:xfrm>
          <a:prstGeom prst="roundRect">
            <a:avLst>
              <a:gd name="adj" fmla="val 13889"/>
            </a:avLst>
          </a:prstGeom>
          <a:solidFill>
            <a:srgbClr val="FFFFFF"/>
          </a:solidFill>
          <a:ln/>
          <a:effectLst>
            <a:outerShdw sx="100000" sy="100000" kx="0" ky="0" algn="bl" rotWithShape="0" blurRad="101600" dist="38100" dir="2700000">
              <a:srgbClr val="000000">
                <a:alpha val="12000"/>
              </a:srgbClr>
            </a:outerShdw>
          </a:effectLst>
        </p:spPr>
      </p:sp>
      <p:sp>
        <p:nvSpPr>
          <p:cNvPr id="12" name="Text 10"/>
          <p:cNvSpPr/>
          <p:nvPr/>
        </p:nvSpPr>
        <p:spPr>
          <a:xfrm>
            <a:off x="594360" y="3419856"/>
            <a:ext cx="7863840" cy="420624"/>
          </a:xfrm>
          <a:prstGeom prst="rect">
            <a:avLst/>
          </a:prstGeom>
          <a:noFill/>
          <a:ln/>
        </p:spPr>
        <p:txBody>
          <a:bodyPr wrap="square" lIns="0" tIns="0" rIns="0" bIns="0" rtlCol="0" anchor="ctr"/>
          <a:lstStyle/>
          <a:p>
            <a:pPr indent="0" marL="0">
              <a:buNone/>
            </a:pPr>
            <a:r>
              <a:rPr lang="en-US" sz="1700" b="1" dirty="0">
                <a:solidFill>
                  <a:srgbClr val="0E1C42"/>
                </a:solidFill>
                <a:latin typeface="Calibri" pitchFamily="34" charset="0"/>
                <a:ea typeface="Calibri" pitchFamily="34" charset="-122"/>
                <a:cs typeface="Calibri" pitchFamily="34" charset="-120"/>
              </a:rPr>
              <a:t>key  </a:t>
            </a:r>
            <a:pPr indent="0" marL="0">
              <a:buNone/>
            </a:pPr>
            <a:r>
              <a:rPr lang="en-US" sz="1400" dirty="0">
                <a:solidFill>
                  <a:srgbClr val="1E293B"/>
                </a:solidFill>
                <a:latin typeface="Calibri" pitchFamily="34" charset="0"/>
                <a:ea typeface="Calibri" pitchFamily="34" charset="-122"/>
                <a:cs typeface="Calibri" pitchFamily="34" charset="-120"/>
              </a:rPr>
              <a:t>A box that explains symbols on a map.</a:t>
            </a:r>
            <a:endParaRPr lang="en-US" sz="17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C7922C"/>
          </a:solidFill>
          <a:ln/>
        </p:spPr>
      </p:sp>
      <p:sp>
        <p:nvSpPr>
          <p:cNvPr id="3" name="Text 1"/>
          <p:cNvSpPr/>
          <p:nvPr/>
        </p:nvSpPr>
        <p:spPr>
          <a:xfrm>
            <a:off x="365760" y="54864"/>
            <a:ext cx="8412480" cy="4572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  Grammar</a:t>
            </a:r>
            <a:endParaRPr lang="en-US" sz="2200" dirty="0"/>
          </a:p>
        </p:txBody>
      </p:sp>
      <p:sp>
        <p:nvSpPr>
          <p:cNvPr id="4" name="Text 2"/>
          <p:cNvSpPr/>
          <p:nvPr/>
        </p:nvSpPr>
        <p:spPr>
          <a:xfrm>
            <a:off x="365760" y="777240"/>
            <a:ext cx="8229600" cy="237744"/>
          </a:xfrm>
          <a:prstGeom prst="rect">
            <a:avLst/>
          </a:prstGeom>
          <a:noFill/>
          <a:ln/>
        </p:spPr>
        <p:txBody>
          <a:bodyPr wrap="square" lIns="0" tIns="0" rIns="0" bIns="0" rtlCol="0" anchor="ctr"/>
          <a:lstStyle/>
          <a:p>
            <a:pPr indent="0" marL="0">
              <a:buNone/>
            </a:pPr>
            <a:r>
              <a:rPr lang="en-US" sz="1100" b="1" spc="100" kern="0" dirty="0">
                <a:solidFill>
                  <a:srgbClr val="C7922C"/>
                </a:solidFill>
                <a:latin typeface="Calibri" pitchFamily="34" charset="0"/>
                <a:ea typeface="Calibri" pitchFamily="34" charset="-122"/>
                <a:cs typeface="Calibri" pitchFamily="34" charset="-120"/>
              </a:rPr>
              <a:t>COMMON AND PROPER NOUNS REVIEW</a:t>
            </a:r>
            <a:endParaRPr lang="en-US" sz="1100" dirty="0"/>
          </a:p>
        </p:txBody>
      </p:sp>
      <p:sp>
        <p:nvSpPr>
          <p:cNvPr id="5" name="Shape 3"/>
          <p:cNvSpPr/>
          <p:nvPr/>
        </p:nvSpPr>
        <p:spPr>
          <a:xfrm>
            <a:off x="365760" y="1078992"/>
            <a:ext cx="8412480" cy="658368"/>
          </a:xfrm>
          <a:prstGeom prst="roundRect">
            <a:avLst>
              <a:gd name="adj" fmla="val 13889"/>
            </a:avLst>
          </a:prstGeom>
          <a:solidFill>
            <a:srgbClr val="FEF6E8"/>
          </a:solidFill>
          <a:ln/>
          <a:effectLst>
            <a:outerShdw sx="100000" sy="100000" kx="0" ky="0" algn="bl" rotWithShape="0" blurRad="101600" dist="38100" dir="2700000">
              <a:srgbClr val="000000">
                <a:alpha val="12000"/>
              </a:srgbClr>
            </a:outerShdw>
          </a:effectLst>
        </p:spPr>
      </p:sp>
      <p:sp>
        <p:nvSpPr>
          <p:cNvPr id="6" name="Text 4"/>
          <p:cNvSpPr/>
          <p:nvPr/>
        </p:nvSpPr>
        <p:spPr>
          <a:xfrm>
            <a:off x="594360" y="1225296"/>
            <a:ext cx="7863840" cy="402336"/>
          </a:xfrm>
          <a:prstGeom prst="rect">
            <a:avLst/>
          </a:prstGeom>
          <a:noFill/>
          <a:ln/>
        </p:spPr>
        <p:txBody>
          <a:bodyPr wrap="square" lIns="0" tIns="0" rIns="0" bIns="0" rtlCol="0" anchor="ctr"/>
          <a:lstStyle/>
          <a:p>
            <a:pPr indent="0" marL="0">
              <a:buNone/>
            </a:pPr>
            <a:r>
              <a:rPr lang="en-US" sz="1600" dirty="0">
                <a:solidFill>
                  <a:srgbClr val="1E293B"/>
                </a:solidFill>
                <a:latin typeface="Calibri" pitchFamily="34" charset="0"/>
                <a:ea typeface="Calibri" pitchFamily="34" charset="-122"/>
                <a:cs typeface="Calibri" pitchFamily="34" charset="-120"/>
              </a:rPr>
              <a:t>Stanley folded the letter and mailed it.</a:t>
            </a:r>
            <a:endParaRPr lang="en-US" sz="1600" dirty="0"/>
          </a:p>
        </p:txBody>
      </p:sp>
      <p:sp>
        <p:nvSpPr>
          <p:cNvPr id="7" name="Shape 5"/>
          <p:cNvSpPr/>
          <p:nvPr/>
        </p:nvSpPr>
        <p:spPr>
          <a:xfrm>
            <a:off x="365760" y="1810512"/>
            <a:ext cx="8412480" cy="658368"/>
          </a:xfrm>
          <a:prstGeom prst="roundRect">
            <a:avLst>
              <a:gd name="adj" fmla="val 13889"/>
            </a:avLst>
          </a:prstGeom>
          <a:solidFill>
            <a:srgbClr val="FFFFFF"/>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956816"/>
            <a:ext cx="7863840" cy="402336"/>
          </a:xfrm>
          <a:prstGeom prst="rect">
            <a:avLst/>
          </a:prstGeom>
          <a:noFill/>
          <a:ln/>
        </p:spPr>
        <p:txBody>
          <a:bodyPr wrap="square" lIns="0" tIns="0" rIns="0" bIns="0" rtlCol="0" anchor="ctr"/>
          <a:lstStyle/>
          <a:p>
            <a:pPr indent="0" marL="0">
              <a:buNone/>
            </a:pPr>
            <a:r>
              <a:rPr lang="en-US" sz="1600" dirty="0">
                <a:solidFill>
                  <a:srgbClr val="1E293B"/>
                </a:solidFill>
                <a:latin typeface="Calibri" pitchFamily="34" charset="0"/>
                <a:ea typeface="Calibri" pitchFamily="34" charset="-122"/>
                <a:cs typeface="Calibri" pitchFamily="34" charset="-120"/>
              </a:rPr>
              <a:t>The postcard came from California last week.</a:t>
            </a:r>
            <a:endParaRPr lang="en-US" sz="1600" dirty="0"/>
          </a:p>
        </p:txBody>
      </p:sp>
      <p:sp>
        <p:nvSpPr>
          <p:cNvPr id="9" name="Shape 7"/>
          <p:cNvSpPr/>
          <p:nvPr/>
        </p:nvSpPr>
        <p:spPr>
          <a:xfrm>
            <a:off x="365760" y="2542032"/>
            <a:ext cx="8412480" cy="658368"/>
          </a:xfrm>
          <a:prstGeom prst="roundRect">
            <a:avLst>
              <a:gd name="adj" fmla="val 13889"/>
            </a:avLst>
          </a:prstGeom>
          <a:solidFill>
            <a:srgbClr val="FEF6E8"/>
          </a:solidFill>
          <a:ln/>
          <a:effectLst>
            <a:outerShdw sx="100000" sy="100000" kx="0" ky="0" algn="bl" rotWithShape="0" blurRad="101600" dist="38100" dir="2700000">
              <a:srgbClr val="000000">
                <a:alpha val="12000"/>
              </a:srgbClr>
            </a:outerShdw>
          </a:effectLst>
        </p:spPr>
      </p:sp>
      <p:sp>
        <p:nvSpPr>
          <p:cNvPr id="10" name="Text 8"/>
          <p:cNvSpPr/>
          <p:nvPr/>
        </p:nvSpPr>
        <p:spPr>
          <a:xfrm>
            <a:off x="594360" y="2688336"/>
            <a:ext cx="7863840" cy="402336"/>
          </a:xfrm>
          <a:prstGeom prst="rect">
            <a:avLst/>
          </a:prstGeom>
          <a:noFill/>
          <a:ln/>
        </p:spPr>
        <p:txBody>
          <a:bodyPr wrap="square" lIns="0" tIns="0" rIns="0" bIns="0" rtlCol="0" anchor="ctr"/>
          <a:lstStyle/>
          <a:p>
            <a:pPr indent="0" marL="0">
              <a:buNone/>
            </a:pPr>
            <a:r>
              <a:rPr lang="en-US" sz="1600" dirty="0">
                <a:solidFill>
                  <a:srgbClr val="1E293B"/>
                </a:solidFill>
                <a:latin typeface="Calibri" pitchFamily="34" charset="0"/>
                <a:ea typeface="Calibri" pitchFamily="34" charset="-122"/>
                <a:cs typeface="Calibri" pitchFamily="34" charset="-120"/>
              </a:rPr>
              <a:t>A mail carrier brings letters to every house.</a:t>
            </a:r>
            <a:endParaRPr lang="en-US" sz="1600" dirty="0"/>
          </a:p>
        </p:txBody>
      </p:sp>
      <p:sp>
        <p:nvSpPr>
          <p:cNvPr id="11" name="Shape 9"/>
          <p:cNvSpPr/>
          <p:nvPr/>
        </p:nvSpPr>
        <p:spPr>
          <a:xfrm>
            <a:off x="365760" y="3273552"/>
            <a:ext cx="8412480" cy="658368"/>
          </a:xfrm>
          <a:prstGeom prst="roundRect">
            <a:avLst>
              <a:gd name="adj" fmla="val 13889"/>
            </a:avLst>
          </a:prstGeom>
          <a:solidFill>
            <a:srgbClr val="FFFFFF"/>
          </a:solidFill>
          <a:ln/>
          <a:effectLst>
            <a:outerShdw sx="100000" sy="100000" kx="0" ky="0" algn="bl" rotWithShape="0" blurRad="101600" dist="38100" dir="2700000">
              <a:srgbClr val="000000">
                <a:alpha val="12000"/>
              </a:srgbClr>
            </a:outerShdw>
          </a:effectLst>
        </p:spPr>
      </p:sp>
      <p:sp>
        <p:nvSpPr>
          <p:cNvPr id="12" name="Text 10"/>
          <p:cNvSpPr/>
          <p:nvPr/>
        </p:nvSpPr>
        <p:spPr>
          <a:xfrm>
            <a:off x="594360" y="3419856"/>
            <a:ext cx="7863840" cy="402336"/>
          </a:xfrm>
          <a:prstGeom prst="rect">
            <a:avLst/>
          </a:prstGeom>
          <a:noFill/>
          <a:ln/>
        </p:spPr>
        <p:txBody>
          <a:bodyPr wrap="square" lIns="0" tIns="0" rIns="0" bIns="0" rtlCol="0" anchor="ctr"/>
          <a:lstStyle/>
          <a:p>
            <a:pPr indent="0" marL="0">
              <a:buNone/>
            </a:pPr>
            <a:r>
              <a:rPr lang="en-US" sz="1600" dirty="0">
                <a:solidFill>
                  <a:srgbClr val="1E293B"/>
                </a:solidFill>
                <a:latin typeface="Calibri" pitchFamily="34" charset="0"/>
                <a:ea typeface="Calibri" pitchFamily="34" charset="-122"/>
                <a:cs typeface="Calibri" pitchFamily="34" charset="-120"/>
              </a:rPr>
              <a:t>The Mississippi River runs south through many states.</a:t>
            </a:r>
            <a:endParaRPr lang="en-US" sz="1600" dirty="0"/>
          </a:p>
        </p:txBody>
      </p:sp>
      <p:sp>
        <p:nvSpPr>
          <p:cNvPr id="13" name="Text 11"/>
          <p:cNvSpPr/>
          <p:nvPr/>
        </p:nvSpPr>
        <p:spPr>
          <a:xfrm>
            <a:off x="365760" y="4050792"/>
            <a:ext cx="8412480" cy="365760"/>
          </a:xfrm>
          <a:prstGeom prst="rect">
            <a:avLst/>
          </a:prstGeom>
          <a:noFill/>
          <a:ln/>
        </p:spPr>
        <p:txBody>
          <a:bodyPr wrap="square" lIns="0" tIns="0" rIns="0" bIns="0" rtlCol="0" anchor="ctr"/>
          <a:lstStyle/>
          <a:p>
            <a:pPr indent="0" marL="0">
              <a:buNone/>
            </a:pPr>
            <a:r>
              <a:rPr lang="en-US" sz="1500" i="1" dirty="0">
                <a:solidFill>
                  <a:srgbClr val="64748B"/>
                </a:solidFill>
                <a:latin typeface="Calibri" pitchFamily="34" charset="0"/>
                <a:ea typeface="Calibri" pitchFamily="34" charset="-122"/>
                <a:cs typeface="Calibri" pitchFamily="34" charset="-120"/>
              </a:rPr>
              <a:t>Your turn. Tap the proper noun in each sentence — the one that names a specific place and starts with a capital letter. Tap a word to check — green means you got it.</a:t>
            </a:r>
            <a:endParaRPr lang="en-US" sz="1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C7922C"/>
          </a:solidFill>
          <a:ln/>
        </p:spPr>
      </p:sp>
      <p:sp>
        <p:nvSpPr>
          <p:cNvPr id="3" name="Text 1"/>
          <p:cNvSpPr/>
          <p:nvPr/>
        </p:nvSpPr>
        <p:spPr>
          <a:xfrm>
            <a:off x="365760" y="54864"/>
            <a:ext cx="8412480" cy="4572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  Grammar</a:t>
            </a:r>
            <a:endParaRPr lang="en-US" sz="2200" dirty="0"/>
          </a:p>
        </p:txBody>
      </p:sp>
      <p:sp>
        <p:nvSpPr>
          <p:cNvPr id="4" name="Text 2"/>
          <p:cNvSpPr/>
          <p:nvPr/>
        </p:nvSpPr>
        <p:spPr>
          <a:xfrm>
            <a:off x="365760" y="777240"/>
            <a:ext cx="8229600" cy="237744"/>
          </a:xfrm>
          <a:prstGeom prst="rect">
            <a:avLst/>
          </a:prstGeom>
          <a:noFill/>
          <a:ln/>
        </p:spPr>
        <p:txBody>
          <a:bodyPr wrap="square" lIns="0" tIns="0" rIns="0" bIns="0" rtlCol="0" anchor="ctr"/>
          <a:lstStyle/>
          <a:p>
            <a:pPr indent="0" marL="0">
              <a:buNone/>
            </a:pPr>
            <a:r>
              <a:rPr lang="en-US" sz="1100" b="1" spc="100" kern="0" dirty="0">
                <a:solidFill>
                  <a:srgbClr val="C7922C"/>
                </a:solidFill>
                <a:latin typeface="Calibri" pitchFamily="34" charset="0"/>
                <a:ea typeface="Calibri" pitchFamily="34" charset="-122"/>
                <a:cs typeface="Calibri" pitchFamily="34" charset="-120"/>
              </a:rPr>
              <a:t>COMMON AND PROPER NOUNS REVIEW</a:t>
            </a:r>
            <a:endParaRPr lang="en-US" sz="1100" dirty="0"/>
          </a:p>
        </p:txBody>
      </p:sp>
      <p:sp>
        <p:nvSpPr>
          <p:cNvPr id="5" name="Shape 3"/>
          <p:cNvSpPr/>
          <p:nvPr/>
        </p:nvSpPr>
        <p:spPr>
          <a:xfrm>
            <a:off x="365760" y="1078992"/>
            <a:ext cx="8412480" cy="658368"/>
          </a:xfrm>
          <a:prstGeom prst="roundRect">
            <a:avLst>
              <a:gd name="adj" fmla="val 13889"/>
            </a:avLst>
          </a:prstGeom>
          <a:solidFill>
            <a:srgbClr val="FEF6E8"/>
          </a:solidFill>
          <a:ln/>
          <a:effectLst>
            <a:outerShdw sx="100000" sy="100000" kx="0" ky="0" algn="bl" rotWithShape="0" blurRad="101600" dist="38100" dir="2700000">
              <a:srgbClr val="000000">
                <a:alpha val="12000"/>
              </a:srgbClr>
            </a:outerShdw>
          </a:effectLst>
        </p:spPr>
      </p:sp>
      <p:sp>
        <p:nvSpPr>
          <p:cNvPr id="6" name="Text 4"/>
          <p:cNvSpPr/>
          <p:nvPr/>
        </p:nvSpPr>
        <p:spPr>
          <a:xfrm>
            <a:off x="594360" y="1225296"/>
            <a:ext cx="7863840" cy="402336"/>
          </a:xfrm>
          <a:prstGeom prst="rect">
            <a:avLst/>
          </a:prstGeom>
          <a:noFill/>
          <a:ln/>
        </p:spPr>
        <p:txBody>
          <a:bodyPr wrap="square" lIns="0" tIns="0" rIns="0" bIns="0" rtlCol="0" anchor="ctr"/>
          <a:lstStyle/>
          <a:p>
            <a:pPr indent="0" marL="0">
              <a:buNone/>
            </a:pPr>
            <a:r>
              <a:rPr lang="en-US" sz="1600" b="1" dirty="0">
                <a:solidFill>
                  <a:srgbClr val="34B76F"/>
                </a:solidFill>
                <a:latin typeface="Calibri" pitchFamily="34" charset="0"/>
                <a:ea typeface="Calibri" pitchFamily="34" charset="-122"/>
                <a:cs typeface="Calibri" pitchFamily="34" charset="-120"/>
              </a:rPr>
              <a:t>Stanley</a:t>
            </a:r>
            <a:pPr indent="0" marL="0">
              <a:buNone/>
            </a:pPr>
            <a:r>
              <a:rPr lang="en-US" sz="1600" dirty="0">
                <a:solidFill>
                  <a:srgbClr val="1E293B"/>
                </a:solidFill>
                <a:latin typeface="Calibri" pitchFamily="34" charset="0"/>
                <a:ea typeface="Calibri" pitchFamily="34" charset="-122"/>
                <a:cs typeface="Calibri" pitchFamily="34" charset="-120"/>
              </a:rPr>
              <a:t> folded the letter and mailed it.</a:t>
            </a:r>
            <a:endParaRPr lang="en-US" sz="1600" dirty="0"/>
          </a:p>
        </p:txBody>
      </p:sp>
      <p:sp>
        <p:nvSpPr>
          <p:cNvPr id="7" name="Shape 5"/>
          <p:cNvSpPr/>
          <p:nvPr/>
        </p:nvSpPr>
        <p:spPr>
          <a:xfrm>
            <a:off x="365760" y="1810512"/>
            <a:ext cx="8412480" cy="658368"/>
          </a:xfrm>
          <a:prstGeom prst="roundRect">
            <a:avLst>
              <a:gd name="adj" fmla="val 13889"/>
            </a:avLst>
          </a:prstGeom>
          <a:solidFill>
            <a:srgbClr val="FFFFFF"/>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956816"/>
            <a:ext cx="7863840" cy="402336"/>
          </a:xfrm>
          <a:prstGeom prst="rect">
            <a:avLst/>
          </a:prstGeom>
          <a:noFill/>
          <a:ln/>
        </p:spPr>
        <p:txBody>
          <a:bodyPr wrap="square" lIns="0" tIns="0" rIns="0" bIns="0" rtlCol="0" anchor="ctr"/>
          <a:lstStyle/>
          <a:p>
            <a:pPr indent="0" marL="0">
              <a:buNone/>
            </a:pPr>
            <a:r>
              <a:rPr lang="en-US" sz="1600" dirty="0">
                <a:solidFill>
                  <a:srgbClr val="1E293B"/>
                </a:solidFill>
                <a:latin typeface="Calibri" pitchFamily="34" charset="0"/>
                <a:ea typeface="Calibri" pitchFamily="34" charset="-122"/>
                <a:cs typeface="Calibri" pitchFamily="34" charset="-120"/>
              </a:rPr>
              <a:t>The postcard came from </a:t>
            </a:r>
            <a:pPr indent="0" marL="0">
              <a:buNone/>
            </a:pPr>
            <a:r>
              <a:rPr lang="en-US" sz="1600" b="1" dirty="0">
                <a:solidFill>
                  <a:srgbClr val="34B76F"/>
                </a:solidFill>
                <a:latin typeface="Calibri" pitchFamily="34" charset="0"/>
                <a:ea typeface="Calibri" pitchFamily="34" charset="-122"/>
                <a:cs typeface="Calibri" pitchFamily="34" charset="-120"/>
              </a:rPr>
              <a:t>California</a:t>
            </a:r>
            <a:pPr indent="0" marL="0">
              <a:buNone/>
            </a:pPr>
            <a:r>
              <a:rPr lang="en-US" sz="1600" dirty="0">
                <a:solidFill>
                  <a:srgbClr val="1E293B"/>
                </a:solidFill>
                <a:latin typeface="Calibri" pitchFamily="34" charset="0"/>
                <a:ea typeface="Calibri" pitchFamily="34" charset="-122"/>
                <a:cs typeface="Calibri" pitchFamily="34" charset="-120"/>
              </a:rPr>
              <a:t> last week.</a:t>
            </a:r>
            <a:endParaRPr lang="en-US" sz="1600" dirty="0"/>
          </a:p>
        </p:txBody>
      </p:sp>
      <p:sp>
        <p:nvSpPr>
          <p:cNvPr id="9" name="Shape 7"/>
          <p:cNvSpPr/>
          <p:nvPr/>
        </p:nvSpPr>
        <p:spPr>
          <a:xfrm>
            <a:off x="365760" y="2542032"/>
            <a:ext cx="8412480" cy="658368"/>
          </a:xfrm>
          <a:prstGeom prst="roundRect">
            <a:avLst>
              <a:gd name="adj" fmla="val 13889"/>
            </a:avLst>
          </a:prstGeom>
          <a:solidFill>
            <a:srgbClr val="FEF6E8"/>
          </a:solidFill>
          <a:ln/>
          <a:effectLst>
            <a:outerShdw sx="100000" sy="100000" kx="0" ky="0" algn="bl" rotWithShape="0" blurRad="101600" dist="38100" dir="2700000">
              <a:srgbClr val="000000">
                <a:alpha val="12000"/>
              </a:srgbClr>
            </a:outerShdw>
          </a:effectLst>
        </p:spPr>
      </p:sp>
      <p:sp>
        <p:nvSpPr>
          <p:cNvPr id="10" name="Text 8"/>
          <p:cNvSpPr/>
          <p:nvPr/>
        </p:nvSpPr>
        <p:spPr>
          <a:xfrm>
            <a:off x="594360" y="2688336"/>
            <a:ext cx="7863840" cy="402336"/>
          </a:xfrm>
          <a:prstGeom prst="rect">
            <a:avLst/>
          </a:prstGeom>
          <a:noFill/>
          <a:ln/>
        </p:spPr>
        <p:txBody>
          <a:bodyPr wrap="square" lIns="0" tIns="0" rIns="0" bIns="0" rtlCol="0" anchor="ctr"/>
          <a:lstStyle/>
          <a:p>
            <a:pPr indent="0" marL="0">
              <a:buNone/>
            </a:pPr>
            <a:r>
              <a:rPr lang="en-US" sz="1600" b="1" dirty="0">
                <a:solidFill>
                  <a:srgbClr val="34B76F"/>
                </a:solidFill>
                <a:latin typeface="Calibri" pitchFamily="34" charset="0"/>
                <a:ea typeface="Calibri" pitchFamily="34" charset="-122"/>
                <a:cs typeface="Calibri" pitchFamily="34" charset="-120"/>
              </a:rPr>
              <a:t>A</a:t>
            </a:r>
            <a:pPr indent="0" marL="0">
              <a:buNone/>
            </a:pPr>
            <a:r>
              <a:rPr lang="en-US" sz="1600" dirty="0">
                <a:solidFill>
                  <a:srgbClr val="1E293B"/>
                </a:solidFill>
                <a:latin typeface="Calibri" pitchFamily="34" charset="0"/>
                <a:ea typeface="Calibri" pitchFamily="34" charset="-122"/>
                <a:cs typeface="Calibri" pitchFamily="34" charset="-120"/>
              </a:rPr>
              <a:t> mail carrier brings letters to every house.</a:t>
            </a:r>
            <a:endParaRPr lang="en-US" sz="1600" dirty="0"/>
          </a:p>
        </p:txBody>
      </p:sp>
      <p:sp>
        <p:nvSpPr>
          <p:cNvPr id="11" name="Shape 9"/>
          <p:cNvSpPr/>
          <p:nvPr/>
        </p:nvSpPr>
        <p:spPr>
          <a:xfrm>
            <a:off x="365760" y="3273552"/>
            <a:ext cx="8412480" cy="658368"/>
          </a:xfrm>
          <a:prstGeom prst="roundRect">
            <a:avLst>
              <a:gd name="adj" fmla="val 13889"/>
            </a:avLst>
          </a:prstGeom>
          <a:solidFill>
            <a:srgbClr val="FFFFFF"/>
          </a:solidFill>
          <a:ln/>
          <a:effectLst>
            <a:outerShdw sx="100000" sy="100000" kx="0" ky="0" algn="bl" rotWithShape="0" blurRad="101600" dist="38100" dir="2700000">
              <a:srgbClr val="000000">
                <a:alpha val="12000"/>
              </a:srgbClr>
            </a:outerShdw>
          </a:effectLst>
        </p:spPr>
      </p:sp>
      <p:sp>
        <p:nvSpPr>
          <p:cNvPr id="12" name="Text 10"/>
          <p:cNvSpPr/>
          <p:nvPr/>
        </p:nvSpPr>
        <p:spPr>
          <a:xfrm>
            <a:off x="594360" y="3419856"/>
            <a:ext cx="7863840" cy="402336"/>
          </a:xfrm>
          <a:prstGeom prst="rect">
            <a:avLst/>
          </a:prstGeom>
          <a:noFill/>
          <a:ln/>
        </p:spPr>
        <p:txBody>
          <a:bodyPr wrap="square" lIns="0" tIns="0" rIns="0" bIns="0" rtlCol="0" anchor="ctr"/>
          <a:lstStyle/>
          <a:p>
            <a:pPr indent="0" marL="0">
              <a:buNone/>
            </a:pPr>
            <a:r>
              <a:rPr lang="en-US" sz="1600" dirty="0">
                <a:solidFill>
                  <a:srgbClr val="1E293B"/>
                </a:solidFill>
                <a:latin typeface="Calibri" pitchFamily="34" charset="0"/>
                <a:ea typeface="Calibri" pitchFamily="34" charset="-122"/>
                <a:cs typeface="Calibri" pitchFamily="34" charset="-120"/>
              </a:rPr>
              <a:t>The </a:t>
            </a:r>
            <a:pPr indent="0" marL="0">
              <a:buNone/>
            </a:pPr>
            <a:r>
              <a:rPr lang="en-US" sz="1600" b="1" dirty="0">
                <a:solidFill>
                  <a:srgbClr val="34B76F"/>
                </a:solidFill>
                <a:latin typeface="Calibri" pitchFamily="34" charset="0"/>
                <a:ea typeface="Calibri" pitchFamily="34" charset="-122"/>
                <a:cs typeface="Calibri" pitchFamily="34" charset="-120"/>
              </a:rPr>
              <a:t>Mississippi</a:t>
            </a:r>
            <a:pPr indent="0" marL="0">
              <a:buNone/>
            </a:pPr>
            <a:r>
              <a:rPr lang="en-US" sz="1600" dirty="0">
                <a:solidFill>
                  <a:srgbClr val="1E293B"/>
                </a:solidFill>
                <a:latin typeface="Calibri" pitchFamily="34" charset="0"/>
                <a:ea typeface="Calibri" pitchFamily="34" charset="-122"/>
                <a:cs typeface="Calibri" pitchFamily="34" charset="-120"/>
              </a:rPr>
              <a:t> River runs south through many states.</a:t>
            </a:r>
            <a:endParaRPr lang="en-US" sz="1600" dirty="0"/>
          </a:p>
        </p:txBody>
      </p:sp>
      <p:sp>
        <p:nvSpPr>
          <p:cNvPr id="13" name="Text 11"/>
          <p:cNvSpPr/>
          <p:nvPr/>
        </p:nvSpPr>
        <p:spPr>
          <a:xfrm>
            <a:off x="365760" y="4050792"/>
            <a:ext cx="8412480" cy="365760"/>
          </a:xfrm>
          <a:prstGeom prst="rect">
            <a:avLst/>
          </a:prstGeom>
          <a:noFill/>
          <a:ln/>
        </p:spPr>
        <p:txBody>
          <a:bodyPr wrap="square" lIns="0" tIns="0" rIns="0" bIns="0" rtlCol="0" anchor="ctr"/>
          <a:lstStyle/>
          <a:p>
            <a:pPr indent="0" marL="0">
              <a:buNone/>
            </a:pPr>
            <a:r>
              <a:rPr lang="en-US" sz="1500" b="1" dirty="0">
                <a:solidFill>
                  <a:srgbClr val="34B76F"/>
                </a:solidFill>
                <a:latin typeface="Calibri" pitchFamily="34" charset="0"/>
                <a:ea typeface="Calibri" pitchFamily="34" charset="-122"/>
                <a:cs typeface="Calibri" pitchFamily="34" charset="-120"/>
              </a:rPr>
              <a:t>✅  Answers revealed</a:t>
            </a:r>
            <a:endParaRPr lang="en-US" sz="15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0E1C42"/>
          </a:solidFill>
          <a:ln/>
        </p:spPr>
      </p:sp>
      <p:sp>
        <p:nvSpPr>
          <p:cNvPr id="3" name="Text 1"/>
          <p:cNvSpPr/>
          <p:nvPr/>
        </p:nvSpPr>
        <p:spPr>
          <a:xfrm>
            <a:off x="365760" y="54864"/>
            <a:ext cx="8412480" cy="4572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  Spelling</a:t>
            </a:r>
            <a:endParaRPr lang="en-US" sz="2200" dirty="0"/>
          </a:p>
        </p:txBody>
      </p:sp>
      <p:sp>
        <p:nvSpPr>
          <p:cNvPr id="4" name="Text 2"/>
          <p:cNvSpPr/>
          <p:nvPr/>
        </p:nvSpPr>
        <p:spPr>
          <a:xfrm>
            <a:off x="365760" y="777240"/>
            <a:ext cx="8229600" cy="237744"/>
          </a:xfrm>
          <a:prstGeom prst="rect">
            <a:avLst/>
          </a:prstGeom>
          <a:noFill/>
          <a:ln/>
        </p:spPr>
        <p:txBody>
          <a:bodyPr wrap="square" lIns="0" tIns="0" rIns="0" bIns="0" rtlCol="0" anchor="ctr"/>
          <a:lstStyle/>
          <a:p>
            <a:pPr indent="0" marL="0">
              <a:buNone/>
            </a:pPr>
            <a:r>
              <a:rPr lang="en-US" sz="1100" b="1" spc="100" kern="0" dirty="0">
                <a:solidFill>
                  <a:srgbClr val="0E1C42"/>
                </a:solidFill>
                <a:latin typeface="Calibri" pitchFamily="34" charset="0"/>
                <a:ea typeface="Calibri" pitchFamily="34" charset="-122"/>
                <a:cs typeface="Calibri" pitchFamily="34" charset="-120"/>
              </a:rPr>
              <a:t>COMPOUND WORDS</a:t>
            </a:r>
            <a:endParaRPr lang="en-US" sz="1100" dirty="0"/>
          </a:p>
        </p:txBody>
      </p:sp>
      <p:sp>
        <p:nvSpPr>
          <p:cNvPr id="5" name="Text 3"/>
          <p:cNvSpPr/>
          <p:nvPr/>
        </p:nvSpPr>
        <p:spPr>
          <a:xfrm>
            <a:off x="365760" y="1078992"/>
            <a:ext cx="8229600" cy="237744"/>
          </a:xfrm>
          <a:prstGeom prst="rect">
            <a:avLst/>
          </a:prstGeom>
          <a:noFill/>
          <a:ln/>
        </p:spPr>
        <p:txBody>
          <a:bodyPr wrap="square" lIns="0" tIns="0" rIns="0" bIns="0" rtlCol="0" anchor="ctr"/>
          <a:lstStyle/>
          <a:p>
            <a:pPr indent="0" marL="0">
              <a:buNone/>
            </a:pPr>
            <a:r>
              <a:rPr lang="en-US" sz="1100" b="1" spc="100" kern="0" dirty="0">
                <a:solidFill>
                  <a:srgbClr val="64748B"/>
                </a:solidFill>
                <a:latin typeface="Calibri" pitchFamily="34" charset="0"/>
                <a:ea typeface="Calibri" pitchFamily="34" charset="-122"/>
                <a:cs typeface="Calibri" pitchFamily="34" charset="-120"/>
              </a:rPr>
              <a:t>WORD BANK</a:t>
            </a:r>
            <a:endParaRPr lang="en-US" sz="1100" dirty="0"/>
          </a:p>
        </p:txBody>
      </p:sp>
      <p:sp>
        <p:nvSpPr>
          <p:cNvPr id="6" name="Shape 4"/>
          <p:cNvSpPr/>
          <p:nvPr/>
        </p:nvSpPr>
        <p:spPr>
          <a:xfrm>
            <a:off x="365760" y="1353312"/>
            <a:ext cx="8412480" cy="1005840"/>
          </a:xfrm>
          <a:prstGeom prst="roundRect">
            <a:avLst>
              <a:gd name="adj" fmla="val 9091"/>
            </a:avLst>
          </a:prstGeom>
          <a:solidFill>
            <a:srgbClr val="FFFFFF"/>
          </a:solidFill>
          <a:ln w="19050">
            <a:solidFill>
              <a:srgbClr val="0E1C42"/>
            </a:solidFill>
            <a:prstDash val="solid"/>
          </a:ln>
          <a:effectLst>
            <a:outerShdw sx="100000" sy="100000" kx="0" ky="0" algn="bl" rotWithShape="0" blurRad="101600" dist="38100" dir="2700000">
              <a:srgbClr val="000000">
                <a:alpha val="12000"/>
              </a:srgbClr>
            </a:outerShdw>
          </a:effectLst>
        </p:spPr>
      </p:sp>
      <p:sp>
        <p:nvSpPr>
          <p:cNvPr id="7" name="Text 5"/>
          <p:cNvSpPr/>
          <p:nvPr/>
        </p:nvSpPr>
        <p:spPr>
          <a:xfrm>
            <a:off x="594360" y="1481328"/>
            <a:ext cx="7955280" cy="749808"/>
          </a:xfrm>
          <a:prstGeom prst="rect">
            <a:avLst/>
          </a:prstGeom>
          <a:noFill/>
          <a:ln/>
        </p:spPr>
        <p:txBody>
          <a:bodyPr wrap="square" lIns="0" tIns="0" rIns="0" bIns="0" rtlCol="0" anchor="ctr"/>
          <a:lstStyle/>
          <a:p>
            <a:pPr indent="0" marL="0">
              <a:buNone/>
            </a:pPr>
            <a:r>
              <a:rPr lang="en-US" sz="1700" dirty="0">
                <a:solidFill>
                  <a:srgbClr val="0E1C42"/>
                </a:solidFill>
                <a:latin typeface="Calibri" pitchFamily="34" charset="0"/>
                <a:ea typeface="Calibri" pitchFamily="34" charset="-122"/>
                <a:cs typeface="Calibri" pitchFamily="34" charset="-120"/>
              </a:rPr>
              <a:t>mailbox   ·   postcard   ·   landmark   ·   notebook   ·   compass   ·   envelope   ·   journey   ·   letter</a:t>
            </a:r>
            <a:endParaRPr lang="en-US" sz="1700" dirty="0"/>
          </a:p>
        </p:txBody>
      </p:sp>
      <p:sp>
        <p:nvSpPr>
          <p:cNvPr id="8" name="Text 6"/>
          <p:cNvSpPr/>
          <p:nvPr/>
        </p:nvSpPr>
        <p:spPr>
          <a:xfrm>
            <a:off x="365760" y="2514600"/>
            <a:ext cx="8412480" cy="457200"/>
          </a:xfrm>
          <a:prstGeom prst="rect">
            <a:avLst/>
          </a:prstGeom>
          <a:noFill/>
          <a:ln/>
        </p:spPr>
        <p:txBody>
          <a:bodyPr wrap="square" lIns="0" tIns="0" rIns="0" bIns="0" rtlCol="0" anchor="ctr"/>
          <a:lstStyle/>
          <a:p>
            <a:pPr indent="0" marL="0">
              <a:buNone/>
            </a:pPr>
            <a:r>
              <a:rPr lang="en-US" sz="1500" i="1" dirty="0">
                <a:solidFill>
                  <a:srgbClr val="64748B"/>
                </a:solidFill>
                <a:latin typeface="Calibri" pitchFamily="34" charset="0"/>
                <a:ea typeface="Calibri" pitchFamily="34" charset="-122"/>
                <a:cs typeface="Calibri" pitchFamily="34" charset="-120"/>
              </a:rPr>
              <a:t>Which column does each word belong in?  Columns: Compound word  |  Not a compound word</a:t>
            </a:r>
            <a:endParaRPr lang="en-US" sz="15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0E1C42"/>
          </a:solidFill>
          <a:ln/>
        </p:spPr>
      </p:sp>
      <p:sp>
        <p:nvSpPr>
          <p:cNvPr id="3" name="Text 1"/>
          <p:cNvSpPr/>
          <p:nvPr/>
        </p:nvSpPr>
        <p:spPr>
          <a:xfrm>
            <a:off x="365760" y="54864"/>
            <a:ext cx="8412480" cy="4572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  Spelling</a:t>
            </a:r>
            <a:endParaRPr lang="en-US" sz="2200" dirty="0"/>
          </a:p>
        </p:txBody>
      </p:sp>
      <p:sp>
        <p:nvSpPr>
          <p:cNvPr id="4" name="Text 2"/>
          <p:cNvSpPr/>
          <p:nvPr/>
        </p:nvSpPr>
        <p:spPr>
          <a:xfrm>
            <a:off x="365760" y="777240"/>
            <a:ext cx="8229600" cy="237744"/>
          </a:xfrm>
          <a:prstGeom prst="rect">
            <a:avLst/>
          </a:prstGeom>
          <a:noFill/>
          <a:ln/>
        </p:spPr>
        <p:txBody>
          <a:bodyPr wrap="square" lIns="0" tIns="0" rIns="0" bIns="0" rtlCol="0" anchor="ctr"/>
          <a:lstStyle/>
          <a:p>
            <a:pPr indent="0" marL="0">
              <a:buNone/>
            </a:pPr>
            <a:r>
              <a:rPr lang="en-US" sz="1100" b="1" spc="100" kern="0" dirty="0">
                <a:solidFill>
                  <a:srgbClr val="0E1C42"/>
                </a:solidFill>
                <a:latin typeface="Calibri" pitchFamily="34" charset="0"/>
                <a:ea typeface="Calibri" pitchFamily="34" charset="-122"/>
                <a:cs typeface="Calibri" pitchFamily="34" charset="-120"/>
              </a:rPr>
              <a:t>COMPOUND WORDS</a:t>
            </a:r>
            <a:endParaRPr lang="en-US" sz="1100" dirty="0"/>
          </a:p>
        </p:txBody>
      </p:sp>
      <p:sp>
        <p:nvSpPr>
          <p:cNvPr id="5" name="Shape 3"/>
          <p:cNvSpPr/>
          <p:nvPr/>
        </p:nvSpPr>
        <p:spPr>
          <a:xfrm>
            <a:off x="411480" y="1078992"/>
            <a:ext cx="4114800" cy="457200"/>
          </a:xfrm>
          <a:prstGeom prst="roundRect">
            <a:avLst>
              <a:gd name="adj" fmla="val 16000"/>
            </a:avLst>
          </a:prstGeom>
          <a:solidFill>
            <a:srgbClr val="0E1C42"/>
          </a:solidFill>
          <a:ln/>
        </p:spPr>
      </p:sp>
      <p:sp>
        <p:nvSpPr>
          <p:cNvPr id="6" name="Text 4"/>
          <p:cNvSpPr/>
          <p:nvPr/>
        </p:nvSpPr>
        <p:spPr>
          <a:xfrm>
            <a:off x="457200" y="1133856"/>
            <a:ext cx="4023360"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Compound word</a:t>
            </a:r>
            <a:endParaRPr lang="en-US" sz="1300" dirty="0"/>
          </a:p>
        </p:txBody>
      </p:sp>
      <p:sp>
        <p:nvSpPr>
          <p:cNvPr id="7" name="Shape 5"/>
          <p:cNvSpPr/>
          <p:nvPr/>
        </p:nvSpPr>
        <p:spPr>
          <a:xfrm>
            <a:off x="411480" y="1591056"/>
            <a:ext cx="4114800" cy="2103120"/>
          </a:xfrm>
          <a:prstGeom prst="roundRect">
            <a:avLst>
              <a:gd name="adj" fmla="val 4348"/>
            </a:avLst>
          </a:prstGeom>
          <a:solidFill>
            <a:srgbClr val="FFFFFF"/>
          </a:solidFill>
          <a:ln/>
          <a:effectLst>
            <a:outerShdw sx="100000" sy="100000" kx="0" ky="0" algn="bl" rotWithShape="0" blurRad="101600" dist="38100" dir="2700000">
              <a:srgbClr val="000000">
                <a:alpha val="12000"/>
              </a:srgbClr>
            </a:outerShdw>
          </a:effectLst>
        </p:spPr>
      </p:sp>
      <p:sp>
        <p:nvSpPr>
          <p:cNvPr id="8" name="Text 6"/>
          <p:cNvSpPr/>
          <p:nvPr/>
        </p:nvSpPr>
        <p:spPr>
          <a:xfrm>
            <a:off x="502920" y="1700784"/>
            <a:ext cx="3931920" cy="1883664"/>
          </a:xfrm>
          <a:prstGeom prst="rect">
            <a:avLst/>
          </a:prstGeom>
          <a:noFill/>
          <a:ln/>
        </p:spPr>
        <p:txBody>
          <a:bodyPr wrap="square" lIns="0" tIns="0" rIns="0" bIns="0" rtlCol="0" anchor="ctr"/>
          <a:lstStyle/>
          <a:p>
            <a:pPr algn="ctr" indent="0" marL="0">
              <a:buNone/>
            </a:pPr>
            <a:r>
              <a:rPr lang="en-US" sz="1400" dirty="0">
                <a:solidFill>
                  <a:srgbClr val="1E293B"/>
                </a:solidFill>
                <a:latin typeface="Calibri" pitchFamily="34" charset="0"/>
                <a:ea typeface="Calibri" pitchFamily="34" charset="-122"/>
                <a:cs typeface="Calibri" pitchFamily="34" charset="-120"/>
              </a:rPr>
              <a:t>mailbox</a:t>
            </a:r>
            <a:endParaRPr lang="en-US" sz="1400" dirty="0"/>
          </a:p>
          <a:p>
            <a:pPr algn="ctr" indent="0" marL="0">
              <a:buNone/>
            </a:pPr>
            <a:r>
              <a:rPr lang="en-US" sz="1400" dirty="0">
                <a:solidFill>
                  <a:srgbClr val="1E293B"/>
                </a:solidFill>
                <a:latin typeface="Calibri" pitchFamily="34" charset="0"/>
                <a:ea typeface="Calibri" pitchFamily="34" charset="-122"/>
                <a:cs typeface="Calibri" pitchFamily="34" charset="-120"/>
              </a:rPr>
              <a:t>postcard</a:t>
            </a:r>
            <a:endParaRPr lang="en-US" sz="1400" dirty="0"/>
          </a:p>
          <a:p>
            <a:pPr algn="ctr" indent="0" marL="0">
              <a:buNone/>
            </a:pPr>
            <a:r>
              <a:rPr lang="en-US" sz="1400" dirty="0">
                <a:solidFill>
                  <a:srgbClr val="1E293B"/>
                </a:solidFill>
                <a:latin typeface="Calibri" pitchFamily="34" charset="0"/>
                <a:ea typeface="Calibri" pitchFamily="34" charset="-122"/>
                <a:cs typeface="Calibri" pitchFamily="34" charset="-120"/>
              </a:rPr>
              <a:t>landmark</a:t>
            </a:r>
            <a:endParaRPr lang="en-US" sz="1400" dirty="0"/>
          </a:p>
          <a:p>
            <a:pPr algn="ctr" indent="0" marL="0">
              <a:buNone/>
            </a:pPr>
            <a:r>
              <a:rPr lang="en-US" sz="1400" dirty="0">
                <a:solidFill>
                  <a:srgbClr val="1E293B"/>
                </a:solidFill>
                <a:latin typeface="Calibri" pitchFamily="34" charset="0"/>
                <a:ea typeface="Calibri" pitchFamily="34" charset="-122"/>
                <a:cs typeface="Calibri" pitchFamily="34" charset="-120"/>
              </a:rPr>
              <a:t>notebook</a:t>
            </a:r>
            <a:endParaRPr lang="en-US" sz="1400" dirty="0"/>
          </a:p>
        </p:txBody>
      </p:sp>
      <p:sp>
        <p:nvSpPr>
          <p:cNvPr id="9" name="Shape 7"/>
          <p:cNvSpPr/>
          <p:nvPr/>
        </p:nvSpPr>
        <p:spPr>
          <a:xfrm>
            <a:off x="4617720" y="1078992"/>
            <a:ext cx="4114800" cy="457200"/>
          </a:xfrm>
          <a:prstGeom prst="roundRect">
            <a:avLst>
              <a:gd name="adj" fmla="val 16000"/>
            </a:avLst>
          </a:prstGeom>
          <a:solidFill>
            <a:srgbClr val="0E1C42"/>
          </a:solidFill>
          <a:ln/>
        </p:spPr>
      </p:sp>
      <p:sp>
        <p:nvSpPr>
          <p:cNvPr id="10" name="Text 8"/>
          <p:cNvSpPr/>
          <p:nvPr/>
        </p:nvSpPr>
        <p:spPr>
          <a:xfrm>
            <a:off x="4663440" y="1133856"/>
            <a:ext cx="4023360"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Not a compound word</a:t>
            </a:r>
            <a:endParaRPr lang="en-US" sz="1300" dirty="0"/>
          </a:p>
        </p:txBody>
      </p:sp>
      <p:sp>
        <p:nvSpPr>
          <p:cNvPr id="11" name="Shape 9"/>
          <p:cNvSpPr/>
          <p:nvPr/>
        </p:nvSpPr>
        <p:spPr>
          <a:xfrm>
            <a:off x="4617720" y="1591056"/>
            <a:ext cx="4114800" cy="2103120"/>
          </a:xfrm>
          <a:prstGeom prst="roundRect">
            <a:avLst>
              <a:gd name="adj" fmla="val 4348"/>
            </a:avLst>
          </a:prstGeom>
          <a:solidFill>
            <a:srgbClr val="FFFFFF"/>
          </a:solidFill>
          <a:ln/>
          <a:effectLst>
            <a:outerShdw sx="100000" sy="100000" kx="0" ky="0" algn="bl" rotWithShape="0" blurRad="101600" dist="38100" dir="2700000">
              <a:srgbClr val="000000">
                <a:alpha val="12000"/>
              </a:srgbClr>
            </a:outerShdw>
          </a:effectLst>
        </p:spPr>
      </p:sp>
      <p:sp>
        <p:nvSpPr>
          <p:cNvPr id="12" name="Text 10"/>
          <p:cNvSpPr/>
          <p:nvPr/>
        </p:nvSpPr>
        <p:spPr>
          <a:xfrm>
            <a:off x="4709160" y="1700784"/>
            <a:ext cx="3931920" cy="1883664"/>
          </a:xfrm>
          <a:prstGeom prst="rect">
            <a:avLst/>
          </a:prstGeom>
          <a:noFill/>
          <a:ln/>
        </p:spPr>
        <p:txBody>
          <a:bodyPr wrap="square" lIns="0" tIns="0" rIns="0" bIns="0" rtlCol="0" anchor="ctr"/>
          <a:lstStyle/>
          <a:p>
            <a:pPr algn="ctr" indent="0" marL="0">
              <a:buNone/>
            </a:pPr>
            <a:r>
              <a:rPr lang="en-US" sz="1400" dirty="0">
                <a:solidFill>
                  <a:srgbClr val="1E293B"/>
                </a:solidFill>
                <a:latin typeface="Calibri" pitchFamily="34" charset="0"/>
                <a:ea typeface="Calibri" pitchFamily="34" charset="-122"/>
                <a:cs typeface="Calibri" pitchFamily="34" charset="-120"/>
              </a:rPr>
              <a:t>compass</a:t>
            </a:r>
            <a:endParaRPr lang="en-US" sz="1400" dirty="0"/>
          </a:p>
          <a:p>
            <a:pPr algn="ctr" indent="0" marL="0">
              <a:buNone/>
            </a:pPr>
            <a:r>
              <a:rPr lang="en-US" sz="1400" dirty="0">
                <a:solidFill>
                  <a:srgbClr val="1E293B"/>
                </a:solidFill>
                <a:latin typeface="Calibri" pitchFamily="34" charset="0"/>
                <a:ea typeface="Calibri" pitchFamily="34" charset="-122"/>
                <a:cs typeface="Calibri" pitchFamily="34" charset="-120"/>
              </a:rPr>
              <a:t>envelope</a:t>
            </a:r>
            <a:endParaRPr lang="en-US" sz="1400" dirty="0"/>
          </a:p>
          <a:p>
            <a:pPr algn="ctr" indent="0" marL="0">
              <a:buNone/>
            </a:pPr>
            <a:r>
              <a:rPr lang="en-US" sz="1400" dirty="0">
                <a:solidFill>
                  <a:srgbClr val="1E293B"/>
                </a:solidFill>
                <a:latin typeface="Calibri" pitchFamily="34" charset="0"/>
                <a:ea typeface="Calibri" pitchFamily="34" charset="-122"/>
                <a:cs typeface="Calibri" pitchFamily="34" charset="-120"/>
              </a:rPr>
              <a:t>journey</a:t>
            </a:r>
            <a:endParaRPr lang="en-US" sz="1400" dirty="0"/>
          </a:p>
          <a:p>
            <a:pPr algn="ctr" indent="0" marL="0">
              <a:buNone/>
            </a:pPr>
            <a:r>
              <a:rPr lang="en-US" sz="1400" dirty="0">
                <a:solidFill>
                  <a:srgbClr val="1E293B"/>
                </a:solidFill>
                <a:latin typeface="Calibri" pitchFamily="34" charset="0"/>
                <a:ea typeface="Calibri" pitchFamily="34" charset="-122"/>
                <a:cs typeface="Calibri" pitchFamily="34" charset="-120"/>
              </a:rPr>
              <a:t>letter</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5CB85C"/>
          </a:solidFill>
          <a:ln/>
        </p:spPr>
      </p:sp>
      <p:sp>
        <p:nvSpPr>
          <p:cNvPr id="3" name="Text 1"/>
          <p:cNvSpPr/>
          <p:nvPr/>
        </p:nvSpPr>
        <p:spPr>
          <a:xfrm>
            <a:off x="365760" y="54864"/>
            <a:ext cx="8412480" cy="4572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  Read</a:t>
            </a:r>
            <a:endParaRPr lang="en-US" sz="2200" dirty="0"/>
          </a:p>
        </p:txBody>
      </p:sp>
      <p:sp>
        <p:nvSpPr>
          <p:cNvPr id="4" name="Text 2"/>
          <p:cNvSpPr/>
          <p:nvPr/>
        </p:nvSpPr>
        <p:spPr>
          <a:xfrm>
            <a:off x="365760" y="868680"/>
            <a:ext cx="8412480" cy="502920"/>
          </a:xfrm>
          <a:prstGeom prst="rect">
            <a:avLst/>
          </a:prstGeom>
          <a:noFill/>
          <a:ln/>
        </p:spPr>
        <p:txBody>
          <a:bodyPr wrap="square" lIns="0" tIns="0" rIns="0" bIns="0" rtlCol="0" anchor="ctr"/>
          <a:lstStyle/>
          <a:p>
            <a:pPr indent="0" marL="0">
              <a:buNone/>
            </a:pPr>
            <a:r>
              <a:rPr lang="en-US" sz="2600" b="1" dirty="0">
                <a:solidFill>
                  <a:srgbClr val="0E1C42"/>
                </a:solidFill>
                <a:latin typeface="Calibri" pitchFamily="34" charset="0"/>
                <a:ea typeface="Calibri" pitchFamily="34" charset="-122"/>
                <a:cs typeface="Calibri" pitchFamily="34" charset="-120"/>
              </a:rPr>
              <a:t>How Does a Letter Travel?</a:t>
            </a:r>
            <a:endParaRPr lang="en-US" sz="2600" dirty="0"/>
          </a:p>
        </p:txBody>
      </p:sp>
      <p:sp>
        <p:nvSpPr>
          <p:cNvPr id="5" name="Text 3"/>
          <p:cNvSpPr/>
          <p:nvPr/>
        </p:nvSpPr>
        <p:spPr>
          <a:xfrm>
            <a:off x="365760" y="1463040"/>
            <a:ext cx="8229600" cy="237744"/>
          </a:xfrm>
          <a:prstGeom prst="rect">
            <a:avLst/>
          </a:prstGeom>
          <a:noFill/>
          <a:ln/>
        </p:spPr>
        <p:txBody>
          <a:bodyPr wrap="square" lIns="0" tIns="0" rIns="0" bIns="0" rtlCol="0" anchor="ctr"/>
          <a:lstStyle/>
          <a:p>
            <a:pPr indent="0" marL="0">
              <a:buNone/>
            </a:pPr>
            <a:r>
              <a:rPr lang="en-US" sz="1100" b="1" spc="100" kern="0" dirty="0">
                <a:solidFill>
                  <a:srgbClr val="C7922C"/>
                </a:solidFill>
                <a:latin typeface="Calibri" pitchFamily="34" charset="0"/>
                <a:ea typeface="Calibri" pitchFamily="34" charset="-122"/>
                <a:cs typeface="Calibri" pitchFamily="34" charset="-120"/>
              </a:rPr>
              <a:t>PAUSE &amp; THINK</a:t>
            </a:r>
            <a:endParaRPr lang="en-US" sz="1100" dirty="0"/>
          </a:p>
        </p:txBody>
      </p:sp>
      <p:sp>
        <p:nvSpPr>
          <p:cNvPr id="6" name="Text 4"/>
          <p:cNvSpPr/>
          <p:nvPr/>
        </p:nvSpPr>
        <p:spPr>
          <a:xfrm>
            <a:off x="365760" y="1719072"/>
            <a:ext cx="8412480" cy="914400"/>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  Stop when the letter reaches the right city and goes to another post office. You have read half the journey. Is this article mainly about the mailbox, the ZIP code, or the whole trip? Name the central idea, and one detail that supports it.</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Optima Academy Online</dc:creator>
  <cp:lastModifiedBy>Optima Academy Online</cp:lastModifiedBy>
  <cp:revision>1</cp:revision>
  <dcterms:created xsi:type="dcterms:W3CDTF">2026-09-08T13:30:00Z</dcterms:created>
  <dcterms:modified xsi:type="dcterms:W3CDTF">2026-09-08T13:30:00Z</dcterms:modified>
</cp:coreProperties>
</file>