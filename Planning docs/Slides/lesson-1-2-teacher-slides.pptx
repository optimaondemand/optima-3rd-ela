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 Reading: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preview a text and ask questions before they read. Today, practice this skill with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“Gosh!” said Arthur when he saw his brother flat as a pancake under the big board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Look for: “Gosh!” said Arthur when he saw his brother flat as a pancake under the big board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Flat and half an inch thick., The doctor in his office., A kite in the park., Arthur with the bicycle pump.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Flat and half an inch thick., The doctor in his office., A kite in the park., Arthur with the bicycle pump.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flat, bed, not, bump | not closed: wake, home, like, huge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flat, bed, not, bump | not closed: wake, home, like, huge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stage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Launch: Reading Routines</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55C8E8"/>
                </a:solidFill>
                <a:latin typeface="Calibri" pitchFamily="34" charset="0"/>
                <a:ea typeface="Calibri" pitchFamily="34" charset="-122"/>
                <a:cs typeface="Calibri" pitchFamily="34" charset="-120"/>
              </a:rPr>
              <a:t>Lesson 1.2  ·  Chapter 1</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Curiosity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If you woke up tomorrow and something about you had changed overnight, what would you want it to be? Why?</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If you woke up tomorrow and something about you had changed overnight, what would you want it to be? Why?</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end each sentence with a period, question mark, or exclamation point?</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Chapter 1</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Dr. Dan says he’ll keep an eye on Stanley. How do you think Stanley feels about being flat?</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preview a text and ask questions before they read. Today, practice this skill with Chapter 1:</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“Heavens!” said Mrs. Lambchop. She hurried to lift the board from Stanley.</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gosh said arthur when he saw his brother flat as a pancake under the big board</a:t>
            </a:r>
            <a:endParaRPr lang="en-US" sz="1700" dirty="0"/>
          </a:p>
        </p:txBody>
      </p:sp>
      <p:sp>
        <p:nvSpPr>
          <p:cNvPr id="9" name="Text 7"/>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both sentences correctly in your notebook.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FIX THESE SENTENCES</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“Heavens!” said Mrs. Lambchop. She hurried to lift the board from Stanley.</a:t>
            </a:r>
            <a:endParaRPr lang="en-US" sz="1700" dirty="0"/>
          </a:p>
        </p:txBody>
      </p:sp>
      <p:sp>
        <p:nvSpPr>
          <p:cNvPr id="7" name="Shape 5"/>
          <p:cNvSpPr/>
          <p:nvPr/>
        </p:nvSpPr>
        <p:spPr>
          <a:xfrm>
            <a:off x="365760" y="1874520"/>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200253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gosh said arthur when he saw his brother flat as a pancake under the big board</a:t>
            </a:r>
            <a:endParaRPr lang="en-US" sz="1700" dirty="0"/>
          </a:p>
        </p:txBody>
      </p:sp>
      <p:sp>
        <p:nvSpPr>
          <p:cNvPr id="9" name="Shape 7"/>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1" name="Text 9"/>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a:t>
            </a:r>
            <a:endParaRPr lang="en-US" sz="1400" dirty="0"/>
          </a:p>
          <a:p>
            <a:pPr indent="0" marL="0">
              <a:buNone/>
            </a:pPr>
            <a:endParaRPr lang="en-US" sz="1400" dirty="0"/>
          </a:p>
        </p:txBody>
      </p:sp>
      <p:sp>
        <p:nvSpPr>
          <p:cNvPr id="12" name="Text 10"/>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“Gosh!” said Arthur when he saw his brother flat as a pancake under the big board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WHAT IS A BASE WORD?</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helpful — base word = help</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unkind — base word = kind</a:t>
            </a:r>
            <a:endParaRPr lang="en-US" sz="1500" dirty="0"/>
          </a:p>
        </p:txBody>
      </p:sp>
      <p:sp>
        <p:nvSpPr>
          <p:cNvPr id="9" name="Shape 7"/>
          <p:cNvSpPr/>
          <p:nvPr/>
        </p:nvSpPr>
        <p:spPr>
          <a:xfrm>
            <a:off x="365760" y="2487168"/>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06040"/>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jumping — base word = jump</a:t>
            </a:r>
            <a:endParaRPr lang="en-US" sz="1500" dirty="0"/>
          </a:p>
        </p:txBody>
      </p:sp>
      <p:sp>
        <p:nvSpPr>
          <p:cNvPr id="11" name="Shape 9"/>
          <p:cNvSpPr/>
          <p:nvPr/>
        </p:nvSpPr>
        <p:spPr>
          <a:xfrm>
            <a:off x="365760" y="3182112"/>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00984"/>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Practice: Match the Word to Its Base!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THIS WEEK'S WORDS</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enormous  </a:t>
            </a:r>
            <a:pPr indent="0" marL="0">
              <a:buNone/>
            </a:pPr>
            <a:r>
              <a:rPr lang="en-US" sz="1400" dirty="0">
                <a:solidFill>
                  <a:srgbClr val="1E293B"/>
                </a:solidFill>
                <a:latin typeface="Calibri" pitchFamily="34" charset="0"/>
                <a:ea typeface="Calibri" pitchFamily="34" charset="-122"/>
                <a:cs typeface="Calibri" pitchFamily="34" charset="-120"/>
              </a:rPr>
              <a:t>Looked at very carefully, especially by a doctor.</a:t>
            </a: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marvel  </a:t>
            </a:r>
            <a:pPr indent="0" marL="0">
              <a:buNone/>
            </a:pPr>
            <a:r>
              <a:rPr lang="en-US" sz="1400" dirty="0">
                <a:solidFill>
                  <a:srgbClr val="1E293B"/>
                </a:solidFill>
                <a:latin typeface="Calibri" pitchFamily="34" charset="0"/>
                <a:ea typeface="Calibri" pitchFamily="34" charset="-122"/>
                <a:cs typeface="Calibri" pitchFamily="34" charset="-120"/>
              </a:rPr>
              <a:t>A board where you pin up messages and pictures.</a:t>
            </a: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bulletin  </a:t>
            </a:r>
            <a:pPr indent="0" marL="0">
              <a:buNone/>
            </a:pPr>
            <a:r>
              <a:rPr lang="en-US" sz="1400" dirty="0">
                <a:solidFill>
                  <a:srgbClr val="1E293B"/>
                </a:solidFill>
                <a:latin typeface="Calibri" pitchFamily="34" charset="0"/>
                <a:ea typeface="Calibri" pitchFamily="34" charset="-122"/>
                <a:cs typeface="Calibri" pitchFamily="34" charset="-120"/>
              </a:rPr>
              <a:t>To be amazed or surprised by something.</a:t>
            </a:r>
            <a:endParaRPr lang="en-US" sz="1700" dirty="0"/>
          </a:p>
        </p:txBody>
      </p:sp>
      <p:sp>
        <p:nvSpPr>
          <p:cNvPr id="11" name="Shape 9"/>
          <p:cNvSpPr/>
          <p:nvPr/>
        </p:nvSpPr>
        <p:spPr>
          <a:xfrm>
            <a:off x="365760" y="329184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examined  </a:t>
            </a:r>
            <a:pPr indent="0" marL="0">
              <a:buNone/>
            </a:pPr>
            <a:r>
              <a:rPr lang="en-US" sz="1400" dirty="0">
                <a:solidFill>
                  <a:srgbClr val="1E293B"/>
                </a:solidFill>
                <a:latin typeface="Calibri" pitchFamily="34" charset="0"/>
                <a:ea typeface="Calibri" pitchFamily="34" charset="-122"/>
                <a:cs typeface="Calibri" pitchFamily="34" charset="-120"/>
              </a:rPr>
              <a:t>Very, very big.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Flat and half an inch thick.   |   Stanley was half an inch thick.</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doctor examined Stanley.   |   The doctor in his office.</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kite in the park.   |   Stanley flew like a kite.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Arthur blew his brother up.   |   Arthur with the bicycle pump.</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Your turn. One choice in each row is not a complete sentence . Tap the one that is missing a part. Tap to check — green means you got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COMPLETE SENTENCES</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Flat and half an inch thick.</a:t>
            </a:r>
            <a:pPr indent="0" marL="0">
              <a:buNone/>
            </a:pPr>
            <a:r>
              <a:rPr lang="en-US" sz="1600" dirty="0">
                <a:solidFill>
                  <a:srgbClr val="1E293B"/>
                </a:solidFill>
                <a:latin typeface="Calibri" pitchFamily="34" charset="0"/>
                <a:ea typeface="Calibri" pitchFamily="34" charset="-122"/>
                <a:cs typeface="Calibri" pitchFamily="34" charset="-120"/>
              </a:rPr>
              <a:t>   |   Stanley was half an inch thick.</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The doctor examined Stanley.   |   </a:t>
            </a:r>
            <a:pPr indent="0" marL="0">
              <a:buNone/>
            </a:pPr>
            <a:r>
              <a:rPr lang="en-US" sz="1600" b="1" dirty="0">
                <a:solidFill>
                  <a:srgbClr val="34B76F"/>
                </a:solidFill>
                <a:latin typeface="Calibri" pitchFamily="34" charset="0"/>
                <a:ea typeface="Calibri" pitchFamily="34" charset="-122"/>
                <a:cs typeface="Calibri" pitchFamily="34" charset="-120"/>
              </a:rPr>
              <a:t>The doctor in his office.</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A kite in the park.</a:t>
            </a:r>
            <a:pPr indent="0" marL="0">
              <a:buNone/>
            </a:pPr>
            <a:r>
              <a:rPr lang="en-US" sz="1600" dirty="0">
                <a:solidFill>
                  <a:srgbClr val="1E293B"/>
                </a:solidFill>
                <a:latin typeface="Calibri" pitchFamily="34" charset="0"/>
                <a:ea typeface="Calibri" pitchFamily="34" charset="-122"/>
                <a:cs typeface="Calibri" pitchFamily="34" charset="-120"/>
              </a:rPr>
              <a:t>   |   Stanley flew like a kite.</a:t>
            </a:r>
            <a:endParaRPr lang="en-US" sz="1600" dirty="0"/>
          </a:p>
        </p:txBody>
      </p:sp>
      <p:sp>
        <p:nvSpPr>
          <p:cNvPr id="11" name="Shape 9"/>
          <p:cNvSpPr/>
          <p:nvPr/>
        </p:nvSpPr>
        <p:spPr>
          <a:xfrm>
            <a:off x="365760" y="327355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41985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Arthur blew his brother up.   |   </a:t>
            </a:r>
            <a:pPr indent="0" marL="0">
              <a:buNone/>
            </a:pPr>
            <a:r>
              <a:rPr lang="en-US" sz="1600" b="1" dirty="0">
                <a:solidFill>
                  <a:srgbClr val="34B76F"/>
                </a:solidFill>
                <a:latin typeface="Calibri" pitchFamily="34" charset="0"/>
                <a:ea typeface="Calibri" pitchFamily="34" charset="-122"/>
                <a:cs typeface="Calibri" pitchFamily="34" charset="-120"/>
              </a:rPr>
              <a:t>Arthur with the bicycle pump.</a:t>
            </a:r>
            <a:endParaRPr lang="en-US" sz="1600" dirty="0"/>
          </a:p>
        </p:txBody>
      </p:sp>
      <p:sp>
        <p:nvSpPr>
          <p:cNvPr id="13" name="Text 11"/>
          <p:cNvSpPr/>
          <p:nvPr/>
        </p:nvSpPr>
        <p:spPr>
          <a:xfrm>
            <a:off x="365760" y="405079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flat   ·   bed   ·   not   ·   bump   ·   wake   ·   home   ·   like   ·   huge</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closed  |  not closed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CLOSED SYLLABLES AND SHORT VOWELS REVIEW</a:t>
            </a:r>
            <a:endParaRPr lang="en-US" sz="1100" dirty="0"/>
          </a:p>
        </p:txBody>
      </p:sp>
      <p:sp>
        <p:nvSpPr>
          <p:cNvPr id="5" name="Shape 3"/>
          <p:cNvSpPr/>
          <p:nvPr/>
        </p:nvSpPr>
        <p:spPr>
          <a:xfrm>
            <a:off x="411480" y="1078992"/>
            <a:ext cx="4114800" cy="457200"/>
          </a:xfrm>
          <a:prstGeom prst="roundRect">
            <a:avLst>
              <a:gd name="adj" fmla="val 16000"/>
            </a:avLst>
          </a:prstGeom>
          <a:solidFill>
            <a:srgbClr val="0E1C42"/>
          </a:solidFill>
          <a:ln/>
        </p:spPr>
      </p:sp>
      <p:sp>
        <p:nvSpPr>
          <p:cNvPr id="6" name="Text 4"/>
          <p:cNvSpPr/>
          <p:nvPr/>
        </p:nvSpPr>
        <p:spPr>
          <a:xfrm>
            <a:off x="45720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7" name="Shape 5"/>
          <p:cNvSpPr/>
          <p:nvPr/>
        </p:nvSpPr>
        <p:spPr>
          <a:xfrm>
            <a:off x="41148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flat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bed</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not</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bump</a:t>
            </a:r>
            <a:endParaRPr lang="en-US" sz="1400" dirty="0"/>
          </a:p>
        </p:txBody>
      </p:sp>
      <p:sp>
        <p:nvSpPr>
          <p:cNvPr id="9" name="Shape 7"/>
          <p:cNvSpPr/>
          <p:nvPr/>
        </p:nvSpPr>
        <p:spPr>
          <a:xfrm>
            <a:off x="4617720" y="1078992"/>
            <a:ext cx="4114800" cy="457200"/>
          </a:xfrm>
          <a:prstGeom prst="roundRect">
            <a:avLst>
              <a:gd name="adj" fmla="val 16000"/>
            </a:avLst>
          </a:prstGeom>
          <a:solidFill>
            <a:srgbClr val="0E1C42"/>
          </a:solidFill>
          <a:ln/>
        </p:spPr>
      </p:sp>
      <p:sp>
        <p:nvSpPr>
          <p:cNvPr id="10" name="Text 8"/>
          <p:cNvSpPr/>
          <p:nvPr/>
        </p:nvSpPr>
        <p:spPr>
          <a:xfrm>
            <a:off x="4663440" y="1133856"/>
            <a:ext cx="40233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 closed</a:t>
            </a:r>
            <a:endParaRPr lang="en-US" sz="1300" dirty="0"/>
          </a:p>
        </p:txBody>
      </p:sp>
      <p:sp>
        <p:nvSpPr>
          <p:cNvPr id="11" name="Shape 9"/>
          <p:cNvSpPr/>
          <p:nvPr/>
        </p:nvSpPr>
        <p:spPr>
          <a:xfrm>
            <a:off x="4617720" y="1591056"/>
            <a:ext cx="4114800" cy="2103120"/>
          </a:xfrm>
          <a:prstGeom prst="roundRect">
            <a:avLst>
              <a:gd name="adj" fmla="val 4348"/>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4709160" y="1700784"/>
            <a:ext cx="393192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wake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home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like</a:t>
            </a:r>
            <a:endParaRPr lang="en-US" sz="1400" dirty="0"/>
          </a:p>
          <a:p>
            <a:pPr algn="ctr" indent="0" marL="0">
              <a:buNone/>
            </a:pPr>
            <a:r>
              <a:rPr lang="en-US" sz="1400" dirty="0">
                <a:solidFill>
                  <a:srgbClr val="1E293B"/>
                </a:solidFill>
                <a:latin typeface="Calibri" pitchFamily="34" charset="0"/>
                <a:ea typeface="Calibri" pitchFamily="34" charset="-122"/>
                <a:cs typeface="Calibri" pitchFamily="34" charset="-120"/>
              </a:rPr>
              <a:t>huge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Chapter 1</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Text 4"/>
          <p:cNvSpPr/>
          <p:nvPr/>
        </p:nvSpPr>
        <p:spPr>
          <a:xfrm>
            <a:off x="365760" y="171907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Stop when Dr. Dan finishes the examination and says he will “keep an eye on this young fellow.” Dr. Dan never explains why Stanley is flat. If you were standing in that office, what would you ask him?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Writer’s Workshop</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THIS WEEK’S STAGE</a:t>
            </a:r>
            <a:endParaRPr lang="en-US" sz="1100" dirty="0"/>
          </a:p>
        </p:txBody>
      </p:sp>
      <p:sp>
        <p:nvSpPr>
          <p:cNvPr id="5" name="Text 3"/>
          <p:cNvSpPr/>
          <p:nvPr/>
        </p:nvSpPr>
        <p:spPr>
          <a:xfrm>
            <a:off x="365760" y="1078992"/>
            <a:ext cx="8412480" cy="548640"/>
          </a:xfrm>
          <a:prstGeom prst="rect">
            <a:avLst/>
          </a:prstGeom>
          <a:noFill/>
          <a:ln/>
        </p:spPr>
        <p:txBody>
          <a:bodyPr wrap="square" lIns="0" tIns="0" rIns="0" bIns="0" rtlCol="0" anchor="ctr"/>
          <a:lstStyle/>
          <a:p>
            <a:pPr indent="0" marL="0">
              <a:buNone/>
            </a:pPr>
            <a:r>
              <a:rPr lang="en-US" sz="3000" b="1" dirty="0">
                <a:solidFill>
                  <a:srgbClr val="0E1C42"/>
                </a:solidFill>
                <a:latin typeface="Calibri" pitchFamily="34" charset="0"/>
                <a:ea typeface="Calibri" pitchFamily="34" charset="-122"/>
                <a:cs typeface="Calibri" pitchFamily="34" charset="-120"/>
              </a:rPr>
              <a:t>SEED IDEAS</a:t>
            </a:r>
            <a:endParaRPr lang="en-US" sz="3000" dirty="0"/>
          </a:p>
        </p:txBody>
      </p:sp>
      <p:sp>
        <p:nvSpPr>
          <p:cNvPr id="6" name="Text 4"/>
          <p:cNvSpPr/>
          <p:nvPr/>
        </p:nvSpPr>
        <p:spPr>
          <a:xfrm>
            <a:off x="365760" y="1691640"/>
            <a:ext cx="8412480" cy="457200"/>
          </a:xfrm>
          <a:prstGeom prst="rect">
            <a:avLst/>
          </a:prstGeom>
          <a:noFill/>
          <a:ln/>
        </p:spPr>
        <p:txBody>
          <a:bodyPr wrap="square" lIns="0" tIns="0" rIns="0" bIns="0" rtlCol="0" anchor="ctr"/>
          <a:lstStyle/>
          <a:p>
            <a:pPr indent="0" marL="0">
              <a:buNone/>
            </a:pPr>
            <a:r>
              <a:rPr lang="en-US" sz="1800" dirty="0">
                <a:solidFill>
                  <a:srgbClr val="1E293B"/>
                </a:solidFill>
                <a:latin typeface="Calibri" pitchFamily="34" charset="0"/>
                <a:ea typeface="Calibri" pitchFamily="34" charset="-122"/>
                <a:cs typeface="Calibri" pitchFamily="34" charset="-120"/>
              </a:rPr>
              <a:t>Zoom in on the moment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2026-09-08T13:30:00Z</dcterms:created>
  <dcterms:modified xsi:type="dcterms:W3CDTF">2026-09-08T13:30:00Z</dcterms:modified>
</cp:coreProperties>
</file>