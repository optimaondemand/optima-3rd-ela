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14.1. Reading: Ch. 46–47.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notice how characters change from beginning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princess listened carefully, closely, and gratefully as the small, brave mouse told his whole story.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princess listened carefully, closely, and gratefully as the small, brave mouse told his whole story.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
The same pattern, with longer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
The same pattern, with longer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 soup, spoons, and thread, red, gold, and green, Mig, Roscuro, and Despereaux, ran, jumped, and hid | Group 2: soup spoons and thread, red gold and green, Mig Roscuro and Despereaux, ran jumped and hid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 soup, spoons, and thread, red, gold, and green, Mig, Roscuro, and Despereaux, ran, jumped, and hid | Group 2: soup spoons and thread, red gold and green, Mig Roscuro and Despereaux, ran jumped and hid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syllable (long vowel at end): tiger, robot, music, tiny | Closed (short vowel): napkin, velvet, helmet, sudden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syllable (long vowel at end): tiger, robot, music, tiny | Closed (short vowel): napkin, velvet, helmet, sudden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14.1  ·  Ch. 46–47</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walks into the dungeon carrying only a needle. Write about a time you did something brave while you were still afraid.</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walks into the dungeon carrying only a needle. Write about a time you did something brave while you were still afraid.</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at the start of each sentence?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46–47</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How has Despereaux changed since Chapter 1?</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notice how characters change from beginning to end.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spoke softly, slowly, and clearly as the small, brave princess leaned closer.</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commas separate the three words in the series, with and before the last one. A comma also goes between small and brave, because both describe the same noun and could swap places.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listened carefully closely and gratefully as the small brave mouse told his whole story</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listened carefully closely and gratefully as the small brave mouse told his whole story</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The princess listened carefully, closely, and gratefully as the small, brave mouse told his whole story.</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PREFIX OVER- MEANS TOO MUCH</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overconfident — too sure of oneself</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overdue — past the right time</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overloaded — carrying too much</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overstepped — went too far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together  </a:t>
            </a:r>
            <a:pPr indent="0" marL="0">
              <a:buNone/>
            </a:pPr>
            <a:r>
              <a:rPr lang="en-US" sz="1400" dirty="0">
                <a:solidFill>
                  <a:srgbClr val="1E293B"/>
                </a:solidFill>
                <a:latin typeface="Calibri" pitchFamily="34" charset="0"/>
                <a:ea typeface="Calibri" pitchFamily="34" charset="-122"/>
                <a:cs typeface="Calibri" pitchFamily="34" charset="-120"/>
              </a:rPr>
              <a:t>With each other; joined rather than apart.</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trembled  </a:t>
            </a:r>
            <a:pPr indent="0" marL="0">
              <a:buNone/>
            </a:pPr>
            <a:r>
              <a:rPr lang="en-US" sz="1400" dirty="0">
                <a:solidFill>
                  <a:srgbClr val="1E293B"/>
                </a:solidFill>
                <a:latin typeface="Calibri" pitchFamily="34" charset="0"/>
                <a:ea typeface="Calibri" pitchFamily="34" charset="-122"/>
                <a:cs typeface="Calibri" pitchFamily="34" charset="-120"/>
              </a:rPr>
              <a:t>Shook a little, usually from fear or cold.</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tears  </a:t>
            </a:r>
            <a:pPr indent="0" marL="0">
              <a:buNone/>
            </a:pPr>
            <a:r>
              <a:rPr lang="en-US" sz="1400" dirty="0">
                <a:solidFill>
                  <a:srgbClr val="1E293B"/>
                </a:solidFill>
                <a:latin typeface="Calibri" pitchFamily="34" charset="0"/>
                <a:ea typeface="Calibri" pitchFamily="34" charset="-122"/>
                <a:cs typeface="Calibri" pitchFamily="34" charset="-120"/>
              </a:rPr>
              <a:t>Drops of water that come from your eyes when you cry.</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happily  </a:t>
            </a:r>
            <a:pPr indent="0" marL="0">
              <a:buNone/>
            </a:pPr>
            <a:r>
              <a:rPr lang="en-US" sz="1400" dirty="0">
                <a:solidFill>
                  <a:srgbClr val="1E293B"/>
                </a:solidFill>
                <a:latin typeface="Calibri" pitchFamily="34" charset="0"/>
                <a:ea typeface="Calibri" pitchFamily="34" charset="-122"/>
                <a:cs typeface="Calibri" pitchFamily="34" charset="-120"/>
              </a:rPr>
              <a:t>In a happy way; with joy.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How many items are in each list?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How many commas are there — the same number, or one fewer?</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What word shows up right before the last item?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When you list three or more things, separate them with commas, and put and before the last one. The comma before and is optional in some styles — but be consistent.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Three items, two commas, and and before the last.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The same pattern, with longer items.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Your turn</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365760" y="1051560"/>
            <a:ext cx="8412480" cy="914400"/>
          </a:xfrm>
          <a:prstGeom prst="roundRect">
            <a:avLst>
              <a:gd name="adj" fmla="val 10000"/>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79576"/>
            <a:ext cx="7955280" cy="65836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soup, spoons, and thread    ·    ran, jumped, and hid    ·    Mig Roscuro and Despereaux    ·    red, gold, and green    ·    soup spoons and thread    ·    ran jumped and hid    ·    Mig, Roscuro, and Despereaux    ·    red gold and green</a:t>
            </a:r>
            <a:endParaRPr lang="en-US" sz="1700" dirty="0"/>
          </a:p>
        </p:txBody>
      </p:sp>
      <p:sp>
        <p:nvSpPr>
          <p:cNvPr id="7" name="Text 5"/>
          <p:cNvSpPr/>
          <p:nvPr/>
        </p:nvSpPr>
        <p:spPr>
          <a:xfrm>
            <a:off x="365760" y="2148840"/>
            <a:ext cx="8412480" cy="73152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Sort these eight into the two columns. The columns are blank on purpose — sort first, then work out what the split is.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Your turn</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411480" y="1051560"/>
            <a:ext cx="4114800" cy="457200"/>
          </a:xfrm>
          <a:prstGeom prst="roundRect">
            <a:avLst>
              <a:gd name="adj" fmla="val 16000"/>
            </a:avLst>
          </a:prstGeom>
          <a:solidFill>
            <a:srgbClr val="C7922C"/>
          </a:solidFill>
          <a:ln/>
        </p:spPr>
      </p:sp>
      <p:sp>
        <p:nvSpPr>
          <p:cNvPr id="6" name="Text 4"/>
          <p:cNvSpPr/>
          <p:nvPr/>
        </p:nvSpPr>
        <p:spPr>
          <a:xfrm>
            <a:off x="457200" y="1106424"/>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 1</a:t>
            </a:r>
            <a:endParaRPr lang="en-US" sz="1400" dirty="0"/>
          </a:p>
        </p:txBody>
      </p:sp>
      <p:sp>
        <p:nvSpPr>
          <p:cNvPr id="7" name="Shape 5"/>
          <p:cNvSpPr/>
          <p:nvPr/>
        </p:nvSpPr>
        <p:spPr>
          <a:xfrm>
            <a:off x="411480" y="1572768"/>
            <a:ext cx="4114800" cy="2011680"/>
          </a:xfrm>
          <a:prstGeom prst="roundRect">
            <a:avLst>
              <a:gd name="adj" fmla="val 4545"/>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664208"/>
            <a:ext cx="3931920" cy="1828800"/>
          </a:xfrm>
          <a:prstGeom prst="rect">
            <a:avLst/>
          </a:prstGeom>
          <a:noFill/>
          <a:ln/>
        </p:spPr>
        <p:txBody>
          <a:bodyPr wrap="square" lIns="0" tIns="0" rIns="0" bIns="0" rtlCol="0" anchor="ctr"/>
          <a:lstStyle/>
          <a:p>
            <a:pPr algn="ctr" indent="0" marL="0">
              <a:buNone/>
            </a:pPr>
            <a:r>
              <a:rPr lang="en-US" sz="1600" dirty="0">
                <a:solidFill>
                  <a:srgbClr val="1E293B"/>
                </a:solidFill>
                <a:latin typeface="Calibri" pitchFamily="34" charset="0"/>
                <a:ea typeface="Calibri" pitchFamily="34" charset="-122"/>
                <a:cs typeface="Calibri" pitchFamily="34" charset="-120"/>
              </a:rPr>
              <a:t>soup, spoons, and thread</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red, gold, and green</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Mig, Roscuro, and Despereaux</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ran, jumped, and hid</a:t>
            </a:r>
            <a:endParaRPr lang="en-US" sz="1600" dirty="0"/>
          </a:p>
        </p:txBody>
      </p:sp>
      <p:sp>
        <p:nvSpPr>
          <p:cNvPr id="9" name="Shape 7"/>
          <p:cNvSpPr/>
          <p:nvPr/>
        </p:nvSpPr>
        <p:spPr>
          <a:xfrm>
            <a:off x="4617720" y="1051560"/>
            <a:ext cx="4114800" cy="457200"/>
          </a:xfrm>
          <a:prstGeom prst="roundRect">
            <a:avLst>
              <a:gd name="adj" fmla="val 16000"/>
            </a:avLst>
          </a:prstGeom>
          <a:solidFill>
            <a:srgbClr val="C7922C"/>
          </a:solidFill>
          <a:ln/>
        </p:spPr>
      </p:sp>
      <p:sp>
        <p:nvSpPr>
          <p:cNvPr id="10" name="Text 8"/>
          <p:cNvSpPr/>
          <p:nvPr/>
        </p:nvSpPr>
        <p:spPr>
          <a:xfrm>
            <a:off x="4663440" y="1106424"/>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 2</a:t>
            </a:r>
            <a:endParaRPr lang="en-US" sz="1400" dirty="0"/>
          </a:p>
        </p:txBody>
      </p:sp>
      <p:sp>
        <p:nvSpPr>
          <p:cNvPr id="11" name="Shape 9"/>
          <p:cNvSpPr/>
          <p:nvPr/>
        </p:nvSpPr>
        <p:spPr>
          <a:xfrm>
            <a:off x="4617720" y="1572768"/>
            <a:ext cx="4114800" cy="2011680"/>
          </a:xfrm>
          <a:prstGeom prst="roundRect">
            <a:avLst>
              <a:gd name="adj" fmla="val 4545"/>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664208"/>
            <a:ext cx="3931920" cy="1828800"/>
          </a:xfrm>
          <a:prstGeom prst="rect">
            <a:avLst/>
          </a:prstGeom>
          <a:noFill/>
          <a:ln/>
        </p:spPr>
        <p:txBody>
          <a:bodyPr wrap="square" lIns="0" tIns="0" rIns="0" bIns="0" rtlCol="0" anchor="ctr"/>
          <a:lstStyle/>
          <a:p>
            <a:pPr algn="ctr" indent="0" marL="0">
              <a:buNone/>
            </a:pPr>
            <a:r>
              <a:rPr lang="en-US" sz="1600" dirty="0">
                <a:solidFill>
                  <a:srgbClr val="1E293B"/>
                </a:solidFill>
                <a:latin typeface="Calibri" pitchFamily="34" charset="0"/>
                <a:ea typeface="Calibri" pitchFamily="34" charset="-122"/>
                <a:cs typeface="Calibri" pitchFamily="34" charset="-120"/>
              </a:rPr>
              <a:t>soup spoons and thread</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red gold and green</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Mig Roscuro and Despereaux</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ran jumped and hid</a:t>
            </a:r>
            <a:endParaRPr lang="en-US" sz="1600" dirty="0"/>
          </a:p>
        </p:txBody>
      </p:sp>
      <p:sp>
        <p:nvSpPr>
          <p:cNvPr id="13" name="Text 11"/>
          <p:cNvSpPr/>
          <p:nvPr/>
        </p:nvSpPr>
        <p:spPr>
          <a:xfrm>
            <a:off x="365760" y="3703320"/>
            <a:ext cx="8412480" cy="41148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Now name the split: what does every word in each group have in common?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OPEN SYLLABLES IN LONGER WORDS</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tiger   ·   robot   ·   music   ·   tiny   ·   napkin   ·   velvet   ·   helmet   ·   sudden</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Open syllable (long vowel at end)  |  Closed (short vowel)</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OPEN SYLLABLES IN LONGER WORDS</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Open syllable (long vowel at end)</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tiger</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robot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music</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tiny</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Closed (short vowel)</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napkin</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velvet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helmet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sudden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46–47</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 the thread, eager, perhaps, to begin its honorable task of aiding in the saving of a princess, leapt forward and away from the mouse and went down the dungeon stairs ahead of him, without him.”</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Despereaux and the princess are together after the rescue. What is different about the way they relate to each other now?</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Despereaux tells his story. Why is storytelling important in this novel? What does it do for the characters?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PUBLISH</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Choose what to publish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2026-10-19T11:55:31Z</dcterms:created>
  <dcterms:modified xsi:type="dcterms:W3CDTF">2026-10-19T11:55:31Z</dcterms:modified>
</cp:coreProperties>
</file>