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11.1. Reading: Ch. 24–25.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track cause and effect in the plot. Every event causes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found a needle and thread and decided to rescue the princess from the dungeon below.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Despereaux found a needle and thread and decided to rescue the princess from the dungeon below.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
clouts is plural, so the verb is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
clouts is plural, so the verb is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 the mouse runs, the king sits, she sings, Despereaux hopes | Group 2: the mice run, the kings sit, they sing, the brothers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 the mouse runs, the king sits, she sings, Despereaux hopes | Group 2: the mice run, the kings sit, they sing, the brothers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Plural (more than one): mice, spoons, rats, candles | Possessive (belongs to): mice's, mouse's, king's, princess's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Plural (more than one): mice, spoons, rats, candles | Possessive (belongs to): mice's, mouse's, king's, princess's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11.1  ·  Ch. 24–25</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Mig's father sells her, and she watches him walk away. Write about a time you had to say goodbye to someone. How did it feel?</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Mig's father sells her, and she watches him walk away. Write about a time you had to say goodbye to someone. How did it feel?</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for every name?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24–25</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caused Despereaux to end up where he is now?</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track cause and effect in the plot. Every event causes the next.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 mouse needs courage, and a very small mouse needs even more of it.</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the singular subject mouse takes the verb needs with an -s. A comma comes before and because it joins two complete sentences. A period ends the sentence.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found a needle and thread and decided to rescue the princess from the dungeon below</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found a needle and thread and decided to rescue the princess from the dungeon below</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Despereaux found a needle and thread and decided to rescue the princess from the dungeon below.</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-NESS</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darkness — base word: dark</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kindness — base word: kind</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sadness — base word: sad</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goodness — base word: good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clout  </a:t>
            </a:r>
            <a:pPr indent="0" marL="0">
              <a:buNone/>
            </a:pPr>
            <a:r>
              <a:rPr lang="en-US" sz="1400" dirty="0">
                <a:solidFill>
                  <a:srgbClr val="1E293B"/>
                </a:solidFill>
                <a:latin typeface="Calibri" pitchFamily="34" charset="0"/>
                <a:ea typeface="Calibri" pitchFamily="34" charset="-122"/>
                <a:cs typeface="Calibri" pitchFamily="34" charset="-120"/>
              </a:rPr>
              <a:t>A hard hit or blow, usually with an open hand.</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deaf  </a:t>
            </a:r>
            <a:pPr indent="0" marL="0">
              <a:buNone/>
            </a:pPr>
            <a:r>
              <a:rPr lang="en-US" sz="1400" dirty="0">
                <a:solidFill>
                  <a:srgbClr val="1E293B"/>
                </a:solidFill>
                <a:latin typeface="Calibri" pitchFamily="34" charset="0"/>
                <a:ea typeface="Calibri" pitchFamily="34" charset="-122"/>
                <a:cs typeface="Calibri" pitchFamily="34" charset="-120"/>
              </a:rPr>
              <a:t>Unable to hear, or unable to hear well.</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servant  </a:t>
            </a:r>
            <a:pPr indent="0" marL="0">
              <a:buNone/>
            </a:pPr>
            <a:r>
              <a:rPr lang="en-US" sz="1400" dirty="0">
                <a:solidFill>
                  <a:srgbClr val="1E293B"/>
                </a:solidFill>
                <a:latin typeface="Calibri" pitchFamily="34" charset="0"/>
                <a:ea typeface="Calibri" pitchFamily="34" charset="-122"/>
                <a:cs typeface="Calibri" pitchFamily="34" charset="-120"/>
              </a:rPr>
              <a:t>Someone whose job is to work in another person's household.</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tablecloth  </a:t>
            </a:r>
            <a:pPr indent="0" marL="0">
              <a:buNone/>
            </a:pPr>
            <a:r>
              <a:rPr lang="en-US" sz="1400" dirty="0">
                <a:solidFill>
                  <a:srgbClr val="1E293B"/>
                </a:solidFill>
                <a:latin typeface="Calibri" pitchFamily="34" charset="0"/>
                <a:ea typeface="Calibri" pitchFamily="34" charset="-122"/>
                <a:cs typeface="Calibri" pitchFamily="34" charset="-120"/>
              </a:rPr>
              <a:t>A cloth spread over a table; here, what Mig was traded for.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Is the subject one thing or more than one?</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What does the verb look like in each case — does it end in s or not?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It is backwards from nouns. Can you say how?</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A verb has to match its subject. One thing is, was, or runs. More than one thing are, were, or run. Find the subject first, then check the verb against it.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One girl, so was. Two girls would need were.</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clouts is plural, so the verb is were.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Your turn</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365760" y="1051560"/>
            <a:ext cx="8412480" cy="914400"/>
          </a:xfrm>
          <a:prstGeom prst="roundRect">
            <a:avLst>
              <a:gd name="adj" fmla="val 10000"/>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79576"/>
            <a:ext cx="7955280" cy="65836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the mouse runs    ·    Despereaux hopes    ·    they sing    ·    the king sits    ·    the mice run    ·    the brothers hope    ·    she sings    ·    the kings sit</a:t>
            </a:r>
            <a:endParaRPr lang="en-US" sz="1700" dirty="0"/>
          </a:p>
        </p:txBody>
      </p:sp>
      <p:sp>
        <p:nvSpPr>
          <p:cNvPr id="7" name="Text 5"/>
          <p:cNvSpPr/>
          <p:nvPr/>
        </p:nvSpPr>
        <p:spPr>
          <a:xfrm>
            <a:off x="365760" y="2148840"/>
            <a:ext cx="8412480" cy="73152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Sort these eight into the two columns. The columns are blank on purpose — sort first, then work out what the split is.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Your turn</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411480" y="1051560"/>
            <a:ext cx="4114800" cy="457200"/>
          </a:xfrm>
          <a:prstGeom prst="roundRect">
            <a:avLst>
              <a:gd name="adj" fmla="val 16000"/>
            </a:avLst>
          </a:prstGeom>
          <a:solidFill>
            <a:srgbClr val="C7922C"/>
          </a:solidFill>
          <a:ln/>
        </p:spPr>
      </p:sp>
      <p:sp>
        <p:nvSpPr>
          <p:cNvPr id="6" name="Text 4"/>
          <p:cNvSpPr/>
          <p:nvPr/>
        </p:nvSpPr>
        <p:spPr>
          <a:xfrm>
            <a:off x="457200" y="1106424"/>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 1</a:t>
            </a:r>
            <a:endParaRPr lang="en-US" sz="1400" dirty="0"/>
          </a:p>
        </p:txBody>
      </p:sp>
      <p:sp>
        <p:nvSpPr>
          <p:cNvPr id="7" name="Shape 5"/>
          <p:cNvSpPr/>
          <p:nvPr/>
        </p:nvSpPr>
        <p:spPr>
          <a:xfrm>
            <a:off x="411480" y="1572768"/>
            <a:ext cx="4114800" cy="2011680"/>
          </a:xfrm>
          <a:prstGeom prst="roundRect">
            <a:avLst>
              <a:gd name="adj" fmla="val 4545"/>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664208"/>
            <a:ext cx="3931920" cy="1828800"/>
          </a:xfrm>
          <a:prstGeom prst="rect">
            <a:avLst/>
          </a:prstGeom>
          <a:noFill/>
          <a:ln/>
        </p:spPr>
        <p:txBody>
          <a:bodyPr wrap="square" lIns="0" tIns="0" rIns="0" bIns="0" rtlCol="0" anchor="ctr"/>
          <a:lstStyle/>
          <a:p>
            <a:pPr algn="ctr" indent="0" marL="0">
              <a:buNone/>
            </a:pPr>
            <a:r>
              <a:rPr lang="en-US" sz="1600" dirty="0">
                <a:solidFill>
                  <a:srgbClr val="1E293B"/>
                </a:solidFill>
                <a:latin typeface="Calibri" pitchFamily="34" charset="0"/>
                <a:ea typeface="Calibri" pitchFamily="34" charset="-122"/>
                <a:cs typeface="Calibri" pitchFamily="34" charset="-120"/>
              </a:rPr>
              <a:t>the mouse runs</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the king sits</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she sings</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Despereaux hopes</a:t>
            </a:r>
            <a:endParaRPr lang="en-US" sz="1600" dirty="0"/>
          </a:p>
        </p:txBody>
      </p:sp>
      <p:sp>
        <p:nvSpPr>
          <p:cNvPr id="9" name="Shape 7"/>
          <p:cNvSpPr/>
          <p:nvPr/>
        </p:nvSpPr>
        <p:spPr>
          <a:xfrm>
            <a:off x="4617720" y="1051560"/>
            <a:ext cx="4114800" cy="457200"/>
          </a:xfrm>
          <a:prstGeom prst="roundRect">
            <a:avLst>
              <a:gd name="adj" fmla="val 16000"/>
            </a:avLst>
          </a:prstGeom>
          <a:solidFill>
            <a:srgbClr val="C7922C"/>
          </a:solidFill>
          <a:ln/>
        </p:spPr>
      </p:sp>
      <p:sp>
        <p:nvSpPr>
          <p:cNvPr id="10" name="Text 8"/>
          <p:cNvSpPr/>
          <p:nvPr/>
        </p:nvSpPr>
        <p:spPr>
          <a:xfrm>
            <a:off x="4663440" y="1106424"/>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 2</a:t>
            </a:r>
            <a:endParaRPr lang="en-US" sz="1400" dirty="0"/>
          </a:p>
        </p:txBody>
      </p:sp>
      <p:sp>
        <p:nvSpPr>
          <p:cNvPr id="11" name="Shape 9"/>
          <p:cNvSpPr/>
          <p:nvPr/>
        </p:nvSpPr>
        <p:spPr>
          <a:xfrm>
            <a:off x="4617720" y="1572768"/>
            <a:ext cx="4114800" cy="2011680"/>
          </a:xfrm>
          <a:prstGeom prst="roundRect">
            <a:avLst>
              <a:gd name="adj" fmla="val 4545"/>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664208"/>
            <a:ext cx="3931920" cy="1828800"/>
          </a:xfrm>
          <a:prstGeom prst="rect">
            <a:avLst/>
          </a:prstGeom>
          <a:noFill/>
          <a:ln/>
        </p:spPr>
        <p:txBody>
          <a:bodyPr wrap="square" lIns="0" tIns="0" rIns="0" bIns="0" rtlCol="0" anchor="ctr"/>
          <a:lstStyle/>
          <a:p>
            <a:pPr algn="ctr" indent="0" marL="0">
              <a:buNone/>
            </a:pPr>
            <a:r>
              <a:rPr lang="en-US" sz="1600" dirty="0">
                <a:solidFill>
                  <a:srgbClr val="1E293B"/>
                </a:solidFill>
                <a:latin typeface="Calibri" pitchFamily="34" charset="0"/>
                <a:ea typeface="Calibri" pitchFamily="34" charset="-122"/>
                <a:cs typeface="Calibri" pitchFamily="34" charset="-120"/>
              </a:rPr>
              <a:t>the mice run</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the kings sit</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they sing</a:t>
            </a:r>
            <a:endParaRPr lang="en-US" sz="1600" dirty="0"/>
          </a:p>
          <a:p>
            <a:pPr algn="ctr" indent="0" marL="0">
              <a:buNone/>
            </a:pPr>
            <a:r>
              <a:rPr lang="en-US" sz="1600" dirty="0">
                <a:solidFill>
                  <a:srgbClr val="1E293B"/>
                </a:solidFill>
                <a:latin typeface="Calibri" pitchFamily="34" charset="0"/>
                <a:ea typeface="Calibri" pitchFamily="34" charset="-122"/>
                <a:cs typeface="Calibri" pitchFamily="34" charset="-120"/>
              </a:rPr>
              <a:t>the brothers hope</a:t>
            </a:r>
            <a:endParaRPr lang="en-US" sz="1600" dirty="0"/>
          </a:p>
        </p:txBody>
      </p:sp>
      <p:sp>
        <p:nvSpPr>
          <p:cNvPr id="13" name="Text 11"/>
          <p:cNvSpPr/>
          <p:nvPr/>
        </p:nvSpPr>
        <p:spPr>
          <a:xfrm>
            <a:off x="365760" y="3703320"/>
            <a:ext cx="8412480" cy="41148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Now name the split: what does every word in each group have in common?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POSSESSIVES VS. PLURALS</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mice   ·   spoons   ·   rats   ·   candles   ·   mice's   ·   mouse's   ·   king's   ·   princess's</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Plural (more than one)  |  Possessive (belongs to)</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POSSESSIVES VS. PLURALS</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Plural (more than one)</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mice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spoons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rats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candles</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Possessive (belongs to)</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mice's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mouse's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king's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princess's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24–25</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 untangled her fingers from the cloth and turned her in the direction of the man who had bought her. Mig watched her father walk away, the red tablecloth billowing out behind him.”</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Despereaux makes a decision. What does he decide to do, and what gives him the courage to try?</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Despereaux moves toward the dungeon. What obstacles does he face, and how does he respond to each one?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REVISE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Revise for cause and effect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2026-10-19T11:55:30Z</dcterms:created>
  <dcterms:modified xsi:type="dcterms:W3CDTF">2026-10-19T11:55:30Z</dcterms:modified>
</cp:coreProperties>
</file>