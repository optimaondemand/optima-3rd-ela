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11.1. Reading: Ch. 24–25.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track cause and effect in the plot. Every event causes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Despereaux found a needle and thread and decided to rescue the princess from the dungeon below.
Look for: Did you catch the proper noun (Despereaux), the pronoun (he), the comma before "but," and "because" showing cause and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Despereaux found a needle and thread and decided to rescue the princess from the dungeon below.
Look for: Did you catch the proper noun (Despereaux), the pronoun (he), the comma before "but," and "because" showing cause and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were, was, live, keeps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were, was, live, keeps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-s: spoons, bowls, kettles | -es: dishes, boxes, wishes | y → -ies: stories, ponies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-s: spoons, bowls, kettles | -es: dishes, boxes, wishes | y → -ies: stories, ponies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The Tale of Despereaux</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8B6FC0"/>
                </a:solidFill>
                <a:latin typeface="Calibri" pitchFamily="34" charset="0"/>
                <a:ea typeface="Calibri" pitchFamily="34" charset="-122"/>
                <a:cs typeface="Calibri" pitchFamily="34" charset="-120"/>
              </a:rPr>
              <a:t>Lesson 11.1  ·  Ch. 24–25</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Mig's father sells her, and she watches him walk away. Write about a time you had to say goodbye to someone. How did it feel?</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Mig's father sells her, and she watches him walk away. Write about a time you had to say goodbye to someone. How did it feel?</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use a capital letter for every name?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Ch. 24–25</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What caused Despereaux to end up where he is now?</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track cause and effect in the plot. Every event causes the next.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despereaux found a needle and thread and decided to rescue the princess from the dungeon below</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he was very small and very afraid but he moved forward because the princess needed his help</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despereaux found a needle and thread and decided to rescue the princess from the dungeon below</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he was very small and very afraid but he moved forward because the princess needed his help</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endParaRPr lang="en-US" sz="1400" dirty="0"/>
          </a:p>
          <a:p>
            <a:pPr indent="0" marL="0">
              <a:buNone/>
            </a:pPr>
            <a:r>
              <a:rPr lang="en-US" sz="1400" i="1" dirty="0">
                <a:solidFill>
                  <a:srgbClr val="1E293B"/>
                </a:solidFill>
                <a:latin typeface="Calibri" pitchFamily="34" charset="0"/>
                <a:ea typeface="Calibri" pitchFamily="34" charset="-122"/>
                <a:cs typeface="Calibri" pitchFamily="34" charset="-120"/>
              </a:rPr>
              <a:t>1. Despereaux found a needle and thread and decided to rescue the princess from the dungeon below.</a:t>
            </a: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Did you catch the proper noun (Despereaux), the pronoun (he), the comma before "but," and "because" showing cause and effect?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-NESS</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darkness — base word: dark</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kindness — base word: kind</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sadness — base word: sad</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goodness — base word: good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VOCABULARY</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clout  </a:t>
            </a:r>
            <a:pPr indent="0" marL="0">
              <a:buNone/>
            </a:pPr>
            <a:r>
              <a:rPr lang="en-US" sz="1400" dirty="0">
                <a:solidFill>
                  <a:srgbClr val="1E293B"/>
                </a:solidFill>
                <a:latin typeface="Calibri" pitchFamily="34" charset="0"/>
                <a:ea typeface="Calibri" pitchFamily="34" charset="-122"/>
                <a:cs typeface="Calibri" pitchFamily="34" charset="-120"/>
              </a:rPr>
              <a:t>A hard hit or blow, usually with an open hand.</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deaf  </a:t>
            </a:r>
            <a:pPr indent="0" marL="0">
              <a:buNone/>
            </a:pPr>
            <a:r>
              <a:rPr lang="en-US" sz="1400" dirty="0">
                <a:solidFill>
                  <a:srgbClr val="1E293B"/>
                </a:solidFill>
                <a:latin typeface="Calibri" pitchFamily="34" charset="0"/>
                <a:ea typeface="Calibri" pitchFamily="34" charset="-122"/>
                <a:cs typeface="Calibri" pitchFamily="34" charset="-120"/>
              </a:rPr>
              <a:t>Unable to hear, or unable to hear well.</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servant  </a:t>
            </a:r>
            <a:pPr indent="0" marL="0">
              <a:buNone/>
            </a:pPr>
            <a:r>
              <a:rPr lang="en-US" sz="1400" dirty="0">
                <a:solidFill>
                  <a:srgbClr val="1E293B"/>
                </a:solidFill>
                <a:latin typeface="Calibri" pitchFamily="34" charset="0"/>
                <a:ea typeface="Calibri" pitchFamily="34" charset="-122"/>
                <a:cs typeface="Calibri" pitchFamily="34" charset="-120"/>
              </a:rPr>
              <a:t>Someone whose job is to work in another person's household.</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tablecloth  </a:t>
            </a:r>
            <a:pPr indent="0" marL="0">
              <a:buNone/>
            </a:pPr>
            <a:r>
              <a:rPr lang="en-US" sz="1400" dirty="0">
                <a:solidFill>
                  <a:srgbClr val="1E293B"/>
                </a:solidFill>
                <a:latin typeface="Calibri" pitchFamily="34" charset="0"/>
                <a:ea typeface="Calibri" pitchFamily="34" charset="-122"/>
                <a:cs typeface="Calibri" pitchFamily="34" charset="-120"/>
              </a:rPr>
              <a:t>A cloth spread over a table; here, what Mig was traded for.</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SUBJECT-VERB AGREEMENT</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mice were afraid of the dungeon.</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Mig was almost deaf from the clouts.</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rats live below the castle.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Uncle keeps the kettle by the fire.</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Find the verb, then check that it matches its subject. Tap a word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SUBJECT-VERB AGREEMENT</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mice </a:t>
            </a:r>
            <a:pPr indent="0" marL="0">
              <a:buNone/>
            </a:pPr>
            <a:r>
              <a:rPr lang="en-US" sz="1600" b="1" dirty="0">
                <a:solidFill>
                  <a:srgbClr val="34B76F"/>
                </a:solidFill>
                <a:latin typeface="Calibri" pitchFamily="34" charset="0"/>
                <a:ea typeface="Calibri" pitchFamily="34" charset="-122"/>
                <a:cs typeface="Calibri" pitchFamily="34" charset="-120"/>
              </a:rPr>
              <a:t>were</a:t>
            </a:r>
            <a:pPr indent="0" marL="0">
              <a:buNone/>
            </a:pPr>
            <a:r>
              <a:rPr lang="en-US" sz="1600" dirty="0">
                <a:solidFill>
                  <a:srgbClr val="1E293B"/>
                </a:solidFill>
                <a:latin typeface="Calibri" pitchFamily="34" charset="0"/>
                <a:ea typeface="Calibri" pitchFamily="34" charset="-122"/>
                <a:cs typeface="Calibri" pitchFamily="34" charset="-120"/>
              </a:rPr>
              <a:t> afraid of the dungeon.</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Mig </a:t>
            </a:r>
            <a:pPr indent="0" marL="0">
              <a:buNone/>
            </a:pPr>
            <a:r>
              <a:rPr lang="en-US" sz="1600" b="1" dirty="0">
                <a:solidFill>
                  <a:srgbClr val="34B76F"/>
                </a:solidFill>
                <a:latin typeface="Calibri" pitchFamily="34" charset="0"/>
                <a:ea typeface="Calibri" pitchFamily="34" charset="-122"/>
                <a:cs typeface="Calibri" pitchFamily="34" charset="-120"/>
              </a:rPr>
              <a:t>was</a:t>
            </a:r>
            <a:pPr indent="0" marL="0">
              <a:buNone/>
            </a:pPr>
            <a:r>
              <a:rPr lang="en-US" sz="1600" dirty="0">
                <a:solidFill>
                  <a:srgbClr val="1E293B"/>
                </a:solidFill>
                <a:latin typeface="Calibri" pitchFamily="34" charset="0"/>
                <a:ea typeface="Calibri" pitchFamily="34" charset="-122"/>
                <a:cs typeface="Calibri" pitchFamily="34" charset="-120"/>
              </a:rPr>
              <a:t> almost deaf from the clouts.</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rats </a:t>
            </a:r>
            <a:pPr indent="0" marL="0">
              <a:buNone/>
            </a:pPr>
            <a:r>
              <a:rPr lang="en-US" sz="1600" b="1" dirty="0">
                <a:solidFill>
                  <a:srgbClr val="34B76F"/>
                </a:solidFill>
                <a:latin typeface="Calibri" pitchFamily="34" charset="0"/>
                <a:ea typeface="Calibri" pitchFamily="34" charset="-122"/>
                <a:cs typeface="Calibri" pitchFamily="34" charset="-120"/>
              </a:rPr>
              <a:t>live</a:t>
            </a:r>
            <a:pPr indent="0" marL="0">
              <a:buNone/>
            </a:pPr>
            <a:r>
              <a:rPr lang="en-US" sz="1600" dirty="0">
                <a:solidFill>
                  <a:srgbClr val="1E293B"/>
                </a:solidFill>
                <a:latin typeface="Calibri" pitchFamily="34" charset="0"/>
                <a:ea typeface="Calibri" pitchFamily="34" charset="-122"/>
                <a:cs typeface="Calibri" pitchFamily="34" charset="-120"/>
              </a:rPr>
              <a:t> below the castle.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Uncle </a:t>
            </a:r>
            <a:pPr indent="0" marL="0">
              <a:buNone/>
            </a:pPr>
            <a:r>
              <a:rPr lang="en-US" sz="1600" b="1" dirty="0">
                <a:solidFill>
                  <a:srgbClr val="34B76F"/>
                </a:solidFill>
                <a:latin typeface="Calibri" pitchFamily="34" charset="0"/>
                <a:ea typeface="Calibri" pitchFamily="34" charset="-122"/>
                <a:cs typeface="Calibri" pitchFamily="34" charset="-120"/>
              </a:rPr>
              <a:t>keeps</a:t>
            </a:r>
            <a:pPr indent="0" marL="0">
              <a:buNone/>
            </a:pPr>
            <a:r>
              <a:rPr lang="en-US" sz="1600" dirty="0">
                <a:solidFill>
                  <a:srgbClr val="1E293B"/>
                </a:solidFill>
                <a:latin typeface="Calibri" pitchFamily="34" charset="0"/>
                <a:ea typeface="Calibri" pitchFamily="34" charset="-122"/>
                <a:cs typeface="Calibri" pitchFamily="34" charset="-120"/>
              </a:rPr>
              <a:t> the kettle by the fire.</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PLURALS: -S, -ES, AND -IES</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spoons   ·   bowls   ·   kettles   ·   dishes   ·   boxes   ·   wishes   ·   stories   ·   ponies</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just -s  |  -es  |  y → -ies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PLURALS: -S, -ES, AND -IES</a:t>
            </a:r>
            <a:endParaRPr lang="en-US" sz="1100" dirty="0"/>
          </a:p>
        </p:txBody>
      </p:sp>
      <p:sp>
        <p:nvSpPr>
          <p:cNvPr id="5" name="Shape 3"/>
          <p:cNvSpPr/>
          <p:nvPr/>
        </p:nvSpPr>
        <p:spPr>
          <a:xfrm>
            <a:off x="411480" y="1078992"/>
            <a:ext cx="2712720" cy="457200"/>
          </a:xfrm>
          <a:prstGeom prst="roundRect">
            <a:avLst>
              <a:gd name="adj" fmla="val 16000"/>
            </a:avLst>
          </a:prstGeom>
          <a:solidFill>
            <a:srgbClr val="0E1C42"/>
          </a:solidFill>
          <a:ln/>
        </p:spPr>
      </p:sp>
      <p:sp>
        <p:nvSpPr>
          <p:cNvPr id="6" name="Text 4"/>
          <p:cNvSpPr/>
          <p:nvPr/>
        </p:nvSpPr>
        <p:spPr>
          <a:xfrm>
            <a:off x="457200" y="1133856"/>
            <a:ext cx="262128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just -s</a:t>
            </a:r>
            <a:endParaRPr lang="en-US" sz="1300" dirty="0"/>
          </a:p>
        </p:txBody>
      </p:sp>
      <p:sp>
        <p:nvSpPr>
          <p:cNvPr id="7" name="Shape 5"/>
          <p:cNvSpPr/>
          <p:nvPr/>
        </p:nvSpPr>
        <p:spPr>
          <a:xfrm>
            <a:off x="411480" y="1591056"/>
            <a:ext cx="271272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252984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spoons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bowls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kettles</a:t>
            </a:r>
            <a:endParaRPr lang="en-US" sz="1400" dirty="0"/>
          </a:p>
        </p:txBody>
      </p:sp>
      <p:sp>
        <p:nvSpPr>
          <p:cNvPr id="9" name="Shape 7"/>
          <p:cNvSpPr/>
          <p:nvPr/>
        </p:nvSpPr>
        <p:spPr>
          <a:xfrm>
            <a:off x="3215640" y="1078992"/>
            <a:ext cx="2712720" cy="457200"/>
          </a:xfrm>
          <a:prstGeom prst="roundRect">
            <a:avLst>
              <a:gd name="adj" fmla="val 16000"/>
            </a:avLst>
          </a:prstGeom>
          <a:solidFill>
            <a:srgbClr val="0E1C42"/>
          </a:solidFill>
          <a:ln/>
        </p:spPr>
      </p:sp>
      <p:sp>
        <p:nvSpPr>
          <p:cNvPr id="10" name="Text 8"/>
          <p:cNvSpPr/>
          <p:nvPr/>
        </p:nvSpPr>
        <p:spPr>
          <a:xfrm>
            <a:off x="3261360" y="1133856"/>
            <a:ext cx="262128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-es</a:t>
            </a:r>
            <a:endParaRPr lang="en-US" sz="1300" dirty="0"/>
          </a:p>
        </p:txBody>
      </p:sp>
      <p:sp>
        <p:nvSpPr>
          <p:cNvPr id="11" name="Shape 9"/>
          <p:cNvSpPr/>
          <p:nvPr/>
        </p:nvSpPr>
        <p:spPr>
          <a:xfrm>
            <a:off x="3215640" y="1591056"/>
            <a:ext cx="271272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3307080" y="1700784"/>
            <a:ext cx="252984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dishes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boxes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wishes</a:t>
            </a:r>
            <a:endParaRPr lang="en-US" sz="1400" dirty="0"/>
          </a:p>
        </p:txBody>
      </p:sp>
      <p:sp>
        <p:nvSpPr>
          <p:cNvPr id="13" name="Shape 11"/>
          <p:cNvSpPr/>
          <p:nvPr/>
        </p:nvSpPr>
        <p:spPr>
          <a:xfrm>
            <a:off x="6019800" y="1078992"/>
            <a:ext cx="2712720" cy="457200"/>
          </a:xfrm>
          <a:prstGeom prst="roundRect">
            <a:avLst>
              <a:gd name="adj" fmla="val 16000"/>
            </a:avLst>
          </a:prstGeom>
          <a:solidFill>
            <a:srgbClr val="0E1C42"/>
          </a:solidFill>
          <a:ln/>
        </p:spPr>
      </p:sp>
      <p:sp>
        <p:nvSpPr>
          <p:cNvPr id="14" name="Text 12"/>
          <p:cNvSpPr/>
          <p:nvPr/>
        </p:nvSpPr>
        <p:spPr>
          <a:xfrm>
            <a:off x="6065520" y="1133856"/>
            <a:ext cx="262128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 → -ies</a:t>
            </a:r>
            <a:endParaRPr lang="en-US" sz="1300" dirty="0"/>
          </a:p>
        </p:txBody>
      </p:sp>
      <p:sp>
        <p:nvSpPr>
          <p:cNvPr id="15" name="Shape 13"/>
          <p:cNvSpPr/>
          <p:nvPr/>
        </p:nvSpPr>
        <p:spPr>
          <a:xfrm>
            <a:off x="6019800" y="1591056"/>
            <a:ext cx="271272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6" name="Text 14"/>
          <p:cNvSpPr/>
          <p:nvPr/>
        </p:nvSpPr>
        <p:spPr>
          <a:xfrm>
            <a:off x="6111240" y="1700784"/>
            <a:ext cx="252984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stories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ponies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Ch. 24–25</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“He untangled her fingers from the cloth and turned her in the direction of the man who had bought her. Mig watched her father walk away, the red tablecloth billowing out behind him.”</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What caused Despereaux to end up where he is now?</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What caused Roscuro to feel the way he does?</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What might happen as a result of what Mig and Roscuro did together?</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REVISE</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Revise for cause and effect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2026-09-07T02:49:07Z</dcterms:created>
  <dcterms:modified xsi:type="dcterms:W3CDTF">2026-09-07T02:49:07Z</dcterms:modified>
</cp:coreProperties>
</file>