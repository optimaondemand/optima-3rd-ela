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11.1. Reading: Ch. 24–25.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prompt aloud. Give students a moment to think before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minutes of sustained writing. Stamina over polish. Do not correct spelling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fix only. Editing is conventions; revision is ideas. Name which one you are asking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or three volunteers. Praise something specific in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lens: Good readers track cause and effect in the plot. Every event causes the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Corrected:  1. Despereaux found a needle and thread and decided to rescue the princess from the dungeon below.
Look for: Did you catch the proper noun (Despereaux), the pronoun (he), the comma before "but," and "because" showing cause and effect?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Corrected:  1. Despereaux found a needle and thread and decided to rescue the princess from the dungeon below.
Look for: Did you catch the proper noun (Despereaux), the pronoun (he), the comma before "but," and "because" showing cause and effect?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Break the word into base + word part. Ask what the part adds to the meaning.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word appears in the chapters read this week, in the author’s own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were, was, live, keeps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were, was, live, keeps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just -s: spoons, bowls, kettles | -es: dishes, boxes, wishes | y → -ies: stories, ponies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just -s: spoons, bowls, kettles | -es: dishes, boxes, wishes | y → -ies: stories, ponies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chapters, then return to the pause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Writer’s Workshop stage for the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3D1A6B"/>
        </a:solidFill>
      </p:bgPr>
    </p:bg>
    <p:spTree>
      <p:nvGrpSpPr>
        <p:cNvPr id="1" name=""/>
        <p:cNvGrpSpPr/>
        <p:nvPr/>
      </p:nvGrpSpPr>
      <p:grpSpPr>
        <a:xfrm>
          <a:off x="0" y="0"/>
          <a:ext cx="0" cy="0"/>
          <a:chOff x="0" y="0"/>
          <a:chExt cx="0" cy="0"/>
        </a:xfrm>
      </p:grpSpPr>
      <p:sp>
        <p:nvSpPr>
          <p:cNvPr id="2" name="Text 0"/>
          <p:cNvSpPr/>
          <p:nvPr/>
        </p:nvSpPr>
        <p:spPr>
          <a:xfrm>
            <a:off x="0" y="822960"/>
            <a:ext cx="9144000" cy="822960"/>
          </a:xfrm>
          <a:prstGeom prst="rect">
            <a:avLst/>
          </a:prstGeom>
          <a:noFill/>
          <a:ln/>
        </p:spPr>
        <p:txBody>
          <a:bodyPr wrap="square" lIns="0" tIns="0" rIns="0" bIns="0" rtlCol="0" anchor="ctr"/>
          <a:lstStyle/>
          <a:p>
            <a:pPr algn="ctr" indent="0" marL="0">
              <a:buNone/>
            </a:pPr>
            <a:r>
              <a:rPr lang="en-US" sz="5200" dirty="0">
                <a:solidFill>
                  <a:srgbClr val="000000"/>
                </a:solidFill>
              </a:rPr>
              <a:t>🐭</a:t>
            </a:r>
            <a:endParaRPr lang="en-US" sz="5200" dirty="0"/>
          </a:p>
        </p:txBody>
      </p:sp>
      <p:sp>
        <p:nvSpPr>
          <p:cNvPr id="3" name="Text 1"/>
          <p:cNvSpPr/>
          <p:nvPr/>
        </p:nvSpPr>
        <p:spPr>
          <a:xfrm>
            <a:off x="457200" y="1691640"/>
            <a:ext cx="8229600" cy="566928"/>
          </a:xfrm>
          <a:prstGeom prst="rect">
            <a:avLst/>
          </a:prstGeom>
          <a:noFill/>
          <a:ln/>
        </p:spPr>
        <p:txBody>
          <a:bodyPr wrap="square" lIns="0" tIns="0" rIns="0" bIns="0" rtlCol="0" anchor="ctr"/>
          <a:lstStyle/>
          <a:p>
            <a:pPr algn="ctr" indent="0" marL="0">
              <a:buNone/>
            </a:pPr>
            <a:r>
              <a:rPr lang="en-US" sz="3400" b="1" dirty="0">
                <a:solidFill>
                  <a:srgbClr val="FFFFFF"/>
                </a:solidFill>
                <a:latin typeface="Calibri" pitchFamily="34" charset="0"/>
                <a:ea typeface="Calibri" pitchFamily="34" charset="-122"/>
                <a:cs typeface="Calibri" pitchFamily="34" charset="-120"/>
              </a:rPr>
              <a:t>The Tale of Despereaux</a:t>
            </a:r>
            <a:endParaRPr lang="en-US" sz="3400" dirty="0"/>
          </a:p>
        </p:txBody>
      </p:sp>
      <p:sp>
        <p:nvSpPr>
          <p:cNvPr id="4" name="Text 2"/>
          <p:cNvSpPr/>
          <p:nvPr/>
        </p:nvSpPr>
        <p:spPr>
          <a:xfrm>
            <a:off x="457200" y="2331720"/>
            <a:ext cx="8229600" cy="411480"/>
          </a:xfrm>
          <a:prstGeom prst="rect">
            <a:avLst/>
          </a:prstGeom>
          <a:noFill/>
          <a:ln/>
        </p:spPr>
        <p:txBody>
          <a:bodyPr wrap="square" lIns="0" tIns="0" rIns="0" bIns="0" rtlCol="0" anchor="ctr"/>
          <a:lstStyle/>
          <a:p>
            <a:pPr algn="ctr" indent="0" marL="0">
              <a:buNone/>
            </a:pPr>
            <a:r>
              <a:rPr lang="en-US" sz="2000" dirty="0">
                <a:solidFill>
                  <a:srgbClr val="8B6FC0"/>
                </a:solidFill>
                <a:latin typeface="Calibri" pitchFamily="34" charset="0"/>
                <a:ea typeface="Calibri" pitchFamily="34" charset="-122"/>
                <a:cs typeface="Calibri" pitchFamily="34" charset="-120"/>
              </a:rPr>
              <a:t>Lesson 11.1  ·  Ch. 24–25</a:t>
            </a:r>
            <a:endParaRPr lang="en-US" sz="2000" dirty="0"/>
          </a:p>
        </p:txBody>
      </p:sp>
      <p:sp>
        <p:nvSpPr>
          <p:cNvPr id="5" name="Text 3"/>
          <p:cNvSpPr/>
          <p:nvPr/>
        </p:nvSpPr>
        <p:spPr>
          <a:xfrm>
            <a:off x="457200" y="2880360"/>
            <a:ext cx="8229600" cy="320040"/>
          </a:xfrm>
          <a:prstGeom prst="rect">
            <a:avLst/>
          </a:prstGeom>
          <a:noFill/>
          <a:ln/>
        </p:spPr>
        <p:txBody>
          <a:bodyPr wrap="square" lIns="0" tIns="0" rIns="0" bIns="0" rtlCol="0" anchor="ctr"/>
          <a:lstStyle/>
          <a:p>
            <a:pPr algn="ctr" indent="0" marL="0">
              <a:buNone/>
            </a:pPr>
            <a:r>
              <a:rPr lang="en-US" sz="1400" dirty="0">
                <a:solidFill>
                  <a:srgbClr val="C9BCE4"/>
                </a:solidFill>
                <a:latin typeface="Calibri" pitchFamily="34" charset="0"/>
                <a:ea typeface="Calibri" pitchFamily="34" charset="-122"/>
                <a:cs typeface="Calibri" pitchFamily="34" charset="-120"/>
              </a:rPr>
              <a:t>Grade 3 ELA  ·  Virtue: Courage</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C7922C"/>
          </a:solidFill>
          <a:ln/>
        </p:spPr>
      </p:sp>
      <p:sp>
        <p:nvSpPr>
          <p:cNvPr id="3" name="Text 1"/>
          <p:cNvSpPr/>
          <p:nvPr/>
        </p:nvSpPr>
        <p:spPr>
          <a:xfrm>
            <a:off x="365760" y="54864"/>
            <a:ext cx="841248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10-Minute Write</a:t>
            </a:r>
            <a:endParaRPr lang="en-US" sz="2200" dirty="0"/>
          </a:p>
        </p:txBody>
      </p:sp>
      <p:sp>
        <p:nvSpPr>
          <p:cNvPr id="4" name="Text 2"/>
          <p:cNvSpPr/>
          <p:nvPr/>
        </p:nvSpPr>
        <p:spPr>
          <a:xfrm>
            <a:off x="365760" y="822960"/>
            <a:ext cx="8229600" cy="237744"/>
          </a:xfrm>
          <a:prstGeom prst="rect">
            <a:avLst/>
          </a:prstGeom>
          <a:noFill/>
          <a:ln/>
        </p:spPr>
        <p:txBody>
          <a:bodyPr wrap="square" lIns="0" tIns="0" rIns="0" bIns="0" rtlCol="0" anchor="ctr"/>
          <a:lstStyle/>
          <a:p>
            <a:pPr indent="0" marL="0">
              <a:buNone/>
            </a:pPr>
            <a:r>
              <a:rPr lang="en-US" sz="1100" b="1" spc="100" kern="0" dirty="0">
                <a:solidFill>
                  <a:srgbClr val="C7922C"/>
                </a:solidFill>
                <a:latin typeface="Calibri" pitchFamily="34" charset="0"/>
                <a:ea typeface="Calibri" pitchFamily="34" charset="-122"/>
                <a:cs typeface="Calibri" pitchFamily="34" charset="-120"/>
              </a:rPr>
              <a:t>READ THE PROMPT — 1 MINUTE</a:t>
            </a:r>
            <a:endParaRPr lang="en-US" sz="1100" dirty="0"/>
          </a:p>
        </p:txBody>
      </p:sp>
      <p:sp>
        <p:nvSpPr>
          <p:cNvPr id="5" name="Shape 3"/>
          <p:cNvSpPr/>
          <p:nvPr/>
        </p:nvSpPr>
        <p:spPr>
          <a:xfrm>
            <a:off x="365760" y="1143000"/>
            <a:ext cx="8412480" cy="1737360"/>
          </a:xfrm>
          <a:prstGeom prst="roundRect">
            <a:avLst>
              <a:gd name="adj" fmla="val 5263"/>
            </a:avLst>
          </a:prstGeom>
          <a:solidFill>
            <a:srgbClr val="FEF6E8"/>
          </a:solidFill>
          <a:ln w="19050">
            <a:solidFill>
              <a:srgbClr val="C7922C"/>
            </a:solidFill>
            <a:prstDash val="solid"/>
          </a:ln>
          <a:effectLst>
            <a:outerShdw sx="100000" sy="100000" kx="0" ky="0" algn="bl" rotWithShape="0" blurRad="101600" dist="38100" dir="2700000">
              <a:srgbClr val="000000">
                <a:alpha val="12000"/>
              </a:srgbClr>
            </a:outerShdw>
          </a:effectLst>
        </p:spPr>
      </p:sp>
      <p:sp>
        <p:nvSpPr>
          <p:cNvPr id="6" name="Text 4"/>
          <p:cNvSpPr/>
          <p:nvPr/>
        </p:nvSpPr>
        <p:spPr>
          <a:xfrm>
            <a:off x="594360" y="1271016"/>
            <a:ext cx="7955280" cy="1481328"/>
          </a:xfrm>
          <a:prstGeom prst="rect">
            <a:avLst/>
          </a:prstGeom>
          <a:noFill/>
          <a:ln/>
        </p:spPr>
        <p:txBody>
          <a:bodyPr wrap="square" lIns="0" tIns="0" rIns="0" bIns="0" rtlCol="0" anchor="ctr"/>
          <a:lstStyle/>
          <a:p>
            <a:pPr indent="0" marL="0">
              <a:buNone/>
            </a:pPr>
            <a:r>
              <a:rPr lang="en-US" sz="1700" dirty="0">
                <a:solidFill>
                  <a:srgbClr val="1E293B"/>
                </a:solidFill>
                <a:latin typeface="Calibri" pitchFamily="34" charset="0"/>
                <a:ea typeface="Calibri" pitchFamily="34" charset="-122"/>
                <a:cs typeface="Calibri" pitchFamily="34" charset="-120"/>
              </a:rPr>
              <a:t>Mig's father sells her, and she watches him walk away. Write about a time you had to say goodbye to someone. How did it feel?</a:t>
            </a:r>
            <a:endParaRPr lang="en-US" sz="1700" dirty="0"/>
          </a:p>
        </p:txBody>
      </p:sp>
      <p:sp>
        <p:nvSpPr>
          <p:cNvPr id="7" name="Text 5"/>
          <p:cNvSpPr/>
          <p:nvPr/>
        </p:nvSpPr>
        <p:spPr>
          <a:xfrm>
            <a:off x="365760" y="3063240"/>
            <a:ext cx="8412480" cy="365760"/>
          </a:xfrm>
          <a:prstGeom prst="rect">
            <a:avLst/>
          </a:prstGeom>
          <a:noFill/>
          <a:ln/>
        </p:spPr>
        <p:txBody>
          <a:bodyPr wrap="square" lIns="0" tIns="0" rIns="0" bIns="0" rtlCol="0" anchor="ctr"/>
          <a:lstStyle/>
          <a:p>
            <a:pPr indent="0" marL="0">
              <a:buNone/>
            </a:pPr>
            <a:r>
              <a:rPr lang="en-US" sz="1600" i="1" dirty="0">
                <a:solidFill>
                  <a:srgbClr val="64748B"/>
                </a:solidFill>
                <a:latin typeface="Calibri" pitchFamily="34" charset="0"/>
                <a:ea typeface="Calibri" pitchFamily="34" charset="-122"/>
                <a:cs typeface="Calibri" pitchFamily="34" charset="-120"/>
              </a:rPr>
              <a:t>Think first. You will have five minutes to write.</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EF6E8"/>
        </a:solidFill>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C7922C"/>
          </a:solidFill>
          <a:ln/>
        </p:spPr>
      </p:sp>
      <p:sp>
        <p:nvSpPr>
          <p:cNvPr id="3" name="Text 1"/>
          <p:cNvSpPr/>
          <p:nvPr/>
        </p:nvSpPr>
        <p:spPr>
          <a:xfrm>
            <a:off x="365760" y="54864"/>
            <a:ext cx="841248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Writing Time</a:t>
            </a:r>
            <a:endParaRPr lang="en-US" sz="2200" dirty="0"/>
          </a:p>
        </p:txBody>
      </p:sp>
      <p:sp>
        <p:nvSpPr>
          <p:cNvPr id="4" name="Text 2"/>
          <p:cNvSpPr/>
          <p:nvPr/>
        </p:nvSpPr>
        <p:spPr>
          <a:xfrm>
            <a:off x="365760" y="868680"/>
            <a:ext cx="8412480" cy="502920"/>
          </a:xfrm>
          <a:prstGeom prst="rect">
            <a:avLst/>
          </a:prstGeom>
          <a:noFill/>
          <a:ln/>
        </p:spPr>
        <p:txBody>
          <a:bodyPr wrap="square" lIns="0" tIns="0" rIns="0" bIns="0" rtlCol="0" anchor="ctr"/>
          <a:lstStyle/>
          <a:p>
            <a:pPr indent="0" marL="0">
              <a:buNone/>
            </a:pPr>
            <a:r>
              <a:rPr lang="en-US" sz="2600" b="1" dirty="0">
                <a:solidFill>
                  <a:srgbClr val="0E1C42"/>
                </a:solidFill>
                <a:latin typeface="Calibri" pitchFamily="34" charset="0"/>
                <a:ea typeface="Calibri" pitchFamily="34" charset="-122"/>
                <a:cs typeface="Calibri" pitchFamily="34" charset="-120"/>
              </a:rPr>
              <a:t>5 minutes — keep your pencil moving!</a:t>
            </a:r>
            <a:endParaRPr lang="en-US" sz="2600" dirty="0"/>
          </a:p>
        </p:txBody>
      </p:sp>
      <p:sp>
        <p:nvSpPr>
          <p:cNvPr id="5" name="Text 3"/>
          <p:cNvSpPr/>
          <p:nvPr/>
        </p:nvSpPr>
        <p:spPr>
          <a:xfrm>
            <a:off x="365760" y="1463040"/>
            <a:ext cx="8229600" cy="237744"/>
          </a:xfrm>
          <a:prstGeom prst="rect">
            <a:avLst/>
          </a:prstGeom>
          <a:noFill/>
          <a:ln/>
        </p:spPr>
        <p:txBody>
          <a:bodyPr wrap="square" lIns="0" tIns="0" rIns="0" bIns="0" rtlCol="0" anchor="ctr"/>
          <a:lstStyle/>
          <a:p>
            <a:pPr indent="0" marL="0">
              <a:buNone/>
            </a:pPr>
            <a:r>
              <a:rPr lang="en-US" sz="1100" b="1" spc="100" kern="0" dirty="0">
                <a:solidFill>
                  <a:srgbClr val="C7922C"/>
                </a:solidFill>
                <a:latin typeface="Calibri" pitchFamily="34" charset="0"/>
                <a:ea typeface="Calibri" pitchFamily="34" charset="-122"/>
                <a:cs typeface="Calibri" pitchFamily="34" charset="-120"/>
              </a:rPr>
              <a:t>YOUR PROMPT</a:t>
            </a:r>
            <a:endParaRPr lang="en-US" sz="1100" dirty="0"/>
          </a:p>
        </p:txBody>
      </p:sp>
      <p:sp>
        <p:nvSpPr>
          <p:cNvPr id="6" name="Shape 4"/>
          <p:cNvSpPr/>
          <p:nvPr/>
        </p:nvSpPr>
        <p:spPr>
          <a:xfrm>
            <a:off x="365760" y="1737360"/>
            <a:ext cx="8412480" cy="1417320"/>
          </a:xfrm>
          <a:prstGeom prst="roundRect">
            <a:avLst>
              <a:gd name="adj" fmla="val 6452"/>
            </a:avLst>
          </a:prstGeom>
          <a:solidFill>
            <a:srgbClr val="FFFFFF"/>
          </a:solidFill>
          <a:ln w="19050">
            <a:solidFill>
              <a:srgbClr val="C7922C"/>
            </a:solidFill>
            <a:prstDash val="solid"/>
          </a:ln>
          <a:effectLst>
            <a:outerShdw sx="100000" sy="100000" kx="0" ky="0" algn="bl" rotWithShape="0" blurRad="101600" dist="38100" dir="2700000">
              <a:srgbClr val="000000">
                <a:alpha val="12000"/>
              </a:srgbClr>
            </a:outerShdw>
          </a:effectLst>
        </p:spPr>
      </p:sp>
      <p:sp>
        <p:nvSpPr>
          <p:cNvPr id="7" name="Text 5"/>
          <p:cNvSpPr/>
          <p:nvPr/>
        </p:nvSpPr>
        <p:spPr>
          <a:xfrm>
            <a:off x="594360" y="1865376"/>
            <a:ext cx="7955280" cy="1161288"/>
          </a:xfrm>
          <a:prstGeom prst="rect">
            <a:avLst/>
          </a:prstGeom>
          <a:noFill/>
          <a:ln/>
        </p:spPr>
        <p:txBody>
          <a:bodyPr wrap="square" lIns="0" tIns="0" rIns="0" bIns="0" rtlCol="0" anchor="ctr"/>
          <a:lstStyle/>
          <a:p>
            <a:pPr indent="0" marL="0">
              <a:buNone/>
            </a:pPr>
            <a:r>
              <a:rPr lang="en-US" sz="1700" dirty="0">
                <a:solidFill>
                  <a:srgbClr val="1E293B"/>
                </a:solidFill>
                <a:latin typeface="Calibri" pitchFamily="34" charset="0"/>
                <a:ea typeface="Calibri" pitchFamily="34" charset="-122"/>
                <a:cs typeface="Calibri" pitchFamily="34" charset="-120"/>
              </a:rPr>
              <a:t>Mig's father sells her, and she watches him walk away. Write about a time you had to say goodbye to someone. How did it feel?</a:t>
            </a:r>
            <a:endParaRPr lang="en-US" sz="1700" dirty="0"/>
          </a:p>
        </p:txBody>
      </p:sp>
      <p:sp>
        <p:nvSpPr>
          <p:cNvPr id="8" name="Text 6"/>
          <p:cNvSpPr/>
          <p:nvPr/>
        </p:nvSpPr>
        <p:spPr>
          <a:xfrm>
            <a:off x="365760" y="3291840"/>
            <a:ext cx="8412480" cy="365760"/>
          </a:xfrm>
          <a:prstGeom prst="rect">
            <a:avLst/>
          </a:prstGeom>
          <a:noFill/>
          <a:ln/>
        </p:spPr>
        <p:txBody>
          <a:bodyPr wrap="square" lIns="0" tIns="0" rIns="0" bIns="0" rtlCol="0" anchor="ctr"/>
          <a:lstStyle/>
          <a:p>
            <a:pPr indent="0" marL="0">
              <a:buNone/>
            </a:pPr>
            <a:r>
              <a:rPr lang="en-US" sz="1500" i="1" dirty="0">
                <a:solidFill>
                  <a:srgbClr val="64748B"/>
                </a:solidFill>
                <a:latin typeface="Calibri" pitchFamily="34" charset="0"/>
                <a:ea typeface="Calibri" pitchFamily="34" charset="-122"/>
                <a:cs typeface="Calibri" pitchFamily="34" charset="-120"/>
              </a:rPr>
              <a:t>Do not stop to erase. If you get stuck, write the last word again and keep going.</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8F8EF"/>
        </a:solidFill>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34B76F"/>
          </a:solidFill>
          <a:ln/>
        </p:spPr>
      </p:sp>
      <p:sp>
        <p:nvSpPr>
          <p:cNvPr id="3" name="Text 1"/>
          <p:cNvSpPr/>
          <p:nvPr/>
        </p:nvSpPr>
        <p:spPr>
          <a:xfrm>
            <a:off x="365760" y="54864"/>
            <a:ext cx="841248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Edit &amp; Revise</a:t>
            </a:r>
            <a:endParaRPr lang="en-US" sz="2200" dirty="0"/>
          </a:p>
        </p:txBody>
      </p:sp>
      <p:sp>
        <p:nvSpPr>
          <p:cNvPr id="4" name="Text 2"/>
          <p:cNvSpPr/>
          <p:nvPr/>
        </p:nvSpPr>
        <p:spPr>
          <a:xfrm>
            <a:off x="365760" y="868680"/>
            <a:ext cx="8412480" cy="457200"/>
          </a:xfrm>
          <a:prstGeom prst="rect">
            <a:avLst/>
          </a:prstGeom>
          <a:noFill/>
          <a:ln/>
        </p:spPr>
        <p:txBody>
          <a:bodyPr wrap="square" lIns="0" tIns="0" rIns="0" bIns="0" rtlCol="0" anchor="ctr"/>
          <a:lstStyle/>
          <a:p>
            <a:pPr indent="0" marL="0">
              <a:buNone/>
            </a:pPr>
            <a:r>
              <a:rPr lang="en-US" sz="2400" b="1" dirty="0">
                <a:solidFill>
                  <a:srgbClr val="0E1C42"/>
                </a:solidFill>
                <a:latin typeface="Calibri" pitchFamily="34" charset="0"/>
                <a:ea typeface="Calibri" pitchFamily="34" charset="-122"/>
                <a:cs typeface="Calibri" pitchFamily="34" charset="-120"/>
              </a:rPr>
              <a:t>1 minute — pick ONE thing to fix.</a:t>
            </a:r>
            <a:endParaRPr lang="en-US" sz="2400" dirty="0"/>
          </a:p>
        </p:txBody>
      </p:sp>
      <p:sp>
        <p:nvSpPr>
          <p:cNvPr id="5" name="Text 3"/>
          <p:cNvSpPr/>
          <p:nvPr/>
        </p:nvSpPr>
        <p:spPr>
          <a:xfrm>
            <a:off x="365760" y="1417320"/>
            <a:ext cx="8229600" cy="237744"/>
          </a:xfrm>
          <a:prstGeom prst="rect">
            <a:avLst/>
          </a:prstGeom>
          <a:noFill/>
          <a:ln/>
        </p:spPr>
        <p:txBody>
          <a:bodyPr wrap="square" lIns="0" tIns="0" rIns="0" bIns="0" rtlCol="0" anchor="ctr"/>
          <a:lstStyle/>
          <a:p>
            <a:pPr indent="0" marL="0">
              <a:buNone/>
            </a:pPr>
            <a:r>
              <a:rPr lang="en-US" sz="1100" b="1" spc="100" kern="0" dirty="0">
                <a:solidFill>
                  <a:srgbClr val="34B76F"/>
                </a:solidFill>
                <a:latin typeface="Calibri" pitchFamily="34" charset="0"/>
                <a:ea typeface="Calibri" pitchFamily="34" charset="-122"/>
                <a:cs typeface="Calibri" pitchFamily="34" charset="-120"/>
              </a:rPr>
              <a:t>TODAY'S EDIT FOCUS</a:t>
            </a:r>
            <a:endParaRPr lang="en-US" sz="1100" dirty="0"/>
          </a:p>
        </p:txBody>
      </p:sp>
      <p:sp>
        <p:nvSpPr>
          <p:cNvPr id="6" name="Shape 4"/>
          <p:cNvSpPr/>
          <p:nvPr/>
        </p:nvSpPr>
        <p:spPr>
          <a:xfrm>
            <a:off x="365760" y="1691640"/>
            <a:ext cx="8412480" cy="777240"/>
          </a:xfrm>
          <a:prstGeom prst="roundRect">
            <a:avLst>
              <a:gd name="adj" fmla="val 11765"/>
            </a:avLst>
          </a:prstGeom>
          <a:solidFill>
            <a:srgbClr val="FFFFFF"/>
          </a:solidFill>
          <a:ln w="19050">
            <a:solidFill>
              <a:srgbClr val="34B76F"/>
            </a:solidFill>
            <a:prstDash val="solid"/>
          </a:ln>
          <a:effectLst>
            <a:outerShdw sx="100000" sy="100000" kx="0" ky="0" algn="bl" rotWithShape="0" blurRad="101600" dist="38100" dir="2700000">
              <a:srgbClr val="000000">
                <a:alpha val="12000"/>
              </a:srgbClr>
            </a:outerShdw>
          </a:effectLst>
        </p:spPr>
      </p:sp>
      <p:sp>
        <p:nvSpPr>
          <p:cNvPr id="7" name="Text 5"/>
          <p:cNvSpPr/>
          <p:nvPr/>
        </p:nvSpPr>
        <p:spPr>
          <a:xfrm>
            <a:off x="594360" y="1819656"/>
            <a:ext cx="7955280" cy="521208"/>
          </a:xfrm>
          <a:prstGeom prst="rect">
            <a:avLst/>
          </a:prstGeom>
          <a:noFill/>
          <a:ln/>
        </p:spPr>
        <p:txBody>
          <a:bodyPr wrap="square" lIns="0" tIns="0" rIns="0" bIns="0" rtlCol="0" anchor="ctr"/>
          <a:lstStyle/>
          <a:p>
            <a:pPr indent="0" marL="0">
              <a:buNone/>
            </a:pPr>
            <a:r>
              <a:rPr lang="en-US" sz="1700" dirty="0">
                <a:solidFill>
                  <a:srgbClr val="1E293B"/>
                </a:solidFill>
                <a:latin typeface="Calibri" pitchFamily="34" charset="0"/>
                <a:ea typeface="Calibri" pitchFamily="34" charset="-122"/>
                <a:cs typeface="Calibri" pitchFamily="34" charset="-120"/>
              </a:rPr>
              <a:t>Did I use a capital letter for every name?</a:t>
            </a:r>
            <a:endParaRPr lang="en-US" sz="1700" dirty="0"/>
          </a:p>
        </p:txBody>
      </p:sp>
      <p:sp>
        <p:nvSpPr>
          <p:cNvPr id="8" name="Text 6"/>
          <p:cNvSpPr/>
          <p:nvPr/>
        </p:nvSpPr>
        <p:spPr>
          <a:xfrm>
            <a:off x="365760" y="2651760"/>
            <a:ext cx="8412480" cy="365760"/>
          </a:xfrm>
          <a:prstGeom prst="rect">
            <a:avLst/>
          </a:prstGeom>
          <a:noFill/>
          <a:ln/>
        </p:spPr>
        <p:txBody>
          <a:bodyPr wrap="square" lIns="0" tIns="0" rIns="0" bIns="0" rtlCol="0" anchor="ctr"/>
          <a:lstStyle/>
          <a:p>
            <a:pPr indent="0" marL="0">
              <a:buNone/>
            </a:pPr>
            <a:r>
              <a:rPr lang="en-US" sz="1500" b="1" dirty="0">
                <a:solidFill>
                  <a:srgbClr val="1E293B"/>
                </a:solidFill>
                <a:latin typeface="Calibri" pitchFamily="34" charset="0"/>
                <a:ea typeface="Calibri" pitchFamily="34" charset="-122"/>
                <a:cs typeface="Calibri" pitchFamily="34" charset="-120"/>
              </a:rPr>
              <a:t>Quick check:  </a:t>
            </a:r>
            <a:pPr indent="0" marL="0">
              <a:buNone/>
            </a:pPr>
            <a:r>
              <a:rPr lang="en-US" sz="1500" dirty="0">
                <a:solidFill>
                  <a:srgbClr val="1E293B"/>
                </a:solidFill>
                <a:latin typeface="Calibri" pitchFamily="34" charset="0"/>
                <a:ea typeface="Calibri" pitchFamily="34" charset="-122"/>
                <a:cs typeface="Calibri" pitchFamily="34" charset="-120"/>
              </a:rPr>
              <a:t>capitals  ·  end punctuation  ·  circle a word you are unsure of  ·  read it aloud</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5F7FC"/>
        </a:solidFill>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55C8E8"/>
          </a:solidFill>
          <a:ln/>
        </p:spPr>
      </p:sp>
      <p:sp>
        <p:nvSpPr>
          <p:cNvPr id="3" name="Text 1"/>
          <p:cNvSpPr/>
          <p:nvPr/>
        </p:nvSpPr>
        <p:spPr>
          <a:xfrm>
            <a:off x="365760" y="54864"/>
            <a:ext cx="841248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Share Time</a:t>
            </a:r>
            <a:endParaRPr lang="en-US" sz="2200" dirty="0"/>
          </a:p>
        </p:txBody>
      </p:sp>
      <p:sp>
        <p:nvSpPr>
          <p:cNvPr id="4" name="Text 2"/>
          <p:cNvSpPr/>
          <p:nvPr/>
        </p:nvSpPr>
        <p:spPr>
          <a:xfrm>
            <a:off x="365760" y="1005840"/>
            <a:ext cx="8412480" cy="548640"/>
          </a:xfrm>
          <a:prstGeom prst="rect">
            <a:avLst/>
          </a:prstGeom>
          <a:noFill/>
          <a:ln/>
        </p:spPr>
        <p:txBody>
          <a:bodyPr wrap="square" lIns="0" tIns="0" rIns="0" bIns="0" rtlCol="0" anchor="ctr"/>
          <a:lstStyle/>
          <a:p>
            <a:pPr indent="0" marL="0">
              <a:buNone/>
            </a:pPr>
            <a:r>
              <a:rPr lang="en-US" sz="2600" b="1" dirty="0">
                <a:solidFill>
                  <a:srgbClr val="0E1C42"/>
                </a:solidFill>
                <a:latin typeface="Calibri" pitchFamily="34" charset="0"/>
                <a:ea typeface="Calibri" pitchFamily="34" charset="-122"/>
                <a:cs typeface="Calibri" pitchFamily="34" charset="-120"/>
              </a:rPr>
              <a:t>3 minutes — let's hear your writing!</a:t>
            </a:r>
            <a:endParaRPr lang="en-US" sz="2600" dirty="0"/>
          </a:p>
        </p:txBody>
      </p:sp>
      <p:sp>
        <p:nvSpPr>
          <p:cNvPr id="5" name="Text 3"/>
          <p:cNvSpPr/>
          <p:nvPr/>
        </p:nvSpPr>
        <p:spPr>
          <a:xfrm>
            <a:off x="365760" y="1691640"/>
            <a:ext cx="8412480" cy="457200"/>
          </a:xfrm>
          <a:prstGeom prst="rect">
            <a:avLst/>
          </a:prstGeom>
          <a:noFill/>
          <a:ln/>
        </p:spPr>
        <p:txBody>
          <a:bodyPr wrap="square" lIns="0" tIns="0" rIns="0" bIns="0" rtlCol="0" anchor="ctr"/>
          <a:lstStyle/>
          <a:p>
            <a:pPr indent="0" marL="0">
              <a:buNone/>
            </a:pPr>
            <a:r>
              <a:rPr lang="en-US" sz="1700" dirty="0">
                <a:solidFill>
                  <a:srgbClr val="1E293B"/>
                </a:solidFill>
                <a:latin typeface="Calibri" pitchFamily="34" charset="0"/>
                <a:ea typeface="Calibri" pitchFamily="34" charset="-122"/>
                <a:cs typeface="Calibri" pitchFamily="34" charset="-120"/>
              </a:rPr>
              <a:t>Raise your hand  ·  paste it in the chat  ·  or hold your paper up to the camera</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8B6FC0"/>
          </a:solidFill>
          <a:ln/>
        </p:spPr>
      </p:sp>
      <p:sp>
        <p:nvSpPr>
          <p:cNvPr id="3" name="Text 1"/>
          <p:cNvSpPr/>
          <p:nvPr/>
        </p:nvSpPr>
        <p:spPr>
          <a:xfrm>
            <a:off x="365760" y="54864"/>
            <a:ext cx="841248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Today</a:t>
            </a:r>
            <a:endParaRPr lang="en-US" sz="2200" dirty="0"/>
          </a:p>
        </p:txBody>
      </p:sp>
      <p:sp>
        <p:nvSpPr>
          <p:cNvPr id="4" name="Text 2"/>
          <p:cNvSpPr/>
          <p:nvPr/>
        </p:nvSpPr>
        <p:spPr>
          <a:xfrm>
            <a:off x="365760" y="777240"/>
            <a:ext cx="8229600" cy="237744"/>
          </a:xfrm>
          <a:prstGeom prst="rect">
            <a:avLst/>
          </a:prstGeom>
          <a:noFill/>
          <a:ln/>
        </p:spPr>
        <p:txBody>
          <a:bodyPr wrap="square" lIns="0" tIns="0" rIns="0" bIns="0" rtlCol="0" anchor="ctr"/>
          <a:lstStyle/>
          <a:p>
            <a:pPr indent="0" marL="0">
              <a:buNone/>
            </a:pPr>
            <a:r>
              <a:rPr lang="en-US" sz="1100" b="1" spc="100" kern="0" dirty="0">
                <a:solidFill>
                  <a:srgbClr val="8B6FC0"/>
                </a:solidFill>
                <a:latin typeface="Calibri" pitchFamily="34" charset="0"/>
                <a:ea typeface="Calibri" pitchFamily="34" charset="-122"/>
                <a:cs typeface="Calibri" pitchFamily="34" charset="-120"/>
              </a:rPr>
              <a:t>READING</a:t>
            </a:r>
            <a:endParaRPr lang="en-US" sz="1100" dirty="0"/>
          </a:p>
        </p:txBody>
      </p:sp>
      <p:sp>
        <p:nvSpPr>
          <p:cNvPr id="5" name="Text 3"/>
          <p:cNvSpPr/>
          <p:nvPr/>
        </p:nvSpPr>
        <p:spPr>
          <a:xfrm>
            <a:off x="365760" y="1014984"/>
            <a:ext cx="8412480" cy="365760"/>
          </a:xfrm>
          <a:prstGeom prst="rect">
            <a:avLst/>
          </a:prstGeom>
          <a:noFill/>
          <a:ln/>
        </p:spPr>
        <p:txBody>
          <a:bodyPr wrap="square" lIns="0" tIns="0" rIns="0" bIns="0" rtlCol="0" anchor="ctr"/>
          <a:lstStyle/>
          <a:p>
            <a:pPr indent="0" marL="0">
              <a:buNone/>
            </a:pPr>
            <a:r>
              <a:rPr lang="en-US" sz="2000" b="1" dirty="0">
                <a:solidFill>
                  <a:srgbClr val="0E1C42"/>
                </a:solidFill>
                <a:latin typeface="Calibri" pitchFamily="34" charset="0"/>
                <a:ea typeface="Calibri" pitchFamily="34" charset="-122"/>
                <a:cs typeface="Calibri" pitchFamily="34" charset="-120"/>
              </a:rPr>
              <a:t>Ch. 24–25</a:t>
            </a:r>
            <a:endParaRPr lang="en-US" sz="2000" dirty="0"/>
          </a:p>
        </p:txBody>
      </p:sp>
      <p:sp>
        <p:nvSpPr>
          <p:cNvPr id="6" name="Text 4"/>
          <p:cNvSpPr/>
          <p:nvPr/>
        </p:nvSpPr>
        <p:spPr>
          <a:xfrm>
            <a:off x="365760" y="1508760"/>
            <a:ext cx="8229600" cy="237744"/>
          </a:xfrm>
          <a:prstGeom prst="rect">
            <a:avLst/>
          </a:prstGeom>
          <a:noFill/>
          <a:ln/>
        </p:spPr>
        <p:txBody>
          <a:bodyPr wrap="square" lIns="0" tIns="0" rIns="0" bIns="0" rtlCol="0" anchor="ctr"/>
          <a:lstStyle/>
          <a:p>
            <a:pPr indent="0" marL="0">
              <a:buNone/>
            </a:pPr>
            <a:r>
              <a:rPr lang="en-US" sz="1100" b="1" spc="100" kern="0" dirty="0">
                <a:solidFill>
                  <a:srgbClr val="C7922C"/>
                </a:solidFill>
                <a:latin typeface="Calibri" pitchFamily="34" charset="0"/>
                <a:ea typeface="Calibri" pitchFamily="34" charset="-122"/>
                <a:cs typeface="Calibri" pitchFamily="34" charset="-120"/>
              </a:rPr>
              <a:t>BIG QUESTION</a:t>
            </a:r>
            <a:endParaRPr lang="en-US" sz="1100" dirty="0"/>
          </a:p>
        </p:txBody>
      </p:sp>
      <p:sp>
        <p:nvSpPr>
          <p:cNvPr id="7" name="Shape 5"/>
          <p:cNvSpPr/>
          <p:nvPr/>
        </p:nvSpPr>
        <p:spPr>
          <a:xfrm>
            <a:off x="365760" y="1746504"/>
            <a:ext cx="8412480" cy="731520"/>
          </a:xfrm>
          <a:prstGeom prst="roundRect">
            <a:avLst>
              <a:gd name="adj" fmla="val 12500"/>
            </a:avLst>
          </a:prstGeom>
          <a:solidFill>
            <a:srgbClr val="FEF6E8"/>
          </a:solidFill>
          <a:ln w="19050">
            <a:solidFill>
              <a:srgbClr val="C7922C"/>
            </a:solidFill>
            <a:prstDash val="solid"/>
          </a:ln>
          <a:effectLst>
            <a:outerShdw sx="100000" sy="100000" kx="0" ky="0" algn="bl" rotWithShape="0" blurRad="101600" dist="38100" dir="2700000">
              <a:srgbClr val="000000">
                <a:alpha val="12000"/>
              </a:srgbClr>
            </a:outerShdw>
          </a:effectLst>
        </p:spPr>
      </p:sp>
      <p:sp>
        <p:nvSpPr>
          <p:cNvPr id="8" name="Text 6"/>
          <p:cNvSpPr/>
          <p:nvPr/>
        </p:nvSpPr>
        <p:spPr>
          <a:xfrm>
            <a:off x="594360" y="1874520"/>
            <a:ext cx="7955280" cy="475488"/>
          </a:xfrm>
          <a:prstGeom prst="rect">
            <a:avLst/>
          </a:prstGeom>
          <a:noFill/>
          <a:ln/>
        </p:spPr>
        <p:txBody>
          <a:bodyPr wrap="square" lIns="0" tIns="0" rIns="0" bIns="0" rtlCol="0" anchor="ctr"/>
          <a:lstStyle/>
          <a:p>
            <a:pPr indent="0" marL="0">
              <a:buNone/>
            </a:pPr>
            <a:r>
              <a:rPr lang="en-US" sz="1700" dirty="0">
                <a:solidFill>
                  <a:srgbClr val="1E293B"/>
                </a:solidFill>
                <a:latin typeface="Calibri" pitchFamily="34" charset="0"/>
                <a:ea typeface="Calibri" pitchFamily="34" charset="-122"/>
                <a:cs typeface="Calibri" pitchFamily="34" charset="-120"/>
              </a:rPr>
              <a:t>What caused Despereaux to end up where he is now?</a:t>
            </a:r>
            <a:endParaRPr lang="en-US" sz="1700" dirty="0"/>
          </a:p>
        </p:txBody>
      </p:sp>
      <p:sp>
        <p:nvSpPr>
          <p:cNvPr id="9" name="Text 7"/>
          <p:cNvSpPr/>
          <p:nvPr/>
        </p:nvSpPr>
        <p:spPr>
          <a:xfrm>
            <a:off x="365760" y="2606040"/>
            <a:ext cx="8229600" cy="237744"/>
          </a:xfrm>
          <a:prstGeom prst="rect">
            <a:avLst/>
          </a:prstGeom>
          <a:noFill/>
          <a:ln/>
        </p:spPr>
        <p:txBody>
          <a:bodyPr wrap="square" lIns="0" tIns="0" rIns="0" bIns="0" rtlCol="0" anchor="ctr"/>
          <a:lstStyle/>
          <a:p>
            <a:pPr indent="0" marL="0">
              <a:buNone/>
            </a:pPr>
            <a:r>
              <a:rPr lang="en-US" sz="1100" b="1" spc="100" kern="0" dirty="0">
                <a:solidFill>
                  <a:srgbClr val="55C8E8"/>
                </a:solidFill>
                <a:latin typeface="Calibri" pitchFamily="34" charset="0"/>
                <a:ea typeface="Calibri" pitchFamily="34" charset="-122"/>
                <a:cs typeface="Calibri" pitchFamily="34" charset="-120"/>
              </a:rPr>
              <a:t>READING LENS</a:t>
            </a:r>
            <a:endParaRPr lang="en-US" sz="1100" dirty="0"/>
          </a:p>
        </p:txBody>
      </p:sp>
      <p:sp>
        <p:nvSpPr>
          <p:cNvPr id="10" name="Text 8"/>
          <p:cNvSpPr/>
          <p:nvPr/>
        </p:nvSpPr>
        <p:spPr>
          <a:xfrm>
            <a:off x="365760" y="2843784"/>
            <a:ext cx="8412480" cy="914400"/>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Good readers track cause and effect in the plot. Every event causes the next.</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55C8E8"/>
          </a:solidFill>
          <a:ln/>
        </p:spPr>
      </p:sp>
      <p:sp>
        <p:nvSpPr>
          <p:cNvPr id="3" name="Text 1"/>
          <p:cNvSpPr/>
          <p:nvPr/>
        </p:nvSpPr>
        <p:spPr>
          <a:xfrm>
            <a:off x="365760" y="54864"/>
            <a:ext cx="841248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Daily Oral Language</a:t>
            </a:r>
            <a:endParaRPr lang="en-US" sz="2200" dirty="0"/>
          </a:p>
        </p:txBody>
      </p:sp>
      <p:sp>
        <p:nvSpPr>
          <p:cNvPr id="4" name="Text 2"/>
          <p:cNvSpPr/>
          <p:nvPr/>
        </p:nvSpPr>
        <p:spPr>
          <a:xfrm>
            <a:off x="365760" y="749808"/>
            <a:ext cx="8229600" cy="237744"/>
          </a:xfrm>
          <a:prstGeom prst="rect">
            <a:avLst/>
          </a:prstGeom>
          <a:noFill/>
          <a:ln/>
        </p:spPr>
        <p:txBody>
          <a:bodyPr wrap="square" lIns="0" tIns="0" rIns="0" bIns="0" rtlCol="0" anchor="ctr"/>
          <a:lstStyle/>
          <a:p>
            <a:pPr indent="0" marL="0">
              <a:buNone/>
            </a:pPr>
            <a:r>
              <a:rPr lang="en-US" sz="1100" b="1" spc="100" kern="0" dirty="0">
                <a:solidFill>
                  <a:srgbClr val="55C8E8"/>
                </a:solidFill>
                <a:latin typeface="Calibri" pitchFamily="34" charset="0"/>
                <a:ea typeface="Calibri" pitchFamily="34" charset="-122"/>
                <a:cs typeface="Calibri" pitchFamily="34" charset="-120"/>
              </a:rPr>
              <a:t>FIX THESE SENTENCES</a:t>
            </a:r>
            <a:endParaRPr lang="en-US" sz="1100" dirty="0"/>
          </a:p>
        </p:txBody>
      </p:sp>
      <p:sp>
        <p:nvSpPr>
          <p:cNvPr id="5" name="Shape 3"/>
          <p:cNvSpPr/>
          <p:nvPr/>
        </p:nvSpPr>
        <p:spPr>
          <a:xfrm>
            <a:off x="365760" y="1024128"/>
            <a:ext cx="8412480" cy="777240"/>
          </a:xfrm>
          <a:prstGeom prst="roundRect">
            <a:avLst>
              <a:gd name="adj" fmla="val 11765"/>
            </a:avLst>
          </a:prstGeom>
          <a:solidFill>
            <a:srgbClr val="FFFFFF"/>
          </a:solidFill>
          <a:ln w="19050">
            <a:solidFill>
              <a:srgbClr val="55C8E8"/>
            </a:solidFill>
            <a:prstDash val="solid"/>
          </a:ln>
          <a:effectLst>
            <a:outerShdw sx="100000" sy="100000" kx="0" ky="0" algn="bl" rotWithShape="0" blurRad="101600" dist="38100" dir="2700000">
              <a:srgbClr val="000000">
                <a:alpha val="12000"/>
              </a:srgbClr>
            </a:outerShdw>
          </a:effectLst>
        </p:spPr>
      </p:sp>
      <p:sp>
        <p:nvSpPr>
          <p:cNvPr id="6" name="Text 4"/>
          <p:cNvSpPr/>
          <p:nvPr/>
        </p:nvSpPr>
        <p:spPr>
          <a:xfrm>
            <a:off x="594360" y="1152144"/>
            <a:ext cx="7955280" cy="521208"/>
          </a:xfrm>
          <a:prstGeom prst="rect">
            <a:avLst/>
          </a:prstGeom>
          <a:noFill/>
          <a:ln/>
        </p:spPr>
        <p:txBody>
          <a:bodyPr wrap="square" lIns="0" tIns="0" rIns="0" bIns="0" rtlCol="0" anchor="ctr"/>
          <a:lstStyle/>
          <a:p>
            <a:pPr indent="0" marL="0">
              <a:buNone/>
            </a:pPr>
            <a:r>
              <a:rPr lang="en-US" sz="1700" dirty="0">
                <a:solidFill>
                  <a:srgbClr val="1E293B"/>
                </a:solidFill>
                <a:latin typeface="Calibri" pitchFamily="34" charset="0"/>
                <a:ea typeface="Calibri" pitchFamily="34" charset="-122"/>
                <a:cs typeface="Calibri" pitchFamily="34" charset="-120"/>
              </a:rPr>
              <a:t>1. despereaux found a needle and thread and decided to rescue the princess from the dungeon below</a:t>
            </a:r>
            <a:endParaRPr lang="en-US" sz="1700" dirty="0"/>
          </a:p>
        </p:txBody>
      </p:sp>
      <p:sp>
        <p:nvSpPr>
          <p:cNvPr id="7" name="Shape 5"/>
          <p:cNvSpPr/>
          <p:nvPr/>
        </p:nvSpPr>
        <p:spPr>
          <a:xfrm>
            <a:off x="365760" y="1874520"/>
            <a:ext cx="8412480" cy="777240"/>
          </a:xfrm>
          <a:prstGeom prst="roundRect">
            <a:avLst>
              <a:gd name="adj" fmla="val 11765"/>
            </a:avLst>
          </a:prstGeom>
          <a:solidFill>
            <a:srgbClr val="FFFFFF"/>
          </a:solidFill>
          <a:ln w="19050">
            <a:solidFill>
              <a:srgbClr val="55C8E8"/>
            </a:solidFill>
            <a:prstDash val="solid"/>
          </a:ln>
          <a:effectLst>
            <a:outerShdw sx="100000" sy="100000" kx="0" ky="0" algn="bl" rotWithShape="0" blurRad="101600" dist="38100" dir="2700000">
              <a:srgbClr val="000000">
                <a:alpha val="12000"/>
              </a:srgbClr>
            </a:outerShdw>
          </a:effectLst>
        </p:spPr>
      </p:sp>
      <p:sp>
        <p:nvSpPr>
          <p:cNvPr id="8" name="Text 6"/>
          <p:cNvSpPr/>
          <p:nvPr/>
        </p:nvSpPr>
        <p:spPr>
          <a:xfrm>
            <a:off x="594360" y="2002536"/>
            <a:ext cx="7955280" cy="521208"/>
          </a:xfrm>
          <a:prstGeom prst="rect">
            <a:avLst/>
          </a:prstGeom>
          <a:noFill/>
          <a:ln/>
        </p:spPr>
        <p:txBody>
          <a:bodyPr wrap="square" lIns="0" tIns="0" rIns="0" bIns="0" rtlCol="0" anchor="ctr"/>
          <a:lstStyle/>
          <a:p>
            <a:pPr indent="0" marL="0">
              <a:buNone/>
            </a:pPr>
            <a:r>
              <a:rPr lang="en-US" sz="1700" dirty="0">
                <a:solidFill>
                  <a:srgbClr val="1E293B"/>
                </a:solidFill>
                <a:latin typeface="Calibri" pitchFamily="34" charset="0"/>
                <a:ea typeface="Calibri" pitchFamily="34" charset="-122"/>
                <a:cs typeface="Calibri" pitchFamily="34" charset="-120"/>
              </a:rPr>
              <a:t>2. he was very small and very afraid but he moved forward because the princess needed his help</a:t>
            </a:r>
            <a:endParaRPr lang="en-US" sz="1700" dirty="0"/>
          </a:p>
        </p:txBody>
      </p:sp>
      <p:sp>
        <p:nvSpPr>
          <p:cNvPr id="9" name="Text 7"/>
          <p:cNvSpPr/>
          <p:nvPr/>
        </p:nvSpPr>
        <p:spPr>
          <a:xfrm>
            <a:off x="365760" y="2788920"/>
            <a:ext cx="8412480" cy="365760"/>
          </a:xfrm>
          <a:prstGeom prst="rect">
            <a:avLst/>
          </a:prstGeom>
          <a:noFill/>
          <a:ln/>
        </p:spPr>
        <p:txBody>
          <a:bodyPr wrap="square" lIns="0" tIns="0" rIns="0" bIns="0" rtlCol="0" anchor="ctr"/>
          <a:lstStyle/>
          <a:p>
            <a:pPr indent="0" marL="0">
              <a:buNone/>
            </a:pPr>
            <a:r>
              <a:rPr lang="en-US" sz="1600" b="1" dirty="0">
                <a:solidFill>
                  <a:srgbClr val="0E1C42"/>
                </a:solidFill>
                <a:latin typeface="Calibri" pitchFamily="34" charset="0"/>
                <a:ea typeface="Calibri" pitchFamily="34" charset="-122"/>
                <a:cs typeface="Calibri" pitchFamily="34" charset="-120"/>
              </a:rPr>
              <a:t>Rewrite both sentences correctly in your notebook.</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55C8E8"/>
          </a:solidFill>
          <a:ln/>
        </p:spPr>
      </p:sp>
      <p:sp>
        <p:nvSpPr>
          <p:cNvPr id="3" name="Text 1"/>
          <p:cNvSpPr/>
          <p:nvPr/>
        </p:nvSpPr>
        <p:spPr>
          <a:xfrm>
            <a:off x="365760" y="54864"/>
            <a:ext cx="841248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Daily Oral Language</a:t>
            </a:r>
            <a:endParaRPr lang="en-US" sz="2200" dirty="0"/>
          </a:p>
        </p:txBody>
      </p:sp>
      <p:sp>
        <p:nvSpPr>
          <p:cNvPr id="4" name="Text 2"/>
          <p:cNvSpPr/>
          <p:nvPr/>
        </p:nvSpPr>
        <p:spPr>
          <a:xfrm>
            <a:off x="365760" y="749808"/>
            <a:ext cx="8229600" cy="237744"/>
          </a:xfrm>
          <a:prstGeom prst="rect">
            <a:avLst/>
          </a:prstGeom>
          <a:noFill/>
          <a:ln/>
        </p:spPr>
        <p:txBody>
          <a:bodyPr wrap="square" lIns="0" tIns="0" rIns="0" bIns="0" rtlCol="0" anchor="ctr"/>
          <a:lstStyle/>
          <a:p>
            <a:pPr indent="0" marL="0">
              <a:buNone/>
            </a:pPr>
            <a:r>
              <a:rPr lang="en-US" sz="1100" b="1" spc="100" kern="0" dirty="0">
                <a:solidFill>
                  <a:srgbClr val="55C8E8"/>
                </a:solidFill>
                <a:latin typeface="Calibri" pitchFamily="34" charset="0"/>
                <a:ea typeface="Calibri" pitchFamily="34" charset="-122"/>
                <a:cs typeface="Calibri" pitchFamily="34" charset="-120"/>
              </a:rPr>
              <a:t>FIX THESE SENTENCES</a:t>
            </a:r>
            <a:endParaRPr lang="en-US" sz="1100" dirty="0"/>
          </a:p>
        </p:txBody>
      </p:sp>
      <p:sp>
        <p:nvSpPr>
          <p:cNvPr id="5" name="Shape 3"/>
          <p:cNvSpPr/>
          <p:nvPr/>
        </p:nvSpPr>
        <p:spPr>
          <a:xfrm>
            <a:off x="365760" y="1024128"/>
            <a:ext cx="8412480" cy="777240"/>
          </a:xfrm>
          <a:prstGeom prst="roundRect">
            <a:avLst>
              <a:gd name="adj" fmla="val 11765"/>
            </a:avLst>
          </a:prstGeom>
          <a:solidFill>
            <a:srgbClr val="FFFFFF"/>
          </a:solidFill>
          <a:ln w="19050">
            <a:solidFill>
              <a:srgbClr val="55C8E8"/>
            </a:solidFill>
            <a:prstDash val="solid"/>
          </a:ln>
          <a:effectLst>
            <a:outerShdw sx="100000" sy="100000" kx="0" ky="0" algn="bl" rotWithShape="0" blurRad="101600" dist="38100" dir="2700000">
              <a:srgbClr val="000000">
                <a:alpha val="12000"/>
              </a:srgbClr>
            </a:outerShdw>
          </a:effectLst>
        </p:spPr>
      </p:sp>
      <p:sp>
        <p:nvSpPr>
          <p:cNvPr id="6" name="Text 4"/>
          <p:cNvSpPr/>
          <p:nvPr/>
        </p:nvSpPr>
        <p:spPr>
          <a:xfrm>
            <a:off x="594360" y="1152144"/>
            <a:ext cx="7955280" cy="521208"/>
          </a:xfrm>
          <a:prstGeom prst="rect">
            <a:avLst/>
          </a:prstGeom>
          <a:noFill/>
          <a:ln/>
        </p:spPr>
        <p:txBody>
          <a:bodyPr wrap="square" lIns="0" tIns="0" rIns="0" bIns="0" rtlCol="0" anchor="ctr"/>
          <a:lstStyle/>
          <a:p>
            <a:pPr indent="0" marL="0">
              <a:buNone/>
            </a:pPr>
            <a:r>
              <a:rPr lang="en-US" sz="1700" dirty="0">
                <a:solidFill>
                  <a:srgbClr val="1E293B"/>
                </a:solidFill>
                <a:latin typeface="Calibri" pitchFamily="34" charset="0"/>
                <a:ea typeface="Calibri" pitchFamily="34" charset="-122"/>
                <a:cs typeface="Calibri" pitchFamily="34" charset="-120"/>
              </a:rPr>
              <a:t>1. despereaux found a needle and thread and decided to rescue the princess from the dungeon below</a:t>
            </a:r>
            <a:endParaRPr lang="en-US" sz="1700" dirty="0"/>
          </a:p>
        </p:txBody>
      </p:sp>
      <p:sp>
        <p:nvSpPr>
          <p:cNvPr id="7" name="Shape 5"/>
          <p:cNvSpPr/>
          <p:nvPr/>
        </p:nvSpPr>
        <p:spPr>
          <a:xfrm>
            <a:off x="365760" y="1874520"/>
            <a:ext cx="8412480" cy="777240"/>
          </a:xfrm>
          <a:prstGeom prst="roundRect">
            <a:avLst>
              <a:gd name="adj" fmla="val 11765"/>
            </a:avLst>
          </a:prstGeom>
          <a:solidFill>
            <a:srgbClr val="FFFFFF"/>
          </a:solidFill>
          <a:ln w="19050">
            <a:solidFill>
              <a:srgbClr val="55C8E8"/>
            </a:solidFill>
            <a:prstDash val="solid"/>
          </a:ln>
          <a:effectLst>
            <a:outerShdw sx="100000" sy="100000" kx="0" ky="0" algn="bl" rotWithShape="0" blurRad="101600" dist="38100" dir="2700000">
              <a:srgbClr val="000000">
                <a:alpha val="12000"/>
              </a:srgbClr>
            </a:outerShdw>
          </a:effectLst>
        </p:spPr>
      </p:sp>
      <p:sp>
        <p:nvSpPr>
          <p:cNvPr id="8" name="Text 6"/>
          <p:cNvSpPr/>
          <p:nvPr/>
        </p:nvSpPr>
        <p:spPr>
          <a:xfrm>
            <a:off x="594360" y="2002536"/>
            <a:ext cx="7955280" cy="521208"/>
          </a:xfrm>
          <a:prstGeom prst="rect">
            <a:avLst/>
          </a:prstGeom>
          <a:noFill/>
          <a:ln/>
        </p:spPr>
        <p:txBody>
          <a:bodyPr wrap="square" lIns="0" tIns="0" rIns="0" bIns="0" rtlCol="0" anchor="ctr"/>
          <a:lstStyle/>
          <a:p>
            <a:pPr indent="0" marL="0">
              <a:buNone/>
            </a:pPr>
            <a:r>
              <a:rPr lang="en-US" sz="1700" dirty="0">
                <a:solidFill>
                  <a:srgbClr val="1E293B"/>
                </a:solidFill>
                <a:latin typeface="Calibri" pitchFamily="34" charset="0"/>
                <a:ea typeface="Calibri" pitchFamily="34" charset="-122"/>
                <a:cs typeface="Calibri" pitchFamily="34" charset="-120"/>
              </a:rPr>
              <a:t>2. he was very small and very afraid but he moved forward because the princess needed his help</a:t>
            </a:r>
            <a:endParaRPr lang="en-US" sz="1700" dirty="0"/>
          </a:p>
        </p:txBody>
      </p:sp>
      <p:sp>
        <p:nvSpPr>
          <p:cNvPr id="9" name="Shape 7"/>
          <p:cNvSpPr/>
          <p:nvPr/>
        </p:nvSpPr>
        <p:spPr>
          <a:xfrm>
            <a:off x="365760" y="2743200"/>
            <a:ext cx="8412480" cy="1417320"/>
          </a:xfrm>
          <a:prstGeom prst="roundRect">
            <a:avLst>
              <a:gd name="adj" fmla="val 6452"/>
            </a:avLst>
          </a:prstGeom>
          <a:solidFill>
            <a:srgbClr val="E8F8EF"/>
          </a:solidFill>
          <a:ln/>
          <a:effectLst>
            <a:outerShdw sx="100000" sy="100000" kx="0" ky="0" algn="bl" rotWithShape="0" blurRad="101600" dist="38100" dir="2700000">
              <a:srgbClr val="000000">
                <a:alpha val="12000"/>
              </a:srgbClr>
            </a:outerShdw>
          </a:effectLst>
        </p:spPr>
      </p:sp>
      <p:sp>
        <p:nvSpPr>
          <p:cNvPr id="10" name="Text 8"/>
          <p:cNvSpPr/>
          <p:nvPr/>
        </p:nvSpPr>
        <p:spPr>
          <a:xfrm>
            <a:off x="566928" y="2816352"/>
            <a:ext cx="8229600" cy="237744"/>
          </a:xfrm>
          <a:prstGeom prst="rect">
            <a:avLst/>
          </a:prstGeom>
          <a:noFill/>
          <a:ln/>
        </p:spPr>
        <p:txBody>
          <a:bodyPr wrap="square" lIns="0" tIns="0" rIns="0" bIns="0" rtlCol="0" anchor="ctr"/>
          <a:lstStyle/>
          <a:p>
            <a:pPr indent="0" marL="0">
              <a:buNone/>
            </a:pPr>
            <a:r>
              <a:rPr lang="en-US" sz="1100" b="1" spc="100" kern="0" dirty="0">
                <a:solidFill>
                  <a:srgbClr val="34B76F"/>
                </a:solidFill>
                <a:latin typeface="Calibri" pitchFamily="34" charset="0"/>
                <a:ea typeface="Calibri" pitchFamily="34" charset="-122"/>
                <a:cs typeface="Calibri" pitchFamily="34" charset="-120"/>
              </a:rPr>
              <a:t>✅  CORRECTED</a:t>
            </a:r>
            <a:endParaRPr lang="en-US" sz="1100" dirty="0"/>
          </a:p>
        </p:txBody>
      </p:sp>
      <p:sp>
        <p:nvSpPr>
          <p:cNvPr id="11" name="Text 9"/>
          <p:cNvSpPr/>
          <p:nvPr/>
        </p:nvSpPr>
        <p:spPr>
          <a:xfrm>
            <a:off x="566928" y="3072384"/>
            <a:ext cx="8010144" cy="685800"/>
          </a:xfrm>
          <a:prstGeom prst="rect">
            <a:avLst/>
          </a:prstGeom>
          <a:noFill/>
          <a:ln/>
        </p:spPr>
        <p:txBody>
          <a:bodyPr wrap="square" lIns="0" tIns="0" rIns="0" bIns="0" rtlCol="0" anchor="ctr"/>
          <a:lstStyle/>
          <a:p>
            <a:pPr indent="0" marL="0">
              <a:buNone/>
            </a:pPr>
            <a:endParaRPr lang="en-US" sz="1400" dirty="0"/>
          </a:p>
          <a:p>
            <a:pPr indent="0" marL="0">
              <a:buNone/>
            </a:pPr>
            <a:r>
              <a:rPr lang="en-US" sz="1400" i="1" dirty="0">
                <a:solidFill>
                  <a:srgbClr val="1E293B"/>
                </a:solidFill>
                <a:latin typeface="Calibri" pitchFamily="34" charset="0"/>
                <a:ea typeface="Calibri" pitchFamily="34" charset="-122"/>
                <a:cs typeface="Calibri" pitchFamily="34" charset="-120"/>
              </a:rPr>
              <a:t>1. Despereaux found a needle and thread and decided to rescue the princess from the dungeon below.</a:t>
            </a:r>
            <a:endParaRPr lang="en-US" sz="1400" dirty="0"/>
          </a:p>
        </p:txBody>
      </p:sp>
      <p:sp>
        <p:nvSpPr>
          <p:cNvPr id="12" name="Text 10"/>
          <p:cNvSpPr/>
          <p:nvPr/>
        </p:nvSpPr>
        <p:spPr>
          <a:xfrm>
            <a:off x="566928" y="3767328"/>
            <a:ext cx="8010144" cy="320040"/>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Did you catch the proper noun (Despereaux), the pronoun (he), the comma before "but," and "because" showing cause and effect?</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8B6FC0"/>
          </a:solidFill>
          <a:ln/>
        </p:spPr>
      </p:sp>
      <p:sp>
        <p:nvSpPr>
          <p:cNvPr id="3" name="Text 1"/>
          <p:cNvSpPr/>
          <p:nvPr/>
        </p:nvSpPr>
        <p:spPr>
          <a:xfrm>
            <a:off x="365760" y="54864"/>
            <a:ext cx="841248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Morphology</a:t>
            </a:r>
            <a:endParaRPr lang="en-US" sz="2200" dirty="0"/>
          </a:p>
        </p:txBody>
      </p:sp>
      <p:sp>
        <p:nvSpPr>
          <p:cNvPr id="4" name="Text 2"/>
          <p:cNvSpPr/>
          <p:nvPr/>
        </p:nvSpPr>
        <p:spPr>
          <a:xfrm>
            <a:off x="365760" y="804672"/>
            <a:ext cx="8229600" cy="237744"/>
          </a:xfrm>
          <a:prstGeom prst="rect">
            <a:avLst/>
          </a:prstGeom>
          <a:noFill/>
          <a:ln/>
        </p:spPr>
        <p:txBody>
          <a:bodyPr wrap="square" lIns="0" tIns="0" rIns="0" bIns="0" rtlCol="0" anchor="ctr"/>
          <a:lstStyle/>
          <a:p>
            <a:pPr indent="0" marL="0">
              <a:buNone/>
            </a:pPr>
            <a:r>
              <a:rPr lang="en-US" sz="1100" b="1" spc="100" kern="0" dirty="0">
                <a:solidFill>
                  <a:srgbClr val="8B6FC0"/>
                </a:solidFill>
                <a:latin typeface="Calibri" pitchFamily="34" charset="0"/>
                <a:ea typeface="Calibri" pitchFamily="34" charset="-122"/>
                <a:cs typeface="Calibri" pitchFamily="34" charset="-120"/>
              </a:rPr>
              <a:t>-NESS</a:t>
            </a:r>
            <a:endParaRPr lang="en-US" sz="1100" dirty="0"/>
          </a:p>
        </p:txBody>
      </p:sp>
      <p:sp>
        <p:nvSpPr>
          <p:cNvPr id="5" name="Shape 3"/>
          <p:cNvSpPr/>
          <p:nvPr/>
        </p:nvSpPr>
        <p:spPr>
          <a:xfrm>
            <a:off x="365760" y="1097280"/>
            <a:ext cx="8412480" cy="621792"/>
          </a:xfrm>
          <a:prstGeom prst="roundRect">
            <a:avLst>
              <a:gd name="adj" fmla="val 14706"/>
            </a:avLst>
          </a:prstGeom>
          <a:solidFill>
            <a:srgbClr val="F0E8FF"/>
          </a:solidFill>
          <a:ln/>
          <a:effectLst>
            <a:outerShdw sx="100000" sy="100000" kx="0" ky="0" algn="bl" rotWithShape="0" blurRad="101600" dist="38100" dir="2700000">
              <a:srgbClr val="000000">
                <a:alpha val="12000"/>
              </a:srgbClr>
            </a:outerShdw>
          </a:effectLst>
        </p:spPr>
      </p:sp>
      <p:sp>
        <p:nvSpPr>
          <p:cNvPr id="6" name="Text 4"/>
          <p:cNvSpPr/>
          <p:nvPr/>
        </p:nvSpPr>
        <p:spPr>
          <a:xfrm>
            <a:off x="594360" y="1216152"/>
            <a:ext cx="7863840" cy="384048"/>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  darkness — base word: dark</a:t>
            </a:r>
            <a:endParaRPr lang="en-US" sz="1500" dirty="0"/>
          </a:p>
        </p:txBody>
      </p:sp>
      <p:sp>
        <p:nvSpPr>
          <p:cNvPr id="7" name="Shape 5"/>
          <p:cNvSpPr/>
          <p:nvPr/>
        </p:nvSpPr>
        <p:spPr>
          <a:xfrm>
            <a:off x="365760" y="1792224"/>
            <a:ext cx="8412480" cy="621792"/>
          </a:xfrm>
          <a:prstGeom prst="roundRect">
            <a:avLst>
              <a:gd name="adj" fmla="val 14706"/>
            </a:avLst>
          </a:prstGeom>
          <a:solidFill>
            <a:srgbClr val="F8F4FF"/>
          </a:solidFill>
          <a:ln/>
          <a:effectLst>
            <a:outerShdw sx="100000" sy="100000" kx="0" ky="0" algn="bl" rotWithShape="0" blurRad="101600" dist="38100" dir="2700000">
              <a:srgbClr val="000000">
                <a:alpha val="12000"/>
              </a:srgbClr>
            </a:outerShdw>
          </a:effectLst>
        </p:spPr>
      </p:sp>
      <p:sp>
        <p:nvSpPr>
          <p:cNvPr id="8" name="Text 6"/>
          <p:cNvSpPr/>
          <p:nvPr/>
        </p:nvSpPr>
        <p:spPr>
          <a:xfrm>
            <a:off x="594360" y="1911096"/>
            <a:ext cx="7863840" cy="384048"/>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  kindness — base word: kind</a:t>
            </a:r>
            <a:endParaRPr lang="en-US" sz="1500" dirty="0"/>
          </a:p>
        </p:txBody>
      </p:sp>
      <p:sp>
        <p:nvSpPr>
          <p:cNvPr id="9" name="Shape 7"/>
          <p:cNvSpPr/>
          <p:nvPr/>
        </p:nvSpPr>
        <p:spPr>
          <a:xfrm>
            <a:off x="365760" y="2487168"/>
            <a:ext cx="8412480" cy="621792"/>
          </a:xfrm>
          <a:prstGeom prst="roundRect">
            <a:avLst>
              <a:gd name="adj" fmla="val 14706"/>
            </a:avLst>
          </a:prstGeom>
          <a:solidFill>
            <a:srgbClr val="F0E8FF"/>
          </a:solidFill>
          <a:ln/>
          <a:effectLst>
            <a:outerShdw sx="100000" sy="100000" kx="0" ky="0" algn="bl" rotWithShape="0" blurRad="101600" dist="38100" dir="2700000">
              <a:srgbClr val="000000">
                <a:alpha val="12000"/>
              </a:srgbClr>
            </a:outerShdw>
          </a:effectLst>
        </p:spPr>
      </p:sp>
      <p:sp>
        <p:nvSpPr>
          <p:cNvPr id="10" name="Text 8"/>
          <p:cNvSpPr/>
          <p:nvPr/>
        </p:nvSpPr>
        <p:spPr>
          <a:xfrm>
            <a:off x="594360" y="2606040"/>
            <a:ext cx="7863840" cy="384048"/>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  sadness — base word: sad</a:t>
            </a:r>
            <a:endParaRPr lang="en-US" sz="1500" dirty="0"/>
          </a:p>
        </p:txBody>
      </p:sp>
      <p:sp>
        <p:nvSpPr>
          <p:cNvPr id="11" name="Shape 9"/>
          <p:cNvSpPr/>
          <p:nvPr/>
        </p:nvSpPr>
        <p:spPr>
          <a:xfrm>
            <a:off x="365760" y="3182112"/>
            <a:ext cx="8412480" cy="621792"/>
          </a:xfrm>
          <a:prstGeom prst="roundRect">
            <a:avLst>
              <a:gd name="adj" fmla="val 14706"/>
            </a:avLst>
          </a:prstGeom>
          <a:solidFill>
            <a:srgbClr val="F8F4FF"/>
          </a:solidFill>
          <a:ln/>
          <a:effectLst>
            <a:outerShdw sx="100000" sy="100000" kx="0" ky="0" algn="bl" rotWithShape="0" blurRad="101600" dist="38100" dir="2700000">
              <a:srgbClr val="000000">
                <a:alpha val="12000"/>
              </a:srgbClr>
            </a:outerShdw>
          </a:effectLst>
        </p:spPr>
      </p:sp>
      <p:sp>
        <p:nvSpPr>
          <p:cNvPr id="12" name="Text 10"/>
          <p:cNvSpPr/>
          <p:nvPr/>
        </p:nvSpPr>
        <p:spPr>
          <a:xfrm>
            <a:off x="594360" y="3300984"/>
            <a:ext cx="7863840" cy="384048"/>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  goodness — base word: good</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55C8E8"/>
          </a:solidFill>
          <a:ln/>
        </p:spPr>
      </p:sp>
      <p:sp>
        <p:nvSpPr>
          <p:cNvPr id="3" name="Text 1"/>
          <p:cNvSpPr/>
          <p:nvPr/>
        </p:nvSpPr>
        <p:spPr>
          <a:xfrm>
            <a:off x="365760" y="54864"/>
            <a:ext cx="841248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Vocabulary</a:t>
            </a:r>
            <a:endParaRPr lang="en-US" sz="2200" dirty="0"/>
          </a:p>
        </p:txBody>
      </p:sp>
      <p:sp>
        <p:nvSpPr>
          <p:cNvPr id="4" name="Text 2"/>
          <p:cNvSpPr/>
          <p:nvPr/>
        </p:nvSpPr>
        <p:spPr>
          <a:xfrm>
            <a:off x="365760" y="804672"/>
            <a:ext cx="8229600" cy="237744"/>
          </a:xfrm>
          <a:prstGeom prst="rect">
            <a:avLst/>
          </a:prstGeom>
          <a:noFill/>
          <a:ln/>
        </p:spPr>
        <p:txBody>
          <a:bodyPr wrap="square" lIns="0" tIns="0" rIns="0" bIns="0" rtlCol="0" anchor="ctr"/>
          <a:lstStyle/>
          <a:p>
            <a:pPr indent="0" marL="0">
              <a:buNone/>
            </a:pPr>
            <a:r>
              <a:rPr lang="en-US" sz="1100" b="1" spc="100" kern="0" dirty="0">
                <a:solidFill>
                  <a:srgbClr val="55C8E8"/>
                </a:solidFill>
                <a:latin typeface="Calibri" pitchFamily="34" charset="0"/>
                <a:ea typeface="Calibri" pitchFamily="34" charset="-122"/>
                <a:cs typeface="Calibri" pitchFamily="34" charset="-120"/>
              </a:rPr>
              <a:t>VOCABULARY</a:t>
            </a:r>
            <a:endParaRPr lang="en-US" sz="1100" dirty="0"/>
          </a:p>
        </p:txBody>
      </p:sp>
      <p:sp>
        <p:nvSpPr>
          <p:cNvPr id="5" name="Shape 3"/>
          <p:cNvSpPr/>
          <p:nvPr/>
        </p:nvSpPr>
        <p:spPr>
          <a:xfrm>
            <a:off x="365760" y="1097280"/>
            <a:ext cx="8412480" cy="658368"/>
          </a:xfrm>
          <a:prstGeom prst="roundRect">
            <a:avLst>
              <a:gd name="adj" fmla="val 13889"/>
            </a:avLst>
          </a:prstGeom>
          <a:solidFill>
            <a:srgbClr val="E5F7FC"/>
          </a:solidFill>
          <a:ln/>
          <a:effectLst>
            <a:outerShdw sx="100000" sy="100000" kx="0" ky="0" algn="bl" rotWithShape="0" blurRad="101600" dist="38100" dir="2700000">
              <a:srgbClr val="000000">
                <a:alpha val="12000"/>
              </a:srgbClr>
            </a:outerShdw>
          </a:effectLst>
        </p:spPr>
      </p:sp>
      <p:sp>
        <p:nvSpPr>
          <p:cNvPr id="6" name="Text 4"/>
          <p:cNvSpPr/>
          <p:nvPr/>
        </p:nvSpPr>
        <p:spPr>
          <a:xfrm>
            <a:off x="594360" y="1225296"/>
            <a:ext cx="7863840" cy="420624"/>
          </a:xfrm>
          <a:prstGeom prst="rect">
            <a:avLst/>
          </a:prstGeom>
          <a:noFill/>
          <a:ln/>
        </p:spPr>
        <p:txBody>
          <a:bodyPr wrap="square" lIns="0" tIns="0" rIns="0" bIns="0" rtlCol="0" anchor="ctr"/>
          <a:lstStyle/>
          <a:p>
            <a:pPr indent="0" marL="0">
              <a:buNone/>
            </a:pPr>
            <a:r>
              <a:rPr lang="en-US" sz="1700" b="1" dirty="0">
                <a:solidFill>
                  <a:srgbClr val="0E1C42"/>
                </a:solidFill>
                <a:latin typeface="Calibri" pitchFamily="34" charset="0"/>
                <a:ea typeface="Calibri" pitchFamily="34" charset="-122"/>
                <a:cs typeface="Calibri" pitchFamily="34" charset="-120"/>
              </a:rPr>
              <a:t>clout  </a:t>
            </a:r>
            <a:pPr indent="0" marL="0">
              <a:buNone/>
            </a:pPr>
            <a:r>
              <a:rPr lang="en-US" sz="1400" dirty="0">
                <a:solidFill>
                  <a:srgbClr val="1E293B"/>
                </a:solidFill>
                <a:latin typeface="Calibri" pitchFamily="34" charset="0"/>
                <a:ea typeface="Calibri" pitchFamily="34" charset="-122"/>
                <a:cs typeface="Calibri" pitchFamily="34" charset="-120"/>
              </a:rPr>
              <a:t>A hard hit or blow, usually with an open hand.</a:t>
            </a:r>
            <a:endParaRPr lang="en-US" sz="1700" dirty="0"/>
          </a:p>
        </p:txBody>
      </p:sp>
      <p:sp>
        <p:nvSpPr>
          <p:cNvPr id="7" name="Shape 5"/>
          <p:cNvSpPr/>
          <p:nvPr/>
        </p:nvSpPr>
        <p:spPr>
          <a:xfrm>
            <a:off x="365760" y="1828800"/>
            <a:ext cx="8412480" cy="658368"/>
          </a:xfrm>
          <a:prstGeom prst="roundRect">
            <a:avLst>
              <a:gd name="adj" fmla="val 13889"/>
            </a:avLst>
          </a:prstGeom>
          <a:solidFill>
            <a:srgbClr val="FFFFFF"/>
          </a:solidFill>
          <a:ln/>
          <a:effectLst>
            <a:outerShdw sx="100000" sy="100000" kx="0" ky="0" algn="bl" rotWithShape="0" blurRad="101600" dist="38100" dir="2700000">
              <a:srgbClr val="000000">
                <a:alpha val="12000"/>
              </a:srgbClr>
            </a:outerShdw>
          </a:effectLst>
        </p:spPr>
      </p:sp>
      <p:sp>
        <p:nvSpPr>
          <p:cNvPr id="8" name="Text 6"/>
          <p:cNvSpPr/>
          <p:nvPr/>
        </p:nvSpPr>
        <p:spPr>
          <a:xfrm>
            <a:off x="594360" y="1956816"/>
            <a:ext cx="7863840" cy="420624"/>
          </a:xfrm>
          <a:prstGeom prst="rect">
            <a:avLst/>
          </a:prstGeom>
          <a:noFill/>
          <a:ln/>
        </p:spPr>
        <p:txBody>
          <a:bodyPr wrap="square" lIns="0" tIns="0" rIns="0" bIns="0" rtlCol="0" anchor="ctr"/>
          <a:lstStyle/>
          <a:p>
            <a:pPr indent="0" marL="0">
              <a:buNone/>
            </a:pPr>
            <a:r>
              <a:rPr lang="en-US" sz="1700" b="1" dirty="0">
                <a:solidFill>
                  <a:srgbClr val="0E1C42"/>
                </a:solidFill>
                <a:latin typeface="Calibri" pitchFamily="34" charset="0"/>
                <a:ea typeface="Calibri" pitchFamily="34" charset="-122"/>
                <a:cs typeface="Calibri" pitchFamily="34" charset="-120"/>
              </a:rPr>
              <a:t>deaf  </a:t>
            </a:r>
            <a:pPr indent="0" marL="0">
              <a:buNone/>
            </a:pPr>
            <a:r>
              <a:rPr lang="en-US" sz="1400" dirty="0">
                <a:solidFill>
                  <a:srgbClr val="1E293B"/>
                </a:solidFill>
                <a:latin typeface="Calibri" pitchFamily="34" charset="0"/>
                <a:ea typeface="Calibri" pitchFamily="34" charset="-122"/>
                <a:cs typeface="Calibri" pitchFamily="34" charset="-120"/>
              </a:rPr>
              <a:t>Unable to hear, or unable to hear well.</a:t>
            </a:r>
            <a:endParaRPr lang="en-US" sz="1700" dirty="0"/>
          </a:p>
        </p:txBody>
      </p:sp>
      <p:sp>
        <p:nvSpPr>
          <p:cNvPr id="9" name="Shape 7"/>
          <p:cNvSpPr/>
          <p:nvPr/>
        </p:nvSpPr>
        <p:spPr>
          <a:xfrm>
            <a:off x="365760" y="2560320"/>
            <a:ext cx="8412480" cy="658368"/>
          </a:xfrm>
          <a:prstGeom prst="roundRect">
            <a:avLst>
              <a:gd name="adj" fmla="val 13889"/>
            </a:avLst>
          </a:prstGeom>
          <a:solidFill>
            <a:srgbClr val="E5F7FC"/>
          </a:solidFill>
          <a:ln/>
          <a:effectLst>
            <a:outerShdw sx="100000" sy="100000" kx="0" ky="0" algn="bl" rotWithShape="0" blurRad="101600" dist="38100" dir="2700000">
              <a:srgbClr val="000000">
                <a:alpha val="12000"/>
              </a:srgbClr>
            </a:outerShdw>
          </a:effectLst>
        </p:spPr>
      </p:sp>
      <p:sp>
        <p:nvSpPr>
          <p:cNvPr id="10" name="Text 8"/>
          <p:cNvSpPr/>
          <p:nvPr/>
        </p:nvSpPr>
        <p:spPr>
          <a:xfrm>
            <a:off x="594360" y="2688336"/>
            <a:ext cx="7863840" cy="420624"/>
          </a:xfrm>
          <a:prstGeom prst="rect">
            <a:avLst/>
          </a:prstGeom>
          <a:noFill/>
          <a:ln/>
        </p:spPr>
        <p:txBody>
          <a:bodyPr wrap="square" lIns="0" tIns="0" rIns="0" bIns="0" rtlCol="0" anchor="ctr"/>
          <a:lstStyle/>
          <a:p>
            <a:pPr indent="0" marL="0">
              <a:buNone/>
            </a:pPr>
            <a:r>
              <a:rPr lang="en-US" sz="1700" b="1" dirty="0">
                <a:solidFill>
                  <a:srgbClr val="0E1C42"/>
                </a:solidFill>
                <a:latin typeface="Calibri" pitchFamily="34" charset="0"/>
                <a:ea typeface="Calibri" pitchFamily="34" charset="-122"/>
                <a:cs typeface="Calibri" pitchFamily="34" charset="-120"/>
              </a:rPr>
              <a:t>servant  </a:t>
            </a:r>
            <a:pPr indent="0" marL="0">
              <a:buNone/>
            </a:pPr>
            <a:r>
              <a:rPr lang="en-US" sz="1400" dirty="0">
                <a:solidFill>
                  <a:srgbClr val="1E293B"/>
                </a:solidFill>
                <a:latin typeface="Calibri" pitchFamily="34" charset="0"/>
                <a:ea typeface="Calibri" pitchFamily="34" charset="-122"/>
                <a:cs typeface="Calibri" pitchFamily="34" charset="-120"/>
              </a:rPr>
              <a:t>Someone whose job is to work in another person's household.</a:t>
            </a:r>
            <a:endParaRPr lang="en-US" sz="1700" dirty="0"/>
          </a:p>
        </p:txBody>
      </p:sp>
      <p:sp>
        <p:nvSpPr>
          <p:cNvPr id="11" name="Shape 9"/>
          <p:cNvSpPr/>
          <p:nvPr/>
        </p:nvSpPr>
        <p:spPr>
          <a:xfrm>
            <a:off x="365760" y="3291840"/>
            <a:ext cx="8412480" cy="658368"/>
          </a:xfrm>
          <a:prstGeom prst="roundRect">
            <a:avLst>
              <a:gd name="adj" fmla="val 13889"/>
            </a:avLst>
          </a:prstGeom>
          <a:solidFill>
            <a:srgbClr val="FFFFFF"/>
          </a:solidFill>
          <a:ln/>
          <a:effectLst>
            <a:outerShdw sx="100000" sy="100000" kx="0" ky="0" algn="bl" rotWithShape="0" blurRad="101600" dist="38100" dir="2700000">
              <a:srgbClr val="000000">
                <a:alpha val="12000"/>
              </a:srgbClr>
            </a:outerShdw>
          </a:effectLst>
        </p:spPr>
      </p:sp>
      <p:sp>
        <p:nvSpPr>
          <p:cNvPr id="12" name="Text 10"/>
          <p:cNvSpPr/>
          <p:nvPr/>
        </p:nvSpPr>
        <p:spPr>
          <a:xfrm>
            <a:off x="594360" y="3419856"/>
            <a:ext cx="7863840" cy="420624"/>
          </a:xfrm>
          <a:prstGeom prst="rect">
            <a:avLst/>
          </a:prstGeom>
          <a:noFill/>
          <a:ln/>
        </p:spPr>
        <p:txBody>
          <a:bodyPr wrap="square" lIns="0" tIns="0" rIns="0" bIns="0" rtlCol="0" anchor="ctr"/>
          <a:lstStyle/>
          <a:p>
            <a:pPr indent="0" marL="0">
              <a:buNone/>
            </a:pPr>
            <a:r>
              <a:rPr lang="en-US" sz="1700" b="1" dirty="0">
                <a:solidFill>
                  <a:srgbClr val="0E1C42"/>
                </a:solidFill>
                <a:latin typeface="Calibri" pitchFamily="34" charset="0"/>
                <a:ea typeface="Calibri" pitchFamily="34" charset="-122"/>
                <a:cs typeface="Calibri" pitchFamily="34" charset="-120"/>
              </a:rPr>
              <a:t>tablecloth  </a:t>
            </a:r>
            <a:pPr indent="0" marL="0">
              <a:buNone/>
            </a:pPr>
            <a:r>
              <a:rPr lang="en-US" sz="1400" dirty="0">
                <a:solidFill>
                  <a:srgbClr val="1E293B"/>
                </a:solidFill>
                <a:latin typeface="Calibri" pitchFamily="34" charset="0"/>
                <a:ea typeface="Calibri" pitchFamily="34" charset="-122"/>
                <a:cs typeface="Calibri" pitchFamily="34" charset="-120"/>
              </a:rPr>
              <a:t>A cloth spread over a table; here, what Mig was traded for.</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C7922C"/>
          </a:solidFill>
          <a:ln/>
        </p:spPr>
      </p:sp>
      <p:sp>
        <p:nvSpPr>
          <p:cNvPr id="3" name="Text 1"/>
          <p:cNvSpPr/>
          <p:nvPr/>
        </p:nvSpPr>
        <p:spPr>
          <a:xfrm>
            <a:off x="365760" y="54864"/>
            <a:ext cx="841248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Grammar</a:t>
            </a:r>
            <a:endParaRPr lang="en-US" sz="2200" dirty="0"/>
          </a:p>
        </p:txBody>
      </p:sp>
      <p:sp>
        <p:nvSpPr>
          <p:cNvPr id="4" name="Text 2"/>
          <p:cNvSpPr/>
          <p:nvPr/>
        </p:nvSpPr>
        <p:spPr>
          <a:xfrm>
            <a:off x="365760" y="777240"/>
            <a:ext cx="8229600" cy="237744"/>
          </a:xfrm>
          <a:prstGeom prst="rect">
            <a:avLst/>
          </a:prstGeom>
          <a:noFill/>
          <a:ln/>
        </p:spPr>
        <p:txBody>
          <a:bodyPr wrap="square" lIns="0" tIns="0" rIns="0" bIns="0" rtlCol="0" anchor="ctr"/>
          <a:lstStyle/>
          <a:p>
            <a:pPr indent="0" marL="0">
              <a:buNone/>
            </a:pPr>
            <a:r>
              <a:rPr lang="en-US" sz="1100" b="1" spc="100" kern="0" dirty="0">
                <a:solidFill>
                  <a:srgbClr val="C7922C"/>
                </a:solidFill>
                <a:latin typeface="Calibri" pitchFamily="34" charset="0"/>
                <a:ea typeface="Calibri" pitchFamily="34" charset="-122"/>
                <a:cs typeface="Calibri" pitchFamily="34" charset="-120"/>
              </a:rPr>
              <a:t>SUBJECT-VERB AGREEMENT</a:t>
            </a:r>
            <a:endParaRPr lang="en-US" sz="1100" dirty="0"/>
          </a:p>
        </p:txBody>
      </p:sp>
      <p:sp>
        <p:nvSpPr>
          <p:cNvPr id="5" name="Shape 3"/>
          <p:cNvSpPr/>
          <p:nvPr/>
        </p:nvSpPr>
        <p:spPr>
          <a:xfrm>
            <a:off x="365760" y="1078992"/>
            <a:ext cx="8412480" cy="658368"/>
          </a:xfrm>
          <a:prstGeom prst="roundRect">
            <a:avLst>
              <a:gd name="adj" fmla="val 13889"/>
            </a:avLst>
          </a:prstGeom>
          <a:solidFill>
            <a:srgbClr val="FEF6E8"/>
          </a:solidFill>
          <a:ln/>
          <a:effectLst>
            <a:outerShdw sx="100000" sy="100000" kx="0" ky="0" algn="bl" rotWithShape="0" blurRad="101600" dist="38100" dir="2700000">
              <a:srgbClr val="000000">
                <a:alpha val="12000"/>
              </a:srgbClr>
            </a:outerShdw>
          </a:effectLst>
        </p:spPr>
      </p:sp>
      <p:sp>
        <p:nvSpPr>
          <p:cNvPr id="6" name="Text 4"/>
          <p:cNvSpPr/>
          <p:nvPr/>
        </p:nvSpPr>
        <p:spPr>
          <a:xfrm>
            <a:off x="594360" y="1225296"/>
            <a:ext cx="7863840" cy="402336"/>
          </a:xfrm>
          <a:prstGeom prst="rect">
            <a:avLst/>
          </a:prstGeom>
          <a:noFill/>
          <a:ln/>
        </p:spPr>
        <p:txBody>
          <a:bodyPr wrap="square" lIns="0" tIns="0" rIns="0" bIns="0" rtlCol="0" anchor="ctr"/>
          <a:lstStyle/>
          <a:p>
            <a:pPr indent="0" marL="0">
              <a:buNone/>
            </a:pPr>
            <a:r>
              <a:rPr lang="en-US" sz="1600" dirty="0">
                <a:solidFill>
                  <a:srgbClr val="1E293B"/>
                </a:solidFill>
                <a:latin typeface="Calibri" pitchFamily="34" charset="0"/>
                <a:ea typeface="Calibri" pitchFamily="34" charset="-122"/>
                <a:cs typeface="Calibri" pitchFamily="34" charset="-120"/>
              </a:rPr>
              <a:t>The mice were afraid of the dungeon.</a:t>
            </a:r>
            <a:endParaRPr lang="en-US" sz="1600" dirty="0"/>
          </a:p>
        </p:txBody>
      </p:sp>
      <p:sp>
        <p:nvSpPr>
          <p:cNvPr id="7" name="Shape 5"/>
          <p:cNvSpPr/>
          <p:nvPr/>
        </p:nvSpPr>
        <p:spPr>
          <a:xfrm>
            <a:off x="365760" y="1810512"/>
            <a:ext cx="8412480" cy="658368"/>
          </a:xfrm>
          <a:prstGeom prst="roundRect">
            <a:avLst>
              <a:gd name="adj" fmla="val 13889"/>
            </a:avLst>
          </a:prstGeom>
          <a:solidFill>
            <a:srgbClr val="FFFFFF"/>
          </a:solidFill>
          <a:ln/>
          <a:effectLst>
            <a:outerShdw sx="100000" sy="100000" kx="0" ky="0" algn="bl" rotWithShape="0" blurRad="101600" dist="38100" dir="2700000">
              <a:srgbClr val="000000">
                <a:alpha val="12000"/>
              </a:srgbClr>
            </a:outerShdw>
          </a:effectLst>
        </p:spPr>
      </p:sp>
      <p:sp>
        <p:nvSpPr>
          <p:cNvPr id="8" name="Text 6"/>
          <p:cNvSpPr/>
          <p:nvPr/>
        </p:nvSpPr>
        <p:spPr>
          <a:xfrm>
            <a:off x="594360" y="1956816"/>
            <a:ext cx="7863840" cy="402336"/>
          </a:xfrm>
          <a:prstGeom prst="rect">
            <a:avLst/>
          </a:prstGeom>
          <a:noFill/>
          <a:ln/>
        </p:spPr>
        <p:txBody>
          <a:bodyPr wrap="square" lIns="0" tIns="0" rIns="0" bIns="0" rtlCol="0" anchor="ctr"/>
          <a:lstStyle/>
          <a:p>
            <a:pPr indent="0" marL="0">
              <a:buNone/>
            </a:pPr>
            <a:r>
              <a:rPr lang="en-US" sz="1600" dirty="0">
                <a:solidFill>
                  <a:srgbClr val="1E293B"/>
                </a:solidFill>
                <a:latin typeface="Calibri" pitchFamily="34" charset="0"/>
                <a:ea typeface="Calibri" pitchFamily="34" charset="-122"/>
                <a:cs typeface="Calibri" pitchFamily="34" charset="-120"/>
              </a:rPr>
              <a:t>Mig was almost deaf from the clouts.</a:t>
            </a:r>
            <a:endParaRPr lang="en-US" sz="1600" dirty="0"/>
          </a:p>
        </p:txBody>
      </p:sp>
      <p:sp>
        <p:nvSpPr>
          <p:cNvPr id="9" name="Shape 7"/>
          <p:cNvSpPr/>
          <p:nvPr/>
        </p:nvSpPr>
        <p:spPr>
          <a:xfrm>
            <a:off x="365760" y="2542032"/>
            <a:ext cx="8412480" cy="658368"/>
          </a:xfrm>
          <a:prstGeom prst="roundRect">
            <a:avLst>
              <a:gd name="adj" fmla="val 13889"/>
            </a:avLst>
          </a:prstGeom>
          <a:solidFill>
            <a:srgbClr val="FEF6E8"/>
          </a:solidFill>
          <a:ln/>
          <a:effectLst>
            <a:outerShdw sx="100000" sy="100000" kx="0" ky="0" algn="bl" rotWithShape="0" blurRad="101600" dist="38100" dir="2700000">
              <a:srgbClr val="000000">
                <a:alpha val="12000"/>
              </a:srgbClr>
            </a:outerShdw>
          </a:effectLst>
        </p:spPr>
      </p:sp>
      <p:sp>
        <p:nvSpPr>
          <p:cNvPr id="10" name="Text 8"/>
          <p:cNvSpPr/>
          <p:nvPr/>
        </p:nvSpPr>
        <p:spPr>
          <a:xfrm>
            <a:off x="594360" y="2688336"/>
            <a:ext cx="7863840" cy="402336"/>
          </a:xfrm>
          <a:prstGeom prst="rect">
            <a:avLst/>
          </a:prstGeom>
          <a:noFill/>
          <a:ln/>
        </p:spPr>
        <p:txBody>
          <a:bodyPr wrap="square" lIns="0" tIns="0" rIns="0" bIns="0" rtlCol="0" anchor="ctr"/>
          <a:lstStyle/>
          <a:p>
            <a:pPr indent="0" marL="0">
              <a:buNone/>
            </a:pPr>
            <a:r>
              <a:rPr lang="en-US" sz="1600" dirty="0">
                <a:solidFill>
                  <a:srgbClr val="1E293B"/>
                </a:solidFill>
                <a:latin typeface="Calibri" pitchFamily="34" charset="0"/>
                <a:ea typeface="Calibri" pitchFamily="34" charset="-122"/>
                <a:cs typeface="Calibri" pitchFamily="34" charset="-120"/>
              </a:rPr>
              <a:t>The rats live below the castle.</a:t>
            </a:r>
            <a:endParaRPr lang="en-US" sz="1600" dirty="0"/>
          </a:p>
        </p:txBody>
      </p:sp>
      <p:sp>
        <p:nvSpPr>
          <p:cNvPr id="11" name="Shape 9"/>
          <p:cNvSpPr/>
          <p:nvPr/>
        </p:nvSpPr>
        <p:spPr>
          <a:xfrm>
            <a:off x="365760" y="3273552"/>
            <a:ext cx="8412480" cy="658368"/>
          </a:xfrm>
          <a:prstGeom prst="roundRect">
            <a:avLst>
              <a:gd name="adj" fmla="val 13889"/>
            </a:avLst>
          </a:prstGeom>
          <a:solidFill>
            <a:srgbClr val="FFFFFF"/>
          </a:solidFill>
          <a:ln/>
          <a:effectLst>
            <a:outerShdw sx="100000" sy="100000" kx="0" ky="0" algn="bl" rotWithShape="0" blurRad="101600" dist="38100" dir="2700000">
              <a:srgbClr val="000000">
                <a:alpha val="12000"/>
              </a:srgbClr>
            </a:outerShdw>
          </a:effectLst>
        </p:spPr>
      </p:sp>
      <p:sp>
        <p:nvSpPr>
          <p:cNvPr id="12" name="Text 10"/>
          <p:cNvSpPr/>
          <p:nvPr/>
        </p:nvSpPr>
        <p:spPr>
          <a:xfrm>
            <a:off x="594360" y="3419856"/>
            <a:ext cx="7863840" cy="402336"/>
          </a:xfrm>
          <a:prstGeom prst="rect">
            <a:avLst/>
          </a:prstGeom>
          <a:noFill/>
          <a:ln/>
        </p:spPr>
        <p:txBody>
          <a:bodyPr wrap="square" lIns="0" tIns="0" rIns="0" bIns="0" rtlCol="0" anchor="ctr"/>
          <a:lstStyle/>
          <a:p>
            <a:pPr indent="0" marL="0">
              <a:buNone/>
            </a:pPr>
            <a:r>
              <a:rPr lang="en-US" sz="1600" dirty="0">
                <a:solidFill>
                  <a:srgbClr val="1E293B"/>
                </a:solidFill>
                <a:latin typeface="Calibri" pitchFamily="34" charset="0"/>
                <a:ea typeface="Calibri" pitchFamily="34" charset="-122"/>
                <a:cs typeface="Calibri" pitchFamily="34" charset="-120"/>
              </a:rPr>
              <a:t>Uncle keeps the kettle by the fire.</a:t>
            </a:r>
            <a:endParaRPr lang="en-US" sz="1600" dirty="0"/>
          </a:p>
        </p:txBody>
      </p:sp>
      <p:sp>
        <p:nvSpPr>
          <p:cNvPr id="13" name="Text 11"/>
          <p:cNvSpPr/>
          <p:nvPr/>
        </p:nvSpPr>
        <p:spPr>
          <a:xfrm>
            <a:off x="365760" y="4050792"/>
            <a:ext cx="8412480" cy="365760"/>
          </a:xfrm>
          <a:prstGeom prst="rect">
            <a:avLst/>
          </a:prstGeom>
          <a:noFill/>
          <a:ln/>
        </p:spPr>
        <p:txBody>
          <a:bodyPr wrap="square" lIns="0" tIns="0" rIns="0" bIns="0" rtlCol="0" anchor="ctr"/>
          <a:lstStyle/>
          <a:p>
            <a:pPr indent="0" marL="0">
              <a:buNone/>
            </a:pPr>
            <a:r>
              <a:rPr lang="en-US" sz="1500" i="1" dirty="0">
                <a:solidFill>
                  <a:srgbClr val="64748B"/>
                </a:solidFill>
                <a:latin typeface="Calibri" pitchFamily="34" charset="0"/>
                <a:ea typeface="Calibri" pitchFamily="34" charset="-122"/>
                <a:cs typeface="Calibri" pitchFamily="34" charset="-120"/>
              </a:rPr>
              <a:t>Your turn. Find the verb, then check that it matches its subject. Tap a word to check — green means you got it.</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C7922C"/>
          </a:solidFill>
          <a:ln/>
        </p:spPr>
      </p:sp>
      <p:sp>
        <p:nvSpPr>
          <p:cNvPr id="3" name="Text 1"/>
          <p:cNvSpPr/>
          <p:nvPr/>
        </p:nvSpPr>
        <p:spPr>
          <a:xfrm>
            <a:off x="365760" y="54864"/>
            <a:ext cx="841248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Grammar</a:t>
            </a:r>
            <a:endParaRPr lang="en-US" sz="2200" dirty="0"/>
          </a:p>
        </p:txBody>
      </p:sp>
      <p:sp>
        <p:nvSpPr>
          <p:cNvPr id="4" name="Text 2"/>
          <p:cNvSpPr/>
          <p:nvPr/>
        </p:nvSpPr>
        <p:spPr>
          <a:xfrm>
            <a:off x="365760" y="777240"/>
            <a:ext cx="8229600" cy="237744"/>
          </a:xfrm>
          <a:prstGeom prst="rect">
            <a:avLst/>
          </a:prstGeom>
          <a:noFill/>
          <a:ln/>
        </p:spPr>
        <p:txBody>
          <a:bodyPr wrap="square" lIns="0" tIns="0" rIns="0" bIns="0" rtlCol="0" anchor="ctr"/>
          <a:lstStyle/>
          <a:p>
            <a:pPr indent="0" marL="0">
              <a:buNone/>
            </a:pPr>
            <a:r>
              <a:rPr lang="en-US" sz="1100" b="1" spc="100" kern="0" dirty="0">
                <a:solidFill>
                  <a:srgbClr val="C7922C"/>
                </a:solidFill>
                <a:latin typeface="Calibri" pitchFamily="34" charset="0"/>
                <a:ea typeface="Calibri" pitchFamily="34" charset="-122"/>
                <a:cs typeface="Calibri" pitchFamily="34" charset="-120"/>
              </a:rPr>
              <a:t>SUBJECT-VERB AGREEMENT</a:t>
            </a:r>
            <a:endParaRPr lang="en-US" sz="1100" dirty="0"/>
          </a:p>
        </p:txBody>
      </p:sp>
      <p:sp>
        <p:nvSpPr>
          <p:cNvPr id="5" name="Shape 3"/>
          <p:cNvSpPr/>
          <p:nvPr/>
        </p:nvSpPr>
        <p:spPr>
          <a:xfrm>
            <a:off x="365760" y="1078992"/>
            <a:ext cx="8412480" cy="658368"/>
          </a:xfrm>
          <a:prstGeom prst="roundRect">
            <a:avLst>
              <a:gd name="adj" fmla="val 13889"/>
            </a:avLst>
          </a:prstGeom>
          <a:solidFill>
            <a:srgbClr val="FEF6E8"/>
          </a:solidFill>
          <a:ln/>
          <a:effectLst>
            <a:outerShdw sx="100000" sy="100000" kx="0" ky="0" algn="bl" rotWithShape="0" blurRad="101600" dist="38100" dir="2700000">
              <a:srgbClr val="000000">
                <a:alpha val="12000"/>
              </a:srgbClr>
            </a:outerShdw>
          </a:effectLst>
        </p:spPr>
      </p:sp>
      <p:sp>
        <p:nvSpPr>
          <p:cNvPr id="6" name="Text 4"/>
          <p:cNvSpPr/>
          <p:nvPr/>
        </p:nvSpPr>
        <p:spPr>
          <a:xfrm>
            <a:off x="594360" y="1225296"/>
            <a:ext cx="7863840" cy="402336"/>
          </a:xfrm>
          <a:prstGeom prst="rect">
            <a:avLst/>
          </a:prstGeom>
          <a:noFill/>
          <a:ln/>
        </p:spPr>
        <p:txBody>
          <a:bodyPr wrap="square" lIns="0" tIns="0" rIns="0" bIns="0" rtlCol="0" anchor="ctr"/>
          <a:lstStyle/>
          <a:p>
            <a:pPr indent="0" marL="0">
              <a:buNone/>
            </a:pPr>
            <a:r>
              <a:rPr lang="en-US" sz="1600" dirty="0">
                <a:solidFill>
                  <a:srgbClr val="1E293B"/>
                </a:solidFill>
                <a:latin typeface="Calibri" pitchFamily="34" charset="0"/>
                <a:ea typeface="Calibri" pitchFamily="34" charset="-122"/>
                <a:cs typeface="Calibri" pitchFamily="34" charset="-120"/>
              </a:rPr>
              <a:t>The mice </a:t>
            </a:r>
            <a:pPr indent="0" marL="0">
              <a:buNone/>
            </a:pPr>
            <a:r>
              <a:rPr lang="en-US" sz="1600" b="1" dirty="0">
                <a:solidFill>
                  <a:srgbClr val="34B76F"/>
                </a:solidFill>
                <a:latin typeface="Calibri" pitchFamily="34" charset="0"/>
                <a:ea typeface="Calibri" pitchFamily="34" charset="-122"/>
                <a:cs typeface="Calibri" pitchFamily="34" charset="-120"/>
              </a:rPr>
              <a:t>were</a:t>
            </a:r>
            <a:pPr indent="0" marL="0">
              <a:buNone/>
            </a:pPr>
            <a:r>
              <a:rPr lang="en-US" sz="1600" dirty="0">
                <a:solidFill>
                  <a:srgbClr val="1E293B"/>
                </a:solidFill>
                <a:latin typeface="Calibri" pitchFamily="34" charset="0"/>
                <a:ea typeface="Calibri" pitchFamily="34" charset="-122"/>
                <a:cs typeface="Calibri" pitchFamily="34" charset="-120"/>
              </a:rPr>
              <a:t> afraid of the dungeon.</a:t>
            </a:r>
            <a:endParaRPr lang="en-US" sz="1600" dirty="0"/>
          </a:p>
        </p:txBody>
      </p:sp>
      <p:sp>
        <p:nvSpPr>
          <p:cNvPr id="7" name="Shape 5"/>
          <p:cNvSpPr/>
          <p:nvPr/>
        </p:nvSpPr>
        <p:spPr>
          <a:xfrm>
            <a:off x="365760" y="1810512"/>
            <a:ext cx="8412480" cy="658368"/>
          </a:xfrm>
          <a:prstGeom prst="roundRect">
            <a:avLst>
              <a:gd name="adj" fmla="val 13889"/>
            </a:avLst>
          </a:prstGeom>
          <a:solidFill>
            <a:srgbClr val="FFFFFF"/>
          </a:solidFill>
          <a:ln/>
          <a:effectLst>
            <a:outerShdw sx="100000" sy="100000" kx="0" ky="0" algn="bl" rotWithShape="0" blurRad="101600" dist="38100" dir="2700000">
              <a:srgbClr val="000000">
                <a:alpha val="12000"/>
              </a:srgbClr>
            </a:outerShdw>
          </a:effectLst>
        </p:spPr>
      </p:sp>
      <p:sp>
        <p:nvSpPr>
          <p:cNvPr id="8" name="Text 6"/>
          <p:cNvSpPr/>
          <p:nvPr/>
        </p:nvSpPr>
        <p:spPr>
          <a:xfrm>
            <a:off x="594360" y="1956816"/>
            <a:ext cx="7863840" cy="402336"/>
          </a:xfrm>
          <a:prstGeom prst="rect">
            <a:avLst/>
          </a:prstGeom>
          <a:noFill/>
          <a:ln/>
        </p:spPr>
        <p:txBody>
          <a:bodyPr wrap="square" lIns="0" tIns="0" rIns="0" bIns="0" rtlCol="0" anchor="ctr"/>
          <a:lstStyle/>
          <a:p>
            <a:pPr indent="0" marL="0">
              <a:buNone/>
            </a:pPr>
            <a:r>
              <a:rPr lang="en-US" sz="1600" dirty="0">
                <a:solidFill>
                  <a:srgbClr val="1E293B"/>
                </a:solidFill>
                <a:latin typeface="Calibri" pitchFamily="34" charset="0"/>
                <a:ea typeface="Calibri" pitchFamily="34" charset="-122"/>
                <a:cs typeface="Calibri" pitchFamily="34" charset="-120"/>
              </a:rPr>
              <a:t>Mig </a:t>
            </a:r>
            <a:pPr indent="0" marL="0">
              <a:buNone/>
            </a:pPr>
            <a:r>
              <a:rPr lang="en-US" sz="1600" b="1" dirty="0">
                <a:solidFill>
                  <a:srgbClr val="34B76F"/>
                </a:solidFill>
                <a:latin typeface="Calibri" pitchFamily="34" charset="0"/>
                <a:ea typeface="Calibri" pitchFamily="34" charset="-122"/>
                <a:cs typeface="Calibri" pitchFamily="34" charset="-120"/>
              </a:rPr>
              <a:t>was</a:t>
            </a:r>
            <a:pPr indent="0" marL="0">
              <a:buNone/>
            </a:pPr>
            <a:r>
              <a:rPr lang="en-US" sz="1600" dirty="0">
                <a:solidFill>
                  <a:srgbClr val="1E293B"/>
                </a:solidFill>
                <a:latin typeface="Calibri" pitchFamily="34" charset="0"/>
                <a:ea typeface="Calibri" pitchFamily="34" charset="-122"/>
                <a:cs typeface="Calibri" pitchFamily="34" charset="-120"/>
              </a:rPr>
              <a:t> almost deaf from the clouts.</a:t>
            </a:r>
            <a:endParaRPr lang="en-US" sz="1600" dirty="0"/>
          </a:p>
        </p:txBody>
      </p:sp>
      <p:sp>
        <p:nvSpPr>
          <p:cNvPr id="9" name="Shape 7"/>
          <p:cNvSpPr/>
          <p:nvPr/>
        </p:nvSpPr>
        <p:spPr>
          <a:xfrm>
            <a:off x="365760" y="2542032"/>
            <a:ext cx="8412480" cy="658368"/>
          </a:xfrm>
          <a:prstGeom prst="roundRect">
            <a:avLst>
              <a:gd name="adj" fmla="val 13889"/>
            </a:avLst>
          </a:prstGeom>
          <a:solidFill>
            <a:srgbClr val="FEF6E8"/>
          </a:solidFill>
          <a:ln/>
          <a:effectLst>
            <a:outerShdw sx="100000" sy="100000" kx="0" ky="0" algn="bl" rotWithShape="0" blurRad="101600" dist="38100" dir="2700000">
              <a:srgbClr val="000000">
                <a:alpha val="12000"/>
              </a:srgbClr>
            </a:outerShdw>
          </a:effectLst>
        </p:spPr>
      </p:sp>
      <p:sp>
        <p:nvSpPr>
          <p:cNvPr id="10" name="Text 8"/>
          <p:cNvSpPr/>
          <p:nvPr/>
        </p:nvSpPr>
        <p:spPr>
          <a:xfrm>
            <a:off x="594360" y="2688336"/>
            <a:ext cx="7863840" cy="402336"/>
          </a:xfrm>
          <a:prstGeom prst="rect">
            <a:avLst/>
          </a:prstGeom>
          <a:noFill/>
          <a:ln/>
        </p:spPr>
        <p:txBody>
          <a:bodyPr wrap="square" lIns="0" tIns="0" rIns="0" bIns="0" rtlCol="0" anchor="ctr"/>
          <a:lstStyle/>
          <a:p>
            <a:pPr indent="0" marL="0">
              <a:buNone/>
            </a:pPr>
            <a:r>
              <a:rPr lang="en-US" sz="1600" dirty="0">
                <a:solidFill>
                  <a:srgbClr val="1E293B"/>
                </a:solidFill>
                <a:latin typeface="Calibri" pitchFamily="34" charset="0"/>
                <a:ea typeface="Calibri" pitchFamily="34" charset="-122"/>
                <a:cs typeface="Calibri" pitchFamily="34" charset="-120"/>
              </a:rPr>
              <a:t>The rats </a:t>
            </a:r>
            <a:pPr indent="0" marL="0">
              <a:buNone/>
            </a:pPr>
            <a:r>
              <a:rPr lang="en-US" sz="1600" b="1" dirty="0">
                <a:solidFill>
                  <a:srgbClr val="34B76F"/>
                </a:solidFill>
                <a:latin typeface="Calibri" pitchFamily="34" charset="0"/>
                <a:ea typeface="Calibri" pitchFamily="34" charset="-122"/>
                <a:cs typeface="Calibri" pitchFamily="34" charset="-120"/>
              </a:rPr>
              <a:t>live</a:t>
            </a:r>
            <a:pPr indent="0" marL="0">
              <a:buNone/>
            </a:pPr>
            <a:r>
              <a:rPr lang="en-US" sz="1600" dirty="0">
                <a:solidFill>
                  <a:srgbClr val="1E293B"/>
                </a:solidFill>
                <a:latin typeface="Calibri" pitchFamily="34" charset="0"/>
                <a:ea typeface="Calibri" pitchFamily="34" charset="-122"/>
                <a:cs typeface="Calibri" pitchFamily="34" charset="-120"/>
              </a:rPr>
              <a:t> below the castle.</a:t>
            </a:r>
            <a:endParaRPr lang="en-US" sz="1600" dirty="0"/>
          </a:p>
        </p:txBody>
      </p:sp>
      <p:sp>
        <p:nvSpPr>
          <p:cNvPr id="11" name="Shape 9"/>
          <p:cNvSpPr/>
          <p:nvPr/>
        </p:nvSpPr>
        <p:spPr>
          <a:xfrm>
            <a:off x="365760" y="3273552"/>
            <a:ext cx="8412480" cy="658368"/>
          </a:xfrm>
          <a:prstGeom prst="roundRect">
            <a:avLst>
              <a:gd name="adj" fmla="val 13889"/>
            </a:avLst>
          </a:prstGeom>
          <a:solidFill>
            <a:srgbClr val="FFFFFF"/>
          </a:solidFill>
          <a:ln/>
          <a:effectLst>
            <a:outerShdw sx="100000" sy="100000" kx="0" ky="0" algn="bl" rotWithShape="0" blurRad="101600" dist="38100" dir="2700000">
              <a:srgbClr val="000000">
                <a:alpha val="12000"/>
              </a:srgbClr>
            </a:outerShdw>
          </a:effectLst>
        </p:spPr>
      </p:sp>
      <p:sp>
        <p:nvSpPr>
          <p:cNvPr id="12" name="Text 10"/>
          <p:cNvSpPr/>
          <p:nvPr/>
        </p:nvSpPr>
        <p:spPr>
          <a:xfrm>
            <a:off x="594360" y="3419856"/>
            <a:ext cx="7863840" cy="402336"/>
          </a:xfrm>
          <a:prstGeom prst="rect">
            <a:avLst/>
          </a:prstGeom>
          <a:noFill/>
          <a:ln/>
        </p:spPr>
        <p:txBody>
          <a:bodyPr wrap="square" lIns="0" tIns="0" rIns="0" bIns="0" rtlCol="0" anchor="ctr"/>
          <a:lstStyle/>
          <a:p>
            <a:pPr indent="0" marL="0">
              <a:buNone/>
            </a:pPr>
            <a:r>
              <a:rPr lang="en-US" sz="1600" dirty="0">
                <a:solidFill>
                  <a:srgbClr val="1E293B"/>
                </a:solidFill>
                <a:latin typeface="Calibri" pitchFamily="34" charset="0"/>
                <a:ea typeface="Calibri" pitchFamily="34" charset="-122"/>
                <a:cs typeface="Calibri" pitchFamily="34" charset="-120"/>
              </a:rPr>
              <a:t>Uncle </a:t>
            </a:r>
            <a:pPr indent="0" marL="0">
              <a:buNone/>
            </a:pPr>
            <a:r>
              <a:rPr lang="en-US" sz="1600" b="1" dirty="0">
                <a:solidFill>
                  <a:srgbClr val="34B76F"/>
                </a:solidFill>
                <a:latin typeface="Calibri" pitchFamily="34" charset="0"/>
                <a:ea typeface="Calibri" pitchFamily="34" charset="-122"/>
                <a:cs typeface="Calibri" pitchFamily="34" charset="-120"/>
              </a:rPr>
              <a:t>keeps</a:t>
            </a:r>
            <a:pPr indent="0" marL="0">
              <a:buNone/>
            </a:pPr>
            <a:r>
              <a:rPr lang="en-US" sz="1600" dirty="0">
                <a:solidFill>
                  <a:srgbClr val="1E293B"/>
                </a:solidFill>
                <a:latin typeface="Calibri" pitchFamily="34" charset="0"/>
                <a:ea typeface="Calibri" pitchFamily="34" charset="-122"/>
                <a:cs typeface="Calibri" pitchFamily="34" charset="-120"/>
              </a:rPr>
              <a:t> the kettle by the fire.</a:t>
            </a:r>
            <a:endParaRPr lang="en-US" sz="1600" dirty="0"/>
          </a:p>
        </p:txBody>
      </p:sp>
      <p:sp>
        <p:nvSpPr>
          <p:cNvPr id="13" name="Text 11"/>
          <p:cNvSpPr/>
          <p:nvPr/>
        </p:nvSpPr>
        <p:spPr>
          <a:xfrm>
            <a:off x="365760" y="4050792"/>
            <a:ext cx="8412480" cy="365760"/>
          </a:xfrm>
          <a:prstGeom prst="rect">
            <a:avLst/>
          </a:prstGeom>
          <a:noFill/>
          <a:ln/>
        </p:spPr>
        <p:txBody>
          <a:bodyPr wrap="square" lIns="0" tIns="0" rIns="0" bIns="0" rtlCol="0" anchor="ctr"/>
          <a:lstStyle/>
          <a:p>
            <a:pPr indent="0" marL="0">
              <a:buNone/>
            </a:pPr>
            <a:r>
              <a:rPr lang="en-US" sz="1500" b="1" dirty="0">
                <a:solidFill>
                  <a:srgbClr val="34B76F"/>
                </a:solidFill>
                <a:latin typeface="Calibri" pitchFamily="34" charset="0"/>
                <a:ea typeface="Calibri" pitchFamily="34" charset="-122"/>
                <a:cs typeface="Calibri" pitchFamily="34" charset="-120"/>
              </a:rPr>
              <a:t>✅  Answers revealed</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0E1C42"/>
          </a:solidFill>
          <a:ln/>
        </p:spPr>
      </p:sp>
      <p:sp>
        <p:nvSpPr>
          <p:cNvPr id="3" name="Text 1"/>
          <p:cNvSpPr/>
          <p:nvPr/>
        </p:nvSpPr>
        <p:spPr>
          <a:xfrm>
            <a:off x="365760" y="54864"/>
            <a:ext cx="841248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Spelling</a:t>
            </a:r>
            <a:endParaRPr lang="en-US" sz="2200" dirty="0"/>
          </a:p>
        </p:txBody>
      </p:sp>
      <p:sp>
        <p:nvSpPr>
          <p:cNvPr id="4" name="Text 2"/>
          <p:cNvSpPr/>
          <p:nvPr/>
        </p:nvSpPr>
        <p:spPr>
          <a:xfrm>
            <a:off x="365760" y="777240"/>
            <a:ext cx="8229600" cy="237744"/>
          </a:xfrm>
          <a:prstGeom prst="rect">
            <a:avLst/>
          </a:prstGeom>
          <a:noFill/>
          <a:ln/>
        </p:spPr>
        <p:txBody>
          <a:bodyPr wrap="square" lIns="0" tIns="0" rIns="0" bIns="0" rtlCol="0" anchor="ctr"/>
          <a:lstStyle/>
          <a:p>
            <a:pPr indent="0" marL="0">
              <a:buNone/>
            </a:pPr>
            <a:r>
              <a:rPr lang="en-US" sz="1100" b="1" spc="100" kern="0" dirty="0">
                <a:solidFill>
                  <a:srgbClr val="0E1C42"/>
                </a:solidFill>
                <a:latin typeface="Calibri" pitchFamily="34" charset="0"/>
                <a:ea typeface="Calibri" pitchFamily="34" charset="-122"/>
                <a:cs typeface="Calibri" pitchFamily="34" charset="-120"/>
              </a:rPr>
              <a:t>PLURALS: -S, -ES, AND -IES</a:t>
            </a:r>
            <a:endParaRPr lang="en-US" sz="1100" dirty="0"/>
          </a:p>
        </p:txBody>
      </p:sp>
      <p:sp>
        <p:nvSpPr>
          <p:cNvPr id="5" name="Text 3"/>
          <p:cNvSpPr/>
          <p:nvPr/>
        </p:nvSpPr>
        <p:spPr>
          <a:xfrm>
            <a:off x="365760" y="1078992"/>
            <a:ext cx="8229600" cy="237744"/>
          </a:xfrm>
          <a:prstGeom prst="rect">
            <a:avLst/>
          </a:prstGeom>
          <a:noFill/>
          <a:ln/>
        </p:spPr>
        <p:txBody>
          <a:bodyPr wrap="square" lIns="0" tIns="0" rIns="0" bIns="0" rtlCol="0" anchor="ctr"/>
          <a:lstStyle/>
          <a:p>
            <a:pPr indent="0" marL="0">
              <a:buNone/>
            </a:pPr>
            <a:r>
              <a:rPr lang="en-US" sz="1100" b="1" spc="100" kern="0" dirty="0">
                <a:solidFill>
                  <a:srgbClr val="64748B"/>
                </a:solidFill>
                <a:latin typeface="Calibri" pitchFamily="34" charset="0"/>
                <a:ea typeface="Calibri" pitchFamily="34" charset="-122"/>
                <a:cs typeface="Calibri" pitchFamily="34" charset="-120"/>
              </a:rPr>
              <a:t>WORD BANK</a:t>
            </a:r>
            <a:endParaRPr lang="en-US" sz="1100" dirty="0"/>
          </a:p>
        </p:txBody>
      </p:sp>
      <p:sp>
        <p:nvSpPr>
          <p:cNvPr id="6" name="Shape 4"/>
          <p:cNvSpPr/>
          <p:nvPr/>
        </p:nvSpPr>
        <p:spPr>
          <a:xfrm>
            <a:off x="365760" y="1353312"/>
            <a:ext cx="8412480" cy="1005840"/>
          </a:xfrm>
          <a:prstGeom prst="roundRect">
            <a:avLst>
              <a:gd name="adj" fmla="val 9091"/>
            </a:avLst>
          </a:prstGeom>
          <a:solidFill>
            <a:srgbClr val="FFFFFF"/>
          </a:solidFill>
          <a:ln w="19050">
            <a:solidFill>
              <a:srgbClr val="0E1C42"/>
            </a:solidFill>
            <a:prstDash val="solid"/>
          </a:ln>
          <a:effectLst>
            <a:outerShdw sx="100000" sy="100000" kx="0" ky="0" algn="bl" rotWithShape="0" blurRad="101600" dist="38100" dir="2700000">
              <a:srgbClr val="000000">
                <a:alpha val="12000"/>
              </a:srgbClr>
            </a:outerShdw>
          </a:effectLst>
        </p:spPr>
      </p:sp>
      <p:sp>
        <p:nvSpPr>
          <p:cNvPr id="7" name="Text 5"/>
          <p:cNvSpPr/>
          <p:nvPr/>
        </p:nvSpPr>
        <p:spPr>
          <a:xfrm>
            <a:off x="594360" y="1481328"/>
            <a:ext cx="7955280" cy="749808"/>
          </a:xfrm>
          <a:prstGeom prst="rect">
            <a:avLst/>
          </a:prstGeom>
          <a:noFill/>
          <a:ln/>
        </p:spPr>
        <p:txBody>
          <a:bodyPr wrap="square" lIns="0" tIns="0" rIns="0" bIns="0" rtlCol="0" anchor="ctr"/>
          <a:lstStyle/>
          <a:p>
            <a:pPr indent="0" marL="0">
              <a:buNone/>
            </a:pPr>
            <a:r>
              <a:rPr lang="en-US" sz="1700" dirty="0">
                <a:solidFill>
                  <a:srgbClr val="0E1C42"/>
                </a:solidFill>
                <a:latin typeface="Calibri" pitchFamily="34" charset="0"/>
                <a:ea typeface="Calibri" pitchFamily="34" charset="-122"/>
                <a:cs typeface="Calibri" pitchFamily="34" charset="-120"/>
              </a:rPr>
              <a:t>spoons   ·   bowls   ·   kettles   ·   dishes   ·   boxes   ·   wishes   ·   stories   ·   ponies</a:t>
            </a:r>
            <a:endParaRPr lang="en-US" sz="1700" dirty="0"/>
          </a:p>
        </p:txBody>
      </p:sp>
      <p:sp>
        <p:nvSpPr>
          <p:cNvPr id="8" name="Text 6"/>
          <p:cNvSpPr/>
          <p:nvPr/>
        </p:nvSpPr>
        <p:spPr>
          <a:xfrm>
            <a:off x="365760" y="2514600"/>
            <a:ext cx="8412480" cy="457200"/>
          </a:xfrm>
          <a:prstGeom prst="rect">
            <a:avLst/>
          </a:prstGeom>
          <a:noFill/>
          <a:ln/>
        </p:spPr>
        <p:txBody>
          <a:bodyPr wrap="square" lIns="0" tIns="0" rIns="0" bIns="0" rtlCol="0" anchor="ctr"/>
          <a:lstStyle/>
          <a:p>
            <a:pPr indent="0" marL="0">
              <a:buNone/>
            </a:pPr>
            <a:r>
              <a:rPr lang="en-US" sz="1500" i="1" dirty="0">
                <a:solidFill>
                  <a:srgbClr val="64748B"/>
                </a:solidFill>
                <a:latin typeface="Calibri" pitchFamily="34" charset="0"/>
                <a:ea typeface="Calibri" pitchFamily="34" charset="-122"/>
                <a:cs typeface="Calibri" pitchFamily="34" charset="-120"/>
              </a:rPr>
              <a:t>Which column does each word belong in?  Columns: just -s  |  -es  |  y → -ies</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0E1C42"/>
          </a:solidFill>
          <a:ln/>
        </p:spPr>
      </p:sp>
      <p:sp>
        <p:nvSpPr>
          <p:cNvPr id="3" name="Text 1"/>
          <p:cNvSpPr/>
          <p:nvPr/>
        </p:nvSpPr>
        <p:spPr>
          <a:xfrm>
            <a:off x="365760" y="54864"/>
            <a:ext cx="841248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Spelling</a:t>
            </a:r>
            <a:endParaRPr lang="en-US" sz="2200" dirty="0"/>
          </a:p>
        </p:txBody>
      </p:sp>
      <p:sp>
        <p:nvSpPr>
          <p:cNvPr id="4" name="Text 2"/>
          <p:cNvSpPr/>
          <p:nvPr/>
        </p:nvSpPr>
        <p:spPr>
          <a:xfrm>
            <a:off x="365760" y="777240"/>
            <a:ext cx="8229600" cy="237744"/>
          </a:xfrm>
          <a:prstGeom prst="rect">
            <a:avLst/>
          </a:prstGeom>
          <a:noFill/>
          <a:ln/>
        </p:spPr>
        <p:txBody>
          <a:bodyPr wrap="square" lIns="0" tIns="0" rIns="0" bIns="0" rtlCol="0" anchor="ctr"/>
          <a:lstStyle/>
          <a:p>
            <a:pPr indent="0" marL="0">
              <a:buNone/>
            </a:pPr>
            <a:r>
              <a:rPr lang="en-US" sz="1100" b="1" spc="100" kern="0" dirty="0">
                <a:solidFill>
                  <a:srgbClr val="0E1C42"/>
                </a:solidFill>
                <a:latin typeface="Calibri" pitchFamily="34" charset="0"/>
                <a:ea typeface="Calibri" pitchFamily="34" charset="-122"/>
                <a:cs typeface="Calibri" pitchFamily="34" charset="-120"/>
              </a:rPr>
              <a:t>PLURALS: -S, -ES, AND -IES</a:t>
            </a:r>
            <a:endParaRPr lang="en-US" sz="1100" dirty="0"/>
          </a:p>
        </p:txBody>
      </p:sp>
      <p:sp>
        <p:nvSpPr>
          <p:cNvPr id="5" name="Shape 3"/>
          <p:cNvSpPr/>
          <p:nvPr/>
        </p:nvSpPr>
        <p:spPr>
          <a:xfrm>
            <a:off x="411480" y="1078992"/>
            <a:ext cx="2712720" cy="457200"/>
          </a:xfrm>
          <a:prstGeom prst="roundRect">
            <a:avLst>
              <a:gd name="adj" fmla="val 16000"/>
            </a:avLst>
          </a:prstGeom>
          <a:solidFill>
            <a:srgbClr val="0E1C42"/>
          </a:solidFill>
          <a:ln/>
        </p:spPr>
      </p:sp>
      <p:sp>
        <p:nvSpPr>
          <p:cNvPr id="6" name="Text 4"/>
          <p:cNvSpPr/>
          <p:nvPr/>
        </p:nvSpPr>
        <p:spPr>
          <a:xfrm>
            <a:off x="457200" y="1133856"/>
            <a:ext cx="2621280"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just -s</a:t>
            </a:r>
            <a:endParaRPr lang="en-US" sz="1300" dirty="0"/>
          </a:p>
        </p:txBody>
      </p:sp>
      <p:sp>
        <p:nvSpPr>
          <p:cNvPr id="7" name="Shape 5"/>
          <p:cNvSpPr/>
          <p:nvPr/>
        </p:nvSpPr>
        <p:spPr>
          <a:xfrm>
            <a:off x="411480" y="1591056"/>
            <a:ext cx="2712720" cy="2103120"/>
          </a:xfrm>
          <a:prstGeom prst="roundRect">
            <a:avLst>
              <a:gd name="adj" fmla="val 4348"/>
            </a:avLst>
          </a:prstGeom>
          <a:solidFill>
            <a:srgbClr val="FFFFFF"/>
          </a:solidFill>
          <a:ln/>
          <a:effectLst>
            <a:outerShdw sx="100000" sy="100000" kx="0" ky="0" algn="bl" rotWithShape="0" blurRad="101600" dist="38100" dir="2700000">
              <a:srgbClr val="000000">
                <a:alpha val="12000"/>
              </a:srgbClr>
            </a:outerShdw>
          </a:effectLst>
        </p:spPr>
      </p:sp>
      <p:sp>
        <p:nvSpPr>
          <p:cNvPr id="8" name="Text 6"/>
          <p:cNvSpPr/>
          <p:nvPr/>
        </p:nvSpPr>
        <p:spPr>
          <a:xfrm>
            <a:off x="502920" y="1700784"/>
            <a:ext cx="2529840" cy="1883664"/>
          </a:xfrm>
          <a:prstGeom prst="rect">
            <a:avLst/>
          </a:prstGeom>
          <a:noFill/>
          <a:ln/>
        </p:spPr>
        <p:txBody>
          <a:bodyPr wrap="square" lIns="0" tIns="0" rIns="0" bIns="0" rtlCol="0" anchor="ctr"/>
          <a:lstStyle/>
          <a:p>
            <a:pPr algn="ctr" indent="0" marL="0">
              <a:buNone/>
            </a:pPr>
            <a:r>
              <a:rPr lang="en-US" sz="1400" dirty="0">
                <a:solidFill>
                  <a:srgbClr val="1E293B"/>
                </a:solidFill>
                <a:latin typeface="Calibri" pitchFamily="34" charset="0"/>
                <a:ea typeface="Calibri" pitchFamily="34" charset="-122"/>
                <a:cs typeface="Calibri" pitchFamily="34" charset="-120"/>
              </a:rPr>
              <a:t>spoons</a:t>
            </a:r>
            <a:endParaRPr lang="en-US" sz="1400" dirty="0"/>
          </a:p>
          <a:p>
            <a:pPr algn="ctr" indent="0" marL="0">
              <a:buNone/>
            </a:pPr>
            <a:r>
              <a:rPr lang="en-US" sz="1400" dirty="0">
                <a:solidFill>
                  <a:srgbClr val="1E293B"/>
                </a:solidFill>
                <a:latin typeface="Calibri" pitchFamily="34" charset="0"/>
                <a:ea typeface="Calibri" pitchFamily="34" charset="-122"/>
                <a:cs typeface="Calibri" pitchFamily="34" charset="-120"/>
              </a:rPr>
              <a:t>bowls</a:t>
            </a:r>
            <a:endParaRPr lang="en-US" sz="1400" dirty="0"/>
          </a:p>
          <a:p>
            <a:pPr algn="ctr" indent="0" marL="0">
              <a:buNone/>
            </a:pPr>
            <a:r>
              <a:rPr lang="en-US" sz="1400" dirty="0">
                <a:solidFill>
                  <a:srgbClr val="1E293B"/>
                </a:solidFill>
                <a:latin typeface="Calibri" pitchFamily="34" charset="0"/>
                <a:ea typeface="Calibri" pitchFamily="34" charset="-122"/>
                <a:cs typeface="Calibri" pitchFamily="34" charset="-120"/>
              </a:rPr>
              <a:t>kettles</a:t>
            </a:r>
            <a:endParaRPr lang="en-US" sz="1400" dirty="0"/>
          </a:p>
        </p:txBody>
      </p:sp>
      <p:sp>
        <p:nvSpPr>
          <p:cNvPr id="9" name="Shape 7"/>
          <p:cNvSpPr/>
          <p:nvPr/>
        </p:nvSpPr>
        <p:spPr>
          <a:xfrm>
            <a:off x="3215640" y="1078992"/>
            <a:ext cx="2712720" cy="457200"/>
          </a:xfrm>
          <a:prstGeom prst="roundRect">
            <a:avLst>
              <a:gd name="adj" fmla="val 16000"/>
            </a:avLst>
          </a:prstGeom>
          <a:solidFill>
            <a:srgbClr val="0E1C42"/>
          </a:solidFill>
          <a:ln/>
        </p:spPr>
      </p:sp>
      <p:sp>
        <p:nvSpPr>
          <p:cNvPr id="10" name="Text 8"/>
          <p:cNvSpPr/>
          <p:nvPr/>
        </p:nvSpPr>
        <p:spPr>
          <a:xfrm>
            <a:off x="3261360" y="1133856"/>
            <a:ext cx="2621280"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-es</a:t>
            </a:r>
            <a:endParaRPr lang="en-US" sz="1300" dirty="0"/>
          </a:p>
        </p:txBody>
      </p:sp>
      <p:sp>
        <p:nvSpPr>
          <p:cNvPr id="11" name="Shape 9"/>
          <p:cNvSpPr/>
          <p:nvPr/>
        </p:nvSpPr>
        <p:spPr>
          <a:xfrm>
            <a:off x="3215640" y="1591056"/>
            <a:ext cx="2712720" cy="2103120"/>
          </a:xfrm>
          <a:prstGeom prst="roundRect">
            <a:avLst>
              <a:gd name="adj" fmla="val 4348"/>
            </a:avLst>
          </a:prstGeom>
          <a:solidFill>
            <a:srgbClr val="FFFFFF"/>
          </a:solidFill>
          <a:ln/>
          <a:effectLst>
            <a:outerShdw sx="100000" sy="100000" kx="0" ky="0" algn="bl" rotWithShape="0" blurRad="101600" dist="38100" dir="2700000">
              <a:srgbClr val="000000">
                <a:alpha val="12000"/>
              </a:srgbClr>
            </a:outerShdw>
          </a:effectLst>
        </p:spPr>
      </p:sp>
      <p:sp>
        <p:nvSpPr>
          <p:cNvPr id="12" name="Text 10"/>
          <p:cNvSpPr/>
          <p:nvPr/>
        </p:nvSpPr>
        <p:spPr>
          <a:xfrm>
            <a:off x="3307080" y="1700784"/>
            <a:ext cx="2529840" cy="1883664"/>
          </a:xfrm>
          <a:prstGeom prst="rect">
            <a:avLst/>
          </a:prstGeom>
          <a:noFill/>
          <a:ln/>
        </p:spPr>
        <p:txBody>
          <a:bodyPr wrap="square" lIns="0" tIns="0" rIns="0" bIns="0" rtlCol="0" anchor="ctr"/>
          <a:lstStyle/>
          <a:p>
            <a:pPr algn="ctr" indent="0" marL="0">
              <a:buNone/>
            </a:pPr>
            <a:r>
              <a:rPr lang="en-US" sz="1400" dirty="0">
                <a:solidFill>
                  <a:srgbClr val="1E293B"/>
                </a:solidFill>
                <a:latin typeface="Calibri" pitchFamily="34" charset="0"/>
                <a:ea typeface="Calibri" pitchFamily="34" charset="-122"/>
                <a:cs typeface="Calibri" pitchFamily="34" charset="-120"/>
              </a:rPr>
              <a:t>dishes</a:t>
            </a:r>
            <a:endParaRPr lang="en-US" sz="1400" dirty="0"/>
          </a:p>
          <a:p>
            <a:pPr algn="ctr" indent="0" marL="0">
              <a:buNone/>
            </a:pPr>
            <a:r>
              <a:rPr lang="en-US" sz="1400" dirty="0">
                <a:solidFill>
                  <a:srgbClr val="1E293B"/>
                </a:solidFill>
                <a:latin typeface="Calibri" pitchFamily="34" charset="0"/>
                <a:ea typeface="Calibri" pitchFamily="34" charset="-122"/>
                <a:cs typeface="Calibri" pitchFamily="34" charset="-120"/>
              </a:rPr>
              <a:t>boxes</a:t>
            </a:r>
            <a:endParaRPr lang="en-US" sz="1400" dirty="0"/>
          </a:p>
          <a:p>
            <a:pPr algn="ctr" indent="0" marL="0">
              <a:buNone/>
            </a:pPr>
            <a:r>
              <a:rPr lang="en-US" sz="1400" dirty="0">
                <a:solidFill>
                  <a:srgbClr val="1E293B"/>
                </a:solidFill>
                <a:latin typeface="Calibri" pitchFamily="34" charset="0"/>
                <a:ea typeface="Calibri" pitchFamily="34" charset="-122"/>
                <a:cs typeface="Calibri" pitchFamily="34" charset="-120"/>
              </a:rPr>
              <a:t>wishes</a:t>
            </a:r>
            <a:endParaRPr lang="en-US" sz="1400" dirty="0"/>
          </a:p>
        </p:txBody>
      </p:sp>
      <p:sp>
        <p:nvSpPr>
          <p:cNvPr id="13" name="Shape 11"/>
          <p:cNvSpPr/>
          <p:nvPr/>
        </p:nvSpPr>
        <p:spPr>
          <a:xfrm>
            <a:off x="6019800" y="1078992"/>
            <a:ext cx="2712720" cy="457200"/>
          </a:xfrm>
          <a:prstGeom prst="roundRect">
            <a:avLst>
              <a:gd name="adj" fmla="val 16000"/>
            </a:avLst>
          </a:prstGeom>
          <a:solidFill>
            <a:srgbClr val="0E1C42"/>
          </a:solidFill>
          <a:ln/>
        </p:spPr>
      </p:sp>
      <p:sp>
        <p:nvSpPr>
          <p:cNvPr id="14" name="Text 12"/>
          <p:cNvSpPr/>
          <p:nvPr/>
        </p:nvSpPr>
        <p:spPr>
          <a:xfrm>
            <a:off x="6065520" y="1133856"/>
            <a:ext cx="2621280"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y → -ies</a:t>
            </a:r>
            <a:endParaRPr lang="en-US" sz="1300" dirty="0"/>
          </a:p>
        </p:txBody>
      </p:sp>
      <p:sp>
        <p:nvSpPr>
          <p:cNvPr id="15" name="Shape 13"/>
          <p:cNvSpPr/>
          <p:nvPr/>
        </p:nvSpPr>
        <p:spPr>
          <a:xfrm>
            <a:off x="6019800" y="1591056"/>
            <a:ext cx="2712720" cy="2103120"/>
          </a:xfrm>
          <a:prstGeom prst="roundRect">
            <a:avLst>
              <a:gd name="adj" fmla="val 4348"/>
            </a:avLst>
          </a:prstGeom>
          <a:solidFill>
            <a:srgbClr val="FFFFFF"/>
          </a:solidFill>
          <a:ln/>
          <a:effectLst>
            <a:outerShdw sx="100000" sy="100000" kx="0" ky="0" algn="bl" rotWithShape="0" blurRad="101600" dist="38100" dir="2700000">
              <a:srgbClr val="000000">
                <a:alpha val="12000"/>
              </a:srgbClr>
            </a:outerShdw>
          </a:effectLst>
        </p:spPr>
      </p:sp>
      <p:sp>
        <p:nvSpPr>
          <p:cNvPr id="16" name="Text 14"/>
          <p:cNvSpPr/>
          <p:nvPr/>
        </p:nvSpPr>
        <p:spPr>
          <a:xfrm>
            <a:off x="6111240" y="1700784"/>
            <a:ext cx="2529840" cy="1883664"/>
          </a:xfrm>
          <a:prstGeom prst="rect">
            <a:avLst/>
          </a:prstGeom>
          <a:noFill/>
          <a:ln/>
        </p:spPr>
        <p:txBody>
          <a:bodyPr wrap="square" lIns="0" tIns="0" rIns="0" bIns="0" rtlCol="0" anchor="ctr"/>
          <a:lstStyle/>
          <a:p>
            <a:pPr algn="ctr" indent="0" marL="0">
              <a:buNone/>
            </a:pPr>
            <a:r>
              <a:rPr lang="en-US" sz="1400" dirty="0">
                <a:solidFill>
                  <a:srgbClr val="1E293B"/>
                </a:solidFill>
                <a:latin typeface="Calibri" pitchFamily="34" charset="0"/>
                <a:ea typeface="Calibri" pitchFamily="34" charset="-122"/>
                <a:cs typeface="Calibri" pitchFamily="34" charset="-120"/>
              </a:rPr>
              <a:t>stories</a:t>
            </a:r>
            <a:endParaRPr lang="en-US" sz="1400" dirty="0"/>
          </a:p>
          <a:p>
            <a:pPr algn="ctr" indent="0" marL="0">
              <a:buNone/>
            </a:pPr>
            <a:r>
              <a:rPr lang="en-US" sz="1400" dirty="0">
                <a:solidFill>
                  <a:srgbClr val="1E293B"/>
                </a:solidFill>
                <a:latin typeface="Calibri" pitchFamily="34" charset="0"/>
                <a:ea typeface="Calibri" pitchFamily="34" charset="-122"/>
                <a:cs typeface="Calibri" pitchFamily="34" charset="-120"/>
              </a:rPr>
              <a:t>ponies</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8B6FC0"/>
          </a:solidFill>
          <a:ln/>
        </p:spPr>
      </p:sp>
      <p:sp>
        <p:nvSpPr>
          <p:cNvPr id="3" name="Text 1"/>
          <p:cNvSpPr/>
          <p:nvPr/>
        </p:nvSpPr>
        <p:spPr>
          <a:xfrm>
            <a:off x="365760" y="54864"/>
            <a:ext cx="841248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Read</a:t>
            </a:r>
            <a:endParaRPr lang="en-US" sz="2200" dirty="0"/>
          </a:p>
        </p:txBody>
      </p:sp>
      <p:sp>
        <p:nvSpPr>
          <p:cNvPr id="4" name="Text 2"/>
          <p:cNvSpPr/>
          <p:nvPr/>
        </p:nvSpPr>
        <p:spPr>
          <a:xfrm>
            <a:off x="365760" y="868680"/>
            <a:ext cx="8412480" cy="502920"/>
          </a:xfrm>
          <a:prstGeom prst="rect">
            <a:avLst/>
          </a:prstGeom>
          <a:noFill/>
          <a:ln/>
        </p:spPr>
        <p:txBody>
          <a:bodyPr wrap="square" lIns="0" tIns="0" rIns="0" bIns="0" rtlCol="0" anchor="ctr"/>
          <a:lstStyle/>
          <a:p>
            <a:pPr indent="0" marL="0">
              <a:buNone/>
            </a:pPr>
            <a:r>
              <a:rPr lang="en-US" sz="2600" b="1" dirty="0">
                <a:solidFill>
                  <a:srgbClr val="0E1C42"/>
                </a:solidFill>
                <a:latin typeface="Calibri" pitchFamily="34" charset="0"/>
                <a:ea typeface="Calibri" pitchFamily="34" charset="-122"/>
                <a:cs typeface="Calibri" pitchFamily="34" charset="-120"/>
              </a:rPr>
              <a:t>Ch. 24–25</a:t>
            </a:r>
            <a:endParaRPr lang="en-US" sz="2600" dirty="0"/>
          </a:p>
        </p:txBody>
      </p:sp>
      <p:sp>
        <p:nvSpPr>
          <p:cNvPr id="5" name="Text 3"/>
          <p:cNvSpPr/>
          <p:nvPr/>
        </p:nvSpPr>
        <p:spPr>
          <a:xfrm>
            <a:off x="365760" y="1463040"/>
            <a:ext cx="8229600" cy="237744"/>
          </a:xfrm>
          <a:prstGeom prst="rect">
            <a:avLst/>
          </a:prstGeom>
          <a:noFill/>
          <a:ln/>
        </p:spPr>
        <p:txBody>
          <a:bodyPr wrap="square" lIns="0" tIns="0" rIns="0" bIns="0" rtlCol="0" anchor="ctr"/>
          <a:lstStyle/>
          <a:p>
            <a:pPr indent="0" marL="0">
              <a:buNone/>
            </a:pPr>
            <a:r>
              <a:rPr lang="en-US" sz="1100" b="1" spc="100" kern="0" dirty="0">
                <a:solidFill>
                  <a:srgbClr val="8B6FC0"/>
                </a:solidFill>
                <a:latin typeface="Calibri" pitchFamily="34" charset="0"/>
                <a:ea typeface="Calibri" pitchFamily="34" charset="-122"/>
                <a:cs typeface="Calibri" pitchFamily="34" charset="-120"/>
              </a:rPr>
              <a:t>COPYWORK — FROM THE NOVEL</a:t>
            </a:r>
            <a:endParaRPr lang="en-US" sz="1100" dirty="0"/>
          </a:p>
        </p:txBody>
      </p:sp>
      <p:sp>
        <p:nvSpPr>
          <p:cNvPr id="6" name="Shape 4"/>
          <p:cNvSpPr/>
          <p:nvPr/>
        </p:nvSpPr>
        <p:spPr>
          <a:xfrm>
            <a:off x="365760" y="1719072"/>
            <a:ext cx="8412480" cy="1143000"/>
          </a:xfrm>
          <a:prstGeom prst="roundRect">
            <a:avLst>
              <a:gd name="adj" fmla="val 8000"/>
            </a:avLst>
          </a:prstGeom>
          <a:solidFill>
            <a:srgbClr val="F0E8FF"/>
          </a:solidFill>
          <a:ln w="19050">
            <a:solidFill>
              <a:srgbClr val="8B6FC0"/>
            </a:solidFill>
            <a:prstDash val="solid"/>
          </a:ln>
          <a:effectLst>
            <a:outerShdw sx="100000" sy="100000" kx="0" ky="0" algn="bl" rotWithShape="0" blurRad="101600" dist="38100" dir="2700000">
              <a:srgbClr val="000000">
                <a:alpha val="12000"/>
              </a:srgbClr>
            </a:outerShdw>
          </a:effectLst>
        </p:spPr>
      </p:sp>
      <p:sp>
        <p:nvSpPr>
          <p:cNvPr id="7" name="Text 5"/>
          <p:cNvSpPr/>
          <p:nvPr/>
        </p:nvSpPr>
        <p:spPr>
          <a:xfrm>
            <a:off x="594360" y="1847088"/>
            <a:ext cx="7955280" cy="886968"/>
          </a:xfrm>
          <a:prstGeom prst="rect">
            <a:avLst/>
          </a:prstGeom>
          <a:noFill/>
          <a:ln/>
        </p:spPr>
        <p:txBody>
          <a:bodyPr wrap="square" lIns="0" tIns="0" rIns="0" bIns="0" rtlCol="0" anchor="ctr"/>
          <a:lstStyle/>
          <a:p>
            <a:pPr indent="0" marL="0">
              <a:buNone/>
            </a:pPr>
            <a:r>
              <a:rPr lang="en-US" sz="1700" dirty="0">
                <a:solidFill>
                  <a:srgbClr val="1E293B"/>
                </a:solidFill>
                <a:latin typeface="Calibri" pitchFamily="34" charset="0"/>
                <a:ea typeface="Calibri" pitchFamily="34" charset="-122"/>
                <a:cs typeface="Calibri" pitchFamily="34" charset="-120"/>
              </a:rPr>
              <a:t>“He untangled her fingers from the cloth and turned her in the direction of the man who had bought her. Mig watched her father walk away, the red tablecloth billowing out behind him.”</a:t>
            </a:r>
            <a:endParaRPr lang="en-US" sz="1700" dirty="0"/>
          </a:p>
        </p:txBody>
      </p:sp>
      <p:sp>
        <p:nvSpPr>
          <p:cNvPr id="8" name="Text 6"/>
          <p:cNvSpPr/>
          <p:nvPr/>
        </p:nvSpPr>
        <p:spPr>
          <a:xfrm>
            <a:off x="365760" y="3017520"/>
            <a:ext cx="8229600" cy="237744"/>
          </a:xfrm>
          <a:prstGeom prst="rect">
            <a:avLst/>
          </a:prstGeom>
          <a:noFill/>
          <a:ln/>
        </p:spPr>
        <p:txBody>
          <a:bodyPr wrap="square" lIns="0" tIns="0" rIns="0" bIns="0" rtlCol="0" anchor="ctr"/>
          <a:lstStyle/>
          <a:p>
            <a:pPr indent="0" marL="0">
              <a:buNone/>
            </a:pPr>
            <a:r>
              <a:rPr lang="en-US" sz="1100" b="1" spc="100" kern="0" dirty="0">
                <a:solidFill>
                  <a:srgbClr val="C7922C"/>
                </a:solidFill>
                <a:latin typeface="Calibri" pitchFamily="34" charset="0"/>
                <a:ea typeface="Calibri" pitchFamily="34" charset="-122"/>
                <a:cs typeface="Calibri" pitchFamily="34" charset="-120"/>
              </a:rPr>
              <a:t>PAUSE &amp; THINK</a:t>
            </a:r>
            <a:endParaRPr lang="en-US" sz="1100" dirty="0"/>
          </a:p>
        </p:txBody>
      </p:sp>
      <p:sp>
        <p:nvSpPr>
          <p:cNvPr id="9" name="Text 7"/>
          <p:cNvSpPr/>
          <p:nvPr/>
        </p:nvSpPr>
        <p:spPr>
          <a:xfrm>
            <a:off x="365760" y="3273552"/>
            <a:ext cx="8412480" cy="914400"/>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  Despereaux makes a decision. What does he decide to do, and what gives him the courage to try?</a:t>
            </a:r>
            <a:endParaRPr lang="en-US" sz="1500" dirty="0"/>
          </a:p>
          <a:p>
            <a:pPr indent="0" marL="0">
              <a:buNone/>
            </a:pPr>
            <a:r>
              <a:rPr lang="en-US" sz="1500" dirty="0">
                <a:solidFill>
                  <a:srgbClr val="1E293B"/>
                </a:solidFill>
                <a:latin typeface="Calibri" pitchFamily="34" charset="0"/>
                <a:ea typeface="Calibri" pitchFamily="34" charset="-122"/>
                <a:cs typeface="Calibri" pitchFamily="34" charset="-120"/>
              </a:rPr>
              <a:t>•  Despereaux moves toward the dungeon. What obstacles does he face, and how does he respond to each one?</a:t>
            </a:r>
            <a:endParaRPr lang="en-US" sz="15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34B76F"/>
          </a:solidFill>
          <a:ln/>
        </p:spPr>
      </p:sp>
      <p:sp>
        <p:nvSpPr>
          <p:cNvPr id="3" name="Text 1"/>
          <p:cNvSpPr/>
          <p:nvPr/>
        </p:nvSpPr>
        <p:spPr>
          <a:xfrm>
            <a:off x="365760" y="54864"/>
            <a:ext cx="841248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Writer’s Workshop</a:t>
            </a:r>
            <a:endParaRPr lang="en-US" sz="2200" dirty="0"/>
          </a:p>
        </p:txBody>
      </p:sp>
      <p:sp>
        <p:nvSpPr>
          <p:cNvPr id="4" name="Text 2"/>
          <p:cNvSpPr/>
          <p:nvPr/>
        </p:nvSpPr>
        <p:spPr>
          <a:xfrm>
            <a:off x="365760" y="822960"/>
            <a:ext cx="8229600" cy="237744"/>
          </a:xfrm>
          <a:prstGeom prst="rect">
            <a:avLst/>
          </a:prstGeom>
          <a:noFill/>
          <a:ln/>
        </p:spPr>
        <p:txBody>
          <a:bodyPr wrap="square" lIns="0" tIns="0" rIns="0" bIns="0" rtlCol="0" anchor="ctr"/>
          <a:lstStyle/>
          <a:p>
            <a:pPr indent="0" marL="0">
              <a:buNone/>
            </a:pPr>
            <a:r>
              <a:rPr lang="en-US" sz="1100" b="1" spc="100" kern="0" dirty="0">
                <a:solidFill>
                  <a:srgbClr val="34B76F"/>
                </a:solidFill>
                <a:latin typeface="Calibri" pitchFamily="34" charset="0"/>
                <a:ea typeface="Calibri" pitchFamily="34" charset="-122"/>
                <a:cs typeface="Calibri" pitchFamily="34" charset="-120"/>
              </a:rPr>
              <a:t>THIS WEEK’S STAGE</a:t>
            </a:r>
            <a:endParaRPr lang="en-US" sz="1100" dirty="0"/>
          </a:p>
        </p:txBody>
      </p:sp>
      <p:sp>
        <p:nvSpPr>
          <p:cNvPr id="5" name="Text 3"/>
          <p:cNvSpPr/>
          <p:nvPr/>
        </p:nvSpPr>
        <p:spPr>
          <a:xfrm>
            <a:off x="365760" y="1078992"/>
            <a:ext cx="8412480" cy="548640"/>
          </a:xfrm>
          <a:prstGeom prst="rect">
            <a:avLst/>
          </a:prstGeom>
          <a:noFill/>
          <a:ln/>
        </p:spPr>
        <p:txBody>
          <a:bodyPr wrap="square" lIns="0" tIns="0" rIns="0" bIns="0" rtlCol="0" anchor="ctr"/>
          <a:lstStyle/>
          <a:p>
            <a:pPr indent="0" marL="0">
              <a:buNone/>
            </a:pPr>
            <a:r>
              <a:rPr lang="en-US" sz="3000" b="1" dirty="0">
                <a:solidFill>
                  <a:srgbClr val="0E1C42"/>
                </a:solidFill>
                <a:latin typeface="Calibri" pitchFamily="34" charset="0"/>
                <a:ea typeface="Calibri" pitchFamily="34" charset="-122"/>
                <a:cs typeface="Calibri" pitchFamily="34" charset="-120"/>
              </a:rPr>
              <a:t>REVISE</a:t>
            </a:r>
            <a:endParaRPr lang="en-US" sz="3000" dirty="0"/>
          </a:p>
        </p:txBody>
      </p:sp>
      <p:sp>
        <p:nvSpPr>
          <p:cNvPr id="6" name="Text 4"/>
          <p:cNvSpPr/>
          <p:nvPr/>
        </p:nvSpPr>
        <p:spPr>
          <a:xfrm>
            <a:off x="365760" y="1691640"/>
            <a:ext cx="8412480" cy="457200"/>
          </a:xfrm>
          <a:prstGeom prst="rect">
            <a:avLst/>
          </a:prstGeom>
          <a:noFill/>
          <a:ln/>
        </p:spPr>
        <p:txBody>
          <a:bodyPr wrap="square" lIns="0" tIns="0" rIns="0" bIns="0" rtlCol="0" anchor="ctr"/>
          <a:lstStyle/>
          <a:p>
            <a:pPr indent="0" marL="0">
              <a:buNone/>
            </a:pPr>
            <a:r>
              <a:rPr lang="en-US" sz="1800" dirty="0">
                <a:solidFill>
                  <a:srgbClr val="1E293B"/>
                </a:solidFill>
                <a:latin typeface="Calibri" pitchFamily="34" charset="0"/>
                <a:ea typeface="Calibri" pitchFamily="34" charset="-122"/>
                <a:cs typeface="Calibri" pitchFamily="34" charset="-120"/>
              </a:rPr>
              <a:t>Revise for cause and effect</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Optima Academy Online</dc:creator>
  <cp:lastModifiedBy>Optima Academy Online</cp:lastModifiedBy>
  <cp:revision>1</cp:revision>
  <dcterms:created xsi:type="dcterms:W3CDTF">2026-09-08T13:30:00Z</dcterms:created>
  <dcterms:modified xsi:type="dcterms:W3CDTF">2026-09-08T13:30:00Z</dcterms:modified>
</cp:coreProperties>
</file>