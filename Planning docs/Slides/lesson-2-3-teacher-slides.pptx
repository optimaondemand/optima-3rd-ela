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 Day 3. Flat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write this like a real letter, with a greeting, a body, and a closing?.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8A317"/>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F5D76E"/>
                </a:solidFill>
                <a:latin typeface="Calibri" pitchFamily="34" charset="0"/>
                <a:ea typeface="Calibri" pitchFamily="34" charset="-122"/>
                <a:cs typeface="Calibri" pitchFamily="34" charset="-120"/>
              </a:rPr>
              <a:t>Flat Stanley — Lesson 2.3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gets mailed in an envelope to visit his friend Thomas in California. If someone could mail you anywhere in the world, where would you want to go and who would you visit? Write a letter to the person who would open the envelope when you arrive.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Stanley gets mailed in an envelope to visit his friend Thomas in California. If someone could mail you anywhere in the world, where would you want to go and who would you visit? Write a letter to the person who would open the envelope when you arrive.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write this like a real letter, with a greeting, a body, and a closing?</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helps his mother find her ring. How does being flat help Stanley solve a problem?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have an idea,” Stanley said. He took the laces out of his shoes and tied them all together.</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lower me stanley said to his mother and i will look for the ring down in the dark shaft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lower me stanley said to his mother and i will look for the ring down in the dark shaft</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"Lower me ," Stanley said to his mother , "and I will look for the ring down in the dark shaft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Prefix re- means again</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happy</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kind</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roll</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fair</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REVIEW WORDS</a:t>
            </a:r>
            <a:endParaRPr lang="en-US" sz="1100" dirty="0"/>
          </a:p>
        </p:txBody>
      </p:sp>
      <p:sp>
        <p:nvSpPr>
          <p:cNvPr id="5" name="Shape 3"/>
          <p:cNvSpPr/>
          <p:nvPr/>
        </p:nvSpPr>
        <p:spPr>
          <a:xfrm>
            <a:off x="457200" y="1371600"/>
            <a:ext cx="8229600" cy="731520"/>
          </a:xfrm>
          <a:prstGeom prst="roundRect">
            <a:avLst>
              <a:gd name="adj" fmla="val 12500"/>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63040"/>
            <a:ext cx="7863840" cy="548640"/>
          </a:xfrm>
          <a:prstGeom prst="rect">
            <a:avLst/>
          </a:prstGeom>
          <a:noFill/>
          <a:ln/>
        </p:spPr>
        <p:txBody>
          <a:bodyPr wrap="square" lIns="0" tIns="0" rIns="0" bIns="0" rtlCol="0" anchor="ctr"/>
          <a:lstStyle/>
          <a:p>
            <a:pPr algn="ctr" indent="0" marL="0">
              <a:buNone/>
            </a:pPr>
            <a:r>
              <a:rPr lang="en-US" sz="1800" b="1" dirty="0">
                <a:solidFill>
                  <a:srgbClr val="0E1C42"/>
                </a:solidFill>
                <a:latin typeface="Calibri" pitchFamily="34" charset="0"/>
                <a:ea typeface="Calibri" pitchFamily="34" charset="-122"/>
                <a:cs typeface="Calibri" pitchFamily="34" charset="-120"/>
              </a:rPr>
              <a:t>grating   •   envelope   •   valuable   •   limber</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CVC, CVCe, open/closed syllable review</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flat     trip     left     held     slide     joke     make     fine</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CVC, CVCe, open/closed syllable review — Sorted</a:t>
            </a:r>
            <a:endParaRPr lang="en-US" sz="2800" dirty="0"/>
          </a:p>
        </p:txBody>
      </p:sp>
      <p:sp>
        <p:nvSpPr>
          <p:cNvPr id="3" name="Shape 1"/>
          <p:cNvSpPr/>
          <p:nvPr/>
        </p:nvSpPr>
        <p:spPr>
          <a:xfrm>
            <a:off x="365760" y="749808"/>
            <a:ext cx="8412480" cy="0"/>
          </a:xfrm>
          <a:prstGeom prst="line">
            <a:avLst/>
          </a:prstGeom>
          <a:noFill/>
          <a:ln w="19050">
            <a:solidFill>
              <a:srgbClr val="F5D76E"/>
            </a:solidFill>
            <a:prstDash val="solid"/>
          </a:ln>
        </p:spPr>
      </p:sp>
      <p:sp>
        <p:nvSpPr>
          <p:cNvPr id="4" name="Shape 2"/>
          <p:cNvSpPr/>
          <p:nvPr/>
        </p:nvSpPr>
        <p:spPr>
          <a:xfrm>
            <a:off x="6492240" y="173736"/>
            <a:ext cx="2286000" cy="502920"/>
          </a:xfrm>
          <a:prstGeom prst="roundRect">
            <a:avLst>
              <a:gd name="adj" fmla="val 21818"/>
            </a:avLst>
          </a:prstGeom>
          <a:solidFill>
            <a:srgbClr val="F5D76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flat</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trip</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left</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held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CVCe</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slide</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joke</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make</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fine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Chapter 2</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5" name="Shape 3"/>
          <p:cNvSpPr/>
          <p:nvPr/>
        </p:nvSpPr>
        <p:spPr>
          <a:xfrm>
            <a:off x="457200" y="13258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4356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have an idea,” Stanley said. He took the laces out of his shoes and tied them all together to make one long lace.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“Being flat could also be helpful, Stanley found.”</a:t>
            </a:r>
            <a:endParaRPr lang="en-US" sz="1800" dirty="0"/>
          </a:p>
        </p:txBody>
      </p:sp>
      <p:sp>
        <p:nvSpPr>
          <p:cNvPr id="6" name="Shape 4"/>
          <p:cNvSpPr/>
          <p:nvPr/>
        </p:nvSpPr>
        <p:spPr>
          <a:xfrm>
            <a:off x="457200" y="164592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640080" y="169164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Stanley just used his flatness to help his mom find her ring. What does this sentence tell you about how Stanley is starting to feel about being flat?</a:t>
            </a:r>
            <a:endParaRPr lang="en-US" sz="1400" dirty="0"/>
          </a:p>
        </p:txBody>
      </p:sp>
      <p:sp>
        <p:nvSpPr>
          <p:cNvPr id="8" name="Shape 6"/>
          <p:cNvSpPr/>
          <p:nvPr/>
        </p:nvSpPr>
        <p:spPr>
          <a:xfrm>
            <a:off x="457200" y="230428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640080" y="235000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author put  “Stanley found”  at the END of the sentence instead of the beginning. Try reading it the other way:  “Stanley found that being flat could also be helpful.”  Can you feel the difference?</a:t>
            </a:r>
            <a:endParaRPr lang="en-US" sz="1400" dirty="0"/>
          </a:p>
        </p:txBody>
      </p:sp>
      <p:sp>
        <p:nvSpPr>
          <p:cNvPr id="10" name="Shape 8"/>
          <p:cNvSpPr/>
          <p:nvPr/>
        </p:nvSpPr>
        <p:spPr>
          <a:xfrm>
            <a:off x="457200" y="296265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640080" y="300837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Now you try the same pattern! Think of something about yourself that surprised you — something you thought was just one thing, but turned out to be something else too.</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Reading-Writing Connection (RWM)</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