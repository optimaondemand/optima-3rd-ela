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9 Day 4. The Tale of Despereaux.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my thinking with a reason, not just say yes or no?.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9 · Day 4</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8B6FC0"/>
                </a:solidFill>
                <a:latin typeface="Calibri" pitchFamily="34" charset="0"/>
                <a:ea typeface="Calibri" pitchFamily="34" charset="-122"/>
                <a:cs typeface="Calibri" pitchFamily="34" charset="-120"/>
              </a:rPr>
              <a:t>The Tale of Despereaux — Lesson 9.4</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Roscuro wants to live in the light, but he is a rat and rats are supposed to live in the dark. Do you think where you come from should decide who you get to become? Why or why not?</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Roscuro wants to live in the light, but he is a rat and rats are supposed to live in the dark. Do you think where you come from should decide who you get to become? Why or why not?</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my thinking with a reason, not just say yes or no?</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How has Roscuro changed since Chapter 8?</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do Despereaux and Roscuro have in common?</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do you predict will happen when their paths cross?</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step back and compare . After finishing a book within a book, a good reader asks: how has this character changed? And how does this story connect to the larger one?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roscuro crawled back to the dungeon with a piece of light and a heart full of bitterness</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he plotted his revenge in the dark but he was not entirely without hope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roscuro crawled back to the dungeon with a piece of light and a heart full of bitterness</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he plotted his revenge in the dark but he was not entirely without hope</a:t>
            </a:r>
            <a:endParaRPr lang="en-US" sz="1800" dirty="0"/>
          </a:p>
        </p:txBody>
      </p:sp>
      <p:sp>
        <p:nvSpPr>
          <p:cNvPr id="10" name="Text 8"/>
          <p:cNvSpPr/>
          <p:nvPr/>
        </p:nvSpPr>
        <p:spPr>
          <a:xfrm>
            <a:off x="457200" y="24688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1" name="Text 9"/>
          <p:cNvSpPr/>
          <p:nvPr/>
        </p:nvSpPr>
        <p:spPr>
          <a:xfrm>
            <a:off x="640080" y="274320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1. Roscuro crawled back to the dungeon with a piece of light and a heart full of bitterness.</a:t>
            </a:r>
            <a:endParaRPr lang="en-US" sz="1300" dirty="0"/>
          </a:p>
        </p:txBody>
      </p:sp>
      <p:sp>
        <p:nvSpPr>
          <p:cNvPr id="12" name="Text 10"/>
          <p:cNvSpPr/>
          <p:nvPr/>
        </p:nvSpPr>
        <p:spPr>
          <a:xfrm>
            <a:off x="640080" y="329184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2. He plotted his revenge in the dark , but he was not entirely without hope.</a:t>
            </a:r>
            <a:endParaRPr lang="en-US" sz="1300" dirty="0"/>
          </a:p>
        </p:txBody>
      </p:sp>
      <p:sp>
        <p:nvSpPr>
          <p:cNvPr id="13" name="Text 11"/>
          <p:cNvSpPr/>
          <p:nvPr/>
        </p:nvSpPr>
        <p:spPr>
          <a:xfrm>
            <a:off x="640080" y="38404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Did you catch the proper noun (Roscuro), the pronoun (he), and the comma before "but"?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The Suffix  -ness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shine</a:t>
            </a:r>
            <a:pPr indent="0" marL="0">
              <a:buNone/>
            </a:pPr>
            <a:r>
              <a:rPr lang="en-US" sz="1400" dirty="0">
                <a:solidFill>
                  <a:srgbClr val="64748B"/>
                </a:solidFill>
                <a:latin typeface="Calibri" pitchFamily="34" charset="0"/>
                <a:ea typeface="Calibri" pitchFamily="34" charset="-122"/>
                <a:cs typeface="Calibri" pitchFamily="34" charset="-120"/>
              </a:rPr>
              <a:t>  ·  shin ing  (the sun was shining)</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stare</a:t>
            </a:r>
            <a:pPr indent="0" marL="0">
              <a:buNone/>
            </a:pPr>
            <a:r>
              <a:rPr lang="en-US" sz="1400" dirty="0">
                <a:solidFill>
                  <a:srgbClr val="64748B"/>
                </a:solidFill>
                <a:latin typeface="Calibri" pitchFamily="34" charset="0"/>
                <a:ea typeface="Calibri" pitchFamily="34" charset="-122"/>
                <a:cs typeface="Calibri" pitchFamily="34" charset="-120"/>
              </a:rPr>
              <a:t>  ·  star ing  (he was staring at the light)</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sniff</a:t>
            </a:r>
            <a:pPr indent="0" marL="0">
              <a:buNone/>
            </a:pPr>
            <a:r>
              <a:rPr lang="en-US" sz="1400" dirty="0">
                <a:solidFill>
                  <a:srgbClr val="64748B"/>
                </a:solidFill>
                <a:latin typeface="Calibri" pitchFamily="34" charset="0"/>
                <a:ea typeface="Calibri" pitchFamily="34" charset="-122"/>
                <a:cs typeface="Calibri" pitchFamily="34" charset="-120"/>
              </a:rPr>
              <a:t>  ·  sniff ing  (she was sniffing)</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hold</a:t>
            </a:r>
            <a:pPr indent="0" marL="0">
              <a:buNone/>
            </a:pPr>
            <a:r>
              <a:rPr lang="en-US" sz="1400" dirty="0">
                <a:solidFill>
                  <a:srgbClr val="64748B"/>
                </a:solidFill>
                <a:latin typeface="Calibri" pitchFamily="34" charset="0"/>
                <a:ea typeface="Calibri" pitchFamily="34" charset="-122"/>
                <a:cs typeface="Calibri" pitchFamily="34" charset="-120"/>
              </a:rPr>
              <a:t>  ·  hold ing  (he was holding a handkerchief)</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 from the Novel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longing</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deep wish or desire for something you do not have.</a:t>
            </a:r>
            <a:endParaRPr lang="en-US" sz="1500" dirty="0"/>
          </a:p>
        </p:txBody>
      </p:sp>
      <p:sp>
        <p:nvSpPr>
          <p:cNvPr id="6" name="Shape 4"/>
          <p:cNvSpPr/>
          <p:nvPr/>
        </p:nvSpPr>
        <p:spPr>
          <a:xfrm>
            <a:off x="45720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despair</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complete hopelessness; giving up on something getting better.</a:t>
            </a:r>
            <a:endParaRPr lang="en-US" sz="1500" dirty="0"/>
          </a:p>
        </p:txBody>
      </p:sp>
      <p:sp>
        <p:nvSpPr>
          <p:cNvPr id="8" name="Shape 6"/>
          <p:cNvSpPr/>
          <p:nvPr/>
        </p:nvSpPr>
        <p:spPr>
          <a:xfrm>
            <a:off x="4572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concentration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Focused attention on something; thinking about only one thing.</a:t>
            </a:r>
            <a:endParaRPr lang="en-US" sz="1500" dirty="0"/>
          </a:p>
        </p:txBody>
      </p:sp>
      <p:sp>
        <p:nvSpPr>
          <p:cNvPr id="10" name="Shape 8"/>
          <p:cNvSpPr/>
          <p:nvPr/>
        </p:nvSpPr>
        <p:spPr>
          <a:xfrm>
            <a:off x="45720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disappointment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sadness when something does not turn out the way you hoped.</a:t>
            </a:r>
            <a:endParaRPr lang="en-US" sz="1500" dirty="0"/>
          </a:p>
        </p:txBody>
      </p:sp>
      <p:sp>
        <p:nvSpPr>
          <p:cNvPr id="12" name="Shape 10"/>
          <p:cNvSpPr/>
          <p:nvPr/>
        </p:nvSpPr>
        <p:spPr>
          <a:xfrm>
            <a:off x="4572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obscenely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is shockingly large or extreme; far beyond what is normal.</a:t>
            </a:r>
            <a:endParaRPr lang="en-US" sz="1500" dirty="0"/>
          </a:p>
        </p:txBody>
      </p:sp>
      <p:sp>
        <p:nvSpPr>
          <p:cNvPr id="14" name="Shape 12"/>
          <p:cNvSpPr/>
          <p:nvPr/>
        </p:nvSpPr>
        <p:spPr>
          <a:xfrm>
            <a:off x="45720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proclaimed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Announced something in a loud, official, or important way.</a:t>
            </a:r>
            <a:endParaRPr lang="en-US" sz="1500" dirty="0"/>
          </a:p>
        </p:txBody>
      </p:sp>
      <p:sp>
        <p:nvSpPr>
          <p:cNvPr id="16" name="Shape 14"/>
          <p:cNvSpPr/>
          <p:nvPr/>
        </p:nvSpPr>
        <p:spPr>
          <a:xfrm>
            <a:off x="457200" y="2843784"/>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7" name="Text 15"/>
          <p:cNvSpPr/>
          <p:nvPr/>
        </p:nvSpPr>
        <p:spPr>
          <a:xfrm>
            <a:off x="594360" y="2898648"/>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ridiculously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seems silly or unbelievable; so much that it is hard to take seriously.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looked up at the 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 held it up 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princess she did not 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rats they lived in darkness.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 — Answers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looked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held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it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princess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did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rats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lived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darkness.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shining     staring     named     waved     snapped     stopped     wrapped     nodding</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 — Sorted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shining</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staring</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named</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waved</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snapped</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stopped</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wrapped</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nodding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 14–15</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What do Despereaux and Roscuro have in common?</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What do you predict will happen when their paths cross?</a:t>
            </a:r>
            <a:endParaRPr lang="en-US" sz="1400" dirty="0"/>
          </a:p>
        </p:txBody>
      </p:sp>
      <p:sp>
        <p:nvSpPr>
          <p:cNvPr id="7" name="Text 5"/>
          <p:cNvSpPr/>
          <p:nvPr/>
        </p:nvSpPr>
        <p:spPr>
          <a:xfrm>
            <a:off x="457200" y="26060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8" name="Shape 6"/>
          <p:cNvSpPr/>
          <p:nvPr/>
        </p:nvSpPr>
        <p:spPr>
          <a:xfrm>
            <a:off x="457200" y="29260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30358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And Roscuro felt, suddenly, as if he were drowning. He wanted so desperately not to cause sorrow, not to be a rat. He wanted to be something else entirely.</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rat stared into the light as if he could, by staring hard enough, make it his own.”</a:t>
            </a:r>
            <a:endParaRPr lang="en-US" sz="1800" dirty="0"/>
          </a:p>
        </p:txBody>
      </p:sp>
      <p:sp>
        <p:nvSpPr>
          <p:cNvPr id="6" name="Text 4"/>
          <p:cNvSpPr/>
          <p:nvPr/>
        </p:nvSpPr>
        <p:spPr>
          <a:xfrm>
            <a:off x="640080" y="1645920"/>
            <a:ext cx="7863840" cy="320040"/>
          </a:xfrm>
          <a:prstGeom prst="rect">
            <a:avLst/>
          </a:prstGeom>
          <a:noFill/>
          <a:ln/>
        </p:spPr>
        <p:txBody>
          <a:bodyPr wrap="square" lIns="0" tIns="0" rIns="0" bIns="0" rtlCol="0" anchor="ctr"/>
          <a:lstStyle/>
          <a:p>
            <a:pPr indent="0" marL="0">
              <a:buNone/>
            </a:pPr>
            <a:r>
              <a:rPr lang="en-US" sz="1300" i="1" dirty="0">
                <a:solidFill>
                  <a:srgbClr val="8B6FC0"/>
                </a:solidFill>
                <a:latin typeface="Calibri" pitchFamily="34" charset="0"/>
                <a:ea typeface="Calibri" pitchFamily="34" charset="-122"/>
                <a:cs typeface="Calibri" pitchFamily="34" charset="-120"/>
              </a:rPr>
              <a:t>📌 Craft focus: interrupting phrase for emphasis</a:t>
            </a:r>
            <a:endParaRPr lang="en-US" sz="1300" dirty="0"/>
          </a:p>
        </p:txBody>
      </p:sp>
      <p:sp>
        <p:nvSpPr>
          <p:cNvPr id="7" name="Shape 5"/>
          <p:cNvSpPr/>
          <p:nvPr/>
        </p:nvSpPr>
        <p:spPr>
          <a:xfrm>
            <a:off x="457200" y="205740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640080" y="210312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Roscuro stares into the light, wanting it to be his. Does he ever get what he truly wants in these chapters? What does this moment of longing tell you about how his story might end?</a:t>
            </a:r>
            <a:endParaRPr lang="en-US" sz="1400" dirty="0"/>
          </a:p>
        </p:txBody>
      </p:sp>
      <p:sp>
        <p:nvSpPr>
          <p:cNvPr id="9" name="Shape 7"/>
          <p:cNvSpPr/>
          <p:nvPr/>
        </p:nvSpPr>
        <p:spPr>
          <a:xfrm>
            <a:off x="457200" y="271576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76148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The author inserts  "by staring hard enough"  right in the middle of the sentence — between  he could  and  make it his own . Try reading it without that phrase. What does putting it in the middle do? What would we lose?</a:t>
            </a:r>
            <a:endParaRPr lang="en-US" sz="1400" dirty="0"/>
          </a:p>
        </p:txBody>
      </p:sp>
      <p:sp>
        <p:nvSpPr>
          <p:cNvPr id="11" name="Shape 9"/>
          <p:cNvSpPr/>
          <p:nvPr/>
        </p:nvSpPr>
        <p:spPr>
          <a:xfrm>
            <a:off x="457200" y="337413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41985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