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15 Day 4. The Tale of Despereaux.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explain WHY it made me feel that way, not just name the feeling?.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identify the correct answer before revealing. Use chat or cold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Discuss WHY each answer is correct — what rule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Read the mentor sentence. Discuss as a Reader (what happens?), Writer (what craft did the author use?), then Mimic (write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1A6B"/>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15 · Day 4</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8B6FC0"/>
                </a:solidFill>
                <a:latin typeface="Calibri" pitchFamily="34" charset="0"/>
                <a:ea typeface="Calibri" pitchFamily="34" charset="-122"/>
                <a:cs typeface="Calibri" pitchFamily="34" charset="-120"/>
              </a:rPr>
              <a:t>The Tale of Despereaux — Lesson 15.4</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narrator of this book talks directly to the reader many times. Did you like that? Why or why not? Write about how it felt to be talked to by the narrator. Start with: 'When the narrator spoke to me, I felt...'</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The narrator of this book talks directly to the reader many times. Did you like that? Why or why not? Write about how it felt to be talked to by the narrator. Start with: 'When the narrator spoke to me, I felt...'</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explain WHY it made me feel that way, not just name the feeling?</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What do you notice on a second reading that you missed the first time?</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How does knowing the ending change how you read the beginning?</a:t>
            </a:r>
            <a:endParaRPr lang="en-US" sz="1800" dirty="0"/>
          </a:p>
        </p:txBody>
      </p:sp>
      <p:sp>
        <p:nvSpPr>
          <p:cNvPr id="11" name="Shape 9"/>
          <p:cNvSpPr/>
          <p:nvPr/>
        </p:nvSpPr>
        <p:spPr>
          <a:xfrm>
            <a:off x="457200" y="269748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640080" y="280720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Which scene would you read aloud to someone who had never heard the book?</a:t>
            </a:r>
            <a:endParaRPr lang="en-US" sz="1800" dirty="0"/>
          </a:p>
        </p:txBody>
      </p:sp>
      <p:sp>
        <p:nvSpPr>
          <p:cNvPr id="13" name="Text 11"/>
          <p:cNvSpPr/>
          <p:nvPr/>
        </p:nvSpPr>
        <p:spPr>
          <a:xfrm>
            <a:off x="45720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4" name="Text 12"/>
          <p:cNvSpPr/>
          <p:nvPr/>
        </p:nvSpPr>
        <p:spPr>
          <a:xfrm>
            <a:off x="640080" y="374904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reread key scenes to understand them more deeply.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1. despereaux began the novel as a mouse who was told he was wrong about everything he loved</a:t>
            </a:r>
            <a:endParaRPr lang="en-US" sz="1800" dirty="0"/>
          </a:p>
        </p:txBody>
      </p:sp>
      <p:sp>
        <p:nvSpPr>
          <p:cNvPr id="8" name="Shape 6"/>
          <p:cNvSpPr/>
          <p:nvPr/>
        </p:nvSpPr>
        <p:spPr>
          <a:xfrm>
            <a:off x="457200" y="173736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18470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2. by the end he had proved not only to the kingdom but to himself that being different was exactly right</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1. despereaux began the novel as a mouse who was told he was wrong about everything he loved</a:t>
            </a:r>
            <a:endParaRPr lang="en-US" sz="1800" dirty="0"/>
          </a:p>
        </p:txBody>
      </p:sp>
      <p:sp>
        <p:nvSpPr>
          <p:cNvPr id="8" name="Shape 6"/>
          <p:cNvSpPr/>
          <p:nvPr/>
        </p:nvSpPr>
        <p:spPr>
          <a:xfrm>
            <a:off x="457200" y="173736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18470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2. by the end he had proved not only to the kingdom but to himself that being different was exactly right</a:t>
            </a:r>
            <a:endParaRPr lang="en-US" sz="1800" dirty="0"/>
          </a:p>
        </p:txBody>
      </p:sp>
      <p:sp>
        <p:nvSpPr>
          <p:cNvPr id="10" name="Text 8"/>
          <p:cNvSpPr/>
          <p:nvPr/>
        </p:nvSpPr>
        <p:spPr>
          <a:xfrm>
            <a:off x="457200" y="24688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11" name="Text 9"/>
          <p:cNvSpPr/>
          <p:nvPr/>
        </p:nvSpPr>
        <p:spPr>
          <a:xfrm>
            <a:off x="640080" y="274320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1. Despereaux began the novel as a mouse who was told he was wrong about everything he loved.</a:t>
            </a:r>
            <a:endParaRPr lang="en-US" sz="1300" dirty="0"/>
          </a:p>
        </p:txBody>
      </p:sp>
      <p:sp>
        <p:nvSpPr>
          <p:cNvPr id="12" name="Text 10"/>
          <p:cNvSpPr/>
          <p:nvPr/>
        </p:nvSpPr>
        <p:spPr>
          <a:xfrm>
            <a:off x="640080" y="329184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2. By the end , he had proved not only to the kingdom but to himself that being different was exactly right.</a:t>
            </a:r>
            <a:endParaRPr lang="en-US" sz="1300" dirty="0"/>
          </a:p>
        </p:txBody>
      </p:sp>
      <p:sp>
        <p:nvSpPr>
          <p:cNvPr id="13" name="Text 11"/>
          <p:cNvSpPr/>
          <p:nvPr/>
        </p:nvSpPr>
        <p:spPr>
          <a:xfrm>
            <a:off x="640080" y="384048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Did you catch the proper noun (Despereaux), the comma after the introductory phrase, and capital letters?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The Suffix  -ness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WORD BUILDING</a:t>
            </a:r>
            <a:endParaRPr lang="en-US" sz="1100" dirty="0"/>
          </a:p>
        </p:txBody>
      </p:sp>
      <p:sp>
        <p:nvSpPr>
          <p:cNvPr id="5" name="Shape 3"/>
          <p:cNvSpPr/>
          <p:nvPr/>
        </p:nvSpPr>
        <p:spPr>
          <a:xfrm>
            <a:off x="457200" y="1371600"/>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shine</a:t>
            </a:r>
            <a:pPr indent="0" marL="0">
              <a:buNone/>
            </a:pPr>
            <a:r>
              <a:rPr lang="en-US" sz="1400" dirty="0">
                <a:solidFill>
                  <a:srgbClr val="64748B"/>
                </a:solidFill>
                <a:latin typeface="Calibri" pitchFamily="34" charset="0"/>
                <a:ea typeface="Calibri" pitchFamily="34" charset="-122"/>
                <a:cs typeface="Calibri" pitchFamily="34" charset="-120"/>
              </a:rPr>
              <a:t>  ·  shin ing  (the sun was shining)</a:t>
            </a:r>
            <a:endParaRPr lang="en-US" sz="1600" dirty="0"/>
          </a:p>
        </p:txBody>
      </p:sp>
      <p:sp>
        <p:nvSpPr>
          <p:cNvPr id="7" name="Shape 5"/>
          <p:cNvSpPr/>
          <p:nvPr/>
        </p:nvSpPr>
        <p:spPr>
          <a:xfrm>
            <a:off x="457200" y="1901952"/>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476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stare</a:t>
            </a:r>
            <a:pPr indent="0" marL="0">
              <a:buNone/>
            </a:pPr>
            <a:r>
              <a:rPr lang="en-US" sz="1400" dirty="0">
                <a:solidFill>
                  <a:srgbClr val="64748B"/>
                </a:solidFill>
                <a:latin typeface="Calibri" pitchFamily="34" charset="0"/>
                <a:ea typeface="Calibri" pitchFamily="34" charset="-122"/>
                <a:cs typeface="Calibri" pitchFamily="34" charset="-120"/>
              </a:rPr>
              <a:t>  ·  star ing  (he was staring at the light)</a:t>
            </a:r>
            <a:endParaRPr lang="en-US" sz="1600" dirty="0"/>
          </a:p>
        </p:txBody>
      </p:sp>
      <p:sp>
        <p:nvSpPr>
          <p:cNvPr id="9" name="Shape 7"/>
          <p:cNvSpPr/>
          <p:nvPr/>
        </p:nvSpPr>
        <p:spPr>
          <a:xfrm>
            <a:off x="457200" y="2432304"/>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7802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sniff</a:t>
            </a:r>
            <a:pPr indent="0" marL="0">
              <a:buNone/>
            </a:pPr>
            <a:r>
              <a:rPr lang="en-US" sz="1400" dirty="0">
                <a:solidFill>
                  <a:srgbClr val="64748B"/>
                </a:solidFill>
                <a:latin typeface="Calibri" pitchFamily="34" charset="0"/>
                <a:ea typeface="Calibri" pitchFamily="34" charset="-122"/>
                <a:cs typeface="Calibri" pitchFamily="34" charset="-120"/>
              </a:rPr>
              <a:t>  ·  sniff ing  (she was sniffing)</a:t>
            </a:r>
            <a:endParaRPr lang="en-US" sz="1600" dirty="0"/>
          </a:p>
        </p:txBody>
      </p:sp>
      <p:sp>
        <p:nvSpPr>
          <p:cNvPr id="11" name="Shape 9"/>
          <p:cNvSpPr/>
          <p:nvPr/>
        </p:nvSpPr>
        <p:spPr>
          <a:xfrm>
            <a:off x="457200" y="2962656"/>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0837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hold</a:t>
            </a:r>
            <a:pPr indent="0" marL="0">
              <a:buNone/>
            </a:pPr>
            <a:r>
              <a:rPr lang="en-US" sz="1400" dirty="0">
                <a:solidFill>
                  <a:srgbClr val="64748B"/>
                </a:solidFill>
                <a:latin typeface="Calibri" pitchFamily="34" charset="0"/>
                <a:ea typeface="Calibri" pitchFamily="34" charset="-122"/>
                <a:cs typeface="Calibri" pitchFamily="34" charset="-120"/>
              </a:rPr>
              <a:t>  ·  hold ing  (he was holding a handkerchief)</a:t>
            </a:r>
            <a:endParaRPr lang="en-US" sz="1600" dirty="0"/>
          </a:p>
        </p:txBody>
      </p:sp>
      <p:sp>
        <p:nvSpPr>
          <p:cNvPr id="13" name="Text 11"/>
          <p:cNvSpPr/>
          <p:nvPr/>
        </p:nvSpPr>
        <p:spPr>
          <a:xfrm>
            <a:off x="457200" y="3493008"/>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813048"/>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 from the Novel</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longing</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deep wish or desire for something you do not have.</a:t>
            </a:r>
            <a:endParaRPr lang="en-US" sz="1500" dirty="0"/>
          </a:p>
        </p:txBody>
      </p:sp>
      <p:sp>
        <p:nvSpPr>
          <p:cNvPr id="6" name="Shape 4"/>
          <p:cNvSpPr/>
          <p:nvPr/>
        </p:nvSpPr>
        <p:spPr>
          <a:xfrm>
            <a:off x="4572000" y="1005840"/>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despair</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feeling of complete hopelessness; giving up on something getting better.</a:t>
            </a:r>
            <a:endParaRPr lang="en-US" sz="1500" dirty="0"/>
          </a:p>
        </p:txBody>
      </p:sp>
      <p:sp>
        <p:nvSpPr>
          <p:cNvPr id="8" name="Shape 6"/>
          <p:cNvSpPr/>
          <p:nvPr/>
        </p:nvSpPr>
        <p:spPr>
          <a:xfrm>
            <a:off x="457200" y="1618488"/>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concentration</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Focused attention on something; thinking about only one thing.</a:t>
            </a:r>
            <a:endParaRPr lang="en-US" sz="1500" dirty="0"/>
          </a:p>
        </p:txBody>
      </p:sp>
      <p:sp>
        <p:nvSpPr>
          <p:cNvPr id="10" name="Shape 8"/>
          <p:cNvSpPr/>
          <p:nvPr/>
        </p:nvSpPr>
        <p:spPr>
          <a:xfrm>
            <a:off x="4572000" y="1618488"/>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673352"/>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disappointment</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feeling of sadness when something does not turn out the way you hoped.</a:t>
            </a:r>
            <a:endParaRPr lang="en-US" sz="1500" dirty="0"/>
          </a:p>
        </p:txBody>
      </p:sp>
      <p:sp>
        <p:nvSpPr>
          <p:cNvPr id="12" name="Shape 10"/>
          <p:cNvSpPr/>
          <p:nvPr/>
        </p:nvSpPr>
        <p:spPr>
          <a:xfrm>
            <a:off x="457200" y="2231136"/>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286000"/>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obscenely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In a way that is shockingly large or extreme; far beyond what is normal.</a:t>
            </a:r>
            <a:endParaRPr lang="en-US" sz="1500" dirty="0"/>
          </a:p>
        </p:txBody>
      </p:sp>
      <p:sp>
        <p:nvSpPr>
          <p:cNvPr id="14" name="Shape 12"/>
          <p:cNvSpPr/>
          <p:nvPr/>
        </p:nvSpPr>
        <p:spPr>
          <a:xfrm>
            <a:off x="4572000" y="2231136"/>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286000"/>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proclaimed</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Announced something in a loud, official, or important way.</a:t>
            </a:r>
            <a:endParaRPr lang="en-US" sz="1500" dirty="0"/>
          </a:p>
        </p:txBody>
      </p:sp>
      <p:sp>
        <p:nvSpPr>
          <p:cNvPr id="16" name="Shape 14"/>
          <p:cNvSpPr/>
          <p:nvPr/>
        </p:nvSpPr>
        <p:spPr>
          <a:xfrm>
            <a:off x="457200" y="2843784"/>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7" name="Text 15"/>
          <p:cNvSpPr/>
          <p:nvPr/>
        </p:nvSpPr>
        <p:spPr>
          <a:xfrm>
            <a:off x="594360" y="2898648"/>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ridiculously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In a way that seems silly or unbelievable; so much that it is hard to take seriously.</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Pronouns: He, She, It, They</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He looked up at the light.</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Gregory held it up high.</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princess she did not know.</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rats they lived in darkness.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Pronouns: He, She, It, They — Answers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b="1" u="sng" dirty="0">
                <a:solidFill>
                  <a:srgbClr val="34B76F"/>
                </a:solidFill>
                <a:latin typeface="Calibri" pitchFamily="34" charset="0"/>
                <a:ea typeface="Calibri" pitchFamily="34" charset="-122"/>
                <a:cs typeface="Calibri" pitchFamily="34" charset="-120"/>
              </a:rPr>
              <a: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looked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up</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at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light.</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Gregory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held</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it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up</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high.</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princess</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she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did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not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know.</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rats</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they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lived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in</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darkness.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"au" vs. "aw"</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shining     staring     named     waved     snapped     stopped     wrapped     nodding</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"aw"</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"au"</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"au" vs. "aw" — Sorted</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"aw"</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shining</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staring</a:t>
            </a:r>
            <a:endParaRPr lang="en-US" sz="1400" dirty="0"/>
          </a:p>
        </p:txBody>
      </p:sp>
      <p:sp>
        <p:nvSpPr>
          <p:cNvPr id="10" name="Text 8"/>
          <p:cNvSpPr/>
          <p:nvPr/>
        </p:nvSpPr>
        <p:spPr>
          <a:xfrm>
            <a:off x="54864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named</a:t>
            </a:r>
            <a:endParaRPr lang="en-US" sz="1400" dirty="0"/>
          </a:p>
        </p:txBody>
      </p:sp>
      <p:sp>
        <p:nvSpPr>
          <p:cNvPr id="11" name="Text 9"/>
          <p:cNvSpPr/>
          <p:nvPr/>
        </p:nvSpPr>
        <p:spPr>
          <a:xfrm>
            <a:off x="54864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waved</a:t>
            </a:r>
            <a:endParaRPr lang="en-US" sz="1400" dirty="0"/>
          </a:p>
        </p:txBody>
      </p:sp>
      <p:sp>
        <p:nvSpPr>
          <p:cNvPr id="12" name="Shape 10"/>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"au"</a:t>
            </a:r>
            <a:endParaRPr lang="en-US" sz="1400" dirty="0"/>
          </a:p>
        </p:txBody>
      </p:sp>
      <p:sp>
        <p:nvSpPr>
          <p:cNvPr id="14" name="Text 12"/>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snapped</a:t>
            </a:r>
            <a:endParaRPr lang="en-US" sz="1400" dirty="0"/>
          </a:p>
        </p:txBody>
      </p:sp>
      <p:sp>
        <p:nvSpPr>
          <p:cNvPr id="15" name="Text 13"/>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stopped</a:t>
            </a:r>
            <a:endParaRPr lang="en-US" sz="1400" dirty="0"/>
          </a:p>
        </p:txBody>
      </p:sp>
      <p:sp>
        <p:nvSpPr>
          <p:cNvPr id="16" name="Text 14"/>
          <p:cNvSpPr/>
          <p:nvPr/>
        </p:nvSpPr>
        <p:spPr>
          <a:xfrm>
            <a:off x="457200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wrapped</a:t>
            </a:r>
            <a:endParaRPr lang="en-US" sz="1400" dirty="0"/>
          </a:p>
        </p:txBody>
      </p:sp>
      <p:sp>
        <p:nvSpPr>
          <p:cNvPr id="17" name="Text 15"/>
          <p:cNvSpPr/>
          <p:nvPr/>
        </p:nvSpPr>
        <p:spPr>
          <a:xfrm>
            <a:off x="457200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nodding</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Reading Focus</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How does knowing the ending change how you read the beginning?</a:t>
            </a:r>
            <a:endParaRPr lang="en-US" sz="1400" dirty="0"/>
          </a:p>
        </p:txBody>
      </p:sp>
      <p:sp>
        <p:nvSpPr>
          <p:cNvPr id="6" name="Text 4"/>
          <p:cNvSpPr/>
          <p:nvPr/>
        </p:nvSpPr>
        <p:spPr>
          <a:xfrm>
            <a:off x="640080" y="196596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Which scene would you read aloud to someone who had never heard the book?</a:t>
            </a:r>
            <a:endParaRPr lang="en-US" sz="1400" dirty="0"/>
          </a:p>
        </p:txBody>
      </p:sp>
      <p:sp>
        <p:nvSpPr>
          <p:cNvPr id="7" name="Text 5"/>
          <p:cNvSpPr/>
          <p:nvPr/>
        </p:nvSpPr>
        <p:spPr>
          <a:xfrm>
            <a:off x="457200" y="26060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COPYWORK</a:t>
            </a:r>
            <a:endParaRPr lang="en-US" sz="1100" dirty="0"/>
          </a:p>
        </p:txBody>
      </p:sp>
      <p:sp>
        <p:nvSpPr>
          <p:cNvPr id="8" name="Shape 6"/>
          <p:cNvSpPr/>
          <p:nvPr/>
        </p:nvSpPr>
        <p:spPr>
          <a:xfrm>
            <a:off x="457200" y="2926080"/>
            <a:ext cx="8229600" cy="731520"/>
          </a:xfrm>
          <a:prstGeom prst="roundRect">
            <a:avLst>
              <a:gd name="adj" fmla="val 1250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3035808"/>
            <a:ext cx="7863840" cy="5029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He had been born with large ears and open eyes and a love for music and a human princess. He had been told, all his life, that these were mistakes. He had believed, at last, that they were not.</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 Write · Mimic</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457200" y="91440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02412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“He had a great wish, a longing, for the light.”</a:t>
            </a:r>
            <a:endParaRPr lang="en-US" sz="1800" dirty="0"/>
          </a:p>
        </p:txBody>
      </p:sp>
      <p:sp>
        <p:nvSpPr>
          <p:cNvPr id="6" name="Shape 4"/>
          <p:cNvSpPr/>
          <p:nvPr/>
        </p:nvSpPr>
        <p:spPr>
          <a:xfrm>
            <a:off x="457200" y="1645920"/>
            <a:ext cx="8229600" cy="594360"/>
          </a:xfrm>
          <a:prstGeom prst="roundRect">
            <a:avLst>
              <a:gd name="adj" fmla="val 15385"/>
            </a:avLst>
          </a:prstGeom>
          <a:solidFill>
            <a:srgbClr val="E5F7FC"/>
          </a:solidFill>
          <a:ln/>
          <a:effectLst>
            <a:outerShdw sx="100000" sy="100000" kx="0" ky="0" algn="bl" rotWithShape="0" blurRad="101600" dist="38100" dir="2700000">
              <a:srgbClr val="000000">
                <a:alpha val="12000"/>
              </a:srgbClr>
            </a:outerShdw>
          </a:effectLst>
        </p:spPr>
      </p:sp>
      <p:sp>
        <p:nvSpPr>
          <p:cNvPr id="7" name="Text 5"/>
          <p:cNvSpPr/>
          <p:nvPr/>
        </p:nvSpPr>
        <p:spPr>
          <a:xfrm>
            <a:off x="640080" y="1691640"/>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Reader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Think about all three main characters: Despereaux, Roscuro, and Mig. Each had a great longing. What was each character’s longing? Which longing do you think drove the whole story forward?</a:t>
            </a:r>
            <a:endParaRPr lang="en-US" sz="1400" dirty="0"/>
          </a:p>
        </p:txBody>
      </p:sp>
      <p:sp>
        <p:nvSpPr>
          <p:cNvPr id="8" name="Shape 6"/>
          <p:cNvSpPr/>
          <p:nvPr/>
        </p:nvSpPr>
        <p:spPr>
          <a:xfrm>
            <a:off x="457200" y="2304288"/>
            <a:ext cx="8229600" cy="594360"/>
          </a:xfrm>
          <a:prstGeom prst="roundRect">
            <a:avLst>
              <a:gd name="adj" fmla="val 15385"/>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640080" y="2350008"/>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Writer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An appositive adds a second, more specific name for the same thing: “wish, a  longing .” It zooms in, adding depth. How does this technique make the sentence feel more emotional than just “He had a great wish for the light”?</a:t>
            </a:r>
            <a:endParaRPr lang="en-US" sz="1400" dirty="0"/>
          </a:p>
        </p:txBody>
      </p:sp>
      <p:sp>
        <p:nvSpPr>
          <p:cNvPr id="10" name="Shape 8"/>
          <p:cNvSpPr/>
          <p:nvPr/>
        </p:nvSpPr>
        <p:spPr>
          <a:xfrm>
            <a:off x="457200" y="2962656"/>
            <a:ext cx="8229600" cy="594360"/>
          </a:xfrm>
          <a:prstGeom prst="roundRect">
            <a:avLst>
              <a:gd name="adj" fmla="val 15385"/>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640080" y="3008376"/>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Mimic</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Write your own sentence using an appositive to name a character’s wish or feeling with extra depth.</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Writing Connection</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