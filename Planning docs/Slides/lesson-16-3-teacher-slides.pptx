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16.3. Reading: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Give students a moment to think before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of sustained writing. Stamina over polish. Do not correct spelling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fix only. Editing is conventions; revision is ideas. Name which one you are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or three volunteers. Praise something specific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lens: Good readers compare characters' perspectives . Two characters can experience the same event very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1. Despereaux was more willing to risk everything for love , while Roscuro was more focused on revenge.
Look for: Did you catch the comparative adjectives (more willing, more focused), the comma, and the proper nouns?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1. Despereaux was more willing to risk everything for love , while Roscuro was more focused on revenge.
Look for: Did you catch the comparative adjectives (more willing, more focused), the comma, and the proper nouns?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the word into base + word part. Ask what the part adds to the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word appears in the chapters read this week, in the author’s own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Garlic,, said,, soup,, basket,”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Garlic,, said,, soup,, basket,”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Doubled: stopped, snapped | Soft c or g: gentle, prince | Plural ending: stories, dishes | y → i: carried | Dropped the e: staring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Doubled: stopped, snapped | Soft c or g: gentle, prince | Plural ending: stories, dishes | y → i: carried | Dropped the e: staring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chapters, then return to the pause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Writer’s Workshop stage for the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1A6B"/>
        </a:solidFill>
      </p:bgPr>
    </p:bg>
    <p:spTree>
      <p:nvGrpSpPr>
        <p:cNvPr id="1" name=""/>
        <p:cNvGrpSpPr/>
        <p:nvPr/>
      </p:nvGrpSpPr>
      <p:grpSpPr>
        <a:xfrm>
          <a:off x="0" y="0"/>
          <a:ext cx="0" cy="0"/>
          <a:chOff x="0" y="0"/>
          <a:chExt cx="0" cy="0"/>
        </a:xfrm>
      </p:grpSpPr>
      <p:sp>
        <p:nvSpPr>
          <p:cNvPr id="2" name="Text 0"/>
          <p:cNvSpPr/>
          <p:nvPr/>
        </p:nvSpPr>
        <p:spPr>
          <a:xfrm>
            <a:off x="0" y="822960"/>
            <a:ext cx="9144000" cy="822960"/>
          </a:xfrm>
          <a:prstGeom prst="rect">
            <a:avLst/>
          </a:prstGeom>
          <a:noFill/>
          <a:ln/>
        </p:spPr>
        <p:txBody>
          <a:bodyPr wrap="square" lIns="0" tIns="0" rIns="0" bIns="0" rtlCol="0" anchor="ctr"/>
          <a:lstStyle/>
          <a:p>
            <a:pPr algn="ctr" indent="0" marL="0">
              <a:buNone/>
            </a:pPr>
            <a:r>
              <a:rPr lang="en-US" sz="5200" dirty="0">
                <a:solidFill>
                  <a:srgbClr val="000000"/>
                </a:solidFill>
              </a:rPr>
              <a:t>🐭</a:t>
            </a:r>
            <a:endParaRPr lang="en-US" sz="5200" dirty="0"/>
          </a:p>
        </p:txBody>
      </p:sp>
      <p:sp>
        <p:nvSpPr>
          <p:cNvPr id="3" name="Text 1"/>
          <p:cNvSpPr/>
          <p:nvPr/>
        </p:nvSpPr>
        <p:spPr>
          <a:xfrm>
            <a:off x="457200" y="1691640"/>
            <a:ext cx="8229600" cy="566928"/>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The Tale of Despereaux</a:t>
            </a:r>
            <a:endParaRPr lang="en-US" sz="3400" dirty="0"/>
          </a:p>
        </p:txBody>
      </p:sp>
      <p:sp>
        <p:nvSpPr>
          <p:cNvPr id="4" name="Text 2"/>
          <p:cNvSpPr/>
          <p:nvPr/>
        </p:nvSpPr>
        <p:spPr>
          <a:xfrm>
            <a:off x="457200" y="2331720"/>
            <a:ext cx="8229600" cy="411480"/>
          </a:xfrm>
          <a:prstGeom prst="rect">
            <a:avLst/>
          </a:prstGeom>
          <a:noFill/>
          <a:ln/>
        </p:spPr>
        <p:txBody>
          <a:bodyPr wrap="square" lIns="0" tIns="0" rIns="0" bIns="0" rtlCol="0" anchor="ctr"/>
          <a:lstStyle/>
          <a:p>
            <a:pPr algn="ctr" indent="0" marL="0">
              <a:buNone/>
            </a:pPr>
            <a:r>
              <a:rPr lang="en-US" sz="2000" dirty="0">
                <a:solidFill>
                  <a:srgbClr val="8B6FC0"/>
                </a:solidFill>
                <a:latin typeface="Calibri" pitchFamily="34" charset="0"/>
                <a:ea typeface="Calibri" pitchFamily="34" charset="-122"/>
                <a:cs typeface="Calibri" pitchFamily="34" charset="-120"/>
              </a:rPr>
              <a:t>Lesson 16.3  ·  Comparison</a:t>
            </a:r>
            <a:endParaRPr lang="en-US" sz="2000" dirty="0"/>
          </a:p>
        </p:txBody>
      </p:sp>
      <p:sp>
        <p:nvSpPr>
          <p:cNvPr id="5" name="Text 3"/>
          <p:cNvSpPr/>
          <p:nvPr/>
        </p:nvSpPr>
        <p:spPr>
          <a:xfrm>
            <a:off x="457200" y="2880360"/>
            <a:ext cx="8229600" cy="320040"/>
          </a:xfrm>
          <a:prstGeom prst="rect">
            <a:avLst/>
          </a:prstGeom>
          <a:noFill/>
          <a:ln/>
        </p:spPr>
        <p:txBody>
          <a:bodyPr wrap="square" lIns="0" tIns="0" rIns="0" bIns="0" rtlCol="0" anchor="ctr"/>
          <a:lstStyle/>
          <a:p>
            <a:pPr algn="ctr" indent="0" marL="0">
              <a:buNone/>
            </a:pPr>
            <a:r>
              <a:rPr lang="en-US" sz="1400" dirty="0">
                <a:solidFill>
                  <a:srgbClr val="C9BCE4"/>
                </a:solidFill>
                <a:latin typeface="Calibri" pitchFamily="34" charset="0"/>
                <a:ea typeface="Calibri" pitchFamily="34" charset="-122"/>
                <a:cs typeface="Calibri" pitchFamily="34" charset="-120"/>
              </a:rPr>
              <a:t>Grade 3 ELA  ·  Virtue: Courage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10-Minute Write</a:t>
            </a:r>
            <a:endParaRPr lang="en-US" sz="2200" dirty="0"/>
          </a:p>
        </p:txBody>
      </p:sp>
      <p:sp>
        <p:nvSpPr>
          <p:cNvPr id="4" name="Text 2"/>
          <p:cNvSpPr/>
          <p:nvPr/>
        </p:nvSpPr>
        <p:spPr>
          <a:xfrm>
            <a:off x="365760" y="8229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READ THE PROMPT — 1 MINUTE</a:t>
            </a:r>
            <a:endParaRPr lang="en-US" sz="1100" dirty="0"/>
          </a:p>
        </p:txBody>
      </p:sp>
      <p:sp>
        <p:nvSpPr>
          <p:cNvPr id="5" name="Shape 3"/>
          <p:cNvSpPr/>
          <p:nvPr/>
        </p:nvSpPr>
        <p:spPr>
          <a:xfrm>
            <a:off x="365760" y="1143000"/>
            <a:ext cx="8412480" cy="1737360"/>
          </a:xfrm>
          <a:prstGeom prst="roundRect">
            <a:avLst>
              <a:gd name="adj" fmla="val 5263"/>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271016"/>
            <a:ext cx="7955280" cy="148132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This book says that stories are light. Write about a story that has been light for you.</a:t>
            </a:r>
            <a:endParaRPr lang="en-US" sz="1700" dirty="0"/>
          </a:p>
        </p:txBody>
      </p:sp>
      <p:sp>
        <p:nvSpPr>
          <p:cNvPr id="7" name="Text 5"/>
          <p:cNvSpPr/>
          <p:nvPr/>
        </p:nvSpPr>
        <p:spPr>
          <a:xfrm>
            <a:off x="365760" y="3063240"/>
            <a:ext cx="8412480" cy="365760"/>
          </a:xfrm>
          <a:prstGeom prst="rect">
            <a:avLst/>
          </a:prstGeom>
          <a:noFill/>
          <a:ln/>
        </p:spPr>
        <p:txBody>
          <a:bodyPr wrap="square" lIns="0" tIns="0" rIns="0" bIns="0" rtlCol="0" anchor="ctr"/>
          <a:lstStyle/>
          <a:p>
            <a:pPr indent="0" marL="0">
              <a:buNone/>
            </a:pPr>
            <a:r>
              <a:rPr lang="en-US" sz="1600" i="1" dirty="0">
                <a:solidFill>
                  <a:srgbClr val="64748B"/>
                </a:solidFill>
                <a:latin typeface="Calibri" pitchFamily="34" charset="0"/>
                <a:ea typeface="Calibri" pitchFamily="34" charset="-122"/>
                <a:cs typeface="Calibri" pitchFamily="34" charset="-120"/>
              </a:rPr>
              <a:t>Think first. You will have five minutes to write.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Writing Time</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5 minutes — keep your pencil moving!</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YOUR PROMPT</a:t>
            </a:r>
            <a:endParaRPr lang="en-US" sz="1100" dirty="0"/>
          </a:p>
        </p:txBody>
      </p:sp>
      <p:sp>
        <p:nvSpPr>
          <p:cNvPr id="6" name="Shape 4"/>
          <p:cNvSpPr/>
          <p:nvPr/>
        </p:nvSpPr>
        <p:spPr>
          <a:xfrm>
            <a:off x="365760" y="1737360"/>
            <a:ext cx="8412480" cy="1417320"/>
          </a:xfrm>
          <a:prstGeom prst="roundRect">
            <a:avLst>
              <a:gd name="adj" fmla="val 6452"/>
            </a:avLst>
          </a:prstGeom>
          <a:solidFill>
            <a:srgbClr val="FFFFFF"/>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65376"/>
            <a:ext cx="7955280" cy="11612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This book says that stories are light. Write about a story that has been light for you.</a:t>
            </a:r>
            <a:endParaRPr lang="en-US" sz="1700" dirty="0"/>
          </a:p>
        </p:txBody>
      </p:sp>
      <p:sp>
        <p:nvSpPr>
          <p:cNvPr id="8" name="Text 6"/>
          <p:cNvSpPr/>
          <p:nvPr/>
        </p:nvSpPr>
        <p:spPr>
          <a:xfrm>
            <a:off x="365760" y="3291840"/>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Do not stop to erase. If you get stuck, write the last word again and keep going.</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34B76F"/>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Edit &amp; Revise</a:t>
            </a:r>
            <a:endParaRPr lang="en-US" sz="2200" dirty="0"/>
          </a:p>
        </p:txBody>
      </p:sp>
      <p:sp>
        <p:nvSpPr>
          <p:cNvPr id="4" name="Text 2"/>
          <p:cNvSpPr/>
          <p:nvPr/>
        </p:nvSpPr>
        <p:spPr>
          <a:xfrm>
            <a:off x="365760" y="868680"/>
            <a:ext cx="8412480" cy="457200"/>
          </a:xfrm>
          <a:prstGeom prst="rect">
            <a:avLst/>
          </a:prstGeom>
          <a:noFill/>
          <a:ln/>
        </p:spPr>
        <p:txBody>
          <a:bodyPr wrap="square" lIns="0" tIns="0" rIns="0" bIns="0" rtlCol="0" anchor="ctr"/>
          <a:lstStyle/>
          <a:p>
            <a:pPr indent="0" marL="0">
              <a:buNone/>
            </a:pPr>
            <a:r>
              <a:rPr lang="en-US" sz="2400" b="1" dirty="0">
                <a:solidFill>
                  <a:srgbClr val="0E1C42"/>
                </a:solidFill>
                <a:latin typeface="Calibri" pitchFamily="34" charset="0"/>
                <a:ea typeface="Calibri" pitchFamily="34" charset="-122"/>
                <a:cs typeface="Calibri" pitchFamily="34" charset="-120"/>
              </a:rPr>
              <a:t>1 minute — pick ONE thing to fix.</a:t>
            </a:r>
            <a:endParaRPr lang="en-US" sz="2400" dirty="0"/>
          </a:p>
        </p:txBody>
      </p:sp>
      <p:sp>
        <p:nvSpPr>
          <p:cNvPr id="5" name="Text 3"/>
          <p:cNvSpPr/>
          <p:nvPr/>
        </p:nvSpPr>
        <p:spPr>
          <a:xfrm>
            <a:off x="365760" y="1417320"/>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TODAY'S EDIT FOCUS</a:t>
            </a:r>
            <a:endParaRPr lang="en-US" sz="1100" dirty="0"/>
          </a:p>
        </p:txBody>
      </p:sp>
      <p:sp>
        <p:nvSpPr>
          <p:cNvPr id="6" name="Shape 4"/>
          <p:cNvSpPr/>
          <p:nvPr/>
        </p:nvSpPr>
        <p:spPr>
          <a:xfrm>
            <a:off x="365760" y="1691640"/>
            <a:ext cx="841248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1965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Did I read my writing out loud to check that it makes sense?</a:t>
            </a:r>
            <a:endParaRPr lang="en-US" sz="1700" dirty="0"/>
          </a:p>
        </p:txBody>
      </p:sp>
      <p:sp>
        <p:nvSpPr>
          <p:cNvPr id="8" name="Text 6"/>
          <p:cNvSpPr/>
          <p:nvPr/>
        </p:nvSpPr>
        <p:spPr>
          <a:xfrm>
            <a:off x="365760" y="2651760"/>
            <a:ext cx="8412480" cy="36576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Quick check:  </a:t>
            </a:r>
            <a:pPr indent="0" marL="0">
              <a:buNone/>
            </a:pPr>
            <a:r>
              <a:rPr lang="en-US" sz="1500" dirty="0">
                <a:solidFill>
                  <a:srgbClr val="1E293B"/>
                </a:solidFill>
                <a:latin typeface="Calibri" pitchFamily="34" charset="0"/>
                <a:ea typeface="Calibri" pitchFamily="34" charset="-122"/>
                <a:cs typeface="Calibri" pitchFamily="34" charset="-120"/>
              </a:rPr>
              <a:t>capitals  ·  end punctuation  ·  circle a word you are unsure of  ·  read it aloud</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Share Time</a:t>
            </a:r>
            <a:endParaRPr lang="en-US" sz="2200" dirty="0"/>
          </a:p>
        </p:txBody>
      </p:sp>
      <p:sp>
        <p:nvSpPr>
          <p:cNvPr id="4" name="Text 2"/>
          <p:cNvSpPr/>
          <p:nvPr/>
        </p:nvSpPr>
        <p:spPr>
          <a:xfrm>
            <a:off x="365760" y="1005840"/>
            <a:ext cx="8412480" cy="54864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3 minutes — let's hear your writing!</a:t>
            </a:r>
            <a:endParaRPr lang="en-US" sz="2600" dirty="0"/>
          </a:p>
        </p:txBody>
      </p:sp>
      <p:sp>
        <p:nvSpPr>
          <p:cNvPr id="5" name="Text 3"/>
          <p:cNvSpPr/>
          <p:nvPr/>
        </p:nvSpPr>
        <p:spPr>
          <a:xfrm>
            <a:off x="365760" y="1691640"/>
            <a:ext cx="8412480" cy="457200"/>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Raise your hand  ·  paste it in the chat  ·  or hold your paper up to the camera</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8B6FC0"/>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Today</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READING</a:t>
            </a:r>
            <a:endParaRPr lang="en-US" sz="1100" dirty="0"/>
          </a:p>
        </p:txBody>
      </p:sp>
      <p:sp>
        <p:nvSpPr>
          <p:cNvPr id="5" name="Text 3"/>
          <p:cNvSpPr/>
          <p:nvPr/>
        </p:nvSpPr>
        <p:spPr>
          <a:xfrm>
            <a:off x="365760" y="1014984"/>
            <a:ext cx="8412480" cy="365760"/>
          </a:xfrm>
          <a:prstGeom prst="rect">
            <a:avLst/>
          </a:prstGeom>
          <a:noFill/>
          <a:ln/>
        </p:spPr>
        <p:txBody>
          <a:bodyPr wrap="square" lIns="0" tIns="0" rIns="0" bIns="0" rtlCol="0" anchor="ctr"/>
          <a:lstStyle/>
          <a:p>
            <a:pPr indent="0" marL="0">
              <a:buNone/>
            </a:pPr>
            <a:r>
              <a:rPr lang="en-US" sz="2000" b="1" dirty="0">
                <a:solidFill>
                  <a:srgbClr val="0E1C42"/>
                </a:solidFill>
                <a:latin typeface="Calibri" pitchFamily="34" charset="0"/>
                <a:ea typeface="Calibri" pitchFamily="34" charset="-122"/>
                <a:cs typeface="Calibri" pitchFamily="34" charset="-120"/>
              </a:rPr>
              <a:t>Comparison</a:t>
            </a:r>
            <a:endParaRPr lang="en-US" sz="2000" dirty="0"/>
          </a:p>
        </p:txBody>
      </p:sp>
      <p:sp>
        <p:nvSpPr>
          <p:cNvPr id="6" name="Text 4"/>
          <p:cNvSpPr/>
          <p:nvPr/>
        </p:nvSpPr>
        <p:spPr>
          <a:xfrm>
            <a:off x="365760" y="15087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365760" y="1746504"/>
            <a:ext cx="8412480" cy="731520"/>
          </a:xfrm>
          <a:prstGeom prst="roundRect">
            <a:avLst>
              <a:gd name="adj" fmla="val 12500"/>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874520"/>
            <a:ext cx="7955280" cy="4754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What does Despereaux believe about the world?</a:t>
            </a:r>
            <a:endParaRPr lang="en-US" sz="1700" dirty="0"/>
          </a:p>
        </p:txBody>
      </p:sp>
      <p:sp>
        <p:nvSpPr>
          <p:cNvPr id="9" name="Text 7"/>
          <p:cNvSpPr/>
          <p:nvPr/>
        </p:nvSpPr>
        <p:spPr>
          <a:xfrm>
            <a:off x="365760" y="2606040"/>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READING LENS</a:t>
            </a:r>
            <a:endParaRPr lang="en-US" sz="1100" dirty="0"/>
          </a:p>
        </p:txBody>
      </p:sp>
      <p:sp>
        <p:nvSpPr>
          <p:cNvPr id="10" name="Text 8"/>
          <p:cNvSpPr/>
          <p:nvPr/>
        </p:nvSpPr>
        <p:spPr>
          <a:xfrm>
            <a:off x="365760" y="2843784"/>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compare characters' perspectives . Two characters can experience the same event very differently.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1. despereaux was more willing to risk everything for love while roscuro was more focused on revenge</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2. but both of them discovered that what they truly needed was not what they had set out to find</a:t>
            </a:r>
            <a:endParaRPr lang="en-US" sz="1700" dirty="0"/>
          </a:p>
        </p:txBody>
      </p:sp>
      <p:sp>
        <p:nvSpPr>
          <p:cNvPr id="9" name="Text 7"/>
          <p:cNvSpPr/>
          <p:nvPr/>
        </p:nvSpPr>
        <p:spPr>
          <a:xfrm>
            <a:off x="365760" y="2788920"/>
            <a:ext cx="841248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Rewrite both sentences correctly in your notebook.</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1. despereaux was more willing to risk everything for love while roscuro was more focused on revenge</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2. but both of them discovered that what they truly needed was not what they had set out to find</a:t>
            </a:r>
            <a:endParaRPr lang="en-US" sz="1700" dirty="0"/>
          </a:p>
        </p:txBody>
      </p:sp>
      <p:sp>
        <p:nvSpPr>
          <p:cNvPr id="9" name="Shape 7"/>
          <p:cNvSpPr/>
          <p:nvPr/>
        </p:nvSpPr>
        <p:spPr>
          <a:xfrm>
            <a:off x="365760" y="2743200"/>
            <a:ext cx="8412480" cy="1417320"/>
          </a:xfrm>
          <a:prstGeom prst="roundRect">
            <a:avLst>
              <a:gd name="adj" fmla="val 6452"/>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66928" y="2816352"/>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1" name="Text 9"/>
          <p:cNvSpPr/>
          <p:nvPr/>
        </p:nvSpPr>
        <p:spPr>
          <a:xfrm>
            <a:off x="566928" y="3072384"/>
            <a:ext cx="8010144" cy="685800"/>
          </a:xfrm>
          <a:prstGeom prst="rect">
            <a:avLst/>
          </a:prstGeom>
          <a:noFill/>
          <a:ln/>
        </p:spPr>
        <p:txBody>
          <a:bodyPr wrap="square" lIns="0" tIns="0" rIns="0" bIns="0" rtlCol="0" anchor="ctr"/>
          <a:lstStyle/>
          <a:p>
            <a:pPr indent="0" marL="0">
              <a:buNone/>
            </a:pPr>
            <a:endParaRPr lang="en-US" sz="1400" dirty="0"/>
          </a:p>
          <a:p>
            <a:pPr indent="0" marL="0">
              <a:buNone/>
            </a:pPr>
            <a:r>
              <a:rPr lang="en-US" sz="1400" i="1" dirty="0">
                <a:solidFill>
                  <a:srgbClr val="1E293B"/>
                </a:solidFill>
                <a:latin typeface="Calibri" pitchFamily="34" charset="0"/>
                <a:ea typeface="Calibri" pitchFamily="34" charset="-122"/>
                <a:cs typeface="Calibri" pitchFamily="34" charset="-120"/>
              </a:rPr>
              <a:t>1. Despereaux was more willing to risk everything for love , while Roscuro was more focused on revenge.</a:t>
            </a:r>
            <a:endParaRPr lang="en-US" sz="1400" dirty="0"/>
          </a:p>
        </p:txBody>
      </p:sp>
      <p:sp>
        <p:nvSpPr>
          <p:cNvPr id="12" name="Text 10"/>
          <p:cNvSpPr/>
          <p:nvPr/>
        </p:nvSpPr>
        <p:spPr>
          <a:xfrm>
            <a:off x="566928" y="3767328"/>
            <a:ext cx="8010144"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Did you catch the comparative adjectives (more willing, more focused), the comma, and the proper nouns?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8B6FC0"/>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Morphology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REVIEW</a:t>
            </a:r>
            <a:endParaRPr lang="en-US" sz="1100" dirty="0"/>
          </a:p>
        </p:txBody>
      </p:sp>
      <p:sp>
        <p:nvSpPr>
          <p:cNvPr id="5" name="Shape 3"/>
          <p:cNvSpPr/>
          <p:nvPr/>
        </p:nvSpPr>
        <p:spPr>
          <a:xfrm>
            <a:off x="365760" y="1097280"/>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16152"/>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disappearance — base word appear = the act of disappearing</a:t>
            </a:r>
            <a:endParaRPr lang="en-US" sz="1500" dirty="0"/>
          </a:p>
        </p:txBody>
      </p:sp>
      <p:sp>
        <p:nvSpPr>
          <p:cNvPr id="7" name="Shape 5"/>
          <p:cNvSpPr/>
          <p:nvPr/>
        </p:nvSpPr>
        <p:spPr>
          <a:xfrm>
            <a:off x="365760" y="1792224"/>
            <a:ext cx="8412480" cy="621792"/>
          </a:xfrm>
          <a:prstGeom prst="roundRect">
            <a:avLst>
              <a:gd name="adj" fmla="val 14706"/>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11096"/>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fearlessly — base word fear = in a way without fear</a:t>
            </a:r>
            <a:endParaRPr lang="en-US" sz="1500" dirty="0"/>
          </a:p>
        </p:txBody>
      </p:sp>
      <p:sp>
        <p:nvSpPr>
          <p:cNvPr id="9" name="Shape 7"/>
          <p:cNvSpPr/>
          <p:nvPr/>
        </p:nvSpPr>
        <p:spPr>
          <a:xfrm>
            <a:off x="365760" y="2487168"/>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06040"/>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thoughtfulness — base word thought = the quality of being thoughtful</a:t>
            </a:r>
            <a:endParaRPr lang="en-US" sz="1500" dirty="0"/>
          </a:p>
        </p:txBody>
      </p:sp>
      <p:sp>
        <p:nvSpPr>
          <p:cNvPr id="11" name="Shape 9"/>
          <p:cNvSpPr/>
          <p:nvPr/>
        </p:nvSpPr>
        <p:spPr>
          <a:xfrm>
            <a:off x="365760" y="3182112"/>
            <a:ext cx="8412480" cy="621792"/>
          </a:xfrm>
          <a:prstGeom prst="roundRect">
            <a:avLst>
              <a:gd name="adj" fmla="val 14706"/>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300984"/>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impatiently — base word patient = in a way that is not patient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Vocabulary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VOCABULARY</a:t>
            </a:r>
            <a:endParaRPr lang="en-US" sz="1100" dirty="0"/>
          </a:p>
        </p:txBody>
      </p:sp>
      <p:sp>
        <p:nvSpPr>
          <p:cNvPr id="5" name="Shape 3"/>
          <p:cNvSpPr/>
          <p:nvPr/>
        </p:nvSpPr>
        <p:spPr>
          <a:xfrm>
            <a:off x="365760" y="109728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disappointment  </a:t>
            </a:r>
            <a:pPr indent="0" marL="0">
              <a:buNone/>
            </a:pPr>
            <a:r>
              <a:rPr lang="en-US" sz="1400" dirty="0">
                <a:solidFill>
                  <a:srgbClr val="1E293B"/>
                </a:solidFill>
                <a:latin typeface="Calibri" pitchFamily="34" charset="0"/>
                <a:ea typeface="Calibri" pitchFamily="34" charset="-122"/>
                <a:cs typeface="Calibri" pitchFamily="34" charset="-120"/>
              </a:rPr>
              <a:t>A person or thing that lets you down; not what you hoped for.</a:t>
            </a:r>
            <a:endParaRPr lang="en-US" sz="1700" dirty="0"/>
          </a:p>
        </p:txBody>
      </p:sp>
      <p:sp>
        <p:nvSpPr>
          <p:cNvPr id="7" name="Shape 5"/>
          <p:cNvSpPr/>
          <p:nvPr/>
        </p:nvSpPr>
        <p:spPr>
          <a:xfrm>
            <a:off x="365760" y="18288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clout  </a:t>
            </a:r>
            <a:pPr indent="0" marL="0">
              <a:buNone/>
            </a:pPr>
            <a:r>
              <a:rPr lang="en-US" sz="1400" dirty="0">
                <a:solidFill>
                  <a:srgbClr val="1E293B"/>
                </a:solidFill>
                <a:latin typeface="Calibri" pitchFamily="34" charset="0"/>
                <a:ea typeface="Calibri" pitchFamily="34" charset="-122"/>
                <a:cs typeface="Calibri" pitchFamily="34" charset="-120"/>
              </a:rPr>
              <a:t>A hard hit or blow, usually with an open hand.</a:t>
            </a:r>
            <a:endParaRPr lang="en-US" sz="1700" dirty="0"/>
          </a:p>
        </p:txBody>
      </p:sp>
      <p:sp>
        <p:nvSpPr>
          <p:cNvPr id="9" name="Shape 7"/>
          <p:cNvSpPr/>
          <p:nvPr/>
        </p:nvSpPr>
        <p:spPr>
          <a:xfrm>
            <a:off x="365760" y="256032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braver  </a:t>
            </a:r>
            <a:pPr indent="0" marL="0">
              <a:buNone/>
            </a:pPr>
            <a:r>
              <a:rPr lang="en-US" sz="1400" dirty="0">
                <a:solidFill>
                  <a:srgbClr val="1E293B"/>
                </a:solidFill>
                <a:latin typeface="Calibri" pitchFamily="34" charset="0"/>
                <a:ea typeface="Calibri" pitchFamily="34" charset="-122"/>
                <a:cs typeface="Calibri" pitchFamily="34" charset="-120"/>
              </a:rPr>
              <a:t>More willing to face something frightening.</a:t>
            </a:r>
            <a:endParaRPr lang="en-US" sz="1700" dirty="0"/>
          </a:p>
        </p:txBody>
      </p:sp>
      <p:sp>
        <p:nvSpPr>
          <p:cNvPr id="11" name="Shape 9"/>
          <p:cNvSpPr/>
          <p:nvPr/>
        </p:nvSpPr>
        <p:spPr>
          <a:xfrm>
            <a:off x="365760" y="329184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happily  </a:t>
            </a:r>
            <a:pPr indent="0" marL="0">
              <a:buNone/>
            </a:pPr>
            <a:r>
              <a:rPr lang="en-US" sz="1400" dirty="0">
                <a:solidFill>
                  <a:srgbClr val="1E293B"/>
                </a:solidFill>
                <a:latin typeface="Calibri" pitchFamily="34" charset="0"/>
                <a:ea typeface="Calibri" pitchFamily="34" charset="-122"/>
                <a:cs typeface="Calibri" pitchFamily="34" charset="-120"/>
              </a:rPr>
              <a:t>In a happy way; with joy.</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REVIEW: DIALOGUE AND COMMAS</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Garlic, chicken, and watercress went into the pot.</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Cook said, “That is soup.”</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He brought soup, bread, and a candle.</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“Carry the basket,” said Roscuro.</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Your turn. Explain one comma rule you used this unit, with an example. Tap a word to check — green means you got it.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REVIEW: DIALOGUE AND COMMAS</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b="1" dirty="0">
                <a:solidFill>
                  <a:srgbClr val="34B76F"/>
                </a:solidFill>
                <a:latin typeface="Calibri" pitchFamily="34" charset="0"/>
                <a:ea typeface="Calibri" pitchFamily="34" charset="-122"/>
                <a:cs typeface="Calibri" pitchFamily="34" charset="-120"/>
              </a:rPr>
              <a:t>Garlic,</a:t>
            </a:r>
            <a:pPr indent="0" marL="0">
              <a:buNone/>
            </a:pPr>
            <a:r>
              <a:rPr lang="en-US" sz="1600" dirty="0">
                <a:solidFill>
                  <a:srgbClr val="1E293B"/>
                </a:solidFill>
                <a:latin typeface="Calibri" pitchFamily="34" charset="0"/>
                <a:ea typeface="Calibri" pitchFamily="34" charset="-122"/>
                <a:cs typeface="Calibri" pitchFamily="34" charset="-120"/>
              </a:rPr>
              <a:t> chicken, and watercress went into the pot.</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Cook </a:t>
            </a:r>
            <a:pPr indent="0" marL="0">
              <a:buNone/>
            </a:pPr>
            <a:r>
              <a:rPr lang="en-US" sz="1600" b="1" dirty="0">
                <a:solidFill>
                  <a:srgbClr val="34B76F"/>
                </a:solidFill>
                <a:latin typeface="Calibri" pitchFamily="34" charset="0"/>
                <a:ea typeface="Calibri" pitchFamily="34" charset="-122"/>
                <a:cs typeface="Calibri" pitchFamily="34" charset="-120"/>
              </a:rPr>
              <a:t>said,</a:t>
            </a:r>
            <a:pPr indent="0" marL="0">
              <a:buNone/>
            </a:pPr>
            <a:r>
              <a:rPr lang="en-US" sz="1600" dirty="0">
                <a:solidFill>
                  <a:srgbClr val="1E293B"/>
                </a:solidFill>
                <a:latin typeface="Calibri" pitchFamily="34" charset="0"/>
                <a:ea typeface="Calibri" pitchFamily="34" charset="-122"/>
                <a:cs typeface="Calibri" pitchFamily="34" charset="-120"/>
              </a:rPr>
              <a:t> “That is soup.”</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He brought </a:t>
            </a:r>
            <a:pPr indent="0" marL="0">
              <a:buNone/>
            </a:pPr>
            <a:r>
              <a:rPr lang="en-US" sz="1600" b="1" dirty="0">
                <a:solidFill>
                  <a:srgbClr val="34B76F"/>
                </a:solidFill>
                <a:latin typeface="Calibri" pitchFamily="34" charset="0"/>
                <a:ea typeface="Calibri" pitchFamily="34" charset="-122"/>
                <a:cs typeface="Calibri" pitchFamily="34" charset="-120"/>
              </a:rPr>
              <a:t>soup,</a:t>
            </a:r>
            <a:pPr indent="0" marL="0">
              <a:buNone/>
            </a:pPr>
            <a:r>
              <a:rPr lang="en-US" sz="1600" dirty="0">
                <a:solidFill>
                  <a:srgbClr val="1E293B"/>
                </a:solidFill>
                <a:latin typeface="Calibri" pitchFamily="34" charset="0"/>
                <a:ea typeface="Calibri" pitchFamily="34" charset="-122"/>
                <a:cs typeface="Calibri" pitchFamily="34" charset="-120"/>
              </a:rPr>
              <a:t> bread, and a candle.</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“Carry the </a:t>
            </a:r>
            <a:pPr indent="0" marL="0">
              <a:buNone/>
            </a:pPr>
            <a:r>
              <a:rPr lang="en-US" sz="1600" b="1" dirty="0">
                <a:solidFill>
                  <a:srgbClr val="34B76F"/>
                </a:solidFill>
                <a:latin typeface="Calibri" pitchFamily="34" charset="0"/>
                <a:ea typeface="Calibri" pitchFamily="34" charset="-122"/>
                <a:cs typeface="Calibri" pitchFamily="34" charset="-120"/>
              </a:rPr>
              <a:t>basket,”</a:t>
            </a:r>
            <a:pPr indent="0" marL="0">
              <a:buNone/>
            </a:pPr>
            <a:r>
              <a:rPr lang="en-US" sz="1600" dirty="0">
                <a:solidFill>
                  <a:srgbClr val="1E293B"/>
                </a:solidFill>
                <a:latin typeface="Calibri" pitchFamily="34" charset="0"/>
                <a:ea typeface="Calibri" pitchFamily="34" charset="-122"/>
                <a:cs typeface="Calibri" pitchFamily="34" charset="-120"/>
              </a:rPr>
              <a:t> said Roscuro.</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b="1" dirty="0">
                <a:solidFill>
                  <a:srgbClr val="34B76F"/>
                </a:solidFill>
                <a:latin typeface="Calibri" pitchFamily="34" charset="0"/>
                <a:ea typeface="Calibri" pitchFamily="34" charset="-122"/>
                <a:cs typeface="Calibri" pitchFamily="34" charset="-120"/>
              </a:rPr>
              <a:t>✅  Answers revealed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CUMULATIVE SPELLING REVIEW</a:t>
            </a:r>
            <a:endParaRPr lang="en-US" sz="1100" dirty="0"/>
          </a:p>
        </p:txBody>
      </p:sp>
      <p:sp>
        <p:nvSpPr>
          <p:cNvPr id="5" name="Text 3"/>
          <p:cNvSpPr/>
          <p:nvPr/>
        </p:nvSpPr>
        <p:spPr>
          <a:xfrm>
            <a:off x="365760" y="1078992"/>
            <a:ext cx="8229600" cy="237744"/>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6" name="Shape 4"/>
          <p:cNvSpPr/>
          <p:nvPr/>
        </p:nvSpPr>
        <p:spPr>
          <a:xfrm>
            <a:off x="365760" y="1353312"/>
            <a:ext cx="8412480" cy="1005840"/>
          </a:xfrm>
          <a:prstGeom prst="roundRect">
            <a:avLst>
              <a:gd name="adj" fmla="val 9091"/>
            </a:avLst>
          </a:prstGeom>
          <a:solidFill>
            <a:srgbClr val="FFFFFF"/>
          </a:solidFill>
          <a:ln w="19050">
            <a:solidFill>
              <a:srgbClr val="0E1C42"/>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481328"/>
            <a:ext cx="7955280" cy="749808"/>
          </a:xfrm>
          <a:prstGeom prst="rect">
            <a:avLst/>
          </a:prstGeom>
          <a:noFill/>
          <a:ln/>
        </p:spPr>
        <p:txBody>
          <a:bodyPr wrap="square" lIns="0" tIns="0" rIns="0" bIns="0" rtlCol="0" anchor="ctr"/>
          <a:lstStyle/>
          <a:p>
            <a:pPr indent="0" marL="0">
              <a:buNone/>
            </a:pPr>
            <a:r>
              <a:rPr lang="en-US" sz="1700" dirty="0">
                <a:solidFill>
                  <a:srgbClr val="0E1C42"/>
                </a:solidFill>
                <a:latin typeface="Calibri" pitchFamily="34" charset="0"/>
                <a:ea typeface="Calibri" pitchFamily="34" charset="-122"/>
                <a:cs typeface="Calibri" pitchFamily="34" charset="-120"/>
              </a:rPr>
              <a:t>stopped   ·   snapped   ·   gentle   ·   prince   ·   stories   ·   dishes   ·   carried   ·   staring</a:t>
            </a:r>
            <a:endParaRPr lang="en-US" sz="1700" dirty="0"/>
          </a:p>
        </p:txBody>
      </p:sp>
      <p:sp>
        <p:nvSpPr>
          <p:cNvPr id="8" name="Text 6"/>
          <p:cNvSpPr/>
          <p:nvPr/>
        </p:nvSpPr>
        <p:spPr>
          <a:xfrm>
            <a:off x="365760" y="2514600"/>
            <a:ext cx="8412480" cy="45720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Which column does each word belong in?  Columns: Doubled  |  Soft c or g  |  Plural ending  |  y → i  |  Dropped the 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CUMULATIVE SPELLING REVIEW</a:t>
            </a:r>
            <a:endParaRPr lang="en-US" sz="1100" dirty="0"/>
          </a:p>
        </p:txBody>
      </p:sp>
      <p:sp>
        <p:nvSpPr>
          <p:cNvPr id="5" name="Shape 3"/>
          <p:cNvSpPr/>
          <p:nvPr/>
        </p:nvSpPr>
        <p:spPr>
          <a:xfrm>
            <a:off x="411480" y="1078992"/>
            <a:ext cx="1591056" cy="457200"/>
          </a:xfrm>
          <a:prstGeom prst="roundRect">
            <a:avLst>
              <a:gd name="adj" fmla="val 16000"/>
            </a:avLst>
          </a:prstGeom>
          <a:solidFill>
            <a:srgbClr val="0E1C42"/>
          </a:solidFill>
          <a:ln/>
        </p:spPr>
      </p:sp>
      <p:sp>
        <p:nvSpPr>
          <p:cNvPr id="6" name="Text 4"/>
          <p:cNvSpPr/>
          <p:nvPr/>
        </p:nvSpPr>
        <p:spPr>
          <a:xfrm>
            <a:off x="457200" y="1133856"/>
            <a:ext cx="1499616"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Doubled</a:t>
            </a:r>
            <a:endParaRPr lang="en-US" sz="1300" dirty="0"/>
          </a:p>
        </p:txBody>
      </p:sp>
      <p:sp>
        <p:nvSpPr>
          <p:cNvPr id="7" name="Shape 5"/>
          <p:cNvSpPr/>
          <p:nvPr/>
        </p:nvSpPr>
        <p:spPr>
          <a:xfrm>
            <a:off x="411480" y="1591056"/>
            <a:ext cx="1591056" cy="2103120"/>
          </a:xfrm>
          <a:prstGeom prst="roundRect">
            <a:avLst>
              <a:gd name="adj" fmla="val 5747"/>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02920" y="1700784"/>
            <a:ext cx="1408176"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stopped</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snapped</a:t>
            </a:r>
            <a:endParaRPr lang="en-US" sz="1400" dirty="0"/>
          </a:p>
        </p:txBody>
      </p:sp>
      <p:sp>
        <p:nvSpPr>
          <p:cNvPr id="9" name="Shape 7"/>
          <p:cNvSpPr/>
          <p:nvPr/>
        </p:nvSpPr>
        <p:spPr>
          <a:xfrm>
            <a:off x="2093976" y="1078992"/>
            <a:ext cx="1591056" cy="457200"/>
          </a:xfrm>
          <a:prstGeom prst="roundRect">
            <a:avLst>
              <a:gd name="adj" fmla="val 16000"/>
            </a:avLst>
          </a:prstGeom>
          <a:solidFill>
            <a:srgbClr val="0E1C42"/>
          </a:solidFill>
          <a:ln/>
        </p:spPr>
      </p:sp>
      <p:sp>
        <p:nvSpPr>
          <p:cNvPr id="10" name="Text 8"/>
          <p:cNvSpPr/>
          <p:nvPr/>
        </p:nvSpPr>
        <p:spPr>
          <a:xfrm>
            <a:off x="2139696" y="1133856"/>
            <a:ext cx="1499616"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Soft c or g</a:t>
            </a:r>
            <a:endParaRPr lang="en-US" sz="1300" dirty="0"/>
          </a:p>
        </p:txBody>
      </p:sp>
      <p:sp>
        <p:nvSpPr>
          <p:cNvPr id="11" name="Shape 9"/>
          <p:cNvSpPr/>
          <p:nvPr/>
        </p:nvSpPr>
        <p:spPr>
          <a:xfrm>
            <a:off x="2093976" y="1591056"/>
            <a:ext cx="1591056" cy="2103120"/>
          </a:xfrm>
          <a:prstGeom prst="roundRect">
            <a:avLst>
              <a:gd name="adj" fmla="val 5747"/>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2185416" y="1700784"/>
            <a:ext cx="1408176"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gentle</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prince</a:t>
            </a:r>
            <a:endParaRPr lang="en-US" sz="1400" dirty="0"/>
          </a:p>
        </p:txBody>
      </p:sp>
      <p:sp>
        <p:nvSpPr>
          <p:cNvPr id="13" name="Shape 11"/>
          <p:cNvSpPr/>
          <p:nvPr/>
        </p:nvSpPr>
        <p:spPr>
          <a:xfrm>
            <a:off x="3776472" y="1078992"/>
            <a:ext cx="1591056" cy="457200"/>
          </a:xfrm>
          <a:prstGeom prst="roundRect">
            <a:avLst>
              <a:gd name="adj" fmla="val 16000"/>
            </a:avLst>
          </a:prstGeom>
          <a:solidFill>
            <a:srgbClr val="0E1C42"/>
          </a:solidFill>
          <a:ln/>
        </p:spPr>
      </p:sp>
      <p:sp>
        <p:nvSpPr>
          <p:cNvPr id="14" name="Text 12"/>
          <p:cNvSpPr/>
          <p:nvPr/>
        </p:nvSpPr>
        <p:spPr>
          <a:xfrm>
            <a:off x="3822192" y="1133856"/>
            <a:ext cx="1499616"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Plural ending</a:t>
            </a:r>
            <a:endParaRPr lang="en-US" sz="1300" dirty="0"/>
          </a:p>
        </p:txBody>
      </p:sp>
      <p:sp>
        <p:nvSpPr>
          <p:cNvPr id="15" name="Shape 13"/>
          <p:cNvSpPr/>
          <p:nvPr/>
        </p:nvSpPr>
        <p:spPr>
          <a:xfrm>
            <a:off x="3776472" y="1591056"/>
            <a:ext cx="1591056" cy="2103120"/>
          </a:xfrm>
          <a:prstGeom prst="roundRect">
            <a:avLst>
              <a:gd name="adj" fmla="val 5747"/>
            </a:avLst>
          </a:prstGeom>
          <a:solidFill>
            <a:srgbClr val="FFFFFF"/>
          </a:solidFill>
          <a:ln/>
          <a:effectLst>
            <a:outerShdw sx="100000" sy="100000" kx="0" ky="0" algn="bl" rotWithShape="0" blurRad="101600" dist="38100" dir="2700000">
              <a:srgbClr val="000000">
                <a:alpha val="12000"/>
              </a:srgbClr>
            </a:outerShdw>
          </a:effectLst>
        </p:spPr>
      </p:sp>
      <p:sp>
        <p:nvSpPr>
          <p:cNvPr id="16" name="Text 14"/>
          <p:cNvSpPr/>
          <p:nvPr/>
        </p:nvSpPr>
        <p:spPr>
          <a:xfrm>
            <a:off x="3867912" y="1700784"/>
            <a:ext cx="1408176"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stories</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dishes</a:t>
            </a:r>
            <a:endParaRPr lang="en-US" sz="1400" dirty="0"/>
          </a:p>
        </p:txBody>
      </p:sp>
      <p:sp>
        <p:nvSpPr>
          <p:cNvPr id="17" name="Shape 15"/>
          <p:cNvSpPr/>
          <p:nvPr/>
        </p:nvSpPr>
        <p:spPr>
          <a:xfrm>
            <a:off x="5458968" y="1078992"/>
            <a:ext cx="1591056" cy="457200"/>
          </a:xfrm>
          <a:prstGeom prst="roundRect">
            <a:avLst>
              <a:gd name="adj" fmla="val 16000"/>
            </a:avLst>
          </a:prstGeom>
          <a:solidFill>
            <a:srgbClr val="0E1C42"/>
          </a:solidFill>
          <a:ln/>
        </p:spPr>
      </p:sp>
      <p:sp>
        <p:nvSpPr>
          <p:cNvPr id="18" name="Text 16"/>
          <p:cNvSpPr/>
          <p:nvPr/>
        </p:nvSpPr>
        <p:spPr>
          <a:xfrm>
            <a:off x="5504688" y="1133856"/>
            <a:ext cx="1499616"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y → i</a:t>
            </a:r>
            <a:endParaRPr lang="en-US" sz="1300" dirty="0"/>
          </a:p>
        </p:txBody>
      </p:sp>
      <p:sp>
        <p:nvSpPr>
          <p:cNvPr id="19" name="Shape 17"/>
          <p:cNvSpPr/>
          <p:nvPr/>
        </p:nvSpPr>
        <p:spPr>
          <a:xfrm>
            <a:off x="5458968" y="1591056"/>
            <a:ext cx="1591056" cy="2103120"/>
          </a:xfrm>
          <a:prstGeom prst="roundRect">
            <a:avLst>
              <a:gd name="adj" fmla="val 5747"/>
            </a:avLst>
          </a:prstGeom>
          <a:solidFill>
            <a:srgbClr val="FFFFFF"/>
          </a:solidFill>
          <a:ln/>
          <a:effectLst>
            <a:outerShdw sx="100000" sy="100000" kx="0" ky="0" algn="bl" rotWithShape="0" blurRad="101600" dist="38100" dir="2700000">
              <a:srgbClr val="000000">
                <a:alpha val="12000"/>
              </a:srgbClr>
            </a:outerShdw>
          </a:effectLst>
        </p:spPr>
      </p:sp>
      <p:sp>
        <p:nvSpPr>
          <p:cNvPr id="20" name="Text 18"/>
          <p:cNvSpPr/>
          <p:nvPr/>
        </p:nvSpPr>
        <p:spPr>
          <a:xfrm>
            <a:off x="5550408" y="1700784"/>
            <a:ext cx="1408176"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carried</a:t>
            </a:r>
            <a:endParaRPr lang="en-US" sz="1400" dirty="0"/>
          </a:p>
        </p:txBody>
      </p:sp>
      <p:sp>
        <p:nvSpPr>
          <p:cNvPr id="21" name="Shape 19"/>
          <p:cNvSpPr/>
          <p:nvPr/>
        </p:nvSpPr>
        <p:spPr>
          <a:xfrm>
            <a:off x="7141464" y="1078992"/>
            <a:ext cx="1591056" cy="457200"/>
          </a:xfrm>
          <a:prstGeom prst="roundRect">
            <a:avLst>
              <a:gd name="adj" fmla="val 16000"/>
            </a:avLst>
          </a:prstGeom>
          <a:solidFill>
            <a:srgbClr val="0E1C42"/>
          </a:solidFill>
          <a:ln/>
        </p:spPr>
      </p:sp>
      <p:sp>
        <p:nvSpPr>
          <p:cNvPr id="22" name="Text 20"/>
          <p:cNvSpPr/>
          <p:nvPr/>
        </p:nvSpPr>
        <p:spPr>
          <a:xfrm>
            <a:off x="7187184" y="1133856"/>
            <a:ext cx="1499616"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Dropped the e</a:t>
            </a:r>
            <a:endParaRPr lang="en-US" sz="1300" dirty="0"/>
          </a:p>
        </p:txBody>
      </p:sp>
      <p:sp>
        <p:nvSpPr>
          <p:cNvPr id="23" name="Shape 21"/>
          <p:cNvSpPr/>
          <p:nvPr/>
        </p:nvSpPr>
        <p:spPr>
          <a:xfrm>
            <a:off x="7141464" y="1591056"/>
            <a:ext cx="1591056" cy="2103120"/>
          </a:xfrm>
          <a:prstGeom prst="roundRect">
            <a:avLst>
              <a:gd name="adj" fmla="val 5747"/>
            </a:avLst>
          </a:prstGeom>
          <a:solidFill>
            <a:srgbClr val="FFFFFF"/>
          </a:solidFill>
          <a:ln/>
          <a:effectLst>
            <a:outerShdw sx="100000" sy="100000" kx="0" ky="0" algn="bl" rotWithShape="0" blurRad="101600" dist="38100" dir="2700000">
              <a:srgbClr val="000000">
                <a:alpha val="12000"/>
              </a:srgbClr>
            </a:outerShdw>
          </a:effectLst>
        </p:spPr>
      </p:sp>
      <p:sp>
        <p:nvSpPr>
          <p:cNvPr id="24" name="Text 22"/>
          <p:cNvSpPr/>
          <p:nvPr/>
        </p:nvSpPr>
        <p:spPr>
          <a:xfrm>
            <a:off x="7232904" y="1700784"/>
            <a:ext cx="1408176"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staring</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8B6FC0"/>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Read</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Comparison</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COPYWORK — FROM THE NOVEL</a:t>
            </a:r>
            <a:endParaRPr lang="en-US" sz="1100" dirty="0"/>
          </a:p>
        </p:txBody>
      </p:sp>
      <p:sp>
        <p:nvSpPr>
          <p:cNvPr id="6" name="Shape 4"/>
          <p:cNvSpPr/>
          <p:nvPr/>
        </p:nvSpPr>
        <p:spPr>
          <a:xfrm>
            <a:off x="365760" y="1719072"/>
            <a:ext cx="8412480" cy="1143000"/>
          </a:xfrm>
          <a:prstGeom prst="roundRect">
            <a:avLst>
              <a:gd name="adj" fmla="val 8000"/>
            </a:avLst>
          </a:prstGeom>
          <a:solidFill>
            <a:srgbClr val="F0E8FF"/>
          </a:solidFill>
          <a:ln w="19050">
            <a:solidFill>
              <a:srgbClr val="8B6FC0"/>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47088"/>
            <a:ext cx="7955280" cy="88696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“He untangled her fingers from the cloth and turned her in the direction of the man who had bought her. Mig watched her father walk away, the red tablecloth billowing out behind him.”</a:t>
            </a:r>
            <a:endParaRPr lang="en-US" sz="1700" dirty="0"/>
          </a:p>
        </p:txBody>
      </p:sp>
      <p:sp>
        <p:nvSpPr>
          <p:cNvPr id="8" name="Text 6"/>
          <p:cNvSpPr/>
          <p:nvPr/>
        </p:nvSpPr>
        <p:spPr>
          <a:xfrm>
            <a:off x="365760" y="301752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PAUSE &amp; THINK</a:t>
            </a:r>
            <a:endParaRPr lang="en-US" sz="1100" dirty="0"/>
          </a:p>
        </p:txBody>
      </p:sp>
      <p:sp>
        <p:nvSpPr>
          <p:cNvPr id="9" name="Text 7"/>
          <p:cNvSpPr/>
          <p:nvPr/>
        </p:nvSpPr>
        <p:spPr>
          <a:xfrm>
            <a:off x="365760" y="3273552"/>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What does Despereaux believe about the world?</a:t>
            </a:r>
            <a:endParaRPr lang="en-US" sz="1500" dirty="0"/>
          </a:p>
          <a:p>
            <a:pPr indent="0" marL="0">
              <a:buNone/>
            </a:pPr>
            <a:r>
              <a:rPr lang="en-US" sz="1500" dirty="0">
                <a:solidFill>
                  <a:srgbClr val="1E293B"/>
                </a:solidFill>
                <a:latin typeface="Calibri" pitchFamily="34" charset="0"/>
                <a:ea typeface="Calibri" pitchFamily="34" charset="-122"/>
                <a:cs typeface="Calibri" pitchFamily="34" charset="-120"/>
              </a:rPr>
              <a:t>•  What does Roscuro believe?</a:t>
            </a:r>
            <a:endParaRPr lang="en-US" sz="1500" dirty="0"/>
          </a:p>
          <a:p>
            <a:pPr indent="0" marL="0">
              <a:buNone/>
            </a:pPr>
            <a:r>
              <a:rPr lang="en-US" sz="1500" dirty="0">
                <a:solidFill>
                  <a:srgbClr val="1E293B"/>
                </a:solidFill>
                <a:latin typeface="Calibri" pitchFamily="34" charset="0"/>
                <a:ea typeface="Calibri" pitchFamily="34" charset="-122"/>
                <a:cs typeface="Calibri" pitchFamily="34" charset="-120"/>
              </a:rPr>
              <a:t>•  How do their different beliefs lead to different choices?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34B76F"/>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Writer’s Workshop</a:t>
            </a:r>
            <a:endParaRPr lang="en-US" sz="2200" dirty="0"/>
          </a:p>
        </p:txBody>
      </p:sp>
      <p:sp>
        <p:nvSpPr>
          <p:cNvPr id="4" name="Text 2"/>
          <p:cNvSpPr/>
          <p:nvPr/>
        </p:nvSpPr>
        <p:spPr>
          <a:xfrm>
            <a:off x="365760" y="822960"/>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THIS WEEK’S STAGE</a:t>
            </a:r>
            <a:endParaRPr lang="en-US" sz="1100" dirty="0"/>
          </a:p>
        </p:txBody>
      </p:sp>
      <p:sp>
        <p:nvSpPr>
          <p:cNvPr id="5" name="Text 3"/>
          <p:cNvSpPr/>
          <p:nvPr/>
        </p:nvSpPr>
        <p:spPr>
          <a:xfrm>
            <a:off x="365760" y="1078992"/>
            <a:ext cx="8412480" cy="548640"/>
          </a:xfrm>
          <a:prstGeom prst="rect">
            <a:avLst/>
          </a:prstGeom>
          <a:noFill/>
          <a:ln/>
        </p:spPr>
        <p:txBody>
          <a:bodyPr wrap="square" lIns="0" tIns="0" rIns="0" bIns="0" rtlCol="0" anchor="ctr"/>
          <a:lstStyle/>
          <a:p>
            <a:pPr indent="0" marL="0">
              <a:buNone/>
            </a:pPr>
            <a:r>
              <a:rPr lang="en-US" sz="3000" b="1" dirty="0">
                <a:solidFill>
                  <a:srgbClr val="0E1C42"/>
                </a:solidFill>
                <a:latin typeface="Calibri" pitchFamily="34" charset="0"/>
                <a:ea typeface="Calibri" pitchFamily="34" charset="-122"/>
                <a:cs typeface="Calibri" pitchFamily="34" charset="-120"/>
              </a:rPr>
              <a:t>COMPARE</a:t>
            </a:r>
            <a:endParaRPr lang="en-US" sz="3000" dirty="0"/>
          </a:p>
        </p:txBody>
      </p:sp>
      <p:sp>
        <p:nvSpPr>
          <p:cNvPr id="6" name="Text 4"/>
          <p:cNvSpPr/>
          <p:nvPr/>
        </p:nvSpPr>
        <p:spPr>
          <a:xfrm>
            <a:off x="365760" y="1691640"/>
            <a:ext cx="8412480" cy="457200"/>
          </a:xfrm>
          <a:prstGeom prst="rect">
            <a:avLst/>
          </a:prstGeom>
          <a:noFill/>
          <a:ln/>
        </p:spPr>
        <p:txBody>
          <a:bodyPr wrap="square" lIns="0" tIns="0" rIns="0" bIns="0" rtlCol="0" anchor="ctr"/>
          <a:lstStyle/>
          <a:p>
            <a:pPr indent="0" marL="0">
              <a:buNone/>
            </a:pPr>
            <a:r>
              <a:rPr lang="en-US" sz="1800" dirty="0">
                <a:solidFill>
                  <a:srgbClr val="1E293B"/>
                </a:solidFill>
                <a:latin typeface="Calibri" pitchFamily="34" charset="0"/>
                <a:ea typeface="Calibri" pitchFamily="34" charset="-122"/>
                <a:cs typeface="Calibri" pitchFamily="34" charset="-120"/>
              </a:rPr>
              <a:t>Revise your comparison paragraph</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Optima Academy Online</dc:creator>
  <cp:lastModifiedBy>Optima Academy Online</cp:lastModifiedBy>
  <cp:revision>1</cp:revision>
  <dcterms:created xsi:type="dcterms:W3CDTF">2026-09-07T02:49:07Z</dcterms:created>
  <dcterms:modified xsi:type="dcterms:W3CDTF">2026-09-07T02:49:07Z</dcterms:modified>
</cp:coreProperties>
</file>