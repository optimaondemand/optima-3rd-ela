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16.3. Reading: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compare characters' perspectives. Two characters can experience the same event very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through each highlighted word in the lesson and name what it does right before moving to the fix-it.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Despereaux was more willing to risk everything for love, while Roscuro was more focused on revenge.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Despereaux was more willing to risk everything for love, while Roscuro was more focused on revenge.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The second half of the unit: quotation marks and the comma that goes inside them, and commas separating items in a list.
The comma is inside the quotation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The second half of the unit: quotation marks and the comma that goes inside them, and commas separating items in a list.
The comma is inside the quotation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dialogue, list, dialogue,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dialogue, list, dialogue,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Four syllable types, four different jobs: closed ends in a consonant and keeps the vowel short (nap), open ends in a vowel and lets it say its name (ti), r-controlled hands the vowel over to the r (gar), and silent-e reaches back to make the vowel long (pete). Name the type and the word decodes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A6B"/>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The Tale of Despereaux</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8B6FC0"/>
                </a:solidFill>
                <a:latin typeface="Calibri" pitchFamily="34" charset="0"/>
                <a:ea typeface="Calibri" pitchFamily="34" charset="-122"/>
                <a:cs typeface="Calibri" pitchFamily="34" charset="-120"/>
              </a:rPr>
              <a:t>Lesson 16.3  ·  Comparison</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This book says that stories are light. Write about a story that has been light for you.</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This book says that stories are light. Write about a story that has been light for you.</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read my writing out loud to check that it makes sense?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Comparison</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What does Despereaux believe about the world?</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compare characters' perspectives. Two characters can experience the same event very differently.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CORRECT MODEL — STUDY WHAT IS RIGHT</a:t>
            </a:r>
            <a:endParaRPr lang="en-US" sz="1100" dirty="0"/>
          </a:p>
        </p:txBody>
      </p:sp>
      <p:sp>
        <p:nvSpPr>
          <p:cNvPr id="5" name="Shape 3"/>
          <p:cNvSpPr/>
          <p:nvPr/>
        </p:nvSpPr>
        <p:spPr>
          <a:xfrm>
            <a:off x="365760" y="1078992"/>
            <a:ext cx="8412480" cy="822960"/>
          </a:xfrm>
          <a:prstGeom prst="roundRect">
            <a:avLst>
              <a:gd name="adj" fmla="val 11111"/>
            </a:avLst>
          </a:prstGeom>
          <a:solidFill>
            <a:srgbClr val="E5F7FC"/>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669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Despereaux chose forgiveness, while Roscuro chose revenge.</a:t>
            </a:r>
            <a:endParaRPr lang="en-US" sz="1700" dirty="0"/>
          </a:p>
        </p:txBody>
      </p:sp>
      <p:sp>
        <p:nvSpPr>
          <p:cNvPr id="7" name="Text 5"/>
          <p:cNvSpPr/>
          <p:nvPr/>
        </p:nvSpPr>
        <p:spPr>
          <a:xfrm>
            <a:off x="365760" y="210312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a:t>
            </a:r>
            <a:endParaRPr lang="en-US" sz="1100" dirty="0"/>
          </a:p>
        </p:txBody>
      </p:sp>
      <p:sp>
        <p:nvSpPr>
          <p:cNvPr id="8" name="Text 6"/>
          <p:cNvSpPr/>
          <p:nvPr/>
        </p:nvSpPr>
        <p:spPr>
          <a:xfrm>
            <a:off x="365760" y="2359152"/>
            <a:ext cx="8412480" cy="109728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a comma comes before while when it sets up a contrast. Both names are capitalized, and a period ends the sentence.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despereaux was more willing to risk everything for love while roscuro was more focused on revenge</a:t>
            </a:r>
            <a:endParaRPr lang="en-US" sz="1700" dirty="0"/>
          </a:p>
        </p:txBody>
      </p:sp>
      <p:sp>
        <p:nvSpPr>
          <p:cNvPr id="7" name="Text 5"/>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the sentence correctly in your notebook.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despereaux was more willing to risk everything for love while roscuro was more focused on revenge</a:t>
            </a:r>
            <a:endParaRPr lang="en-US" sz="1700" dirty="0"/>
          </a:p>
        </p:txBody>
      </p:sp>
      <p:sp>
        <p:nvSpPr>
          <p:cNvPr id="7" name="Shape 5"/>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9" name="Text 7"/>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Despereaux was more willing to risk everything for love, while Roscuro was more focused on revenge.</a:t>
            </a:r>
            <a:endParaRPr lang="en-US" sz="1400" dirty="0"/>
          </a:p>
          <a:p>
            <a:pPr indent="0" marL="0">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-EST</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bold + est →boldest — the most bold</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tall + est →tallest — the most tall</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clever + est →cleverest — the most clever</a:t>
            </a:r>
            <a:endParaRPr lang="en-US" sz="1500" dirty="0"/>
          </a:p>
        </p:txBody>
      </p:sp>
      <p:sp>
        <p:nvSpPr>
          <p:cNvPr id="11" name="Shape 9"/>
          <p:cNvSpPr/>
          <p:nvPr/>
        </p:nvSpPr>
        <p:spPr>
          <a:xfrm>
            <a:off x="365760" y="3182112"/>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300984"/>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kind + est →kindest — the most kind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disappointment  </a:t>
            </a:r>
            <a:pPr indent="0" marL="0">
              <a:buNone/>
            </a:pPr>
            <a:r>
              <a:rPr lang="en-US" sz="1400" dirty="0">
                <a:solidFill>
                  <a:srgbClr val="1E293B"/>
                </a:solidFill>
                <a:latin typeface="Calibri" pitchFamily="34" charset="0"/>
                <a:ea typeface="Calibri" pitchFamily="34" charset="-122"/>
                <a:cs typeface="Calibri" pitchFamily="34" charset="-120"/>
              </a:rPr>
              <a:t>A person or thing that lets you down; not what you hoped for.</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clout  </a:t>
            </a:r>
            <a:pPr indent="0" marL="0">
              <a:buNone/>
            </a:pPr>
            <a:r>
              <a:rPr lang="en-US" sz="1400" dirty="0">
                <a:solidFill>
                  <a:srgbClr val="1E293B"/>
                </a:solidFill>
                <a:latin typeface="Calibri" pitchFamily="34" charset="0"/>
                <a:ea typeface="Calibri" pitchFamily="34" charset="-122"/>
                <a:cs typeface="Calibri" pitchFamily="34" charset="-120"/>
              </a:rPr>
              <a:t>A hard hit or blow, usually with an open hand.</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braver  </a:t>
            </a:r>
            <a:pPr indent="0" marL="0">
              <a:buNone/>
            </a:pPr>
            <a:r>
              <a:rPr lang="en-US" sz="1400" dirty="0">
                <a:solidFill>
                  <a:srgbClr val="1E293B"/>
                </a:solidFill>
                <a:latin typeface="Calibri" pitchFamily="34" charset="0"/>
                <a:ea typeface="Calibri" pitchFamily="34" charset="-122"/>
                <a:cs typeface="Calibri" pitchFamily="34" charset="-120"/>
              </a:rPr>
              <a:t>More willing to face something frightening.</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happily  </a:t>
            </a:r>
            <a:pPr indent="0" marL="0">
              <a:buNone/>
            </a:pPr>
            <a:r>
              <a:rPr lang="en-US" sz="1400" dirty="0">
                <a:solidFill>
                  <a:srgbClr val="1E293B"/>
                </a:solidFill>
                <a:latin typeface="Calibri" pitchFamily="34" charset="0"/>
                <a:ea typeface="Calibri" pitchFamily="34" charset="-122"/>
                <a:cs typeface="Calibri" pitchFamily="34" charset="-120"/>
              </a:rPr>
              <a:t>In a happy way; with joy.</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REVIEW: DIALOGUE AND COMMAS</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Look at the quotation marks and the commas together.</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“Straight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to</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him,”</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said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Mouse.</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Please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over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spoons,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bowls,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kettle.</a:t>
            </a:r>
            <a:endParaRPr lang="en-US" sz="1700" dirty="0"/>
          </a:p>
        </p:txBody>
      </p:sp>
      <p:sp>
        <p:nvSpPr>
          <p:cNvPr id="12" name="Text 10"/>
          <p:cNvSpPr/>
          <p:nvPr/>
        </p:nvSpPr>
        <p:spPr>
          <a:xfrm>
            <a:off x="365760" y="3008376"/>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THINK IT THROUGH</a:t>
            </a:r>
            <a:endParaRPr lang="en-US" sz="1100" dirty="0"/>
          </a:p>
        </p:txBody>
      </p:sp>
      <p:sp>
        <p:nvSpPr>
          <p:cNvPr id="13" name="Text 11"/>
          <p:cNvSpPr/>
          <p:nvPr/>
        </p:nvSpPr>
        <p:spPr>
          <a:xfrm>
            <a:off x="365760" y="3255264"/>
            <a:ext cx="8412480" cy="1563624"/>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1.  Which marks show that someone is speaking?</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2.  Which mark separates a list, and which separates speech from speaker?</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3.  Can one sentence need both jobs at once? Look for one.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REVIEW: DIALOGUE AND COMMAS</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Look at the quotation marks and the commas together.</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“Straight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to</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him,”</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said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Mouse.</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Please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over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spoons,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bowls,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kettle.</a:t>
            </a:r>
            <a:endParaRPr lang="en-US" sz="1700" dirty="0"/>
          </a:p>
        </p:txBody>
      </p:sp>
      <p:sp>
        <p:nvSpPr>
          <p:cNvPr id="12" name="Shape 10"/>
          <p:cNvSpPr/>
          <p:nvPr/>
        </p:nvSpPr>
        <p:spPr>
          <a:xfrm>
            <a:off x="365760" y="3008376"/>
            <a:ext cx="8412480" cy="1837944"/>
          </a:xfrm>
          <a:prstGeom prst="roundRect">
            <a:avLst>
              <a:gd name="adj" fmla="val 4975"/>
            </a:avLst>
          </a:prstGeom>
          <a:solidFill>
            <a:srgbClr val="E8F8EF"/>
          </a:solidFill>
          <a:ln/>
          <a:effectLst>
            <a:outerShdw sx="100000" sy="100000" kx="0" ky="0" algn="bl" rotWithShape="0" blurRad="101600" dist="38100" dir="2700000">
              <a:srgbClr val="000000">
                <a:alpha val="12000"/>
              </a:srgbClr>
            </a:outerShdw>
          </a:effectLst>
        </p:spPr>
      </p:sp>
      <p:sp>
        <p:nvSpPr>
          <p:cNvPr id="13" name="Text 11"/>
          <p:cNvSpPr/>
          <p:nvPr/>
        </p:nvSpPr>
        <p:spPr>
          <a:xfrm>
            <a:off x="566928" y="3072384"/>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THE PATTERN</a:t>
            </a:r>
            <a:endParaRPr lang="en-US" sz="1100" dirty="0"/>
          </a:p>
        </p:txBody>
      </p:sp>
      <p:sp>
        <p:nvSpPr>
          <p:cNvPr id="14" name="Text 12"/>
          <p:cNvSpPr/>
          <p:nvPr/>
        </p:nvSpPr>
        <p:spPr>
          <a:xfrm>
            <a:off x="566928" y="3328416"/>
            <a:ext cx="8010144" cy="1380744"/>
          </a:xfrm>
          <a:prstGeom prst="rect">
            <a:avLst/>
          </a:prstGeom>
          <a:noFill/>
          <a:ln/>
        </p:spPr>
        <p:txBody>
          <a:bodyPr wrap="square" lIns="0" tIns="0" rIns="0" bIns="0" rtlCol="0" anchor="t">
            <a:normAutofit/>
          </a:bodyPr>
          <a:lstStyle/>
          <a:p>
            <a:pPr indent="0" marL="0">
              <a:buNone/>
            </a:pPr>
            <a:r>
              <a:rPr lang="en-US" sz="1300" dirty="0">
                <a:solidFill>
                  <a:srgbClr val="1E293B"/>
                </a:solidFill>
                <a:latin typeface="Calibri" pitchFamily="34" charset="0"/>
                <a:ea typeface="Calibri" pitchFamily="34" charset="-122"/>
                <a:cs typeface="Calibri" pitchFamily="34" charset="-120"/>
              </a:rPr>
              <a:t>The second half of the unit: quotation marks and the comma that goes inside them, and commas separating items in a list.</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The comma is inside the quotation marks.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REVIEW: DIALOGUE AND COMMAS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“I am hungry,” said Mig. — that comma is doing ______ work (dialogue or list)</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soup, bread, and pudding — those commas are doing ______ work</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Cook said, “Eat.” — that comma is doing ______ work</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red, gold, and green — those commas are doing ______ work</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Type dialogue or list for the job each comma is doing.</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REVIEW: DIALOGUE AND COMMAS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“I am hungry,” said Mig. — that comma is doing </a:t>
            </a:r>
            <a:pPr indent="0" marL="0">
              <a:buNone/>
            </a:pPr>
            <a:r>
              <a:rPr lang="en-US" sz="1600" b="1" dirty="0">
                <a:solidFill>
                  <a:srgbClr val="34B76F"/>
                </a:solidFill>
                <a:latin typeface="Calibri" pitchFamily="34" charset="0"/>
                <a:ea typeface="Calibri" pitchFamily="34" charset="-122"/>
                <a:cs typeface="Calibri" pitchFamily="34" charset="-120"/>
              </a:rPr>
              <a:t>dialogue</a:t>
            </a:r>
            <a:pPr indent="0" marL="0">
              <a:buNone/>
            </a:pPr>
            <a:r>
              <a:rPr lang="en-US" sz="1600" dirty="0">
                <a:solidFill>
                  <a:srgbClr val="1E293B"/>
                </a:solidFill>
                <a:latin typeface="Calibri" pitchFamily="34" charset="0"/>
                <a:ea typeface="Calibri" pitchFamily="34" charset="-122"/>
                <a:cs typeface="Calibri" pitchFamily="34" charset="-120"/>
              </a:rPr>
              <a:t> work (dialogue or list)</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soup, bread, and pudding — those commas are doing </a:t>
            </a:r>
            <a:pPr indent="0" marL="0">
              <a:buNone/>
            </a:pPr>
            <a:r>
              <a:rPr lang="en-US" sz="1600" b="1" dirty="0">
                <a:solidFill>
                  <a:srgbClr val="34B76F"/>
                </a:solidFill>
                <a:latin typeface="Calibri" pitchFamily="34" charset="0"/>
                <a:ea typeface="Calibri" pitchFamily="34" charset="-122"/>
                <a:cs typeface="Calibri" pitchFamily="34" charset="-120"/>
              </a:rPr>
              <a:t>list</a:t>
            </a:r>
            <a:pPr indent="0" marL="0">
              <a:buNone/>
            </a:pPr>
            <a:r>
              <a:rPr lang="en-US" sz="1600" dirty="0">
                <a:solidFill>
                  <a:srgbClr val="1E293B"/>
                </a:solidFill>
                <a:latin typeface="Calibri" pitchFamily="34" charset="0"/>
                <a:ea typeface="Calibri" pitchFamily="34" charset="-122"/>
                <a:cs typeface="Calibri" pitchFamily="34" charset="-120"/>
              </a:rPr>
              <a:t> work</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Cook said, “Eat.” — that comma is doing </a:t>
            </a:r>
            <a:pPr indent="0" marL="0">
              <a:buNone/>
            </a:pPr>
            <a:r>
              <a:rPr lang="en-US" sz="1600" b="1" dirty="0">
                <a:solidFill>
                  <a:srgbClr val="34B76F"/>
                </a:solidFill>
                <a:latin typeface="Calibri" pitchFamily="34" charset="0"/>
                <a:ea typeface="Calibri" pitchFamily="34" charset="-122"/>
                <a:cs typeface="Calibri" pitchFamily="34" charset="-120"/>
              </a:rPr>
              <a:t>dialogue</a:t>
            </a:r>
            <a:pPr indent="0" marL="0">
              <a:buNone/>
            </a:pPr>
            <a:r>
              <a:rPr lang="en-US" sz="1600" dirty="0">
                <a:solidFill>
                  <a:srgbClr val="1E293B"/>
                </a:solidFill>
                <a:latin typeface="Calibri" pitchFamily="34" charset="0"/>
                <a:ea typeface="Calibri" pitchFamily="34" charset="-122"/>
                <a:cs typeface="Calibri" pitchFamily="34" charset="-120"/>
              </a:rPr>
              <a:t> work</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red, gold, and green — those commas are doing </a:t>
            </a:r>
            <a:pPr indent="0" marL="0">
              <a:buNone/>
            </a:pPr>
            <a:r>
              <a:rPr lang="en-US" sz="1600" b="1" dirty="0">
                <a:solidFill>
                  <a:srgbClr val="34B76F"/>
                </a:solidFill>
                <a:latin typeface="Calibri" pitchFamily="34" charset="0"/>
                <a:ea typeface="Calibri" pitchFamily="34" charset="-122"/>
                <a:cs typeface="Calibri" pitchFamily="34" charset="-120"/>
              </a:rPr>
              <a:t>list</a:t>
            </a:r>
            <a:pPr indent="0" marL="0">
              <a:buNone/>
            </a:pPr>
            <a:r>
              <a:rPr lang="en-US" sz="1600" dirty="0">
                <a:solidFill>
                  <a:srgbClr val="1E293B"/>
                </a:solidFill>
                <a:latin typeface="Calibri" pitchFamily="34" charset="0"/>
                <a:ea typeface="Calibri" pitchFamily="34" charset="-122"/>
                <a:cs typeface="Calibri" pitchFamily="34" charset="-120"/>
              </a:rPr>
              <a:t> work</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REVIEW SYLLABLE TYPES: CLOSED, OPEN, SILENT-E</a:t>
            </a:r>
            <a:endParaRPr lang="en-US" sz="1100" dirty="0"/>
          </a:p>
        </p:txBody>
      </p:sp>
      <p:sp>
        <p:nvSpPr>
          <p:cNvPr id="5" name="Text 3"/>
          <p:cNvSpPr/>
          <p:nvPr/>
        </p:nvSpPr>
        <p:spPr>
          <a:xfrm>
            <a:off x="365760" y="10515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  THE RULE</a:t>
            </a:r>
            <a:endParaRPr lang="en-US" sz="1100" dirty="0"/>
          </a:p>
        </p:txBody>
      </p:sp>
      <p:sp>
        <p:nvSpPr>
          <p:cNvPr id="6" name="Shape 4"/>
          <p:cNvSpPr/>
          <p:nvPr/>
        </p:nvSpPr>
        <p:spPr>
          <a:xfrm>
            <a:off x="365760" y="1298448"/>
            <a:ext cx="8412480" cy="960120"/>
          </a:xfrm>
          <a:prstGeom prst="roundRect">
            <a:avLst>
              <a:gd name="adj" fmla="val 9524"/>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26464"/>
            <a:ext cx="7955280" cy="7040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Four syllable types, four different jobs: closed ends in a consonant and keeps the vowel short (nap), open ends in a vowel and lets it say its name (ti), r-controlled hands the vowel over to the r (gar), and silent-e reaches back to make the vowel long (pete). Name the type and the word decodes itself.</a:t>
            </a:r>
            <a:endParaRPr lang="en-US" sz="1700" dirty="0"/>
          </a:p>
        </p:txBody>
      </p:sp>
      <p:sp>
        <p:nvSpPr>
          <p:cNvPr id="8" name="Text 6"/>
          <p:cNvSpPr/>
          <p:nvPr/>
        </p:nvSpPr>
        <p:spPr>
          <a:xfrm>
            <a:off x="365760" y="2395728"/>
            <a:ext cx="841248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Name That Syllable! Split the word in your head, then tap to check both syllables.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Comparison</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“He untangled her fingers from the cloth and turned her in the direction of the man who had bought her. Mig watched her father walk away, the red tablecloth billowing out behind him.”</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Read your comparison paragraph. Does it end with a "so what" sentence that explains what the comparison means? If not, what should it say?</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Look at your evidence. Is it specific — actual scenes or moments — or is it general? Revise one piece of evidence to be more specific.</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COMPARE</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Revise your comparison paragraph</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2026-10-19T11:55:31Z</dcterms:created>
  <dcterms:modified xsi:type="dcterms:W3CDTF">2026-10-19T11:55:31Z</dcterms:modified>
</cp:coreProperties>
</file>