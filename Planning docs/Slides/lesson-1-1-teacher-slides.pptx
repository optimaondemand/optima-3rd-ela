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1 Day 1. Launch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SCAFFOLDING SLIDE — only shown the first time. Walk students through each step. Emphasize: the goal is to KEEP WRITING for the full 5 minutes. It does not need to be perfect. If they get stuck, they can write "I'm thinking..." or reread the prompt. This builds writing stamina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describe how my family reacted, not just that they reacted?.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model sentence aloud. Ask students: what do you notice about the punctuation and capitalization?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42"/>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1 · Day 1</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55C8E8"/>
                </a:solidFill>
                <a:latin typeface="Calibri" pitchFamily="34" charset="0"/>
                <a:ea typeface="Calibri" pitchFamily="34" charset="-122"/>
                <a:cs typeface="Calibri" pitchFamily="34" charset="-120"/>
              </a:rPr>
              <a:t>Launch Week — Lesson 1.1</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Welcome to the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457200" y="960120"/>
            <a:ext cx="8229600" cy="3291840"/>
          </a:xfrm>
          <a:prstGeom prst="roundRect">
            <a:avLst>
              <a:gd name="adj" fmla="val 2778"/>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685800" y="1069848"/>
            <a:ext cx="7772400" cy="3108960"/>
          </a:xfrm>
          <a:prstGeom prst="rect">
            <a:avLst/>
          </a:prstGeom>
          <a:noFill/>
          <a:ln/>
        </p:spPr>
        <p:txBody>
          <a:bodyPr wrap="square" lIns="0" tIns="0" rIns="0" bIns="0" rtlCol="0" anchor="t"/>
          <a:lstStyle/>
          <a:p>
            <a:pPr indent="0" marL="0">
              <a:spcAft>
                <a:spcPts val="200"/>
              </a:spcAft>
              <a:buNone/>
            </a:pPr>
            <a:r>
              <a:rPr lang="en-US" sz="1800" b="1" dirty="0">
                <a:solidFill>
                  <a:srgbClr val="0E1C42"/>
                </a:solidFill>
                <a:latin typeface="Calibri" pitchFamily="34" charset="0"/>
                <a:ea typeface="Calibri" pitchFamily="34" charset="-122"/>
                <a:cs typeface="Calibri" pitchFamily="34" charset="-120"/>
              </a:rPr>
              <a:t>What is a 10-Minute Write?
</a:t>
            </a:r>
            <a:pPr indent="0" marL="0">
              <a:spcAft>
                <a:spcPts val="200"/>
              </a:spcAft>
              <a:buNone/>
            </a:pPr>
            <a:r>
              <a:rPr lang="en-US" sz="1400" dirty="0">
                <a:solidFill>
                  <a:srgbClr val="1E293B"/>
                </a:solidFill>
                <a:latin typeface="Calibri" pitchFamily="34" charset="0"/>
                <a:ea typeface="Calibri" pitchFamily="34" charset="-122"/>
                <a:cs typeface="Calibri" pitchFamily="34" charset="-120"/>
              </a:rPr>
              <a:t>Every day, we start class by writing. The goal is simple: </a:t>
            </a:r>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just write.</a:t>
            </a:r>
            <a:pPr indent="0" marL="0">
              <a:spcAft>
                <a:spcPts val="200"/>
              </a:spcAft>
              <a:buNone/>
            </a:pPr>
            <a:r>
              <a:rPr lang="en-US" sz="1400" dirty="0">
                <a:solidFill>
                  <a:srgbClr val="1E293B"/>
                </a:solidFill>
                <a:latin typeface="Calibri" pitchFamily="34" charset="0"/>
                <a:ea typeface="Calibri" pitchFamily="34" charset="-122"/>
                <a:cs typeface="Calibri" pitchFamily="34" charset="-120"/>
              </a:rPr>
              <a:t> Don't worry about being perfect. Don't stop to erase. If you get stuck, write "I'm thinking..." until a new idea comes. The point is to keep your pencil moving!
</a:t>
            </a:r>
            <a:pPr indent="0" marL="0">
              <a:spcAft>
                <a:spcPts val="200"/>
              </a:spcAft>
              <a:buNone/>
            </a:pPr>
            <a:r>
              <a:rPr lang="en-US" sz="1500" b="1" dirty="0">
                <a:solidFill>
                  <a:srgbClr val="0E1C42"/>
                </a:solidFill>
                <a:latin typeface="Calibri" pitchFamily="34" charset="0"/>
                <a:ea typeface="Calibri" pitchFamily="34" charset="-122"/>
                <a:cs typeface="Calibri" pitchFamily="34" charset="-120"/>
              </a:rPr>
              <a:t>Here's how it works:
</a:t>
            </a:r>
            <a:pPr indent="0" marL="0">
              <a:spcAft>
                <a:spcPts val="200"/>
              </a:spcAft>
              <a:buNone/>
            </a:pPr>
            <a:r>
              <a:rPr lang="en-US" sz="1400" b="1" dirty="0">
                <a:solidFill>
                  <a:srgbClr val="C7922C"/>
                </a:solidFill>
                <a:latin typeface="Calibri" pitchFamily="34" charset="0"/>
                <a:ea typeface="Calibri" pitchFamily="34" charset="-122"/>
                <a:cs typeface="Calibri" pitchFamily="34" charset="-120"/>
              </a:rPr>
              <a:t>📖  1 minute</a:t>
            </a:r>
            <a:pPr indent="0" marL="0">
              <a:spcAft>
                <a:spcPts val="200"/>
              </a:spcAft>
              <a:buNone/>
            </a:pPr>
            <a:r>
              <a:rPr lang="en-US" sz="1400" dirty="0">
                <a:solidFill>
                  <a:srgbClr val="1E293B"/>
                </a:solidFill>
                <a:latin typeface="Calibri" pitchFamily="34" charset="0"/>
                <a:ea typeface="Calibri" pitchFamily="34" charset="-122"/>
                <a:cs typeface="Calibri" pitchFamily="34" charset="-120"/>
              </a:rPr>
              <a:t> — Read the prompt quietly.
</a:t>
            </a:r>
            <a:pPr indent="0" marL="0">
              <a:spcAft>
                <a:spcPts val="200"/>
              </a:spcAft>
              <a:buNone/>
            </a:pPr>
            <a:r>
              <a:rPr lang="en-US" sz="1400" b="1" dirty="0">
                <a:solidFill>
                  <a:srgbClr val="C7922C"/>
                </a:solidFill>
                <a:latin typeface="Calibri" pitchFamily="34" charset="0"/>
                <a:ea typeface="Calibri" pitchFamily="34" charset="-122"/>
                <a:cs typeface="Calibri" pitchFamily="34" charset="-120"/>
              </a:rPr>
              <a:t>✏️  5 minutes</a:t>
            </a:r>
            <a:pPr indent="0" marL="0">
              <a:spcAft>
                <a:spcPts val="200"/>
              </a:spcAft>
              <a:buNone/>
            </a:pPr>
            <a:r>
              <a:rPr lang="en-US" sz="1400" dirty="0">
                <a:solidFill>
                  <a:srgbClr val="1E293B"/>
                </a:solidFill>
                <a:latin typeface="Calibri" pitchFamily="34" charset="0"/>
                <a:ea typeface="Calibri" pitchFamily="34" charset="-122"/>
                <a:cs typeface="Calibri" pitchFamily="34" charset="-120"/>
              </a:rPr>
              <a:t> — Write! Keep going the whole time.
</a:t>
            </a:r>
            <a:pPr indent="0" marL="0">
              <a:spcAft>
                <a:spcPts val="200"/>
              </a:spcAft>
              <a:buNone/>
            </a:pPr>
            <a:r>
              <a:rPr lang="en-US" sz="1400" b="1" dirty="0">
                <a:solidFill>
                  <a:srgbClr val="C7922C"/>
                </a:solidFill>
                <a:latin typeface="Calibri" pitchFamily="34" charset="0"/>
                <a:ea typeface="Calibri" pitchFamily="34" charset="-122"/>
                <a:cs typeface="Calibri" pitchFamily="34" charset="-120"/>
              </a:rPr>
              <a:t>🔍  1 minute</a:t>
            </a:r>
            <a:pPr indent="0" marL="0">
              <a:spcAft>
                <a:spcPts val="200"/>
              </a:spcAft>
              <a:buNone/>
            </a:pPr>
            <a:r>
              <a:rPr lang="en-US" sz="1400" dirty="0">
                <a:solidFill>
                  <a:srgbClr val="1E293B"/>
                </a:solidFill>
                <a:latin typeface="Calibri" pitchFamily="34" charset="0"/>
                <a:ea typeface="Calibri" pitchFamily="34" charset="-122"/>
                <a:cs typeface="Calibri" pitchFamily="34" charset="-120"/>
              </a:rPr>
              <a:t> — Reread and fix one thing.
</a:t>
            </a:r>
            <a:pPr indent="0" marL="0">
              <a:spcAft>
                <a:spcPts val="200"/>
              </a:spcAft>
              <a:buNone/>
            </a:pPr>
            <a:r>
              <a:rPr lang="en-US" sz="1400" b="1" dirty="0">
                <a:solidFill>
                  <a:srgbClr val="C7922C"/>
                </a:solidFill>
                <a:latin typeface="Calibri" pitchFamily="34" charset="0"/>
                <a:ea typeface="Calibri" pitchFamily="34" charset="-122"/>
                <a:cs typeface="Calibri" pitchFamily="34" charset="-120"/>
              </a:rPr>
              <a:t>🗣️  3 minutes</a:t>
            </a:r>
            <a:pPr indent="0" marL="0">
              <a:spcAft>
                <a:spcPts val="200"/>
              </a:spcAft>
              <a:buNone/>
            </a:pPr>
            <a:r>
              <a:rPr lang="en-US" sz="1400" dirty="0">
                <a:solidFill>
                  <a:srgbClr val="1E293B"/>
                </a:solidFill>
                <a:latin typeface="Calibri" pitchFamily="34" charset="0"/>
                <a:ea typeface="Calibri" pitchFamily="34" charset="-122"/>
                <a:cs typeface="Calibri" pitchFamily="34" charset="-120"/>
              </a:rPr>
              <a:t> — Share with the class!
</a:t>
            </a:r>
            <a:pPr indent="0" marL="0">
              <a:spcAft>
                <a:spcPts val="200"/>
              </a:spcAft>
              <a:buNone/>
            </a:pPr>
            <a:r>
              <a:rPr lang="en-US" sz="1300" i="1" dirty="0">
                <a:solidFill>
                  <a:srgbClr val="64748B"/>
                </a:solidFill>
                <a:latin typeface="Calibri" pitchFamily="34" charset="0"/>
                <a:ea typeface="Calibri" pitchFamily="34" charset="-122"/>
                <a:cs typeface="Calibri" pitchFamily="34" charset="-120"/>
              </a:rPr>
              <a:t>You can type your writing in the chat or write on paper to hold up.</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Stanley wakes up and finds out he is flat! Imagine you woke up one morning and something very strange had happened to your body. What changed? How would your family react? Start with: 'When I looked in the mirror this morning, I could not believe it. I was...'</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Stanley wakes up and finds out he is flat! Imagine you woke up one morning and something very strange had happened to your body. What changed? How would your family react? Start with: 'When I looked in the mirror this morning, I could not believe it. I was...'</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describe how my family reacted, not just that they reacted?</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Arthur shouts for his parents. What do you think he saw?</a:t>
            </a:r>
            <a:endParaRPr lang="en-US" sz="1800" dirty="0"/>
          </a:p>
        </p:txBody>
      </p:sp>
      <p:sp>
        <p:nvSpPr>
          <p:cNvPr id="9" name="Text 7"/>
          <p:cNvSpPr/>
          <p:nvPr/>
        </p:nvSpPr>
        <p:spPr>
          <a:xfrm>
            <a:off x="457200" y="1965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0" name="Text 8"/>
          <p:cNvSpPr/>
          <p:nvPr/>
        </p:nvSpPr>
        <p:spPr>
          <a:xfrm>
            <a:off x="640080" y="228600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preview a book before reading. They look at the cover, chapter titles, and pictures to make predictions.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Model Sentence — Study What's Right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Shape 2"/>
          <p:cNvSpPr/>
          <p:nvPr/>
        </p:nvSpPr>
        <p:spPr>
          <a:xfrm>
            <a:off x="457200" y="1097280"/>
            <a:ext cx="822960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207008"/>
            <a:ext cx="7863840" cy="68580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"I will go wake the boys," Mrs. Lambchop said to her husband, George Lambchop.</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arthur called from the bedroom he shared with his brother stanley come here and look</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arthur called from the bedroom he shared with his brother stanley come here and look</a:t>
            </a:r>
            <a:endParaRPr lang="en-US" sz="1800" dirty="0"/>
          </a:p>
        </p:txBody>
      </p:sp>
      <p:sp>
        <p:nvSpPr>
          <p:cNvPr id="8" name="Text 6"/>
          <p:cNvSpPr/>
          <p:nvPr/>
        </p:nvSpPr>
        <p:spPr>
          <a:xfrm>
            <a:off x="457200" y="17373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9" name="Text 7"/>
          <p:cNvSpPr/>
          <p:nvPr/>
        </p:nvSpPr>
        <p:spPr>
          <a:xfrm>
            <a:off x="640080" y="201168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Arthur called from the bedroom he shared with his brother . "Stanley, come here and look !"</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What is a base word?</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WORD BUILDING</a:t>
            </a:r>
            <a:endParaRPr lang="en-US" sz="1100" dirty="0"/>
          </a:p>
        </p:txBody>
      </p:sp>
      <p:sp>
        <p:nvSpPr>
          <p:cNvPr id="5" name="Shape 3"/>
          <p:cNvSpPr/>
          <p:nvPr/>
        </p:nvSpPr>
        <p:spPr>
          <a:xfrm>
            <a:off x="457200" y="1371600"/>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jump</a:t>
            </a:r>
            <a:pPr indent="0" marL="0">
              <a:buNone/>
            </a:pPr>
            <a:r>
              <a:rPr lang="en-US" sz="1400" dirty="0">
                <a:solidFill>
                  <a:srgbClr val="64748B"/>
                </a:solidFill>
                <a:latin typeface="Calibri" pitchFamily="34" charset="0"/>
                <a:ea typeface="Calibri" pitchFamily="34" charset="-122"/>
                <a:cs typeface="Calibri" pitchFamily="34" charset="-120"/>
              </a:rPr>
              <a:t>  ·  .</a:t>
            </a:r>
            <a:endParaRPr lang="en-US" sz="1600" dirty="0"/>
          </a:p>
        </p:txBody>
      </p:sp>
      <p:sp>
        <p:nvSpPr>
          <p:cNvPr id="7" name="Shape 5"/>
          <p:cNvSpPr/>
          <p:nvPr/>
        </p:nvSpPr>
        <p:spPr>
          <a:xfrm>
            <a:off x="457200" y="1901952"/>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947672"/>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do</a:t>
            </a:r>
            <a:pPr indent="0" marL="0">
              <a:buNone/>
            </a:pPr>
            <a:r>
              <a:rPr lang="en-US" sz="1400" dirty="0">
                <a:solidFill>
                  <a:srgbClr val="64748B"/>
                </a:solidFill>
                <a:latin typeface="Calibri" pitchFamily="34" charset="0"/>
                <a:ea typeface="Calibri" pitchFamily="34" charset="-122"/>
                <a:cs typeface="Calibri" pitchFamily="34" charset="-120"/>
              </a:rPr>
              <a:t>  ·  .</a:t>
            </a:r>
            <a:endParaRPr lang="en-US" sz="1600" dirty="0"/>
          </a:p>
        </p:txBody>
      </p:sp>
      <p:sp>
        <p:nvSpPr>
          <p:cNvPr id="9" name="Shape 7"/>
          <p:cNvSpPr/>
          <p:nvPr/>
        </p:nvSpPr>
        <p:spPr>
          <a:xfrm>
            <a:off x="457200" y="2432304"/>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478024"/>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happy</a:t>
            </a:r>
            <a:pPr indent="0" marL="0">
              <a:buNone/>
            </a:pPr>
            <a:r>
              <a:rPr lang="en-US" sz="1400" dirty="0">
                <a:solidFill>
                  <a:srgbClr val="64748B"/>
                </a:solidFill>
                <a:latin typeface="Calibri" pitchFamily="34" charset="0"/>
                <a:ea typeface="Calibri" pitchFamily="34" charset="-122"/>
                <a:cs typeface="Calibri" pitchFamily="34" charset="-120"/>
              </a:rPr>
              <a:t>  ·  .</a:t>
            </a:r>
            <a:endParaRPr lang="en-US" sz="1600" dirty="0"/>
          </a:p>
        </p:txBody>
      </p:sp>
      <p:sp>
        <p:nvSpPr>
          <p:cNvPr id="11" name="Shape 9"/>
          <p:cNvSpPr/>
          <p:nvPr/>
        </p:nvSpPr>
        <p:spPr>
          <a:xfrm>
            <a:off x="457200" y="2962656"/>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008376"/>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play</a:t>
            </a:r>
            <a:pPr indent="0" marL="0">
              <a:buNone/>
            </a:pPr>
            <a:r>
              <a:rPr lang="en-US" sz="1400" dirty="0">
                <a:solidFill>
                  <a:srgbClr val="64748B"/>
                </a:solidFill>
                <a:latin typeface="Calibri" pitchFamily="34" charset="0"/>
                <a:ea typeface="Calibri" pitchFamily="34" charset="-122"/>
                <a:cs typeface="Calibri" pitchFamily="34" charset="-120"/>
              </a:rPr>
              <a:t>  ·  .</a:t>
            </a:r>
            <a:endParaRPr lang="en-US" sz="1600" dirty="0"/>
          </a:p>
        </p:txBody>
      </p:sp>
      <p:sp>
        <p:nvSpPr>
          <p:cNvPr id="13" name="Text 11"/>
          <p:cNvSpPr/>
          <p:nvPr/>
        </p:nvSpPr>
        <p:spPr>
          <a:xfrm>
            <a:off x="457200" y="3493008"/>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813048"/>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Examples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4572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bulletin</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board where you pin up messages and pictures.</a:t>
            </a:r>
            <a:endParaRPr lang="en-US" sz="1500" dirty="0"/>
          </a:p>
        </p:txBody>
      </p:sp>
      <p:sp>
        <p:nvSpPr>
          <p:cNvPr id="6" name="Shape 4"/>
          <p:cNvSpPr/>
          <p:nvPr/>
        </p:nvSpPr>
        <p:spPr>
          <a:xfrm>
            <a:off x="45720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7" name="Text 5"/>
          <p:cNvSpPr/>
          <p:nvPr/>
        </p:nvSpPr>
        <p:spPr>
          <a:xfrm>
            <a:off x="47091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examined</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Looked at very carefully, especially by a doctor.</a:t>
            </a:r>
            <a:endParaRPr lang="en-US" sz="1500" dirty="0"/>
          </a:p>
        </p:txBody>
      </p:sp>
      <p:sp>
        <p:nvSpPr>
          <p:cNvPr id="8" name="Shape 6"/>
          <p:cNvSpPr/>
          <p:nvPr/>
        </p:nvSpPr>
        <p:spPr>
          <a:xfrm>
            <a:off x="4572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enormous</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Very, very big.</a:t>
            </a:r>
            <a:endParaRPr lang="en-US" sz="1500" dirty="0"/>
          </a:p>
        </p:txBody>
      </p:sp>
      <p:sp>
        <p:nvSpPr>
          <p:cNvPr id="10" name="Shape 8"/>
          <p:cNvSpPr/>
          <p:nvPr/>
        </p:nvSpPr>
        <p:spPr>
          <a:xfrm>
            <a:off x="45720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47091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marvel</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To be amazed or surprised by something.</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Closed syllables and short vowels review</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flat     jump     stamp     desk     name     kite     hope     cute</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closed</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not closed</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Closed syllables and short vowels review — Sorted</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closed</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flat</a:t>
            </a:r>
            <a:endParaRPr lang="en-US" sz="1400" dirty="0"/>
          </a:p>
        </p:txBody>
      </p:sp>
      <p:sp>
        <p:nvSpPr>
          <p:cNvPr id="9" name="Text 7"/>
          <p:cNvSpPr/>
          <p:nvPr/>
        </p:nvSpPr>
        <p:spPr>
          <a:xfrm>
            <a:off x="54864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jump</a:t>
            </a:r>
            <a:endParaRPr lang="en-US" sz="1400" dirty="0"/>
          </a:p>
        </p:txBody>
      </p:sp>
      <p:sp>
        <p:nvSpPr>
          <p:cNvPr id="10" name="Text 8"/>
          <p:cNvSpPr/>
          <p:nvPr/>
        </p:nvSpPr>
        <p:spPr>
          <a:xfrm>
            <a:off x="54864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stamp</a:t>
            </a:r>
            <a:endParaRPr lang="en-US" sz="1400" dirty="0"/>
          </a:p>
        </p:txBody>
      </p:sp>
      <p:sp>
        <p:nvSpPr>
          <p:cNvPr id="11" name="Text 9"/>
          <p:cNvSpPr/>
          <p:nvPr/>
        </p:nvSpPr>
        <p:spPr>
          <a:xfrm>
            <a:off x="54864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desk</a:t>
            </a:r>
            <a:endParaRPr lang="en-US" sz="1400" dirty="0"/>
          </a:p>
        </p:txBody>
      </p:sp>
      <p:sp>
        <p:nvSpPr>
          <p:cNvPr id="12" name="Shape 10"/>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not closed</a:t>
            </a:r>
            <a:endParaRPr lang="en-US" sz="1400" dirty="0"/>
          </a:p>
        </p:txBody>
      </p:sp>
      <p:sp>
        <p:nvSpPr>
          <p:cNvPr id="14" name="Text 12"/>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name</a:t>
            </a:r>
            <a:endParaRPr lang="en-US" sz="1400" dirty="0"/>
          </a:p>
        </p:txBody>
      </p:sp>
      <p:sp>
        <p:nvSpPr>
          <p:cNvPr id="15" name="Text 13"/>
          <p:cNvSpPr/>
          <p:nvPr/>
        </p:nvSpPr>
        <p:spPr>
          <a:xfrm>
            <a:off x="457200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kite</a:t>
            </a:r>
            <a:endParaRPr lang="en-US" sz="1400" dirty="0"/>
          </a:p>
        </p:txBody>
      </p:sp>
      <p:sp>
        <p:nvSpPr>
          <p:cNvPr id="16" name="Text 14"/>
          <p:cNvSpPr/>
          <p:nvPr/>
        </p:nvSpPr>
        <p:spPr>
          <a:xfrm>
            <a:off x="457200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hope</a:t>
            </a:r>
            <a:endParaRPr lang="en-US" sz="1400" dirty="0"/>
          </a:p>
        </p:txBody>
      </p:sp>
      <p:sp>
        <p:nvSpPr>
          <p:cNvPr id="17" name="Text 15"/>
          <p:cNvSpPr/>
          <p:nvPr/>
        </p:nvSpPr>
        <p:spPr>
          <a:xfrm>
            <a:off x="457200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cute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Chapter 1 (opening)</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COPYWORK</a:t>
            </a:r>
            <a:endParaRPr lang="en-US" sz="1100" dirty="0"/>
          </a:p>
        </p:txBody>
      </p:sp>
      <p:sp>
        <p:nvSpPr>
          <p:cNvPr id="5" name="Shape 3"/>
          <p:cNvSpPr/>
          <p:nvPr/>
        </p:nvSpPr>
        <p:spPr>
          <a:xfrm>
            <a:off x="457200" y="1325880"/>
            <a:ext cx="8229600" cy="731520"/>
          </a:xfrm>
          <a:prstGeom prst="roundRect">
            <a:avLst>
              <a:gd name="adj" fmla="val 1250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435608"/>
            <a:ext cx="7863840" cy="5029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Breakfast was ready. “I will go wake the boys,” Mrs. Lambchop said to her husband, George Lambchop.</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Writing Connection</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