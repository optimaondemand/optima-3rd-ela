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 Reading: Chapter 1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preview a book before reading. Today, you will do what good readers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Arthur called from the bedroom he shared with his brother . “Stanley, come here and look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Arthur called from the bedroom he shared with his brother . “Stanley, come here and look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big bulletin board fell., Stanley slid under the door., Arthur called to his brother., Mrs. Lambchop made hot chocolate.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big bulletin board fell., Stanley slid under the door., Arthur called to his brother., Mrs. Lambchop made hot chocolate.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 flat, jump, stamp, desk | not closed: name, kite, hope, 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 flat, jump, stamp, desk | not closed: name, kite, hope, 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Launch: Reading Routines</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55C8E8"/>
                </a:solidFill>
                <a:latin typeface="Calibri" pitchFamily="34" charset="0"/>
                <a:ea typeface="Calibri" pitchFamily="34" charset="-122"/>
                <a:cs typeface="Calibri" pitchFamily="34" charset="-120"/>
              </a:rPr>
              <a:t>Lesson 1.1  ·  Chapter 1 (opening)</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Curiosity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Write about the strangest thing that has ever happened to you. It does not have to be big — just strange.</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Write about the strangest thing that has ever happened to you. It does not have to be big — just strange.</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use a capital letter at the start of each sentence?</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Chapter 1 (opening)</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After reading about the bulletin board falling on Stanley, pause here. How do you think Stanley feels when he wakes up and realizes he is flat? Would you be scared, excited, or something else?</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preview a book before reading. Today, you will do what good readers do:</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"I will go wake the boys," Mrs. Lambchop said to her husband, George Lambchop.</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arthur called from the bedroom he shared with his brother stanley come here and look</a:t>
            </a:r>
            <a:endParaRPr lang="en-US" sz="1700" dirty="0"/>
          </a:p>
        </p:txBody>
      </p:sp>
      <p:sp>
        <p:nvSpPr>
          <p:cNvPr id="9" name="Text 7"/>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both sentences correctly in your notebook.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"I will go wake the boys," Mrs. Lambchop said to her husband, George Lambchop.</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arthur called from the bedroom he shared with his brother stanley come here and look</a:t>
            </a:r>
            <a:endParaRPr lang="en-US" sz="1700" dirty="0"/>
          </a:p>
        </p:txBody>
      </p:sp>
      <p:sp>
        <p:nvSpPr>
          <p:cNvPr id="9" name="Shape 7"/>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1" name="Text 9"/>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Corrected:</a:t>
            </a:r>
            <a:endParaRPr lang="en-US" sz="1400" dirty="0"/>
          </a:p>
          <a:p>
            <a:pPr indent="0" marL="0">
              <a:buNone/>
            </a:pPr>
            <a:endParaRPr lang="en-US" sz="1400" dirty="0"/>
          </a:p>
        </p:txBody>
      </p:sp>
      <p:sp>
        <p:nvSpPr>
          <p:cNvPr id="12" name="Text 10"/>
          <p:cNvSpPr/>
          <p:nvPr/>
        </p:nvSpPr>
        <p:spPr>
          <a:xfrm>
            <a:off x="566928" y="3767328"/>
            <a:ext cx="8010144"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Arthur called from the bedroom he shared with his brother . “Stanley, come here and look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WHAT IS A BASE WORD?</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play — a base word — it means something all by itself</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play + ing = playing — base word play + ending</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re + play = replay — beginning + base word play</a:t>
            </a:r>
            <a:endParaRPr lang="en-US" sz="1500" dirty="0"/>
          </a:p>
        </p:txBody>
      </p:sp>
      <p:sp>
        <p:nvSpPr>
          <p:cNvPr id="11" name="Shape 9"/>
          <p:cNvSpPr/>
          <p:nvPr/>
        </p:nvSpPr>
        <p:spPr>
          <a:xfrm>
            <a:off x="365760" y="3182112"/>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300984"/>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Practice: Find the Base Word!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THIS WEEK'S WORDS</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bulletin  </a:t>
            </a:r>
            <a:pPr indent="0" marL="0">
              <a:buNone/>
            </a:pPr>
            <a:r>
              <a:rPr lang="en-US" sz="1400" dirty="0">
                <a:solidFill>
                  <a:srgbClr val="1E293B"/>
                </a:solidFill>
                <a:latin typeface="Calibri" pitchFamily="34" charset="0"/>
                <a:ea typeface="Calibri" pitchFamily="34" charset="-122"/>
                <a:cs typeface="Calibri" pitchFamily="34" charset="-120"/>
              </a:rPr>
              <a:t>A board where you pin up messages and pictures.</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examined  </a:t>
            </a:r>
            <a:pPr indent="0" marL="0">
              <a:buNone/>
            </a:pPr>
            <a:r>
              <a:rPr lang="en-US" sz="1400" dirty="0">
                <a:solidFill>
                  <a:srgbClr val="1E293B"/>
                </a:solidFill>
                <a:latin typeface="Calibri" pitchFamily="34" charset="0"/>
                <a:ea typeface="Calibri" pitchFamily="34" charset="-122"/>
                <a:cs typeface="Calibri" pitchFamily="34" charset="-120"/>
              </a:rPr>
              <a:t>Looked at very carefully, especially by a doctor.</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enormous  </a:t>
            </a:r>
            <a:pPr indent="0" marL="0">
              <a:buNone/>
            </a:pPr>
            <a:r>
              <a:rPr lang="en-US" sz="1400" dirty="0">
                <a:solidFill>
                  <a:srgbClr val="1E293B"/>
                </a:solidFill>
                <a:latin typeface="Calibri" pitchFamily="34" charset="0"/>
                <a:ea typeface="Calibri" pitchFamily="34" charset="-122"/>
                <a:cs typeface="Calibri" pitchFamily="34" charset="-120"/>
              </a:rPr>
              <a:t>Very, very big.</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marvel  </a:t>
            </a:r>
            <a:pPr indent="0" marL="0">
              <a:buNone/>
            </a:pPr>
            <a:r>
              <a:rPr lang="en-US" sz="1400" dirty="0">
                <a:solidFill>
                  <a:srgbClr val="1E293B"/>
                </a:solidFill>
                <a:latin typeface="Calibri" pitchFamily="34" charset="0"/>
                <a:ea typeface="Calibri" pitchFamily="34" charset="-122"/>
                <a:cs typeface="Calibri" pitchFamily="34" charset="-120"/>
              </a:rPr>
              <a:t>To be amazed or surprised by something.</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COMPLETE SENTENCES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big bulletin board.   |   The big bulletin board fell.</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Stanley slid under the door.   |   Under the closed door.</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Arthur and his brother.   |   Arthur called to his brother.</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Mrs. Lambchop made hot chocolate.   |   Hot chocolate in the morning.</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Tap the group of words that is a complete sentence — it needs someone or something, and something that happened. Tap to check — green means you got it.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COMPLETE SENTENCES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big bulletin board.   |   </a:t>
            </a:r>
            <a:pPr indent="0" marL="0">
              <a:buNone/>
            </a:pPr>
            <a:r>
              <a:rPr lang="en-US" sz="1600" b="1" dirty="0">
                <a:solidFill>
                  <a:srgbClr val="34B76F"/>
                </a:solidFill>
                <a:latin typeface="Calibri" pitchFamily="34" charset="0"/>
                <a:ea typeface="Calibri" pitchFamily="34" charset="-122"/>
                <a:cs typeface="Calibri" pitchFamily="34" charset="-120"/>
              </a:rPr>
              <a:t>The big bulletin board fell.</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Stanley slid under the door.</a:t>
            </a:r>
            <a:pPr indent="0" marL="0">
              <a:buNone/>
            </a:pPr>
            <a:r>
              <a:rPr lang="en-US" sz="1600" dirty="0">
                <a:solidFill>
                  <a:srgbClr val="1E293B"/>
                </a:solidFill>
                <a:latin typeface="Calibri" pitchFamily="34" charset="0"/>
                <a:ea typeface="Calibri" pitchFamily="34" charset="-122"/>
                <a:cs typeface="Calibri" pitchFamily="34" charset="-120"/>
              </a:rPr>
              <a:t>   |   Under the closed door.</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Arthur and his brother.   |   </a:t>
            </a:r>
            <a:pPr indent="0" marL="0">
              <a:buNone/>
            </a:pPr>
            <a:r>
              <a:rPr lang="en-US" sz="1600" b="1" dirty="0">
                <a:solidFill>
                  <a:srgbClr val="34B76F"/>
                </a:solidFill>
                <a:latin typeface="Calibri" pitchFamily="34" charset="0"/>
                <a:ea typeface="Calibri" pitchFamily="34" charset="-122"/>
                <a:cs typeface="Calibri" pitchFamily="34" charset="-120"/>
              </a:rPr>
              <a:t>Arthur called to his brother.</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Mrs. Lambchop made hot chocolate.</a:t>
            </a:r>
            <a:pPr indent="0" marL="0">
              <a:buNone/>
            </a:pPr>
            <a:r>
              <a:rPr lang="en-US" sz="1600" dirty="0">
                <a:solidFill>
                  <a:srgbClr val="1E293B"/>
                </a:solidFill>
                <a:latin typeface="Calibri" pitchFamily="34" charset="0"/>
                <a:ea typeface="Calibri" pitchFamily="34" charset="-122"/>
                <a:cs typeface="Calibri" pitchFamily="34" charset="-120"/>
              </a:rPr>
              <a:t>   |   Hot chocolate in the morning.</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  Answers revealed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CLOSED SYLLABLES AND SHORT VOWELS REVIEW</a:t>
            </a:r>
            <a:endParaRPr lang="en-US" sz="1100" dirty="0"/>
          </a:p>
        </p:txBody>
      </p:sp>
      <p:sp>
        <p:nvSpPr>
          <p:cNvPr id="5" name="Text 3"/>
          <p:cNvSpPr/>
          <p:nvPr/>
        </p:nvSpPr>
        <p:spPr>
          <a:xfrm>
            <a:off x="365760" y="1078992"/>
            <a:ext cx="8229600" cy="237744"/>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6" name="Shape 4"/>
          <p:cNvSpPr/>
          <p:nvPr/>
        </p:nvSpPr>
        <p:spPr>
          <a:xfrm>
            <a:off x="365760" y="1353312"/>
            <a:ext cx="8412480" cy="1005840"/>
          </a:xfrm>
          <a:prstGeom prst="roundRect">
            <a:avLst>
              <a:gd name="adj" fmla="val 9091"/>
            </a:avLst>
          </a:prstGeom>
          <a:solidFill>
            <a:srgbClr val="FFFFFF"/>
          </a:solidFill>
          <a:ln w="19050">
            <a:solidFill>
              <a:srgbClr val="0E1C42"/>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81328"/>
            <a:ext cx="7955280" cy="749808"/>
          </a:xfrm>
          <a:prstGeom prst="rect">
            <a:avLst/>
          </a:prstGeom>
          <a:noFill/>
          <a:ln/>
        </p:spPr>
        <p:txBody>
          <a:bodyPr wrap="square" lIns="0" tIns="0" rIns="0" bIns="0" rtlCol="0" anchor="ctr"/>
          <a:lstStyle/>
          <a:p>
            <a:pPr indent="0" marL="0">
              <a:buNone/>
            </a:pPr>
            <a:r>
              <a:rPr lang="en-US" sz="1700" dirty="0">
                <a:solidFill>
                  <a:srgbClr val="0E1C42"/>
                </a:solidFill>
                <a:latin typeface="Calibri" pitchFamily="34" charset="0"/>
                <a:ea typeface="Calibri" pitchFamily="34" charset="-122"/>
                <a:cs typeface="Calibri" pitchFamily="34" charset="-120"/>
              </a:rPr>
              <a:t>flat   ·   jump   ·   stamp   ·   desk   ·   name   ·   kite   ·   hope   ·   cute</a:t>
            </a:r>
            <a:endParaRPr lang="en-US" sz="1700" dirty="0"/>
          </a:p>
        </p:txBody>
      </p:sp>
      <p:sp>
        <p:nvSpPr>
          <p:cNvPr id="8" name="Text 6"/>
          <p:cNvSpPr/>
          <p:nvPr/>
        </p:nvSpPr>
        <p:spPr>
          <a:xfrm>
            <a:off x="365760" y="2514600"/>
            <a:ext cx="8412480" cy="45720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Which column does each word belong in?  Columns: closed  |  not closed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CLOSED SYLLABLES AND SHORT VOWELS REVIEW</a:t>
            </a:r>
            <a:endParaRPr lang="en-US" sz="1100" dirty="0"/>
          </a:p>
        </p:txBody>
      </p:sp>
      <p:sp>
        <p:nvSpPr>
          <p:cNvPr id="5" name="Shape 3"/>
          <p:cNvSpPr/>
          <p:nvPr/>
        </p:nvSpPr>
        <p:spPr>
          <a:xfrm>
            <a:off x="411480" y="1078992"/>
            <a:ext cx="4114800" cy="457200"/>
          </a:xfrm>
          <a:prstGeom prst="roundRect">
            <a:avLst>
              <a:gd name="adj" fmla="val 16000"/>
            </a:avLst>
          </a:prstGeom>
          <a:solidFill>
            <a:srgbClr val="0E1C42"/>
          </a:solidFill>
          <a:ln/>
        </p:spPr>
      </p:sp>
      <p:sp>
        <p:nvSpPr>
          <p:cNvPr id="6" name="Text 4"/>
          <p:cNvSpPr/>
          <p:nvPr/>
        </p:nvSpPr>
        <p:spPr>
          <a:xfrm>
            <a:off x="45720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closed</a:t>
            </a:r>
            <a:endParaRPr lang="en-US" sz="1300" dirty="0"/>
          </a:p>
        </p:txBody>
      </p:sp>
      <p:sp>
        <p:nvSpPr>
          <p:cNvPr id="7" name="Shape 5"/>
          <p:cNvSpPr/>
          <p:nvPr/>
        </p:nvSpPr>
        <p:spPr>
          <a:xfrm>
            <a:off x="41148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0292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flat</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jump</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stamp</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desk</a:t>
            </a:r>
            <a:endParaRPr lang="en-US" sz="1400" dirty="0"/>
          </a:p>
        </p:txBody>
      </p:sp>
      <p:sp>
        <p:nvSpPr>
          <p:cNvPr id="9" name="Shape 7"/>
          <p:cNvSpPr/>
          <p:nvPr/>
        </p:nvSpPr>
        <p:spPr>
          <a:xfrm>
            <a:off x="4617720" y="1078992"/>
            <a:ext cx="4114800" cy="457200"/>
          </a:xfrm>
          <a:prstGeom prst="roundRect">
            <a:avLst>
              <a:gd name="adj" fmla="val 16000"/>
            </a:avLst>
          </a:prstGeom>
          <a:solidFill>
            <a:srgbClr val="0E1C42"/>
          </a:solidFill>
          <a:ln/>
        </p:spPr>
      </p:sp>
      <p:sp>
        <p:nvSpPr>
          <p:cNvPr id="10" name="Text 8"/>
          <p:cNvSpPr/>
          <p:nvPr/>
        </p:nvSpPr>
        <p:spPr>
          <a:xfrm>
            <a:off x="466344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not closed</a:t>
            </a:r>
            <a:endParaRPr lang="en-US" sz="1300" dirty="0"/>
          </a:p>
        </p:txBody>
      </p:sp>
      <p:sp>
        <p:nvSpPr>
          <p:cNvPr id="11" name="Shape 9"/>
          <p:cNvSpPr/>
          <p:nvPr/>
        </p:nvSpPr>
        <p:spPr>
          <a:xfrm>
            <a:off x="461772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470916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name</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kite</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hope</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cute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Chapter 1 (opening)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“Breakfast was ready. “I will go wake the boys,” Mrs. Lambchop said to her husband, George Lambchop.”</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After reading about the bulletin board falling on Stanley, pause here. How do you think Stanley feels when he wakes up and realizes he is flat? Would you be scared, excited, or something else?</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Arthur shouts for his parents. What do you think he saw?</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SEED IDEAS</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Find your small moment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2026-09-07T02:56:15Z</dcterms:created>
  <dcterms:modified xsi:type="dcterms:W3CDTF">2026-09-07T02:56:15Z</dcterms:modified>
</cp:coreProperties>
</file>