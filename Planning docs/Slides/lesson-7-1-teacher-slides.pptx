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slide for Week 7 Day 1. Nonfiction Unit.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once. Give students about 1 minute to read it again silently and think. Remind them: there is no wrong answer — just write what comes to mind. Advance to the writing slide when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5-minute timer. Walk the room quietly. If a student stops, gently encourage them: "Keep writing — even one more sentence." The goal is sustained writing, not perfection. Do not interrupt to correct spelling or grammar during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a 1-minute timer. Remind students: we are only fixing ONE thing today — Did I explain both a challenge AND something fun, not just one?. They should also do a quick conventions check (capitals, punctuation, spelling). They do NOT need to rewrite — just fix and improve. Revision = improving ideas; Editing = fixing conventions. Keep them separate in your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on 3-5 students to share. Respond with genuine interest: "I love how you described that" or "That's a really interesting idea." Avoid correcting grammar or spelling during share time — this is about celebrating writing. If time is short, have 2-3 students share in chat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big question and reading lens with students before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model sentence aloud. Ask students: what do you notice about the punctuation and capitalization?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1-2 minutes to fix the sentence. Walk the room and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 corrected version. Point out each fix: capitalization, punctuation, spelling.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morphology focus. Have students identify the base word and affix in each example.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vocabulary word. For flip cards, have students guess the definition before revealing.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sort the words. Use the chat or paper to organize.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each column. Ask: what pattern do you see in each group?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focus slide. Use pause-and-think questions during reading. Copywork can be done after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to the writing workshop assignment in Canvas.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A2E"/>
        </a:solidFill>
      </p:bgPr>
    </p:bg>
    <p:spTree>
      <p:nvGrpSpPr>
        <p:cNvPr id="1" name=""/>
        <p:cNvGrpSpPr/>
        <p:nvPr/>
      </p:nvGrpSpPr>
      <p:grpSpPr>
        <a:xfrm>
          <a:off x="0" y="0"/>
          <a:ext cx="0" cy="0"/>
          <a:chOff x="0" y="0"/>
          <a:chExt cx="0" cy="0"/>
        </a:xfrm>
      </p:grpSpPr>
      <p:sp>
        <p:nvSpPr>
          <p:cNvPr id="2" name="Text 0"/>
          <p:cNvSpPr/>
          <p:nvPr/>
        </p:nvSpPr>
        <p:spPr>
          <a:xfrm>
            <a:off x="457200" y="914400"/>
            <a:ext cx="8229600" cy="1097280"/>
          </a:xfrm>
          <a:prstGeom prst="rect">
            <a:avLst/>
          </a:prstGeom>
          <a:noFill/>
          <a:ln/>
        </p:spPr>
        <p:txBody>
          <a:bodyPr wrap="square" lIns="0" tIns="0" rIns="0" bIns="0" rtlCol="0" anchor="ctr"/>
          <a:lstStyle/>
          <a:p>
            <a:pPr algn="ctr" indent="0" marL="0">
              <a:buNone/>
            </a:pPr>
            <a:r>
              <a:rPr lang="en-US" sz="4000" b="1" dirty="0">
                <a:solidFill>
                  <a:srgbClr val="FFFFFF"/>
                </a:solidFill>
                <a:latin typeface="Calibri" pitchFamily="34" charset="0"/>
                <a:ea typeface="Calibri" pitchFamily="34" charset="-122"/>
                <a:cs typeface="Calibri" pitchFamily="34" charset="-120"/>
              </a:rPr>
              <a:t>🗺️  Week 7 · Day 1</a:t>
            </a:r>
            <a:endParaRPr lang="en-US" sz="4000" dirty="0"/>
          </a:p>
        </p:txBody>
      </p:sp>
      <p:sp>
        <p:nvSpPr>
          <p:cNvPr id="3" name="Text 1"/>
          <p:cNvSpPr/>
          <p:nvPr/>
        </p:nvSpPr>
        <p:spPr>
          <a:xfrm>
            <a:off x="457200" y="2103120"/>
            <a:ext cx="8229600" cy="731520"/>
          </a:xfrm>
          <a:prstGeom prst="rect">
            <a:avLst/>
          </a:prstGeom>
          <a:noFill/>
          <a:ln/>
        </p:spPr>
        <p:txBody>
          <a:bodyPr wrap="square" lIns="0" tIns="0" rIns="0" bIns="0" rtlCol="0" anchor="ctr"/>
          <a:lstStyle/>
          <a:p>
            <a:pPr algn="ctr" indent="0" marL="0">
              <a:buNone/>
            </a:pPr>
            <a:r>
              <a:rPr lang="en-US" sz="1800" dirty="0">
                <a:solidFill>
                  <a:srgbClr val="5CB85C"/>
                </a:solidFill>
                <a:latin typeface="Calibri" pitchFamily="34" charset="0"/>
                <a:ea typeface="Calibri" pitchFamily="34" charset="-122"/>
                <a:cs typeface="Calibri" pitchFamily="34" charset="-120"/>
              </a:rPr>
              <a:t>Nonfiction Unit — Lesson 7.1</a:t>
            </a:r>
            <a:endParaRPr lang="en-US" sz="1800" dirty="0"/>
          </a:p>
        </p:txBody>
      </p:sp>
      <p:sp>
        <p:nvSpPr>
          <p:cNvPr id="4" name="Text 2"/>
          <p:cNvSpPr/>
          <p:nvPr/>
        </p:nvSpPr>
        <p:spPr>
          <a:xfrm>
            <a:off x="457200" y="4114800"/>
            <a:ext cx="8229600" cy="457200"/>
          </a:xfrm>
          <a:prstGeom prst="rect">
            <a:avLst/>
          </a:prstGeom>
          <a:noFill/>
          <a:ln/>
        </p:spPr>
        <p:txBody>
          <a:bodyPr wrap="square" lIns="0" tIns="0" rIns="0" bIns="0" rtlCol="0" anchor="ctr"/>
          <a:lstStyle/>
          <a:p>
            <a:pPr algn="ctr" indent="0" marL="0">
              <a:buNone/>
            </a:pPr>
            <a:r>
              <a:rPr lang="en-US" sz="1300" dirty="0">
                <a:solidFill>
                  <a:srgbClr val="AAAAAA"/>
                </a:solidFill>
                <a:latin typeface="Calibri" pitchFamily="34" charset="0"/>
                <a:ea typeface="Calibri" pitchFamily="34" charset="-122"/>
                <a:cs typeface="Calibri" pitchFamily="34" charset="-120"/>
              </a:rPr>
              <a:t>Optima Academy Online · 3rd Grade ELA</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10-Minute Write</a:t>
            </a:r>
            <a:endParaRPr lang="en-US" sz="2800" dirty="0"/>
          </a:p>
        </p:txBody>
      </p:sp>
      <p:sp>
        <p:nvSpPr>
          <p:cNvPr id="3" name="Shape 1"/>
          <p:cNvSpPr/>
          <p:nvPr/>
        </p:nvSpPr>
        <p:spPr>
          <a:xfrm>
            <a:off x="365760" y="749808"/>
            <a:ext cx="8412480" cy="0"/>
          </a:xfrm>
          <a:prstGeom prst="line">
            <a:avLst/>
          </a:prstGeom>
          <a:noFill/>
          <a:ln w="19050">
            <a:solidFill>
              <a:srgbClr val="C7922C"/>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 READ THE PROMPT — 1 MINUTE</a:t>
            </a:r>
            <a:endParaRPr lang="en-US" sz="1100" dirty="0"/>
          </a:p>
        </p:txBody>
      </p:sp>
      <p:sp>
        <p:nvSpPr>
          <p:cNvPr id="5" name="Shape 3"/>
          <p:cNvSpPr/>
          <p:nvPr/>
        </p:nvSpPr>
        <p:spPr>
          <a:xfrm>
            <a:off x="457200" y="1417320"/>
            <a:ext cx="8229600" cy="1645920"/>
          </a:xfrm>
          <a:prstGeom prst="roundRect">
            <a:avLst>
              <a:gd name="adj" fmla="val 555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640080" y="1527048"/>
            <a:ext cx="7863840" cy="14173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Hundreds of years ago, people sent messages by horse, by pigeon, or even by drum! Pick one old way of sending messages and imagine using it today. What would be hard about it? What might be fun?</a:t>
            </a:r>
            <a:endParaRPr lang="en-US" sz="1800" dirty="0"/>
          </a:p>
        </p:txBody>
      </p:sp>
      <p:sp>
        <p:nvSpPr>
          <p:cNvPr id="7" name="Text 5"/>
          <p:cNvSpPr/>
          <p:nvPr/>
        </p:nvSpPr>
        <p:spPr>
          <a:xfrm>
            <a:off x="640080" y="3246120"/>
            <a:ext cx="7863840" cy="457200"/>
          </a:xfrm>
          <a:prstGeom prst="rect">
            <a:avLst/>
          </a:prstGeom>
          <a:noFill/>
          <a:ln/>
        </p:spPr>
        <p:txBody>
          <a:bodyPr wrap="square" lIns="0" tIns="0" rIns="0" bIns="0" rtlCol="0" anchor="ctr"/>
          <a:lstStyle/>
          <a:p>
            <a:pPr indent="0" marL="0">
              <a:buNone/>
            </a:pPr>
            <a:r>
              <a:rPr lang="en-US" sz="1400" b="1" dirty="0">
                <a:solidFill>
                  <a:srgbClr val="0E1C42"/>
                </a:solidFill>
                <a:latin typeface="Calibri" pitchFamily="34" charset="0"/>
                <a:ea typeface="Calibri" pitchFamily="34" charset="-122"/>
                <a:cs typeface="Calibri" pitchFamily="34" charset="-120"/>
              </a:rPr>
              <a:t>Type in the chat </a:t>
            </a:r>
            <a:pPr indent="0" marL="0">
              <a:buNone/>
            </a:pPr>
            <a:r>
              <a:rPr lang="en-US" sz="1400" dirty="0">
                <a:solidFill>
                  <a:srgbClr val="1E293B"/>
                </a:solidFill>
                <a:latin typeface="Calibri" pitchFamily="34" charset="0"/>
                <a:ea typeface="Calibri" pitchFamily="34" charset="-122"/>
                <a:cs typeface="Calibri" pitchFamily="34" charset="-120"/>
              </a:rPr>
              <a:t>or </a:t>
            </a:r>
            <a:pPr indent="0" marL="0">
              <a:buNone/>
            </a:pPr>
            <a:r>
              <a:rPr lang="en-US" sz="1400" b="1" dirty="0">
                <a:solidFill>
                  <a:srgbClr val="0E1C42"/>
                </a:solidFill>
                <a:latin typeface="Calibri" pitchFamily="34" charset="0"/>
                <a:ea typeface="Calibri" pitchFamily="34" charset="-122"/>
                <a:cs typeface="Calibri" pitchFamily="34" charset="-120"/>
              </a:rPr>
              <a:t>write on paper</a:t>
            </a:r>
            <a:pPr indent="0" marL="0">
              <a:buNone/>
            </a:pPr>
            <a:r>
              <a:rPr lang="en-US" sz="1400" dirty="0">
                <a:solidFill>
                  <a:srgbClr val="1E293B"/>
                </a:solidFill>
                <a:latin typeface="Calibri" pitchFamily="34" charset="0"/>
                <a:ea typeface="Calibri" pitchFamily="34" charset="-122"/>
                <a:cs typeface="Calibri" pitchFamily="34" charset="-120"/>
              </a:rPr>
              <a:t> to hold up when we share.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Text 0"/>
          <p:cNvSpPr/>
          <p:nvPr/>
        </p:nvSpPr>
        <p:spPr>
          <a:xfrm>
            <a:off x="457200" y="228600"/>
            <a:ext cx="82296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  Writing Time</a:t>
            </a:r>
            <a:endParaRPr lang="en-US" sz="3200" dirty="0"/>
          </a:p>
        </p:txBody>
      </p:sp>
      <p:sp>
        <p:nvSpPr>
          <p:cNvPr id="3" name="Text 1"/>
          <p:cNvSpPr/>
          <p:nvPr/>
        </p:nvSpPr>
        <p:spPr>
          <a:xfrm>
            <a:off x="914400" y="822960"/>
            <a:ext cx="7315200" cy="365760"/>
          </a:xfrm>
          <a:prstGeom prst="rect">
            <a:avLst/>
          </a:prstGeom>
          <a:noFill/>
          <a:ln/>
        </p:spPr>
        <p:txBody>
          <a:bodyPr wrap="square" lIns="0" tIns="0" rIns="0" bIns="0" rtlCol="0" anchor="ctr"/>
          <a:lstStyle/>
          <a:p>
            <a:pPr algn="ctr" indent="0" marL="0">
              <a:buNone/>
            </a:pPr>
            <a:r>
              <a:rPr lang="en-US" sz="1600" dirty="0">
                <a:solidFill>
                  <a:srgbClr val="C7922C"/>
                </a:solidFill>
                <a:latin typeface="Calibri" pitchFamily="34" charset="0"/>
                <a:ea typeface="Calibri" pitchFamily="34" charset="-122"/>
                <a:cs typeface="Calibri" pitchFamily="34" charset="-120"/>
              </a:rPr>
              <a:t>5 minutes — keep your pencil moving!</a:t>
            </a:r>
            <a:endParaRPr lang="en-US" sz="1600" dirty="0"/>
          </a:p>
        </p:txBody>
      </p:sp>
      <p:sp>
        <p:nvSpPr>
          <p:cNvPr id="4" name="Shape 2"/>
          <p:cNvSpPr/>
          <p:nvPr/>
        </p:nvSpPr>
        <p:spPr>
          <a:xfrm>
            <a:off x="457200" y="1371600"/>
            <a:ext cx="8229600" cy="1280160"/>
          </a:xfrm>
          <a:prstGeom prst="roundRect">
            <a:avLst>
              <a:gd name="adj" fmla="val 7143"/>
            </a:avLst>
          </a:prstGeom>
          <a:solidFill>
            <a:srgbClr val="FFFFFF"/>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417320"/>
            <a:ext cx="7863840" cy="1188720"/>
          </a:xfrm>
          <a:prstGeom prst="rect">
            <a:avLst/>
          </a:prstGeom>
          <a:noFill/>
          <a:ln/>
        </p:spPr>
        <p:txBody>
          <a:bodyPr wrap="square" lIns="0" tIns="0" rIns="0" bIns="0" rtlCol="0" anchor="t"/>
          <a:lstStyle/>
          <a:p>
            <a:pPr indent="0" marL="0">
              <a:buNone/>
            </a:pPr>
            <a:r>
              <a:rPr lang="en-US" sz="1200" b="1" dirty="0">
                <a:solidFill>
                  <a:srgbClr val="C7922C"/>
                </a:solidFill>
                <a:latin typeface="Calibri" pitchFamily="34" charset="0"/>
                <a:ea typeface="Calibri" pitchFamily="34" charset="-122"/>
                <a:cs typeface="Calibri" pitchFamily="34" charset="-120"/>
              </a:rPr>
              <a:t>📖 Prompt: </a:t>
            </a:r>
            <a:pPr indent="0" marL="0">
              <a:buNone/>
            </a:pPr>
            <a:r>
              <a:rPr lang="en-US" sz="1200" i="1" dirty="0">
                <a:solidFill>
                  <a:srgbClr val="1E293B"/>
                </a:solidFill>
                <a:latin typeface="Calibri" pitchFamily="34" charset="0"/>
                <a:ea typeface="Calibri" pitchFamily="34" charset="-122"/>
                <a:cs typeface="Calibri" pitchFamily="34" charset="-120"/>
              </a:rPr>
              <a:t>Hundreds of years ago, people sent messages by horse, by pigeon, or even by drum! Pick one old way of sending messages and imagine using it today. What would be hard about it? What might be fun?</a:t>
            </a:r>
            <a:endParaRPr lang="en-US" sz="1200" dirty="0"/>
          </a:p>
        </p:txBody>
      </p:sp>
      <p:sp>
        <p:nvSpPr>
          <p:cNvPr id="6" name="Shape 4"/>
          <p:cNvSpPr/>
          <p:nvPr/>
        </p:nvSpPr>
        <p:spPr>
          <a:xfrm>
            <a:off x="2286000" y="2926080"/>
            <a:ext cx="4572000" cy="1280160"/>
          </a:xfrm>
          <a:prstGeom prst="roundRect">
            <a:avLst>
              <a:gd name="adj" fmla="val 8571"/>
            </a:avLst>
          </a:prstGeom>
          <a:solidFill>
            <a:srgbClr val="FFFFFF"/>
          </a:solidFill>
          <a:ln/>
          <a:effectLst>
            <a:outerShdw sx="100000" sy="100000" kx="0" ky="0" algn="bl" rotWithShape="0" blurRad="101600" dist="38100" dir="2700000">
              <a:srgbClr val="000000">
                <a:alpha val="12000"/>
              </a:srgbClr>
            </a:outerShdw>
          </a:effectLst>
        </p:spPr>
      </p:sp>
      <p:sp>
        <p:nvSpPr>
          <p:cNvPr id="7" name="Text 5"/>
          <p:cNvSpPr/>
          <p:nvPr/>
        </p:nvSpPr>
        <p:spPr>
          <a:xfrm>
            <a:off x="2468880" y="3017520"/>
            <a:ext cx="4206240" cy="1097280"/>
          </a:xfrm>
          <a:prstGeom prst="rect">
            <a:avLst/>
          </a:prstGeom>
          <a:noFill/>
          <a:ln/>
        </p:spPr>
        <p:txBody>
          <a:bodyPr wrap="square" lIns="0" tIns="0" rIns="0" bIns="0" rtlCol="0" anchor="t"/>
          <a:lstStyle/>
          <a:p>
            <a:pPr indent="0" marL="0">
              <a:buNone/>
            </a:pPr>
            <a:r>
              <a:rPr lang="en-US" sz="1400" b="1" dirty="0">
                <a:solidFill>
                  <a:srgbClr val="0E1C42"/>
                </a:solidFill>
                <a:latin typeface="Calibri" pitchFamily="34" charset="0"/>
                <a:ea typeface="Calibri" pitchFamily="34" charset="-122"/>
                <a:cs typeface="Calibri" pitchFamily="34" charset="-120"/>
              </a:rPr>
              <a:t>If you get stuck:
</a:t>
            </a:r>
            <a:pPr indent="0" marL="0">
              <a:buNone/>
            </a:pPr>
            <a:r>
              <a:rPr lang="en-US" sz="1300" dirty="0">
                <a:solidFill>
                  <a:srgbClr val="1E293B"/>
                </a:solidFill>
                <a:latin typeface="Calibri" pitchFamily="34" charset="0"/>
                <a:ea typeface="Calibri" pitchFamily="34" charset="-122"/>
                <a:cs typeface="Calibri" pitchFamily="34" charset="-120"/>
              </a:rPr>
              <a:t>• Reread the prompt above
</a:t>
            </a:r>
            <a:pPr indent="0" marL="0">
              <a:buNone/>
            </a:pPr>
            <a:r>
              <a:rPr lang="en-US" sz="1300" dirty="0">
                <a:solidFill>
                  <a:srgbClr val="1E293B"/>
                </a:solidFill>
                <a:latin typeface="Calibri" pitchFamily="34" charset="0"/>
                <a:ea typeface="Calibri" pitchFamily="34" charset="-122"/>
                <a:cs typeface="Calibri" pitchFamily="34" charset="-120"/>
              </a:rPr>
              <a:t>• Write "I'm thinking..." until a new idea comes
</a:t>
            </a:r>
            <a:pPr indent="0" marL="0">
              <a:buNone/>
            </a:pPr>
            <a:r>
              <a:rPr lang="en-US" sz="1300" dirty="0">
                <a:solidFill>
                  <a:srgbClr val="1E293B"/>
                </a:solidFill>
                <a:latin typeface="Calibri" pitchFamily="34" charset="0"/>
                <a:ea typeface="Calibri" pitchFamily="34" charset="-122"/>
                <a:cs typeface="Calibri" pitchFamily="34" charset="-120"/>
              </a:rPr>
              <a:t>• Keep going — don't erase!</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Text 0"/>
          <p:cNvSpPr/>
          <p:nvPr/>
        </p:nvSpPr>
        <p:spPr>
          <a:xfrm>
            <a:off x="3657600" y="365760"/>
            <a:ext cx="1828800" cy="640080"/>
          </a:xfrm>
          <a:prstGeom prst="rect">
            <a:avLst/>
          </a:prstGeom>
          <a:noFill/>
          <a:ln/>
        </p:spPr>
        <p:txBody>
          <a:bodyPr wrap="square" lIns="0" tIns="0" rIns="0" bIns="0" rtlCol="0" anchor="ctr"/>
          <a:lstStyle/>
          <a:p>
            <a:pPr algn="ctr" indent="0" marL="0">
              <a:buNone/>
            </a:pPr>
            <a:r>
              <a:rPr lang="en-US" sz="4000" dirty="0">
                <a:solidFill>
                  <a:srgbClr val="000000"/>
                </a:solidFill>
              </a:rPr>
              <a:t>🔍</a:t>
            </a:r>
            <a:endParaRPr lang="en-US" sz="4000" dirty="0"/>
          </a:p>
        </p:txBody>
      </p:sp>
      <p:sp>
        <p:nvSpPr>
          <p:cNvPr id="3" name="Text 1"/>
          <p:cNvSpPr/>
          <p:nvPr/>
        </p:nvSpPr>
        <p:spPr>
          <a:xfrm>
            <a:off x="914400" y="914400"/>
            <a:ext cx="7315200" cy="640080"/>
          </a:xfrm>
          <a:prstGeom prst="rect">
            <a:avLst/>
          </a:prstGeom>
          <a:noFill/>
          <a:ln/>
        </p:spPr>
        <p:txBody>
          <a:bodyPr wrap="square" lIns="0" tIns="0" rIns="0" bIns="0" rtlCol="0" anchor="ctr"/>
          <a:lstStyle/>
          <a:p>
            <a:pPr algn="ctr" indent="0" marL="0">
              <a:buNone/>
            </a:pPr>
            <a:r>
              <a:rPr lang="en-US" sz="3200" b="1" dirty="0">
                <a:solidFill>
                  <a:srgbClr val="0E1C42"/>
                </a:solidFill>
                <a:latin typeface="Calibri" pitchFamily="34" charset="0"/>
                <a:ea typeface="Calibri" pitchFamily="34" charset="-122"/>
                <a:cs typeface="Calibri" pitchFamily="34" charset="-120"/>
              </a:rPr>
              <a:t>Edit &amp; Revise</a:t>
            </a:r>
            <a:endParaRPr lang="en-US" sz="3200" dirty="0"/>
          </a:p>
        </p:txBody>
      </p:sp>
      <p:sp>
        <p:nvSpPr>
          <p:cNvPr id="4" name="Text 2"/>
          <p:cNvSpPr/>
          <p:nvPr/>
        </p:nvSpPr>
        <p:spPr>
          <a:xfrm>
            <a:off x="914400" y="1508760"/>
            <a:ext cx="7315200" cy="457200"/>
          </a:xfrm>
          <a:prstGeom prst="rect">
            <a:avLst/>
          </a:prstGeom>
          <a:noFill/>
          <a:ln/>
        </p:spPr>
        <p:txBody>
          <a:bodyPr wrap="square" lIns="0" tIns="0" rIns="0" bIns="0" rtlCol="0" anchor="ctr"/>
          <a:lstStyle/>
          <a:p>
            <a:pPr algn="ctr" indent="0" marL="0">
              <a:buNone/>
            </a:pPr>
            <a:r>
              <a:rPr lang="en-US" sz="1600" dirty="0">
                <a:solidFill>
                  <a:srgbClr val="34B76F"/>
                </a:solidFill>
                <a:latin typeface="Calibri" pitchFamily="34" charset="0"/>
                <a:ea typeface="Calibri" pitchFamily="34" charset="-122"/>
                <a:cs typeface="Calibri" pitchFamily="34" charset="-120"/>
              </a:rPr>
              <a:t>1 minute — pick ONE thing to fix</a:t>
            </a:r>
            <a:endParaRPr lang="en-US" sz="1600" dirty="0"/>
          </a:p>
        </p:txBody>
      </p:sp>
      <p:sp>
        <p:nvSpPr>
          <p:cNvPr id="5" name="Shape 3"/>
          <p:cNvSpPr/>
          <p:nvPr/>
        </p:nvSpPr>
        <p:spPr>
          <a:xfrm>
            <a:off x="1371600" y="2103120"/>
            <a:ext cx="6400800" cy="640080"/>
          </a:xfrm>
          <a:prstGeom prst="roundRect">
            <a:avLst>
              <a:gd name="adj" fmla="val 14286"/>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1554480" y="2148840"/>
            <a:ext cx="6035040" cy="548640"/>
          </a:xfrm>
          <a:prstGeom prst="rect">
            <a:avLst/>
          </a:prstGeom>
          <a:noFill/>
          <a:ln/>
        </p:spPr>
        <p:txBody>
          <a:bodyPr wrap="square" lIns="0" tIns="0" rIns="0" bIns="0" rtlCol="0" anchor="ctr"/>
          <a:lstStyle/>
          <a:p>
            <a:pPr indent="0" marL="0">
              <a:buNone/>
            </a:pPr>
            <a:r>
              <a:rPr lang="en-US" sz="1400" b="1" dirty="0">
                <a:solidFill>
                  <a:srgbClr val="34B76F"/>
                </a:solidFill>
                <a:latin typeface="Calibri" pitchFamily="34" charset="0"/>
                <a:ea typeface="Calibri" pitchFamily="34" charset="-122"/>
                <a:cs typeface="Calibri" pitchFamily="34" charset="-120"/>
              </a:rPr>
              <a:t>Today's check: </a:t>
            </a:r>
            <a:pPr indent="0" marL="0">
              <a:buNone/>
            </a:pPr>
            <a:r>
              <a:rPr lang="en-US" sz="1400" dirty="0">
                <a:solidFill>
                  <a:srgbClr val="1E293B"/>
                </a:solidFill>
                <a:latin typeface="Calibri" pitchFamily="34" charset="0"/>
                <a:ea typeface="Calibri" pitchFamily="34" charset="-122"/>
                <a:cs typeface="Calibri" pitchFamily="34" charset="-120"/>
              </a:rPr>
              <a:t>Did I explain both a challenge AND something fun, not just one?</a:t>
            </a:r>
            <a:endParaRPr lang="en-US" sz="1400" dirty="0"/>
          </a:p>
        </p:txBody>
      </p:sp>
      <p:sp>
        <p:nvSpPr>
          <p:cNvPr id="7" name="Shape 5"/>
          <p:cNvSpPr/>
          <p:nvPr/>
        </p:nvSpPr>
        <p:spPr>
          <a:xfrm>
            <a:off x="1371600" y="2926080"/>
            <a:ext cx="6400800" cy="1463040"/>
          </a:xfrm>
          <a:prstGeom prst="roundRect">
            <a:avLst>
              <a:gd name="adj" fmla="val 6250"/>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1554480" y="3017520"/>
            <a:ext cx="6035040" cy="1280160"/>
          </a:xfrm>
          <a:prstGeom prst="rect">
            <a:avLst/>
          </a:prstGeom>
          <a:noFill/>
          <a:ln/>
        </p:spPr>
        <p:txBody>
          <a:bodyPr wrap="square" lIns="0" tIns="0" rIns="0" bIns="0" rtlCol="0" anchor="t"/>
          <a:lstStyle/>
          <a:p>
            <a:pPr indent="0" marL="0">
              <a:spcAft>
                <a:spcPts val="200"/>
              </a:spcAft>
              <a:buNone/>
            </a:pPr>
            <a:r>
              <a:rPr lang="en-US" sz="1300" b="1" dirty="0">
                <a:solidFill>
                  <a:srgbClr val="0E1C42"/>
                </a:solidFill>
                <a:latin typeface="Calibri" pitchFamily="34" charset="0"/>
                <a:ea typeface="Calibri" pitchFamily="34" charset="-122"/>
                <a:cs typeface="Calibri" pitchFamily="34" charset="-120"/>
              </a:rPr>
              <a:t>Quick check: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Capital letters at the start of every sentence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End punctuation ( .  ?  ! )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Spelling — circle any words that look wrong
</a:t>
            </a:r>
            <a:pPr indent="0" marL="0">
              <a:spcAft>
                <a:spcPts val="200"/>
              </a:spcAft>
              <a:buNone/>
            </a:pPr>
            <a:r>
              <a:rPr lang="en-US" sz="1200" dirty="0">
                <a:solidFill>
                  <a:srgbClr val="1E293B"/>
                </a:solidFill>
                <a:latin typeface="Calibri" pitchFamily="34" charset="0"/>
                <a:ea typeface="Calibri" pitchFamily="34" charset="-122"/>
                <a:cs typeface="Calibri" pitchFamily="34" charset="-120"/>
              </a:rPr>
              <a:t>□ Read it quietly to yourself — does it sound right?</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0" y="457200"/>
            <a:ext cx="1828800" cy="731520"/>
          </a:xfrm>
          <a:prstGeom prst="rect">
            <a:avLst/>
          </a:prstGeom>
          <a:noFill/>
          <a:ln/>
        </p:spPr>
        <p:txBody>
          <a:bodyPr wrap="square" lIns="0" tIns="0" rIns="0" bIns="0" rtlCol="0" anchor="ctr"/>
          <a:lstStyle/>
          <a:p>
            <a:pPr algn="ctr" indent="0" marL="0">
              <a:buNone/>
            </a:pPr>
            <a:r>
              <a:rPr lang="en-US" sz="4400" dirty="0">
                <a:solidFill>
                  <a:srgbClr val="000000"/>
                </a:solidFill>
              </a:rPr>
              <a:t>🗣️</a:t>
            </a:r>
            <a:endParaRPr lang="en-US" sz="4400" dirty="0"/>
          </a:p>
        </p:txBody>
      </p:sp>
      <p:sp>
        <p:nvSpPr>
          <p:cNvPr id="3" name="Text 1"/>
          <p:cNvSpPr/>
          <p:nvPr/>
        </p:nvSpPr>
        <p:spPr>
          <a:xfrm>
            <a:off x="914400" y="1097280"/>
            <a:ext cx="7315200" cy="640080"/>
          </a:xfrm>
          <a:prstGeom prst="rect">
            <a:avLst/>
          </a:prstGeom>
          <a:noFill/>
          <a:ln/>
        </p:spPr>
        <p:txBody>
          <a:bodyPr wrap="square" lIns="0" tIns="0" rIns="0" bIns="0" rtlCol="0" anchor="ctr"/>
          <a:lstStyle/>
          <a:p>
            <a:pPr algn="ctr" indent="0" marL="0">
              <a:buNone/>
            </a:pPr>
            <a:r>
              <a:rPr lang="en-US" sz="3400" b="1" dirty="0">
                <a:solidFill>
                  <a:srgbClr val="0E1C42"/>
                </a:solidFill>
                <a:latin typeface="Calibri" pitchFamily="34" charset="0"/>
                <a:ea typeface="Calibri" pitchFamily="34" charset="-122"/>
                <a:cs typeface="Calibri" pitchFamily="34" charset="-120"/>
              </a:rPr>
              <a:t>Share Time</a:t>
            </a:r>
            <a:endParaRPr lang="en-US" sz="3400" dirty="0"/>
          </a:p>
        </p:txBody>
      </p:sp>
      <p:sp>
        <p:nvSpPr>
          <p:cNvPr id="4" name="Text 2"/>
          <p:cNvSpPr/>
          <p:nvPr/>
        </p:nvSpPr>
        <p:spPr>
          <a:xfrm>
            <a:off x="914400" y="1737360"/>
            <a:ext cx="7315200" cy="457200"/>
          </a:xfrm>
          <a:prstGeom prst="rect">
            <a:avLst/>
          </a:prstGeom>
          <a:noFill/>
          <a:ln/>
        </p:spPr>
        <p:txBody>
          <a:bodyPr wrap="square" lIns="0" tIns="0" rIns="0" bIns="0" rtlCol="0" anchor="ctr"/>
          <a:lstStyle/>
          <a:p>
            <a:pPr algn="ctr" indent="0" marL="0">
              <a:buNone/>
            </a:pPr>
            <a:r>
              <a:rPr lang="en-US" sz="1700" dirty="0">
                <a:solidFill>
                  <a:srgbClr val="55C8E8"/>
                </a:solidFill>
                <a:latin typeface="Calibri" pitchFamily="34" charset="0"/>
                <a:ea typeface="Calibri" pitchFamily="34" charset="-122"/>
                <a:cs typeface="Calibri" pitchFamily="34" charset="-120"/>
              </a:rPr>
              <a:t>3 minutes — let's hear your writing!</a:t>
            </a:r>
            <a:endParaRPr lang="en-US" sz="1700" dirty="0"/>
          </a:p>
        </p:txBody>
      </p:sp>
      <p:sp>
        <p:nvSpPr>
          <p:cNvPr id="5" name="Shape 3"/>
          <p:cNvSpPr/>
          <p:nvPr/>
        </p:nvSpPr>
        <p:spPr>
          <a:xfrm>
            <a:off x="1828800" y="2468880"/>
            <a:ext cx="5486400" cy="1645920"/>
          </a:xfrm>
          <a:prstGeom prst="roundRect">
            <a:avLst>
              <a:gd name="adj" fmla="val 6667"/>
            </a:avLst>
          </a:prstGeom>
          <a:solidFill>
            <a:srgbClr val="FFFFFF"/>
          </a:solidFill>
          <a:ln/>
          <a:effectLst>
            <a:outerShdw sx="100000" sy="100000" kx="0" ky="0" algn="bl" rotWithShape="0" blurRad="101600" dist="38100" dir="2700000">
              <a:srgbClr val="000000">
                <a:alpha val="12000"/>
              </a:srgbClr>
            </a:outerShdw>
          </a:effectLst>
        </p:spPr>
      </p:sp>
      <p:sp>
        <p:nvSpPr>
          <p:cNvPr id="6" name="Text 4"/>
          <p:cNvSpPr/>
          <p:nvPr/>
        </p:nvSpPr>
        <p:spPr>
          <a:xfrm>
            <a:off x="2103120" y="2560320"/>
            <a:ext cx="4937760" cy="1463040"/>
          </a:xfrm>
          <a:prstGeom prst="rect">
            <a:avLst/>
          </a:prstGeom>
          <a:noFill/>
          <a:ln/>
        </p:spPr>
        <p:txBody>
          <a:bodyPr wrap="square" lIns="0" tIns="0" rIns="0" bIns="0" rtlCol="0" anchor="t"/>
          <a:lstStyle/>
          <a:p>
            <a:pPr indent="0" marL="0">
              <a:spcAft>
                <a:spcPts val="200"/>
              </a:spcAft>
              <a:buNone/>
            </a:pPr>
            <a:r>
              <a:rPr lang="en-US" sz="1400" b="1" dirty="0">
                <a:solidFill>
                  <a:srgbClr val="0E1C42"/>
                </a:solidFill>
                <a:latin typeface="Calibri" pitchFamily="34" charset="0"/>
                <a:ea typeface="Calibri" pitchFamily="34" charset="-122"/>
                <a:cs typeface="Calibri" pitchFamily="34" charset="-120"/>
              </a:rPr>
              <a:t>How to share: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Raise your hand if you want to read yours aloud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Or paste your writing in the chat
</a:t>
            </a:r>
            <a:pPr indent="0" marL="0">
              <a:spcAft>
                <a:spcPts val="200"/>
              </a:spcAft>
              <a:buNone/>
            </a:pPr>
            <a:r>
              <a:rPr lang="en-US" sz="1300" dirty="0">
                <a:solidFill>
                  <a:srgbClr val="1E293B"/>
                </a:solidFill>
                <a:latin typeface="Calibri" pitchFamily="34" charset="0"/>
                <a:ea typeface="Calibri" pitchFamily="34" charset="-122"/>
                <a:cs typeface="Calibri" pitchFamily="34" charset="-120"/>
              </a:rPr>
              <a:t>👂 Listen respectfully when others share
</a:t>
            </a:r>
            <a:pPr indent="0" marL="0">
              <a:spcAft>
                <a:spcPts val="200"/>
              </a:spcAft>
              <a:buNone/>
            </a:pPr>
            <a:r>
              <a:rPr lang="en-US" sz="1200" i="1" dirty="0">
                <a:solidFill>
                  <a:srgbClr val="64748B"/>
                </a:solidFill>
                <a:latin typeface="Calibri" pitchFamily="34" charset="0"/>
                <a:ea typeface="Calibri" pitchFamily="34" charset="-122"/>
                <a:cs typeface="Calibri" pitchFamily="34" charset="-120"/>
              </a:rPr>
              <a:t>Every writer's ideas matter — there are no wrong answers.</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Today's Focus</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91440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457200" y="123444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13441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Before you read the words, what does a nonfiction book teach you just by how it looks?</a:t>
            </a:r>
            <a:endParaRPr lang="en-US" sz="1800" dirty="0"/>
          </a:p>
        </p:txBody>
      </p:sp>
      <p:sp>
        <p:nvSpPr>
          <p:cNvPr id="9" name="Shape 7"/>
          <p:cNvSpPr/>
          <p:nvPr/>
        </p:nvSpPr>
        <p:spPr>
          <a:xfrm>
            <a:off x="457200" y="1965960"/>
            <a:ext cx="8229600" cy="640080"/>
          </a:xfrm>
          <a:prstGeom prst="roundRect">
            <a:avLst>
              <a:gd name="adj" fmla="val 14286"/>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10" name="Text 8"/>
          <p:cNvSpPr/>
          <p:nvPr/>
        </p:nvSpPr>
        <p:spPr>
          <a:xfrm>
            <a:off x="640080" y="207568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The text says good readers use text features on purpose — before, during, and after reading. Which text feature do YOU use most? Which have you never tried?</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Model Sentence — Study What's Right</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Shape 2"/>
          <p:cNvSpPr/>
          <p:nvPr/>
        </p:nvSpPr>
        <p:spPr>
          <a:xfrm>
            <a:off x="457200" y="1097280"/>
            <a:ext cx="8229600" cy="914400"/>
          </a:xfrm>
          <a:prstGeom prst="roundRect">
            <a:avLst>
              <a:gd name="adj" fmla="val 10000"/>
            </a:avLst>
          </a:prstGeom>
          <a:solidFill>
            <a:srgbClr val="E8F8EF"/>
          </a:solidFill>
          <a:ln w="12700">
            <a:solidFill>
              <a:srgbClr val="34B76F"/>
            </a:solidFill>
            <a:prstDash val="solid"/>
          </a:ln>
          <a:effectLst>
            <a:outerShdw sx="100000" sy="100000" kx="0" ky="0" algn="bl" rotWithShape="0" blurRad="101600" dist="38100" dir="2700000">
              <a:srgbClr val="000000">
                <a:alpha val="12000"/>
              </a:srgbClr>
            </a:outerShdw>
          </a:effectLst>
        </p:spPr>
      </p:sp>
      <p:sp>
        <p:nvSpPr>
          <p:cNvPr id="5" name="Text 3"/>
          <p:cNvSpPr/>
          <p:nvPr/>
        </p:nvSpPr>
        <p:spPr>
          <a:xfrm>
            <a:off x="640080" y="1207008"/>
            <a:ext cx="7863840" cy="68580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 caption is a sentence under a photo or picture that explains what you are looking at.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Now You Try</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 table of contents lists all the chapters in a book and tells you what page each chapter begins on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Fix-It Sentence — Answer Revealed</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8229600" cy="640080"/>
          </a:xfrm>
          <a:prstGeom prst="roundRect">
            <a:avLst>
              <a:gd name="adj" fmla="val 14286"/>
            </a:avLst>
          </a:prstGeom>
          <a:solidFill>
            <a:srgbClr val="F8FAFC"/>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640080" y="1115568"/>
            <a:ext cx="7863840" cy="41148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a table of contents lists all the chapters in a book and tells you what page each chapter begins on</a:t>
            </a:r>
            <a:endParaRPr lang="en-US" sz="1800" dirty="0"/>
          </a:p>
        </p:txBody>
      </p:sp>
      <p:sp>
        <p:nvSpPr>
          <p:cNvPr id="8" name="Text 6"/>
          <p:cNvSpPr/>
          <p:nvPr/>
        </p:nvSpPr>
        <p:spPr>
          <a:xfrm>
            <a:off x="457200" y="1737360"/>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WHY</a:t>
            </a:r>
            <a:endParaRPr lang="en-US" sz="1100" dirty="0"/>
          </a:p>
        </p:txBody>
      </p:sp>
      <p:sp>
        <p:nvSpPr>
          <p:cNvPr id="9" name="Text 7"/>
          <p:cNvSpPr/>
          <p:nvPr/>
        </p:nvSpPr>
        <p:spPr>
          <a:xfrm>
            <a:off x="640080" y="2011680"/>
            <a:ext cx="7863840" cy="502920"/>
          </a:xfrm>
          <a:prstGeom prst="rect">
            <a:avLst/>
          </a:prstGeom>
          <a:noFill/>
          <a:ln/>
        </p:spPr>
        <p:txBody>
          <a:bodyPr wrap="square" lIns="0" tIns="0" rIns="0" bIns="0" rtlCol="0" anchor="ctr"/>
          <a:lstStyle/>
          <a:p>
            <a:pPr indent="0" marL="0">
              <a:buNone/>
            </a:pPr>
            <a:r>
              <a:rPr lang="en-US" sz="1300" i="1" dirty="0">
                <a:solidFill>
                  <a:srgbClr val="64748B"/>
                </a:solidFill>
                <a:latin typeface="Calibri" pitchFamily="34" charset="0"/>
                <a:ea typeface="Calibri" pitchFamily="34" charset="-122"/>
                <a:cs typeface="Calibri" pitchFamily="34" charset="-120"/>
              </a:rPr>
              <a:t>A table of contents lists all the chapters in a book and tells you what page each chapter begins on .</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Morphology: Suffix -ing shows action happening</a:t>
            </a:r>
            <a:endParaRPr lang="en-US" sz="2800" dirty="0"/>
          </a:p>
        </p:txBody>
      </p:sp>
      <p:sp>
        <p:nvSpPr>
          <p:cNvPr id="3" name="Shape 1"/>
          <p:cNvSpPr/>
          <p:nvPr/>
        </p:nvSpPr>
        <p:spPr>
          <a:xfrm>
            <a:off x="365760" y="749808"/>
            <a:ext cx="8412480" cy="0"/>
          </a:xfrm>
          <a:prstGeom prst="line">
            <a:avLst/>
          </a:prstGeom>
          <a:noFill/>
          <a:ln w="19050">
            <a:solidFill>
              <a:srgbClr val="8B6FC0"/>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8B6FC0"/>
                </a:solidFill>
                <a:latin typeface="Calibri" pitchFamily="34" charset="0"/>
                <a:ea typeface="Calibri" pitchFamily="34" charset="-122"/>
                <a:cs typeface="Calibri" pitchFamily="34" charset="-120"/>
              </a:rPr>
              <a:t>WORD BUILDING</a:t>
            </a:r>
            <a:endParaRPr lang="en-US" sz="1100" dirty="0"/>
          </a:p>
        </p:txBody>
      </p:sp>
      <p:sp>
        <p:nvSpPr>
          <p:cNvPr id="5" name="Shape 3"/>
          <p:cNvSpPr/>
          <p:nvPr/>
        </p:nvSpPr>
        <p:spPr>
          <a:xfrm>
            <a:off x="457200" y="1371600"/>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640080" y="1417320"/>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sending</a:t>
            </a:r>
            <a:pPr indent="0" marL="0">
              <a:buNone/>
            </a:pPr>
            <a:r>
              <a:rPr lang="en-US" sz="1400" dirty="0">
                <a:solidFill>
                  <a:srgbClr val="64748B"/>
                </a:solidFill>
                <a:latin typeface="Calibri" pitchFamily="34" charset="0"/>
                <a:ea typeface="Calibri" pitchFamily="34" charset="-122"/>
                <a:cs typeface="Calibri" pitchFamily="34" charset="-120"/>
              </a:rPr>
              <a:t>  ·  send + -ing =</a:t>
            </a:r>
            <a:endParaRPr lang="en-US" sz="1600" dirty="0"/>
          </a:p>
        </p:txBody>
      </p:sp>
      <p:sp>
        <p:nvSpPr>
          <p:cNvPr id="7" name="Shape 5"/>
          <p:cNvSpPr/>
          <p:nvPr/>
        </p:nvSpPr>
        <p:spPr>
          <a:xfrm>
            <a:off x="457200" y="1901952"/>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947672"/>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mapping</a:t>
            </a:r>
            <a:pPr indent="0" marL="0">
              <a:buNone/>
            </a:pPr>
            <a:r>
              <a:rPr lang="en-US" sz="1400" dirty="0">
                <a:solidFill>
                  <a:srgbClr val="64748B"/>
                </a:solidFill>
                <a:latin typeface="Calibri" pitchFamily="34" charset="0"/>
                <a:ea typeface="Calibri" pitchFamily="34" charset="-122"/>
                <a:cs typeface="Calibri" pitchFamily="34" charset="-120"/>
              </a:rPr>
              <a:t>  ·  map + -ing =</a:t>
            </a:r>
            <a:endParaRPr lang="en-US" sz="1600" dirty="0"/>
          </a:p>
        </p:txBody>
      </p:sp>
      <p:sp>
        <p:nvSpPr>
          <p:cNvPr id="9" name="Shape 7"/>
          <p:cNvSpPr/>
          <p:nvPr/>
        </p:nvSpPr>
        <p:spPr>
          <a:xfrm>
            <a:off x="457200" y="2432304"/>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640080" y="2478024"/>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traveling</a:t>
            </a:r>
            <a:pPr indent="0" marL="0">
              <a:buNone/>
            </a:pPr>
            <a:r>
              <a:rPr lang="en-US" sz="1400" dirty="0">
                <a:solidFill>
                  <a:srgbClr val="64748B"/>
                </a:solidFill>
                <a:latin typeface="Calibri" pitchFamily="34" charset="0"/>
                <a:ea typeface="Calibri" pitchFamily="34" charset="-122"/>
                <a:cs typeface="Calibri" pitchFamily="34" charset="-120"/>
              </a:rPr>
              <a:t>  ·  travel + -ing =</a:t>
            </a:r>
            <a:endParaRPr lang="en-US" sz="1600" dirty="0"/>
          </a:p>
        </p:txBody>
      </p:sp>
      <p:sp>
        <p:nvSpPr>
          <p:cNvPr id="11" name="Shape 9"/>
          <p:cNvSpPr/>
          <p:nvPr/>
        </p:nvSpPr>
        <p:spPr>
          <a:xfrm>
            <a:off x="457200" y="2962656"/>
            <a:ext cx="822960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640080" y="3008376"/>
            <a:ext cx="786384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mailing</a:t>
            </a:r>
            <a:pPr indent="0" marL="0">
              <a:buNone/>
            </a:pPr>
            <a:r>
              <a:rPr lang="en-US" sz="1400" dirty="0">
                <a:solidFill>
                  <a:srgbClr val="64748B"/>
                </a:solidFill>
                <a:latin typeface="Calibri" pitchFamily="34" charset="0"/>
                <a:ea typeface="Calibri" pitchFamily="34" charset="-122"/>
                <a:cs typeface="Calibri" pitchFamily="34" charset="-120"/>
              </a:rPr>
              <a:t>  ·  mail + -ing =</a:t>
            </a:r>
            <a:endParaRPr lang="en-US" sz="1600" dirty="0"/>
          </a:p>
        </p:txBody>
      </p:sp>
      <p:sp>
        <p:nvSpPr>
          <p:cNvPr id="13" name="Text 11"/>
          <p:cNvSpPr/>
          <p:nvPr/>
        </p:nvSpPr>
        <p:spPr>
          <a:xfrm>
            <a:off x="457200" y="3493008"/>
            <a:ext cx="8046720" cy="292608"/>
          </a:xfrm>
          <a:prstGeom prst="rect">
            <a:avLst/>
          </a:prstGeom>
          <a:noFill/>
          <a:ln/>
        </p:spPr>
        <p:txBody>
          <a:bodyPr wrap="square" lIns="0" tIns="0" rIns="0" bIns="0" rtlCol="0" anchor="ctr"/>
          <a:lstStyle/>
          <a:p>
            <a:pPr indent="0" marL="0">
              <a:buNone/>
            </a:pPr>
            <a:r>
              <a:rPr lang="en-US" sz="1100" b="1" spc="200" kern="0" dirty="0">
                <a:solidFill>
                  <a:srgbClr val="64748B"/>
                </a:solidFill>
                <a:latin typeface="Calibri" pitchFamily="34" charset="0"/>
                <a:ea typeface="Calibri" pitchFamily="34" charset="-122"/>
                <a:cs typeface="Calibri" pitchFamily="34" charset="-120"/>
              </a:rPr>
              <a:t>CONCEPT EXAMPLES</a:t>
            </a:r>
            <a:endParaRPr lang="en-US" sz="1100" dirty="0"/>
          </a:p>
        </p:txBody>
      </p:sp>
      <p:sp>
        <p:nvSpPr>
          <p:cNvPr id="14" name="Text 12"/>
          <p:cNvSpPr/>
          <p:nvPr/>
        </p:nvSpPr>
        <p:spPr>
          <a:xfrm>
            <a:off x="640080" y="3813048"/>
            <a:ext cx="7863840" cy="320040"/>
          </a:xfrm>
          <a:prstGeom prst="rect">
            <a:avLst/>
          </a:prstGeom>
          <a:noFill/>
          <a:ln/>
        </p:spPr>
        <p:txBody>
          <a:bodyPr wrap="square" lIns="0" tIns="0" rIns="0" bIns="0" rtlCol="0" anchor="ctr"/>
          <a:lstStyle/>
          <a:p>
            <a:pPr indent="0" marL="0">
              <a:buNone/>
            </a:pPr>
            <a:r>
              <a:rPr lang="en-US" sz="1300" dirty="0">
                <a:solidFill>
                  <a:srgbClr val="1E293B"/>
                </a:solidFill>
                <a:latin typeface="Calibri" pitchFamily="34" charset="0"/>
                <a:ea typeface="Calibri" pitchFamily="34" charset="-122"/>
                <a:cs typeface="Calibri" pitchFamily="34" charset="-120"/>
              </a:rPr>
              <a:t>• 📌 Examples</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Vocabulary</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Shape 2"/>
          <p:cNvSpPr/>
          <p:nvPr/>
        </p:nvSpPr>
        <p:spPr>
          <a:xfrm>
            <a:off x="4572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5" name="Text 3"/>
          <p:cNvSpPr/>
          <p:nvPr/>
        </p:nvSpPr>
        <p:spPr>
          <a:xfrm>
            <a:off x="5943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heading</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title for one section of a nonfiction text.</a:t>
            </a:r>
            <a:endParaRPr lang="en-US" sz="1500" dirty="0"/>
          </a:p>
        </p:txBody>
      </p:sp>
      <p:sp>
        <p:nvSpPr>
          <p:cNvPr id="6" name="Shape 4"/>
          <p:cNvSpPr/>
          <p:nvPr/>
        </p:nvSpPr>
        <p:spPr>
          <a:xfrm>
            <a:off x="4572000" y="1005840"/>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7" name="Text 5"/>
          <p:cNvSpPr/>
          <p:nvPr/>
        </p:nvSpPr>
        <p:spPr>
          <a:xfrm>
            <a:off x="4709160" y="1060704"/>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caption</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sentence under a photo that explains what you see.</a:t>
            </a:r>
            <a:endParaRPr lang="en-US" sz="1500" dirty="0"/>
          </a:p>
        </p:txBody>
      </p:sp>
      <p:sp>
        <p:nvSpPr>
          <p:cNvPr id="8" name="Shape 6"/>
          <p:cNvSpPr/>
          <p:nvPr/>
        </p:nvSpPr>
        <p:spPr>
          <a:xfrm>
            <a:off x="4572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9" name="Text 7"/>
          <p:cNvSpPr/>
          <p:nvPr/>
        </p:nvSpPr>
        <p:spPr>
          <a:xfrm>
            <a:off x="5943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diagram</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drawing that shows how something works, with labels.</a:t>
            </a:r>
            <a:endParaRPr lang="en-US" sz="1500" dirty="0"/>
          </a:p>
        </p:txBody>
      </p:sp>
      <p:sp>
        <p:nvSpPr>
          <p:cNvPr id="10" name="Shape 8"/>
          <p:cNvSpPr/>
          <p:nvPr/>
        </p:nvSpPr>
        <p:spPr>
          <a:xfrm>
            <a:off x="4572000" y="1755648"/>
            <a:ext cx="3840480" cy="640080"/>
          </a:xfrm>
          <a:prstGeom prst="roundRect">
            <a:avLst>
              <a:gd name="adj" fmla="val 14286"/>
            </a:avLst>
          </a:prstGeom>
          <a:solidFill>
            <a:srgbClr val="FEF6E8"/>
          </a:solidFill>
          <a:ln/>
          <a:effectLst>
            <a:outerShdw sx="100000" sy="100000" kx="0" ky="0" algn="bl" rotWithShape="0" blurRad="101600" dist="38100" dir="2700000">
              <a:srgbClr val="000000">
                <a:alpha val="12000"/>
              </a:srgbClr>
            </a:outerShdw>
          </a:effectLst>
        </p:spPr>
      </p:sp>
      <p:sp>
        <p:nvSpPr>
          <p:cNvPr id="11" name="Text 9"/>
          <p:cNvSpPr/>
          <p:nvPr/>
        </p:nvSpPr>
        <p:spPr>
          <a:xfrm>
            <a:off x="4709160" y="1810512"/>
            <a:ext cx="3566160" cy="530352"/>
          </a:xfrm>
          <a:prstGeom prst="rect">
            <a:avLst/>
          </a:prstGeom>
          <a:noFill/>
          <a:ln/>
        </p:spPr>
        <p:txBody>
          <a:bodyPr wrap="square" lIns="0" tIns="0" rIns="0" bIns="0" rtlCol="0" anchor="ctr"/>
          <a:lstStyle/>
          <a:p>
            <a:pPr indent="0" marL="0">
              <a:buNone/>
            </a:pPr>
            <a:r>
              <a:rPr lang="en-US" sz="1500" b="1" dirty="0">
                <a:solidFill>
                  <a:srgbClr val="0E1C42"/>
                </a:solidFill>
                <a:latin typeface="Calibri" pitchFamily="34" charset="0"/>
                <a:ea typeface="Calibri" pitchFamily="34" charset="-122"/>
                <a:cs typeface="Calibri" pitchFamily="34" charset="-120"/>
              </a:rPr>
              <a:t>glossary</a:t>
            </a:r>
            <a:pPr indent="0" marL="0">
              <a:buNone/>
            </a:pPr>
            <a:endParaRPr lang="en-US" sz="1500" dirty="0"/>
          </a:p>
          <a:p>
            <a:pPr indent="0" marL="0">
              <a:buNone/>
            </a:pPr>
            <a:r>
              <a:rPr lang="en-US" sz="1200" dirty="0">
                <a:solidFill>
                  <a:srgbClr val="1E293B"/>
                </a:solidFill>
                <a:latin typeface="Calibri" pitchFamily="34" charset="0"/>
                <a:ea typeface="Calibri" pitchFamily="34" charset="-122"/>
                <a:cs typeface="Calibri" pitchFamily="34" charset="-120"/>
              </a:rPr>
              <a:t>A list of important words and their definitions, at the back of a book.</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Adding -ed and -ing to base words</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Text 4"/>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WORD BANK — Sort these words!</a:t>
            </a:r>
            <a:endParaRPr lang="en-US" sz="1100" dirty="0"/>
          </a:p>
        </p:txBody>
      </p:sp>
      <p:sp>
        <p:nvSpPr>
          <p:cNvPr id="7" name="Shape 5"/>
          <p:cNvSpPr/>
          <p:nvPr/>
        </p:nvSpPr>
        <p:spPr>
          <a:xfrm>
            <a:off x="457200" y="1371600"/>
            <a:ext cx="8229600" cy="914400"/>
          </a:xfrm>
          <a:prstGeom prst="roundRect">
            <a:avLst>
              <a:gd name="adj" fmla="val 10000"/>
            </a:avLst>
          </a:prstGeom>
          <a:solidFill>
            <a:srgbClr val="FEF6E8"/>
          </a:solidFill>
          <a:ln/>
          <a:effectLst>
            <a:outerShdw sx="100000" sy="100000" kx="0" ky="0" algn="bl" rotWithShape="0" blurRad="101600" dist="38100" dir="2700000">
              <a:srgbClr val="000000">
                <a:alpha val="12000"/>
              </a:srgbClr>
            </a:outerShdw>
          </a:effectLst>
        </p:spPr>
      </p:sp>
      <p:sp>
        <p:nvSpPr>
          <p:cNvPr id="8" name="Text 6"/>
          <p:cNvSpPr/>
          <p:nvPr/>
        </p:nvSpPr>
        <p:spPr>
          <a:xfrm>
            <a:off x="640080" y="1463040"/>
            <a:ext cx="7863840" cy="731520"/>
          </a:xfrm>
          <a:prstGeom prst="rect">
            <a:avLst/>
          </a:prstGeom>
          <a:noFill/>
          <a:ln/>
        </p:spPr>
        <p:txBody>
          <a:bodyPr wrap="square" lIns="0" tIns="0" rIns="0" bIns="0" rtlCol="0" anchor="ctr"/>
          <a:lstStyle/>
          <a:p>
            <a:pPr algn="ctr" indent="0" marL="0">
              <a:buNone/>
            </a:pPr>
            <a:r>
              <a:rPr lang="en-US" sz="1600" dirty="0">
                <a:solidFill>
                  <a:srgbClr val="0E1C42"/>
                </a:solidFill>
                <a:latin typeface="Calibri" pitchFamily="34" charset="0"/>
                <a:ea typeface="Calibri" pitchFamily="34" charset="-122"/>
                <a:cs typeface="Calibri" pitchFamily="34" charset="-120"/>
              </a:rPr>
              <a:t>mailing     sending     reading     looking     writing     making     using     placing</a:t>
            </a:r>
            <a:endParaRPr lang="en-US" sz="1600" dirty="0"/>
          </a:p>
        </p:txBody>
      </p:sp>
      <p:sp>
        <p:nvSpPr>
          <p:cNvPr id="9" name="Shape 7"/>
          <p:cNvSpPr/>
          <p:nvPr/>
        </p:nvSpPr>
        <p:spPr>
          <a:xfrm>
            <a:off x="45720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4864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add -ing</a:t>
            </a:r>
            <a:endParaRPr lang="en-US" sz="1400" dirty="0"/>
          </a:p>
        </p:txBody>
      </p:sp>
      <p:sp>
        <p:nvSpPr>
          <p:cNvPr id="11" name="Shape 9"/>
          <p:cNvSpPr/>
          <p:nvPr/>
        </p:nvSpPr>
        <p:spPr>
          <a:xfrm>
            <a:off x="4480560" y="246888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2" name="Text 10"/>
          <p:cNvSpPr/>
          <p:nvPr/>
        </p:nvSpPr>
        <p:spPr>
          <a:xfrm>
            <a:off x="4572000" y="251460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drop e + -ing</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5F7FC"/>
        </a:solidFill>
      </p:bgPr>
    </p:bg>
    <p:spTree>
      <p:nvGrpSpPr>
        <p:cNvPr id="1" name=""/>
        <p:cNvGrpSpPr/>
        <p:nvPr/>
      </p:nvGrpSpPr>
      <p:grpSpPr>
        <a:xfrm>
          <a:off x="0" y="0"/>
          <a:ext cx="0" cy="0"/>
          <a:chOff x="0" y="0"/>
          <a:chExt cx="0" cy="0"/>
        </a:xfrm>
      </p:grpSpPr>
      <p:sp>
        <p:nvSpPr>
          <p:cNvPr id="2" name="Text 0"/>
          <p:cNvSpPr/>
          <p:nvPr/>
        </p:nvSpPr>
        <p:spPr>
          <a:xfrm>
            <a:off x="365760" y="164592"/>
            <a:ext cx="594360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Spelling: Adding -ed and -ing to base words — Sorted</a:t>
            </a:r>
            <a:endParaRPr lang="en-US" sz="2800" dirty="0"/>
          </a:p>
        </p:txBody>
      </p:sp>
      <p:sp>
        <p:nvSpPr>
          <p:cNvPr id="3" name="Shape 1"/>
          <p:cNvSpPr/>
          <p:nvPr/>
        </p:nvSpPr>
        <p:spPr>
          <a:xfrm>
            <a:off x="365760" y="749808"/>
            <a:ext cx="8412480" cy="0"/>
          </a:xfrm>
          <a:prstGeom prst="line">
            <a:avLst/>
          </a:prstGeom>
          <a:noFill/>
          <a:ln w="19050">
            <a:solidFill>
              <a:srgbClr val="5CB85C"/>
            </a:solidFill>
            <a:prstDash val="solid"/>
          </a:ln>
        </p:spPr>
      </p:sp>
      <p:sp>
        <p:nvSpPr>
          <p:cNvPr id="4" name="Shape 2"/>
          <p:cNvSpPr/>
          <p:nvPr/>
        </p:nvSpPr>
        <p:spPr>
          <a:xfrm>
            <a:off x="6492240" y="173736"/>
            <a:ext cx="2286000" cy="502920"/>
          </a:xfrm>
          <a:prstGeom prst="roundRect">
            <a:avLst>
              <a:gd name="adj" fmla="val 21818"/>
            </a:avLst>
          </a:prstGeom>
          <a:solidFill>
            <a:srgbClr val="5CB85C"/>
          </a:solidFill>
          <a:ln/>
        </p:spPr>
      </p:sp>
      <p:sp>
        <p:nvSpPr>
          <p:cNvPr id="5" name="Text 3"/>
          <p:cNvSpPr/>
          <p:nvPr/>
        </p:nvSpPr>
        <p:spPr>
          <a:xfrm>
            <a:off x="6492240" y="173736"/>
            <a:ext cx="2286000" cy="502920"/>
          </a:xfrm>
          <a:prstGeom prst="rect">
            <a:avLst/>
          </a:prstGeom>
          <a:noFill/>
          <a:ln/>
        </p:spPr>
        <p:txBody>
          <a:bodyPr wrap="square" lIns="0" tIns="0" rIns="0" bIns="0" rtlCol="0" anchor="ctr"/>
          <a:lstStyle/>
          <a:p>
            <a:pPr algn="ctr" indent="0" marL="0">
              <a:buNone/>
            </a:pPr>
            <a:r>
              <a:rPr lang="en-US" sz="1100" b="1" dirty="0">
                <a:solidFill>
                  <a:srgbClr val="0E1C42"/>
                </a:solidFill>
                <a:latin typeface="Calibri" pitchFamily="34" charset="0"/>
                <a:ea typeface="Calibri" pitchFamily="34" charset="-122"/>
                <a:cs typeface="Calibri" pitchFamily="34" charset="-120"/>
              </a:rPr>
              <a:t>CHAT PROMPT</a:t>
            </a:r>
            <a:endParaRPr lang="en-US" sz="1100" dirty="0"/>
          </a:p>
        </p:txBody>
      </p:sp>
      <p:sp>
        <p:nvSpPr>
          <p:cNvPr id="6" name="Shape 4"/>
          <p:cNvSpPr/>
          <p:nvPr/>
        </p:nvSpPr>
        <p:spPr>
          <a:xfrm>
            <a:off x="45720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7" name="Text 5"/>
          <p:cNvSpPr/>
          <p:nvPr/>
        </p:nvSpPr>
        <p:spPr>
          <a:xfrm>
            <a:off x="54864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add -ing</a:t>
            </a:r>
            <a:endParaRPr lang="en-US" sz="1400" dirty="0"/>
          </a:p>
        </p:txBody>
      </p:sp>
      <p:sp>
        <p:nvSpPr>
          <p:cNvPr id="8" name="Text 6"/>
          <p:cNvSpPr/>
          <p:nvPr/>
        </p:nvSpPr>
        <p:spPr>
          <a:xfrm>
            <a:off x="54864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mailing</a:t>
            </a:r>
            <a:endParaRPr lang="en-US" sz="1400" dirty="0"/>
          </a:p>
        </p:txBody>
      </p:sp>
      <p:sp>
        <p:nvSpPr>
          <p:cNvPr id="9" name="Text 7"/>
          <p:cNvSpPr/>
          <p:nvPr/>
        </p:nvSpPr>
        <p:spPr>
          <a:xfrm>
            <a:off x="54864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sending</a:t>
            </a:r>
            <a:endParaRPr lang="en-US" sz="1400" dirty="0"/>
          </a:p>
        </p:txBody>
      </p:sp>
      <p:sp>
        <p:nvSpPr>
          <p:cNvPr id="10" name="Text 8"/>
          <p:cNvSpPr/>
          <p:nvPr/>
        </p:nvSpPr>
        <p:spPr>
          <a:xfrm>
            <a:off x="54864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reading</a:t>
            </a:r>
            <a:endParaRPr lang="en-US" sz="1400" dirty="0"/>
          </a:p>
        </p:txBody>
      </p:sp>
      <p:sp>
        <p:nvSpPr>
          <p:cNvPr id="11" name="Text 9"/>
          <p:cNvSpPr/>
          <p:nvPr/>
        </p:nvSpPr>
        <p:spPr>
          <a:xfrm>
            <a:off x="54864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looking</a:t>
            </a:r>
            <a:endParaRPr lang="en-US" sz="1400" dirty="0"/>
          </a:p>
        </p:txBody>
      </p:sp>
      <p:sp>
        <p:nvSpPr>
          <p:cNvPr id="12" name="Shape 10"/>
          <p:cNvSpPr/>
          <p:nvPr/>
        </p:nvSpPr>
        <p:spPr>
          <a:xfrm>
            <a:off x="4480560" y="1005840"/>
            <a:ext cx="3794760" cy="457200"/>
          </a:xfrm>
          <a:prstGeom prst="roundRect">
            <a:avLst>
              <a:gd name="adj" fmla="val 20000"/>
            </a:avLst>
          </a:prstGeom>
          <a:solidFill>
            <a:srgbClr val="F0E8FF"/>
          </a:solidFill>
          <a:ln/>
          <a:effectLst>
            <a:outerShdw sx="100000" sy="100000" kx="0" ky="0" algn="bl" rotWithShape="0" blurRad="101600" dist="38100" dir="2700000">
              <a:srgbClr val="000000">
                <a:alpha val="12000"/>
              </a:srgbClr>
            </a:outerShdw>
          </a:effectLst>
        </p:spPr>
      </p:sp>
      <p:sp>
        <p:nvSpPr>
          <p:cNvPr id="13" name="Text 11"/>
          <p:cNvSpPr/>
          <p:nvPr/>
        </p:nvSpPr>
        <p:spPr>
          <a:xfrm>
            <a:off x="4572000" y="1051560"/>
            <a:ext cx="3611880" cy="365760"/>
          </a:xfrm>
          <a:prstGeom prst="rect">
            <a:avLst/>
          </a:prstGeom>
          <a:noFill/>
          <a:ln/>
        </p:spPr>
        <p:txBody>
          <a:bodyPr wrap="square" lIns="0" tIns="0" rIns="0" bIns="0" rtlCol="0" anchor="ctr"/>
          <a:lstStyle/>
          <a:p>
            <a:pPr algn="ctr" indent="0" marL="0">
              <a:buNone/>
            </a:pPr>
            <a:r>
              <a:rPr lang="en-US" sz="1400" b="1" dirty="0">
                <a:solidFill>
                  <a:srgbClr val="0E1C42"/>
                </a:solidFill>
                <a:latin typeface="Calibri" pitchFamily="34" charset="0"/>
                <a:ea typeface="Calibri" pitchFamily="34" charset="-122"/>
                <a:cs typeface="Calibri" pitchFamily="34" charset="-120"/>
              </a:rPr>
              <a:t>drop e + -ing</a:t>
            </a:r>
            <a:endParaRPr lang="en-US" sz="1400" dirty="0"/>
          </a:p>
        </p:txBody>
      </p:sp>
      <p:sp>
        <p:nvSpPr>
          <p:cNvPr id="14" name="Text 12"/>
          <p:cNvSpPr/>
          <p:nvPr/>
        </p:nvSpPr>
        <p:spPr>
          <a:xfrm>
            <a:off x="4572000" y="1554480"/>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writing</a:t>
            </a:r>
            <a:endParaRPr lang="en-US" sz="1400" dirty="0"/>
          </a:p>
        </p:txBody>
      </p:sp>
      <p:sp>
        <p:nvSpPr>
          <p:cNvPr id="15" name="Text 13"/>
          <p:cNvSpPr/>
          <p:nvPr/>
        </p:nvSpPr>
        <p:spPr>
          <a:xfrm>
            <a:off x="4572000" y="1901952"/>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making</a:t>
            </a:r>
            <a:endParaRPr lang="en-US" sz="1400" dirty="0"/>
          </a:p>
        </p:txBody>
      </p:sp>
      <p:sp>
        <p:nvSpPr>
          <p:cNvPr id="16" name="Text 14"/>
          <p:cNvSpPr/>
          <p:nvPr/>
        </p:nvSpPr>
        <p:spPr>
          <a:xfrm>
            <a:off x="4572000" y="2249424"/>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using</a:t>
            </a:r>
            <a:endParaRPr lang="en-US" sz="1400" dirty="0"/>
          </a:p>
        </p:txBody>
      </p:sp>
      <p:sp>
        <p:nvSpPr>
          <p:cNvPr id="17" name="Text 15"/>
          <p:cNvSpPr/>
          <p:nvPr/>
        </p:nvSpPr>
        <p:spPr>
          <a:xfrm>
            <a:off x="4572000" y="2596896"/>
            <a:ext cx="3611880" cy="320040"/>
          </a:xfrm>
          <a:prstGeom prst="rect">
            <a:avLst/>
          </a:prstGeom>
          <a:noFill/>
          <a:ln/>
        </p:spPr>
        <p:txBody>
          <a:bodyPr wrap="square" lIns="0" tIns="0" rIns="0" bIns="0" rtlCol="0" anchor="ctr"/>
          <a:lstStyle/>
          <a:p>
            <a:pPr algn="ctr" indent="0" marL="0">
              <a:buNone/>
            </a:pPr>
            <a:r>
              <a:rPr lang="en-US" sz="1400" b="1" dirty="0">
                <a:solidFill>
                  <a:srgbClr val="34B76F"/>
                </a:solidFill>
                <a:latin typeface="Calibri" pitchFamily="34" charset="0"/>
                <a:ea typeface="Calibri" pitchFamily="34" charset="-122"/>
                <a:cs typeface="Calibri" pitchFamily="34" charset="-120"/>
              </a:rPr>
              <a:t>placing</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Reading Focus</a:t>
            </a:r>
            <a:endParaRPr lang="en-US" sz="2800" dirty="0"/>
          </a:p>
        </p:txBody>
      </p:sp>
      <p:sp>
        <p:nvSpPr>
          <p:cNvPr id="3" name="Shape 1"/>
          <p:cNvSpPr/>
          <p:nvPr/>
        </p:nvSpPr>
        <p:spPr>
          <a:xfrm>
            <a:off x="365760" y="749808"/>
            <a:ext cx="8412480" cy="0"/>
          </a:xfrm>
          <a:prstGeom prst="line">
            <a:avLst/>
          </a:prstGeom>
          <a:noFill/>
          <a:ln w="19050">
            <a:solidFill>
              <a:srgbClr val="55C8E8"/>
            </a:solidFill>
            <a:prstDash val="solid"/>
          </a:ln>
        </p:spPr>
      </p:sp>
      <p:sp>
        <p:nvSpPr>
          <p:cNvPr id="4" name="Text 2"/>
          <p:cNvSpPr/>
          <p:nvPr/>
        </p:nvSpPr>
        <p:spPr>
          <a:xfrm>
            <a:off x="457200" y="1005840"/>
            <a:ext cx="8046720" cy="292608"/>
          </a:xfrm>
          <a:prstGeom prst="rect">
            <a:avLst/>
          </a:prstGeom>
          <a:noFill/>
          <a:ln/>
        </p:spPr>
        <p:txBody>
          <a:bodyPr wrap="square" lIns="0" tIns="0" rIns="0" bIns="0" rtlCol="0" anchor="ctr"/>
          <a:lstStyle/>
          <a:p>
            <a:pPr indent="0" marL="0">
              <a:buNone/>
            </a:pPr>
            <a:r>
              <a:rPr lang="en-US" sz="1100" b="1" spc="200" kern="0" dirty="0">
                <a:solidFill>
                  <a:srgbClr val="55C8E8"/>
                </a:solidFill>
                <a:latin typeface="Calibri" pitchFamily="34" charset="0"/>
                <a:ea typeface="Calibri" pitchFamily="34" charset="-122"/>
                <a:cs typeface="Calibri" pitchFamily="34" charset="-120"/>
              </a:rPr>
              <a:t>PAUSE &amp; THINK</a:t>
            </a:r>
            <a:endParaRPr lang="en-US" sz="1100" dirty="0"/>
          </a:p>
        </p:txBody>
      </p:sp>
      <p:sp>
        <p:nvSpPr>
          <p:cNvPr id="5" name="Text 3"/>
          <p:cNvSpPr/>
          <p:nvPr/>
        </p:nvSpPr>
        <p:spPr>
          <a:xfrm>
            <a:off x="640080" y="1325880"/>
            <a:ext cx="7863840" cy="548640"/>
          </a:xfrm>
          <a:prstGeom prst="rect">
            <a:avLst/>
          </a:prstGeom>
          <a:noFill/>
          <a:ln/>
        </p:spPr>
        <p:txBody>
          <a:bodyPr wrap="square" lIns="0" tIns="0" rIns="0" bIns="0" rtlCol="0" anchor="ctr"/>
          <a:lstStyle/>
          <a:p>
            <a:pPr indent="0" marL="0">
              <a:buNone/>
            </a:pPr>
            <a:r>
              <a:rPr lang="en-US" sz="1400" i="1" dirty="0">
                <a:solidFill>
                  <a:srgbClr val="1E293B"/>
                </a:solidFill>
                <a:latin typeface="Calibri" pitchFamily="34" charset="0"/>
                <a:ea typeface="Calibri" pitchFamily="34" charset="-122"/>
                <a:cs typeface="Calibri" pitchFamily="34" charset="-120"/>
              </a:rPr>
              <a:t>The text says good readers use text features on purpose — before, during, and after reading. Which text feature do YOU use most? Which have you never tried?</a:t>
            </a:r>
            <a:endParaRPr lang="en-US" sz="1400" dirty="0"/>
          </a:p>
        </p:txBody>
      </p:sp>
      <p:sp>
        <p:nvSpPr>
          <p:cNvPr id="6" name="Text 4"/>
          <p:cNvSpPr/>
          <p:nvPr/>
        </p:nvSpPr>
        <p:spPr>
          <a:xfrm>
            <a:off x="457200" y="1965960"/>
            <a:ext cx="8046720" cy="292608"/>
          </a:xfrm>
          <a:prstGeom prst="rect">
            <a:avLst/>
          </a:prstGeom>
          <a:noFill/>
          <a:ln/>
        </p:spPr>
        <p:txBody>
          <a:bodyPr wrap="square" lIns="0" tIns="0" rIns="0" bIns="0" rtlCol="0" anchor="ctr"/>
          <a:lstStyle/>
          <a:p>
            <a:pPr indent="0" marL="0">
              <a:buNone/>
            </a:pPr>
            <a:r>
              <a:rPr lang="en-US" sz="1100" b="1" spc="200" kern="0" dirty="0">
                <a:solidFill>
                  <a:srgbClr val="C7922C"/>
                </a:solidFill>
                <a:latin typeface="Calibri" pitchFamily="34" charset="0"/>
                <a:ea typeface="Calibri" pitchFamily="34" charset="-122"/>
                <a:cs typeface="Calibri" pitchFamily="34" charset="-120"/>
              </a:rPr>
              <a:t>COPYWORK</a:t>
            </a:r>
            <a:endParaRPr lang="en-US" sz="1100" dirty="0"/>
          </a:p>
        </p:txBody>
      </p:sp>
      <p:sp>
        <p:nvSpPr>
          <p:cNvPr id="7" name="Shape 5"/>
          <p:cNvSpPr/>
          <p:nvPr/>
        </p:nvSpPr>
        <p:spPr>
          <a:xfrm>
            <a:off x="457200" y="2286000"/>
            <a:ext cx="8229600" cy="731520"/>
          </a:xfrm>
          <a:prstGeom prst="roundRect">
            <a:avLst>
              <a:gd name="adj" fmla="val 12500"/>
            </a:avLst>
          </a:prstGeom>
          <a:solidFill>
            <a:srgbClr val="FEF6E8"/>
          </a:solidFill>
          <a:ln w="1270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640080" y="2395728"/>
            <a:ext cx="7863840" cy="502920"/>
          </a:xfrm>
          <a:prstGeom prst="rect">
            <a:avLst/>
          </a:prstGeom>
          <a:noFill/>
          <a:ln/>
        </p:spPr>
        <p:txBody>
          <a:bodyPr wrap="square" lIns="0" tIns="0" rIns="0" bIns="0" rtlCol="0" anchor="ctr"/>
          <a:lstStyle/>
          <a:p>
            <a:pPr indent="0" marL="0">
              <a:buNone/>
            </a:pPr>
            <a:r>
              <a:rPr lang="en-US" sz="1800" i="1" dirty="0">
                <a:solidFill>
                  <a:srgbClr val="1E293B"/>
                </a:solidFill>
                <a:latin typeface="Calibri" pitchFamily="34" charset="0"/>
                <a:ea typeface="Calibri" pitchFamily="34" charset="-122"/>
                <a:cs typeface="Calibri" pitchFamily="34" charset="-120"/>
              </a:rPr>
              <a:t>Before reading, they look at the headings and pictures to preview. During reading, they use captions to understand photos.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164592"/>
            <a:ext cx="8412480" cy="566928"/>
          </a:xfrm>
          <a:prstGeom prst="rect">
            <a:avLst/>
          </a:prstGeom>
          <a:noFill/>
          <a:ln/>
        </p:spPr>
        <p:txBody>
          <a:bodyPr wrap="square" lIns="0" tIns="0" rIns="0" bIns="0" rtlCol="0" anchor="ctr"/>
          <a:lstStyle/>
          <a:p>
            <a:pPr algn="l" indent="0" marL="0">
              <a:buNone/>
            </a:pPr>
            <a:r>
              <a:rPr lang="en-US" sz="2800" b="1" dirty="0">
                <a:solidFill>
                  <a:srgbClr val="0E1C42"/>
                </a:solidFill>
                <a:latin typeface="Calibri" pitchFamily="34" charset="0"/>
                <a:ea typeface="Calibri" pitchFamily="34" charset="-122"/>
                <a:cs typeface="Calibri" pitchFamily="34" charset="-120"/>
              </a:rPr>
              <a:t>🪶 Writing Connection</a:t>
            </a:r>
            <a:endParaRPr lang="en-US" sz="2800" dirty="0"/>
          </a:p>
        </p:txBody>
      </p:sp>
      <p:sp>
        <p:nvSpPr>
          <p:cNvPr id="3" name="Shape 1"/>
          <p:cNvSpPr/>
          <p:nvPr/>
        </p:nvSpPr>
        <p:spPr>
          <a:xfrm>
            <a:off x="365760" y="749808"/>
            <a:ext cx="8412480" cy="0"/>
          </a:xfrm>
          <a:prstGeom prst="line">
            <a:avLst/>
          </a:prstGeom>
          <a:noFill/>
          <a:ln w="19050">
            <a:solidFill>
              <a:srgbClr val="34B76F"/>
            </a:solidFill>
            <a:prstDash val="solid"/>
          </a:ln>
        </p:spPr>
      </p:sp>
      <p:sp>
        <p:nvSpPr>
          <p:cNvPr id="4" name="Text 2"/>
          <p:cNvSpPr/>
          <p:nvPr/>
        </p:nvSpPr>
        <p:spPr>
          <a:xfrm>
            <a:off x="640080" y="1371600"/>
            <a:ext cx="7863840" cy="457200"/>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Open your writing assignment in Canvas.</a:t>
            </a:r>
            <a:endParaRPr lang="en-US" sz="1600" dirty="0"/>
          </a:p>
        </p:txBody>
      </p:sp>
      <p:sp>
        <p:nvSpPr>
          <p:cNvPr id="5" name="Text 3"/>
          <p:cNvSpPr/>
          <p:nvPr/>
        </p:nvSpPr>
        <p:spPr>
          <a:xfrm>
            <a:off x="640080" y="2011680"/>
            <a:ext cx="7863840" cy="457200"/>
          </a:xfrm>
          <a:prstGeom prst="rect">
            <a:avLst/>
          </a:prstGeom>
          <a:noFill/>
          <a:ln/>
        </p:spPr>
        <p:txBody>
          <a:bodyPr wrap="square" lIns="0" tIns="0" rIns="0" bIns="0" rtlCol="0" anchor="ctr"/>
          <a:lstStyle/>
          <a:p>
            <a:pPr indent="0" marL="0">
              <a:buNone/>
            </a:pPr>
            <a:r>
              <a:rPr lang="en-US" sz="1400" dirty="0">
                <a:solidFill>
                  <a:srgbClr val="64748B"/>
                </a:solidFill>
                <a:latin typeface="Calibri" pitchFamily="34" charset="0"/>
                <a:ea typeface="Calibri" pitchFamily="34" charset="-122"/>
                <a:cs typeface="Calibri" pitchFamily="34" charset="-120"/>
              </a:rPr>
              <a:t>Follow the writing prompt for today's workshop.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2026-07-11T14:32:39Z</dcterms:created>
  <dcterms:modified xsi:type="dcterms:W3CDTF">2026-07-11T14:32:39Z</dcterms:modified>
</cp:coreProperties>
</file>