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1.3. Reading: Chapter 1 (reread).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Good readers preview a text and ask questions . This week you have been learning this skill. Today, apply it on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Corrected: 
Look for: “What’s going on here ?” Stanley called out cheerfully from beneath the enormous board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Corrected: 
Look for: “What’s going on here ?” Stanley called out cheerfully from beneath the enormous board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appears in the chapters read this week, in the author’s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 envelope arrived in California., Everyone in the family stared., Stanley rolled up his sleeves., The museum thieves came at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 envelope arrived in California., Everyone in the family stared., Stanley rolled up his sleeves., The museum thieves came at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closed: shut, help, lost, trap | not closed: made, ride, bone, tube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closed: shut, help, lost, trap | not closed: made, ride, bone, tube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stage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Launch: Reading Routines</a:t>
            </a:r>
            <a:endParaRPr lang="en-US" sz="34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55C8E8"/>
                </a:solidFill>
                <a:latin typeface="Calibri" pitchFamily="34" charset="0"/>
                <a:ea typeface="Calibri" pitchFamily="34" charset="-122"/>
                <a:cs typeface="Calibri" pitchFamily="34" charset="-120"/>
              </a:rPr>
              <a:t>Lesson 1.3  ·  Chapter 1 (reread)</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Curiosity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Write about a morning that did not go the way you expected.</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Write about a morning that did not go the way you expected.</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use a capital letter for every name?</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Chapter 1 (reread)</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Think about what you have read so far. Stanley has discovered some things he can do because he is flat. Would you want to be flat? What is one advantage and one problem you can think of?</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Good readers preview a text and ask questions . This week you have been learning this skill. Today, apply it on your own: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FIX THESE SENTENCES</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“Across it lay the enormous bulletin board that Mr. Lambchop had given the boys a Christmas ago so that they could pin up pictures and messages and maps.”</a:t>
            </a:r>
            <a:endParaRPr lang="en-US" sz="1700" dirty="0"/>
          </a:p>
        </p:txBody>
      </p:sp>
      <p:sp>
        <p:nvSpPr>
          <p:cNvPr id="7" name="Shape 5"/>
          <p:cNvSpPr/>
          <p:nvPr/>
        </p:nvSpPr>
        <p:spPr>
          <a:xfrm>
            <a:off x="365760" y="1874520"/>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200253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whats going on here stanley called out cheerfully from beneath the enormous board</a:t>
            </a:r>
            <a:endParaRPr lang="en-US" sz="1700" dirty="0"/>
          </a:p>
        </p:txBody>
      </p:sp>
      <p:sp>
        <p:nvSpPr>
          <p:cNvPr id="9" name="Text 7"/>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both sentences correctly in your notebook.</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FIX THESE SENTENCES</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“Across it lay the enormous bulletin board that Mr. Lambchop had given the boys a Christmas ago so that they could pin up pictures and messages and maps.”</a:t>
            </a:r>
            <a:endParaRPr lang="en-US" sz="1700" dirty="0"/>
          </a:p>
        </p:txBody>
      </p:sp>
      <p:sp>
        <p:nvSpPr>
          <p:cNvPr id="7" name="Shape 5"/>
          <p:cNvSpPr/>
          <p:nvPr/>
        </p:nvSpPr>
        <p:spPr>
          <a:xfrm>
            <a:off x="365760" y="1874520"/>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200253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whats going on here stanley called out cheerfully from beneath the enormous board</a:t>
            </a:r>
            <a:endParaRPr lang="en-US" sz="1700" dirty="0"/>
          </a:p>
        </p:txBody>
      </p:sp>
      <p:sp>
        <p:nvSpPr>
          <p:cNvPr id="9" name="Shape 7"/>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1" name="Text 9"/>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Corrected:</a:t>
            </a:r>
            <a:endParaRPr lang="en-US" sz="1400" dirty="0"/>
          </a:p>
          <a:p>
            <a:pPr indent="0" marL="0">
              <a:buNone/>
            </a:pPr>
            <a:endParaRPr lang="en-US" sz="1400" dirty="0"/>
          </a:p>
        </p:txBody>
      </p:sp>
      <p:sp>
        <p:nvSpPr>
          <p:cNvPr id="12" name="Text 10"/>
          <p:cNvSpPr/>
          <p:nvPr/>
        </p:nvSpPr>
        <p:spPr>
          <a:xfrm>
            <a:off x="566928" y="3767328"/>
            <a:ext cx="8010144"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“What’s going on here ?” Stanley called out cheerfully from beneath the enormous board .</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WHAT IS A BASE WORD?</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help → help + ing = helping — base word gets a new ending</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call → call + ed = called — base word + past ending</a:t>
            </a:r>
            <a:endParaRPr lang="en-US" sz="1500" dirty="0"/>
          </a:p>
        </p:txBody>
      </p:sp>
      <p:sp>
        <p:nvSpPr>
          <p:cNvPr id="9" name="Shape 7"/>
          <p:cNvSpPr/>
          <p:nvPr/>
        </p:nvSpPr>
        <p:spPr>
          <a:xfrm>
            <a:off x="365760" y="2487168"/>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06040"/>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Practice: Find the Base Word!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Vocabulary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THIS WEEK'S WORDS</a:t>
            </a:r>
            <a:endParaRPr lang="en-US" sz="1100" dirty="0"/>
          </a:p>
        </p:txBody>
      </p:sp>
      <p:sp>
        <p:nvSpPr>
          <p:cNvPr id="5" name="Shape 3"/>
          <p:cNvSpPr/>
          <p:nvPr/>
        </p:nvSpPr>
        <p:spPr>
          <a:xfrm>
            <a:off x="365760" y="109728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enormous  </a:t>
            </a:r>
            <a:pPr indent="0" marL="0">
              <a:buNone/>
            </a:pPr>
            <a:endParaRPr lang="en-US" sz="1700" dirty="0"/>
          </a:p>
        </p:txBody>
      </p:sp>
      <p:sp>
        <p:nvSpPr>
          <p:cNvPr id="7" name="Shape 5"/>
          <p:cNvSpPr/>
          <p:nvPr/>
        </p:nvSpPr>
        <p:spPr>
          <a:xfrm>
            <a:off x="365760" y="18288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examined  </a:t>
            </a:r>
            <a:pPr indent="0" marL="0">
              <a:buNone/>
            </a:pPr>
            <a:endParaRPr lang="en-US" sz="1700" dirty="0"/>
          </a:p>
        </p:txBody>
      </p:sp>
      <p:sp>
        <p:nvSpPr>
          <p:cNvPr id="9" name="Shape 7"/>
          <p:cNvSpPr/>
          <p:nvPr/>
        </p:nvSpPr>
        <p:spPr>
          <a:xfrm>
            <a:off x="365760" y="256032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bulletin  </a:t>
            </a:r>
            <a:pPr indent="0" marL="0">
              <a:buNone/>
            </a:pPr>
            <a:endParaRPr lang="en-US" sz="1700" dirty="0"/>
          </a:p>
        </p:txBody>
      </p:sp>
      <p:sp>
        <p:nvSpPr>
          <p:cNvPr id="11" name="Shape 9"/>
          <p:cNvSpPr/>
          <p:nvPr/>
        </p:nvSpPr>
        <p:spPr>
          <a:xfrm>
            <a:off x="365760" y="329184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marvel  </a:t>
            </a:r>
            <a:pPr indent="0" marL="0">
              <a:buNone/>
            </a:pP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COMPLETE SENTENCES</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envelope arrived in California.   |   The envelope from California.</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Everyone in the whole family.   |   Everyone in the family stared.</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Stanley rolled up his sleeves.   |   Rolled up his sleeves.</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museum thieves at night.   |   The museum thieves came at night.</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Your turn. Tap the choice that would finish the thought and make a complete sentence. Tap to check — green means you got it.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COMPLETE SENTENCES</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b="1" dirty="0">
                <a:solidFill>
                  <a:srgbClr val="34B76F"/>
                </a:solidFill>
                <a:latin typeface="Calibri" pitchFamily="34" charset="0"/>
                <a:ea typeface="Calibri" pitchFamily="34" charset="-122"/>
                <a:cs typeface="Calibri" pitchFamily="34" charset="-120"/>
              </a:rPr>
              <a:t>The envelope arrived in California.</a:t>
            </a:r>
            <a:pPr indent="0" marL="0">
              <a:buNone/>
            </a:pPr>
            <a:r>
              <a:rPr lang="en-US" sz="1600" dirty="0">
                <a:solidFill>
                  <a:srgbClr val="1E293B"/>
                </a:solidFill>
                <a:latin typeface="Calibri" pitchFamily="34" charset="0"/>
                <a:ea typeface="Calibri" pitchFamily="34" charset="-122"/>
                <a:cs typeface="Calibri" pitchFamily="34" charset="-120"/>
              </a:rPr>
              <a:t>   |   The envelope from California.</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Everyone in the whole family.   |   </a:t>
            </a:r>
            <a:pPr indent="0" marL="0">
              <a:buNone/>
            </a:pPr>
            <a:r>
              <a:rPr lang="en-US" sz="1600" b="1" dirty="0">
                <a:solidFill>
                  <a:srgbClr val="34B76F"/>
                </a:solidFill>
                <a:latin typeface="Calibri" pitchFamily="34" charset="0"/>
                <a:ea typeface="Calibri" pitchFamily="34" charset="-122"/>
                <a:cs typeface="Calibri" pitchFamily="34" charset="-120"/>
              </a:rPr>
              <a:t>Everyone in the family stared.</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b="1" dirty="0">
                <a:solidFill>
                  <a:srgbClr val="34B76F"/>
                </a:solidFill>
                <a:latin typeface="Calibri" pitchFamily="34" charset="0"/>
                <a:ea typeface="Calibri" pitchFamily="34" charset="-122"/>
                <a:cs typeface="Calibri" pitchFamily="34" charset="-120"/>
              </a:rPr>
              <a:t>Stanley rolled up his sleeves.</a:t>
            </a:r>
            <a:pPr indent="0" marL="0">
              <a:buNone/>
            </a:pPr>
            <a:r>
              <a:rPr lang="en-US" sz="1600" dirty="0">
                <a:solidFill>
                  <a:srgbClr val="1E293B"/>
                </a:solidFill>
                <a:latin typeface="Calibri" pitchFamily="34" charset="0"/>
                <a:ea typeface="Calibri" pitchFamily="34" charset="-122"/>
                <a:cs typeface="Calibri" pitchFamily="34" charset="-120"/>
              </a:rPr>
              <a:t>   |   Rolled up his sleeves.</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museum thieves at night.   |   </a:t>
            </a:r>
            <a:pPr indent="0" marL="0">
              <a:buNone/>
            </a:pPr>
            <a:r>
              <a:rPr lang="en-US" sz="1600" b="1" dirty="0">
                <a:solidFill>
                  <a:srgbClr val="34B76F"/>
                </a:solidFill>
                <a:latin typeface="Calibri" pitchFamily="34" charset="0"/>
                <a:ea typeface="Calibri" pitchFamily="34" charset="-122"/>
                <a:cs typeface="Calibri" pitchFamily="34" charset="-120"/>
              </a:rPr>
              <a:t>The museum thieves came at night.</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  Answers revealed</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CLOSED SYLLABLES AND SHORT VOWELS REVIEW</a:t>
            </a:r>
            <a:endParaRPr lang="en-US" sz="1100" dirty="0"/>
          </a:p>
        </p:txBody>
      </p:sp>
      <p:sp>
        <p:nvSpPr>
          <p:cNvPr id="5" name="Text 3"/>
          <p:cNvSpPr/>
          <p:nvPr/>
        </p:nvSpPr>
        <p:spPr>
          <a:xfrm>
            <a:off x="365760" y="1078992"/>
            <a:ext cx="8229600" cy="237744"/>
          </a:xfrm>
          <a:prstGeom prst="rect">
            <a:avLst/>
          </a:prstGeom>
          <a:noFill/>
          <a:ln/>
        </p:spPr>
        <p:txBody>
          <a:bodyPr wrap="square" lIns="0" tIns="0" rIns="0" bIns="0" rtlCol="0" anchor="ctr"/>
          <a:lstStyle/>
          <a:p>
            <a:pPr indent="0" marL="0">
              <a:buNone/>
            </a:pPr>
            <a:r>
              <a:rPr lang="en-US" sz="1100" b="1" spc="1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6" name="Shape 4"/>
          <p:cNvSpPr/>
          <p:nvPr/>
        </p:nvSpPr>
        <p:spPr>
          <a:xfrm>
            <a:off x="365760" y="1353312"/>
            <a:ext cx="8412480" cy="1005840"/>
          </a:xfrm>
          <a:prstGeom prst="roundRect">
            <a:avLst>
              <a:gd name="adj" fmla="val 9091"/>
            </a:avLst>
          </a:prstGeom>
          <a:solidFill>
            <a:srgbClr val="FFFFFF"/>
          </a:solidFill>
          <a:ln w="19050">
            <a:solidFill>
              <a:srgbClr val="0E1C42"/>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81328"/>
            <a:ext cx="7955280" cy="749808"/>
          </a:xfrm>
          <a:prstGeom prst="rect">
            <a:avLst/>
          </a:prstGeom>
          <a:noFill/>
          <a:ln/>
        </p:spPr>
        <p:txBody>
          <a:bodyPr wrap="square" lIns="0" tIns="0" rIns="0" bIns="0" rtlCol="0" anchor="ctr"/>
          <a:lstStyle/>
          <a:p>
            <a:pPr indent="0" marL="0">
              <a:buNone/>
            </a:pPr>
            <a:r>
              <a:rPr lang="en-US" sz="1700" dirty="0">
                <a:solidFill>
                  <a:srgbClr val="0E1C42"/>
                </a:solidFill>
                <a:latin typeface="Calibri" pitchFamily="34" charset="0"/>
                <a:ea typeface="Calibri" pitchFamily="34" charset="-122"/>
                <a:cs typeface="Calibri" pitchFamily="34" charset="-120"/>
              </a:rPr>
              <a:t>shut   ·   help   ·   lost   ·   trap   ·   made   ·   ride   ·   bone   ·   tube</a:t>
            </a:r>
            <a:endParaRPr lang="en-US" sz="1700" dirty="0"/>
          </a:p>
        </p:txBody>
      </p:sp>
      <p:sp>
        <p:nvSpPr>
          <p:cNvPr id="8" name="Text 6"/>
          <p:cNvSpPr/>
          <p:nvPr/>
        </p:nvSpPr>
        <p:spPr>
          <a:xfrm>
            <a:off x="365760" y="2514600"/>
            <a:ext cx="8412480" cy="45720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Which column does each word belong in?  Columns: closed  |  not closed</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CLOSED SYLLABLES AND SHORT VOWELS REVIEW</a:t>
            </a:r>
            <a:endParaRPr lang="en-US" sz="1100" dirty="0"/>
          </a:p>
        </p:txBody>
      </p:sp>
      <p:sp>
        <p:nvSpPr>
          <p:cNvPr id="5" name="Shape 3"/>
          <p:cNvSpPr/>
          <p:nvPr/>
        </p:nvSpPr>
        <p:spPr>
          <a:xfrm>
            <a:off x="411480" y="1078992"/>
            <a:ext cx="4114800" cy="457200"/>
          </a:xfrm>
          <a:prstGeom prst="roundRect">
            <a:avLst>
              <a:gd name="adj" fmla="val 16000"/>
            </a:avLst>
          </a:prstGeom>
          <a:solidFill>
            <a:srgbClr val="0E1C42"/>
          </a:solidFill>
          <a:ln/>
        </p:spPr>
      </p:sp>
      <p:sp>
        <p:nvSpPr>
          <p:cNvPr id="6" name="Text 4"/>
          <p:cNvSpPr/>
          <p:nvPr/>
        </p:nvSpPr>
        <p:spPr>
          <a:xfrm>
            <a:off x="457200" y="1133856"/>
            <a:ext cx="40233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closed</a:t>
            </a:r>
            <a:endParaRPr lang="en-US" sz="1300" dirty="0"/>
          </a:p>
        </p:txBody>
      </p:sp>
      <p:sp>
        <p:nvSpPr>
          <p:cNvPr id="7" name="Shape 5"/>
          <p:cNvSpPr/>
          <p:nvPr/>
        </p:nvSpPr>
        <p:spPr>
          <a:xfrm>
            <a:off x="411480" y="1591056"/>
            <a:ext cx="411480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02920" y="1700784"/>
            <a:ext cx="393192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shut</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help</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lost</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trap</a:t>
            </a:r>
            <a:endParaRPr lang="en-US" sz="1400" dirty="0"/>
          </a:p>
        </p:txBody>
      </p:sp>
      <p:sp>
        <p:nvSpPr>
          <p:cNvPr id="9" name="Shape 7"/>
          <p:cNvSpPr/>
          <p:nvPr/>
        </p:nvSpPr>
        <p:spPr>
          <a:xfrm>
            <a:off x="4617720" y="1078992"/>
            <a:ext cx="4114800" cy="457200"/>
          </a:xfrm>
          <a:prstGeom prst="roundRect">
            <a:avLst>
              <a:gd name="adj" fmla="val 16000"/>
            </a:avLst>
          </a:prstGeom>
          <a:solidFill>
            <a:srgbClr val="0E1C42"/>
          </a:solidFill>
          <a:ln/>
        </p:spPr>
      </p:sp>
      <p:sp>
        <p:nvSpPr>
          <p:cNvPr id="10" name="Text 8"/>
          <p:cNvSpPr/>
          <p:nvPr/>
        </p:nvSpPr>
        <p:spPr>
          <a:xfrm>
            <a:off x="4663440" y="1133856"/>
            <a:ext cx="40233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not closed</a:t>
            </a:r>
            <a:endParaRPr lang="en-US" sz="1300" dirty="0"/>
          </a:p>
        </p:txBody>
      </p:sp>
      <p:sp>
        <p:nvSpPr>
          <p:cNvPr id="11" name="Shape 9"/>
          <p:cNvSpPr/>
          <p:nvPr/>
        </p:nvSpPr>
        <p:spPr>
          <a:xfrm>
            <a:off x="4617720" y="1591056"/>
            <a:ext cx="411480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4709160" y="1700784"/>
            <a:ext cx="393192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made</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ride</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bone</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tube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Chapter 1 (reread)</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COPYWORK — FROM THE NOVEL</a:t>
            </a:r>
            <a:endParaRPr lang="en-US" sz="1100" dirty="0"/>
          </a:p>
        </p:txBody>
      </p:sp>
      <p:sp>
        <p:nvSpPr>
          <p:cNvPr id="6" name="Shape 4"/>
          <p:cNvSpPr/>
          <p:nvPr/>
        </p:nvSpPr>
        <p:spPr>
          <a:xfrm>
            <a:off x="365760" y="1719072"/>
            <a:ext cx="8412480" cy="1143000"/>
          </a:xfrm>
          <a:prstGeom prst="roundRect">
            <a:avLst>
              <a:gd name="adj" fmla="val 8000"/>
            </a:avLst>
          </a:prstGeom>
          <a:solidFill>
            <a:srgbClr val="F0E8FF"/>
          </a:solidFill>
          <a:ln w="19050">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47088"/>
            <a:ext cx="7955280" cy="88696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““Across it lay the enormous bulletin board that Mr. Lambchop had given the boys a Christmas ago so that they could pin up pictures and messages and maps.””</a:t>
            </a:r>
            <a:endParaRPr lang="en-US" sz="1700" dirty="0"/>
          </a:p>
        </p:txBody>
      </p:sp>
      <p:sp>
        <p:nvSpPr>
          <p:cNvPr id="8" name="Text 6"/>
          <p:cNvSpPr/>
          <p:nvPr/>
        </p:nvSpPr>
        <p:spPr>
          <a:xfrm>
            <a:off x="365760" y="301752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9" name="Text 7"/>
          <p:cNvSpPr/>
          <p:nvPr/>
        </p:nvSpPr>
        <p:spPr>
          <a:xfrm>
            <a:off x="365760" y="327355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Think about what you have read so far. Stanley has discovered some things he can do because he is flat. Would you want to be flat? What is one advantage and one problem you can think of?</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Writer’s Workshop</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THIS WEEK’S STAGE</a:t>
            </a:r>
            <a:endParaRPr lang="en-US" sz="1100" dirty="0"/>
          </a:p>
        </p:txBody>
      </p:sp>
      <p:sp>
        <p:nvSpPr>
          <p:cNvPr id="5" name="Text 3"/>
          <p:cNvSpPr/>
          <p:nvPr/>
        </p:nvSpPr>
        <p:spPr>
          <a:xfrm>
            <a:off x="365760" y="1078992"/>
            <a:ext cx="8412480" cy="548640"/>
          </a:xfrm>
          <a:prstGeom prst="rect">
            <a:avLst/>
          </a:prstGeom>
          <a:noFill/>
          <a:ln/>
        </p:spPr>
        <p:txBody>
          <a:bodyPr wrap="square" lIns="0" tIns="0" rIns="0" bIns="0" rtlCol="0" anchor="ctr"/>
          <a:lstStyle/>
          <a:p>
            <a:pPr indent="0" marL="0">
              <a:buNone/>
            </a:pPr>
            <a:r>
              <a:rPr lang="en-US" sz="3000" b="1" dirty="0">
                <a:solidFill>
                  <a:srgbClr val="0E1C42"/>
                </a:solidFill>
                <a:latin typeface="Calibri" pitchFamily="34" charset="0"/>
                <a:ea typeface="Calibri" pitchFamily="34" charset="-122"/>
                <a:cs typeface="Calibri" pitchFamily="34" charset="-120"/>
              </a:rPr>
              <a:t>SEED IDEAS</a:t>
            </a:r>
            <a:endParaRPr lang="en-US" sz="3000" dirty="0"/>
          </a:p>
        </p:txBody>
      </p:sp>
      <p:sp>
        <p:nvSpPr>
          <p:cNvPr id="6" name="Text 4"/>
          <p:cNvSpPr/>
          <p:nvPr/>
        </p:nvSpPr>
        <p:spPr>
          <a:xfrm>
            <a:off x="365760" y="1691640"/>
            <a:ext cx="8412480" cy="457200"/>
          </a:xfrm>
          <a:prstGeom prst="rect">
            <a:avLst/>
          </a:prstGeom>
          <a:noFill/>
          <a:ln/>
        </p:spPr>
        <p:txBody>
          <a:bodyPr wrap="square" lIns="0" tIns="0" rIns="0" bIns="0" rtlCol="0" anchor="ctr"/>
          <a:lstStyle/>
          <a:p>
            <a:pPr indent="0" marL="0">
              <a:buNone/>
            </a:pPr>
            <a:r>
              <a:rPr lang="en-US" sz="1800" dirty="0">
                <a:solidFill>
                  <a:srgbClr val="1E293B"/>
                </a:solidFill>
                <a:latin typeface="Calibri" pitchFamily="34" charset="0"/>
                <a:ea typeface="Calibri" pitchFamily="34" charset="-122"/>
                <a:cs typeface="Calibri" pitchFamily="34" charset="-120"/>
              </a:rPr>
              <a:t>Add feelings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2026-09-07T02:56:15Z</dcterms:created>
  <dcterms:modified xsi:type="dcterms:W3CDTF">2026-09-07T02:56:15Z</dcterms:modified>
</cp:coreProperties>
</file>