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1, Day 3
Rereading Chapter 1
Virtue: Cheerfulness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We read all of Chapter 1 and thought about Stanley’s reaction to being flat. His family called Dr. Dan, who said he'd keep an eye on Stanley.
Today: Reread Chapter 1 with a new purpose: asking questions. What do you still wonder about?
Big Q: Good readers ask questions while they read. What's one thing you're still wondering about Stanley after Chapter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Model: "As a pancake," said Mr. Lambchop. "Darndest thing I've ever seen."
Each piece of dialogue gets its OWN set of quotation marks. The comma after "pancake" goes inside the closing quote. The apostrophe in "I've" shows a contraction (I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 whats going on here stanley called out cheerfully from beneath the enormous board
Errors: add apostrophe for What's, capitalize Stanley, add question mark + closing quote after here? add period at end
Answer: "What's going on here?" Stanley called out cheerfully from beneath the enormous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 whats going on here stanley called out cheerfully from beneath the enormous board
Errors: add apostrophe for What's, capitalize Stanley, add question mark + closing quote after here? add period at end
Answer: "What's going on here?" Stanley called out cheerfully from beneath the enormous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Copywork: "As a pancake," said Mr. Lambchop. "Darndest thing I've ever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Day 3
Items: sleeping-&gt;sleep, cheerfully-&gt;cheer, hurried-&gt;hurry, unroll-&gt;roll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Day 3 (Context Clues)
Words: bulletin, examined, enormous, marvel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Day 3
Arthur pointed to the bed.: Complete | Flat as a pancake.: Fragment | Dr. Dan examined Stanley.: Complete | The enormous board on top of.: Fragment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Day 3
Arthur pointed to the bed.: Complete | Flat as a pancake.: Fragment | Dr. Dan examined Stanley.: Complete | The enormous board on top of.: Fragment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Day 3
Closed: shut, help, lost, trap
Not closed: made, ride, bone, tube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Day 3
Closed: shut, help, lost, trap
Not closed: made, ride, bone, tube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Chapter 1 (Reread) — Asking Questions
WGRD: Stanley is four feet tall, a foot wide, and half an inch thick. What questions do you have about how his life will change?
Pause: What is ONE thing you noticed on the reread that you missed the first time? | What question do you still have after rereading Chapter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Comprehension:
Q1: List three things that happen in Chapter 1 in the correct order.
Q2: Why is Stanley cheerful even though a board fell on him? What does this tell you about him?
Q3: Write one question you still have after reading Chapter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Day 3
Stage: SEED IDEAS — Write 2–3 sentences about your chosen moment. Focus on the FEELING — not just what happened, but how it felt inside.
RWM: But Stanley was not hurt.
Prompt: Stanley calls out cheerfully from under the board. Write 2–3 sentences about a time you reacted in a way that surprised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Shape 0"/>
          <p:cNvSpPr/>
          <p:nvPr/>
        </p:nvSpPr>
        <p:spPr>
          <a:xfrm>
            <a:off x="0" y="4069080"/>
            <a:ext cx="9144000" cy="1097280"/>
          </a:xfrm>
          <a:prstGeom prst="rect">
            <a:avLst/>
          </a:prstGeom>
          <a:solidFill>
            <a:srgbClr val="55C8E8">
              <a:alpha val="15000"/>
            </a:srgbClr>
          </a:solidFill>
          <a:ln/>
        </p:spPr>
      </p:sp>
      <p:sp>
        <p:nvSpPr>
          <p:cNvPr id="3" name="Text 1"/>
          <p:cNvSpPr/>
          <p:nvPr/>
        </p:nvSpPr>
        <p:spPr>
          <a:xfrm>
            <a:off x="457200" y="594360"/>
            <a:ext cx="8229600" cy="365760"/>
          </a:xfrm>
          <a:prstGeom prst="rect">
            <a:avLst/>
          </a:prstGeom>
          <a:noFill/>
          <a:ln/>
        </p:spPr>
        <p:txBody>
          <a:bodyPr wrap="square" lIns="0" tIns="0" rIns="0" bIns="0" rtlCol="0" anchor="ctr"/>
          <a:lstStyle/>
          <a:p>
            <a:pPr algn="l" indent="0" marL="0">
              <a:buNone/>
            </a:pPr>
            <a:r>
              <a:rPr lang="en-US" sz="1200" b="1" spc="400" kern="0" dirty="0">
                <a:solidFill>
                  <a:srgbClr val="55C8E8"/>
                </a:solidFill>
                <a:latin typeface="Calibri" pitchFamily="34" charset="0"/>
                <a:ea typeface="Calibri" pitchFamily="34" charset="-122"/>
                <a:cs typeface="Calibri" pitchFamily="34" charset="-120"/>
              </a:rPr>
              <a:t>WEEK 1  ·  DAY 3</a:t>
            </a:r>
            <a:endParaRPr lang="en-US" sz="1200" dirty="0"/>
          </a:p>
        </p:txBody>
      </p:sp>
      <p:sp>
        <p:nvSpPr>
          <p:cNvPr id="4" name="Text 2"/>
          <p:cNvSpPr/>
          <p:nvPr/>
        </p:nvSpPr>
        <p:spPr>
          <a:xfrm>
            <a:off x="457200" y="1051560"/>
            <a:ext cx="8229600" cy="1828800"/>
          </a:xfrm>
          <a:prstGeom prst="rect">
            <a:avLst/>
          </a:prstGeom>
          <a:noFill/>
          <a:ln/>
        </p:spPr>
        <p:txBody>
          <a:bodyPr wrap="square" lIns="0" tIns="0" rIns="0" bIns="0" rtlCol="0" anchor="ctr"/>
          <a:lstStyle/>
          <a:p>
            <a:pPr algn="l" indent="0" marL="0">
              <a:buNone/>
            </a:pPr>
            <a:r>
              <a:rPr lang="en-US" sz="3400" b="1" dirty="0">
                <a:solidFill>
                  <a:srgbClr val="FFFFFF"/>
                </a:solidFill>
                <a:latin typeface="Calibri" pitchFamily="34" charset="0"/>
                <a:ea typeface="Calibri" pitchFamily="34" charset="-122"/>
                <a:cs typeface="Calibri" pitchFamily="34" charset="-120"/>
              </a:rPr>
              <a:t>Rereading Chapter 1</a:t>
            </a:r>
            <a:endParaRPr lang="en-US" sz="3400" dirty="0"/>
          </a:p>
        </p:txBody>
      </p:sp>
      <p:sp>
        <p:nvSpPr>
          <p:cNvPr id="5" name="Text 3"/>
          <p:cNvSpPr/>
          <p:nvPr/>
        </p:nvSpPr>
        <p:spPr>
          <a:xfrm>
            <a:off x="457200" y="2880360"/>
            <a:ext cx="8229600" cy="502920"/>
          </a:xfrm>
          <a:prstGeom prst="rect">
            <a:avLst/>
          </a:prstGeom>
          <a:noFill/>
          <a:ln/>
        </p:spPr>
        <p:txBody>
          <a:bodyPr wrap="square" lIns="0" tIns="0" rIns="0" bIns="0" rtlCol="0" anchor="ctr"/>
          <a:lstStyle/>
          <a:p>
            <a:pPr algn="l" indent="0" marL="0">
              <a:buNone/>
            </a:pPr>
            <a:r>
              <a:rPr lang="en-US" sz="1800" dirty="0">
                <a:solidFill>
                  <a:srgbClr val="55C8E8"/>
                </a:solidFill>
                <a:latin typeface="Calibri" pitchFamily="34" charset="0"/>
                <a:ea typeface="Calibri" pitchFamily="34" charset="-122"/>
                <a:cs typeface="Calibri" pitchFamily="34" charset="-120"/>
              </a:rPr>
              <a:t>Flat Stanley  ·  Jeff Brown  ·  3rd Grade ELA</a:t>
            </a:r>
            <a:endParaRPr lang="en-US" sz="1800" dirty="0"/>
          </a:p>
        </p:txBody>
      </p:sp>
      <p:sp>
        <p:nvSpPr>
          <p:cNvPr id="6" name="Text 4"/>
          <p:cNvSpPr/>
          <p:nvPr/>
        </p:nvSpPr>
        <p:spPr>
          <a:xfrm>
            <a:off x="457200" y="443484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Week 1  ·  Virtue: Cheerfulness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700" b="1" dirty="0">
                <a:solidFill>
                  <a:srgbClr val="0E1C42"/>
                </a:solidFill>
                <a:latin typeface="Calibri" pitchFamily="34" charset="0"/>
                <a:ea typeface="Calibri" pitchFamily="34" charset="-122"/>
                <a:cs typeface="Calibri" pitchFamily="34" charset="-120"/>
              </a:rPr>
              <a:t>Quick Recap + Today's Focus</a:t>
            </a:r>
            <a:endParaRPr lang="en-US" sz="27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64592"/>
            <a:ext cx="2286000" cy="512064"/>
          </a:xfrm>
          <a:prstGeom prst="roundRect">
            <a:avLst>
              <a:gd name="adj" fmla="val 21429"/>
            </a:avLst>
          </a:prstGeom>
          <a:solidFill>
            <a:srgbClr val="55C8E8"/>
          </a:solidFill>
          <a:ln/>
        </p:spPr>
      </p:sp>
      <p:sp>
        <p:nvSpPr>
          <p:cNvPr id="5" name="Text 3"/>
          <p:cNvSpPr/>
          <p:nvPr/>
        </p:nvSpPr>
        <p:spPr>
          <a:xfrm>
            <a:off x="6492240" y="164592"/>
            <a:ext cx="2286000" cy="512064"/>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41248"/>
            <a:ext cx="8229600" cy="274320"/>
          </a:xfrm>
          <a:prstGeom prst="rect">
            <a:avLst/>
          </a:prstGeom>
          <a:noFill/>
          <a:ln/>
        </p:spPr>
        <p:txBody>
          <a:bodyPr wrap="square" lIns="0" tIns="0" rIns="0" bIns="0" rtlCol="0" anchor="ctr"/>
          <a:lstStyle/>
          <a:p>
            <a:pPr indent="0" marL="0">
              <a:buNone/>
            </a:pPr>
            <a:r>
              <a:rPr lang="en-US" sz="1000" b="1" spc="200" kern="0" dirty="0">
                <a:solidFill>
                  <a:srgbClr val="64748B"/>
                </a:solidFill>
                <a:latin typeface="Calibri" pitchFamily="34" charset="0"/>
                <a:ea typeface="Calibri" pitchFamily="34" charset="-122"/>
                <a:cs typeface="Calibri" pitchFamily="34" charset="-120"/>
              </a:rPr>
              <a:t>YESTERDAY WE...</a:t>
            </a:r>
            <a:endParaRPr lang="en-US" sz="1000" dirty="0"/>
          </a:p>
        </p:txBody>
      </p:sp>
      <p:sp>
        <p:nvSpPr>
          <p:cNvPr id="7" name="Shape 5"/>
          <p:cNvSpPr/>
          <p:nvPr/>
        </p:nvSpPr>
        <p:spPr>
          <a:xfrm>
            <a:off x="365760" y="1133856"/>
            <a:ext cx="8412480" cy="749808"/>
          </a:xfrm>
          <a:prstGeom prst="roundRect">
            <a:avLst>
              <a:gd name="adj" fmla="val 12195"/>
            </a:avLst>
          </a:prstGeom>
          <a:solidFill>
            <a:srgbClr val="F8FAFC"/>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225296"/>
            <a:ext cx="8046720" cy="548640"/>
          </a:xfrm>
          <a:prstGeom prst="rect">
            <a:avLst/>
          </a:prstGeom>
          <a:noFill/>
          <a:ln/>
        </p:spPr>
        <p:txBody>
          <a:bodyPr wrap="square" lIns="0" tIns="0" rIns="0" bIns="0" rtlCol="0" anchor="ctr"/>
          <a:lstStyle/>
          <a:p>
            <a:pPr indent="0" marL="0">
              <a:buNone/>
            </a:pPr>
            <a:r>
              <a:rPr lang="en-US" sz="1700" i="1" dirty="0">
                <a:solidFill>
                  <a:srgbClr val="1E293B"/>
                </a:solidFill>
                <a:latin typeface="Calibri" pitchFamily="34" charset="0"/>
                <a:ea typeface="Calibri" pitchFamily="34" charset="-122"/>
                <a:cs typeface="Calibri" pitchFamily="34" charset="-120"/>
              </a:rPr>
              <a:t>We read all of Chapter 1 and thought about Stanley’s reaction to being flat. His family called Dr. Dan, who said he'd keep an eye on Stanley.</a:t>
            </a:r>
            <a:endParaRPr lang="en-US" sz="1700" dirty="0"/>
          </a:p>
        </p:txBody>
      </p:sp>
      <p:sp>
        <p:nvSpPr>
          <p:cNvPr id="9" name="Text 7"/>
          <p:cNvSpPr/>
          <p:nvPr/>
        </p:nvSpPr>
        <p:spPr>
          <a:xfrm>
            <a:off x="365760" y="2029968"/>
            <a:ext cx="8229600" cy="274320"/>
          </a:xfrm>
          <a:prstGeom prst="rect">
            <a:avLst/>
          </a:prstGeom>
          <a:noFill/>
          <a:ln/>
        </p:spPr>
        <p:txBody>
          <a:bodyPr wrap="square" lIns="0" tIns="0" rIns="0" bIns="0" rtlCol="0" anchor="ctr"/>
          <a:lstStyle/>
          <a:p>
            <a:pPr indent="0" marL="0">
              <a:buNone/>
            </a:pPr>
            <a:r>
              <a:rPr lang="en-US" sz="1000" b="1" spc="200" kern="0" dirty="0">
                <a:solidFill>
                  <a:srgbClr val="64748B"/>
                </a:solidFill>
                <a:latin typeface="Calibri" pitchFamily="34" charset="0"/>
                <a:ea typeface="Calibri" pitchFamily="34" charset="-122"/>
                <a:cs typeface="Calibri" pitchFamily="34" charset="-120"/>
              </a:rPr>
              <a:t>TODAY:</a:t>
            </a:r>
            <a:endParaRPr lang="en-US" sz="1000" dirty="0"/>
          </a:p>
        </p:txBody>
      </p:sp>
      <p:sp>
        <p:nvSpPr>
          <p:cNvPr id="10" name="Shape 8"/>
          <p:cNvSpPr/>
          <p:nvPr/>
        </p:nvSpPr>
        <p:spPr>
          <a:xfrm>
            <a:off x="365760" y="2322576"/>
            <a:ext cx="8412480" cy="658368"/>
          </a:xfrm>
          <a:prstGeom prst="roundRect">
            <a:avLst>
              <a:gd name="adj" fmla="val 13889"/>
            </a:avLst>
          </a:prstGeom>
          <a:solidFill>
            <a:srgbClr val="E5F7FC"/>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11" name="Text 9"/>
          <p:cNvSpPr/>
          <p:nvPr/>
        </p:nvSpPr>
        <p:spPr>
          <a:xfrm>
            <a:off x="548640" y="2414016"/>
            <a:ext cx="8046720" cy="457200"/>
          </a:xfrm>
          <a:prstGeom prst="rect">
            <a:avLst/>
          </a:prstGeom>
          <a:noFill/>
          <a:ln/>
        </p:spPr>
        <p:txBody>
          <a:bodyPr wrap="square" lIns="0" tIns="0" rIns="0" bIns="0" rtlCol="0" anchor="ctr"/>
          <a:lstStyle/>
          <a:p>
            <a:pPr indent="0" marL="0">
              <a:buNone/>
            </a:pPr>
            <a:r>
              <a:rPr lang="en-US" sz="1700" i="1" dirty="0">
                <a:solidFill>
                  <a:srgbClr val="1E293B"/>
                </a:solidFill>
                <a:latin typeface="Calibri" pitchFamily="34" charset="0"/>
                <a:ea typeface="Calibri" pitchFamily="34" charset="-122"/>
                <a:cs typeface="Calibri" pitchFamily="34" charset="-120"/>
              </a:rPr>
              <a:t>Reread Chapter 1 with a new purpose: asking questions. What do you still wonder about?</a:t>
            </a:r>
            <a:endParaRPr lang="en-US" sz="1700" dirty="0"/>
          </a:p>
        </p:txBody>
      </p:sp>
      <p:sp>
        <p:nvSpPr>
          <p:cNvPr id="12" name="Text 10"/>
          <p:cNvSpPr/>
          <p:nvPr/>
        </p:nvSpPr>
        <p:spPr>
          <a:xfrm>
            <a:off x="365760" y="3081528"/>
            <a:ext cx="8229600" cy="274320"/>
          </a:xfrm>
          <a:prstGeom prst="rect">
            <a:avLst/>
          </a:prstGeom>
          <a:noFill/>
          <a:ln/>
        </p:spPr>
        <p:txBody>
          <a:bodyPr wrap="square" lIns="0" tIns="0" rIns="0" bIns="0" rtlCol="0" anchor="ctr"/>
          <a:lstStyle/>
          <a:p>
            <a:pPr indent="0" marL="0">
              <a:buNone/>
            </a:pPr>
            <a:r>
              <a:rPr lang="en-US" sz="1000" b="1" spc="200" kern="0" dirty="0">
                <a:solidFill>
                  <a:srgbClr val="64748B"/>
                </a:solidFill>
                <a:latin typeface="Calibri" pitchFamily="34" charset="0"/>
                <a:ea typeface="Calibri" pitchFamily="34" charset="-122"/>
                <a:cs typeface="Calibri" pitchFamily="34" charset="-120"/>
              </a:rPr>
              <a:t>BIG QUESTION — CHAT ABOUT THIS</a:t>
            </a:r>
            <a:endParaRPr lang="en-US" sz="1000" dirty="0"/>
          </a:p>
        </p:txBody>
      </p:sp>
      <p:sp>
        <p:nvSpPr>
          <p:cNvPr id="13" name="Shape 11"/>
          <p:cNvSpPr/>
          <p:nvPr/>
        </p:nvSpPr>
        <p:spPr>
          <a:xfrm>
            <a:off x="365760" y="3374136"/>
            <a:ext cx="8412480" cy="822960"/>
          </a:xfrm>
          <a:prstGeom prst="roundRect">
            <a:avLst>
              <a:gd name="adj" fmla="val 11111"/>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4" name="Text 12"/>
          <p:cNvSpPr/>
          <p:nvPr/>
        </p:nvSpPr>
        <p:spPr>
          <a:xfrm>
            <a:off x="548640" y="3465576"/>
            <a:ext cx="8046720" cy="621792"/>
          </a:xfrm>
          <a:prstGeom prst="rect">
            <a:avLst/>
          </a:prstGeom>
          <a:noFill/>
          <a:ln/>
        </p:spPr>
        <p:txBody>
          <a:bodyPr wrap="square" lIns="0" tIns="0" rIns="0" bIns="0" rtlCol="0" anchor="ctr"/>
          <a:lstStyle/>
          <a:p>
            <a:pPr indent="0" marL="0">
              <a:buNone/>
            </a:pPr>
            <a:r>
              <a:rPr lang="en-US" sz="1700" i="1" dirty="0">
                <a:solidFill>
                  <a:srgbClr val="1E293B"/>
                </a:solidFill>
                <a:latin typeface="Calibri" pitchFamily="34" charset="0"/>
                <a:ea typeface="Calibri" pitchFamily="34" charset="-122"/>
                <a:cs typeface="Calibri" pitchFamily="34" charset="-120"/>
              </a:rPr>
              <a:t>Good readers ask questions while they read. What's one thing you're still wondering about Stanley after Chapter 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700" b="1" dirty="0">
                <a:solidFill>
                  <a:srgbClr val="0E1C42"/>
                </a:solidFill>
                <a:latin typeface="Calibri" pitchFamily="34" charset="0"/>
                <a:ea typeface="Calibri" pitchFamily="34" charset="-122"/>
                <a:cs typeface="Calibri" pitchFamily="34" charset="-120"/>
              </a:rPr>
              <a:t>Daily Oral Language — Model Sentence</a:t>
            </a:r>
            <a:endParaRPr lang="en-US" sz="27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229600" cy="274320"/>
          </a:xfrm>
          <a:prstGeom prst="rect">
            <a:avLst/>
          </a:prstGeom>
          <a:noFill/>
          <a:ln/>
        </p:spPr>
        <p:txBody>
          <a:bodyPr wrap="square" lIns="0" tIns="0" rIns="0" bIns="0" rtlCol="0" anchor="ctr"/>
          <a:lstStyle/>
          <a:p>
            <a:pPr indent="0" marL="0">
              <a:buNone/>
            </a:pPr>
            <a:r>
              <a:rPr lang="en-US" sz="1000" b="1" spc="200" kern="0" dirty="0">
                <a:solidFill>
                  <a:srgbClr val="34B76F"/>
                </a:solidFill>
                <a:latin typeface="Calibri" pitchFamily="34" charset="0"/>
                <a:ea typeface="Calibri" pitchFamily="34" charset="-122"/>
                <a:cs typeface="Calibri" pitchFamily="34" charset="-120"/>
              </a:rPr>
              <a:t>STUDY WHAT'S DONE RIGHT</a:t>
            </a:r>
            <a:endParaRPr lang="en-US" sz="1000" dirty="0"/>
          </a:p>
        </p:txBody>
      </p:sp>
      <p:sp>
        <p:nvSpPr>
          <p:cNvPr id="5" name="Shape 3"/>
          <p:cNvSpPr/>
          <p:nvPr/>
        </p:nvSpPr>
        <p:spPr>
          <a:xfrm>
            <a:off x="365760" y="1097280"/>
            <a:ext cx="8412480" cy="1005840"/>
          </a:xfrm>
          <a:prstGeom prst="roundRect">
            <a:avLst>
              <a:gd name="adj" fmla="val 9091"/>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70432"/>
            <a:ext cx="7863840" cy="859536"/>
          </a:xfrm>
          <a:prstGeom prst="rect">
            <a:avLst/>
          </a:prstGeom>
          <a:noFill/>
          <a:ln/>
        </p:spPr>
        <p:txBody>
          <a:bodyPr wrap="square" lIns="0" tIns="0" rIns="0" bIns="0" rtlCol="0" anchor="ctr"/>
          <a:lstStyle/>
          <a:p>
            <a:pPr indent="0" marL="0">
              <a:buNone/>
            </a:pPr>
            <a:r>
              <a:rPr lang="en-US" sz="2000" i="1" dirty="0">
                <a:solidFill>
                  <a:srgbClr val="1E293B"/>
                </a:solidFill>
                <a:latin typeface="Calibri" pitchFamily="34" charset="0"/>
                <a:ea typeface="Calibri" pitchFamily="34" charset="-122"/>
                <a:cs typeface="Calibri" pitchFamily="34" charset="-120"/>
              </a:rPr>
              <a:t>"As a pancake," said Mr. Lambchop. "Darndest thing I've ever seen."</a:t>
            </a:r>
            <a:endParaRPr lang="en-US" sz="2000" dirty="0"/>
          </a:p>
        </p:txBody>
      </p:sp>
      <p:sp>
        <p:nvSpPr>
          <p:cNvPr id="7" name="Text 5"/>
          <p:cNvSpPr/>
          <p:nvPr/>
        </p:nvSpPr>
        <p:spPr>
          <a:xfrm>
            <a:off x="365760" y="2212848"/>
            <a:ext cx="8229600" cy="274320"/>
          </a:xfrm>
          <a:prstGeom prst="rect">
            <a:avLst/>
          </a:prstGeom>
          <a:noFill/>
          <a:ln/>
        </p:spPr>
        <p:txBody>
          <a:bodyPr wrap="square" lIns="0" tIns="0" rIns="0" bIns="0" rtlCol="0" anchor="ctr"/>
          <a:lstStyle/>
          <a:p>
            <a:pPr indent="0" marL="0">
              <a:buNone/>
            </a:pPr>
            <a:r>
              <a:rPr lang="en-US" sz="1000" b="1" spc="200" kern="0" dirty="0">
                <a:solidFill>
                  <a:srgbClr val="0E1C42"/>
                </a:solidFill>
                <a:latin typeface="Calibri" pitchFamily="34" charset="0"/>
                <a:ea typeface="Calibri" pitchFamily="34" charset="-122"/>
                <a:cs typeface="Calibri" pitchFamily="34" charset="-120"/>
              </a:rPr>
              <a:t>NOTICE:</a:t>
            </a:r>
            <a:endParaRPr lang="en-US" sz="1000" dirty="0"/>
          </a:p>
        </p:txBody>
      </p:sp>
      <p:sp>
        <p:nvSpPr>
          <p:cNvPr id="8" name="Text 6"/>
          <p:cNvSpPr/>
          <p:nvPr/>
        </p:nvSpPr>
        <p:spPr>
          <a:xfrm>
            <a:off x="457200" y="2487168"/>
            <a:ext cx="8229600" cy="2286000"/>
          </a:xfrm>
          <a:prstGeom prst="rect">
            <a:avLst/>
          </a:prstGeom>
          <a:noFill/>
          <a:ln/>
        </p:spPr>
        <p:txBody>
          <a:bodyPr wrap="square" lIns="0" tIns="0" rIns="0" bIns="0" rtlCol="0" anchor="t"/>
          <a:lstStyle/>
          <a:p>
            <a:pPr indent="0" marL="0">
              <a:buNone/>
            </a:pPr>
            <a:r>
              <a:rPr lang="en-US" sz="1600" dirty="0">
                <a:solidFill>
                  <a:srgbClr val="1E293B"/>
                </a:solidFill>
                <a:latin typeface="Calibri" pitchFamily="34" charset="0"/>
                <a:ea typeface="Calibri" pitchFamily="34" charset="-122"/>
                <a:cs typeface="Calibri" pitchFamily="34" charset="-120"/>
              </a:rPr>
              <a:t>Each piece of dialogue gets its OWN set of quotation marks. The comma after "pancake" goes inside the closing quote. The apostrophe in "I've" shows a contraction (I have).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700" b="1" dirty="0">
                <a:solidFill>
                  <a:srgbClr val="0E1C42"/>
                </a:solidFill>
                <a:latin typeface="Calibri" pitchFamily="34" charset="0"/>
                <a:ea typeface="Calibri" pitchFamily="34" charset="-122"/>
                <a:cs typeface="Calibri" pitchFamily="34" charset="-120"/>
              </a:rPr>
              <a:t>Daily Oral Language — Fix It</a:t>
            </a:r>
            <a:endParaRPr lang="en-US" sz="27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64592"/>
            <a:ext cx="2286000" cy="512064"/>
          </a:xfrm>
          <a:prstGeom prst="roundRect">
            <a:avLst>
              <a:gd name="adj" fmla="val 21429"/>
            </a:avLst>
          </a:prstGeom>
          <a:solidFill>
            <a:srgbClr val="55C8E8"/>
          </a:solidFill>
          <a:ln/>
        </p:spPr>
      </p:sp>
      <p:sp>
        <p:nvSpPr>
          <p:cNvPr id="5" name="Text 3"/>
          <p:cNvSpPr/>
          <p:nvPr/>
        </p:nvSpPr>
        <p:spPr>
          <a:xfrm>
            <a:off x="6492240" y="164592"/>
            <a:ext cx="2286000" cy="512064"/>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229600" cy="274320"/>
          </a:xfrm>
          <a:prstGeom prst="rect">
            <a:avLst/>
          </a:prstGeom>
          <a:noFill/>
          <a:ln/>
        </p:spPr>
        <p:txBody>
          <a:bodyPr wrap="square" lIns="0" tIns="0" rIns="0" bIns="0" rtlCol="0" anchor="ctr"/>
          <a:lstStyle/>
          <a:p>
            <a:pPr indent="0" marL="0">
              <a:buNone/>
            </a:pPr>
            <a:r>
              <a:rPr lang="en-US" sz="1000" b="1" spc="200" kern="0" dirty="0">
                <a:solidFill>
                  <a:srgbClr val="C7922C"/>
                </a:solidFill>
                <a:latin typeface="Calibri" pitchFamily="34" charset="0"/>
                <a:ea typeface="Calibri" pitchFamily="34" charset="-122"/>
                <a:cs typeface="Calibri" pitchFamily="34" charset="-120"/>
              </a:rPr>
              <a:t>NEEDS FIXING</a:t>
            </a:r>
            <a:endParaRPr lang="en-US" sz="1000" dirty="0"/>
          </a:p>
        </p:txBody>
      </p:sp>
      <p:sp>
        <p:nvSpPr>
          <p:cNvPr id="7" name="Shape 5"/>
          <p:cNvSpPr/>
          <p:nvPr/>
        </p:nvSpPr>
        <p:spPr>
          <a:xfrm>
            <a:off x="365760" y="1097280"/>
            <a:ext cx="8412480" cy="914400"/>
          </a:xfrm>
          <a:prstGeom prst="roundRect">
            <a:avLst>
              <a:gd name="adj" fmla="val 1000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863840" cy="768096"/>
          </a:xfrm>
          <a:prstGeom prst="rect">
            <a:avLst/>
          </a:prstGeom>
          <a:noFill/>
          <a:ln/>
        </p:spPr>
        <p:txBody>
          <a:bodyPr wrap="square" lIns="0" tIns="0" rIns="0" bIns="0" rtlCol="0" anchor="ctr"/>
          <a:lstStyle/>
          <a:p>
            <a:pPr indent="0" marL="0">
              <a:buNone/>
            </a:pPr>
            <a:r>
              <a:rPr lang="en-US" sz="1900" i="1" dirty="0">
                <a:solidFill>
                  <a:srgbClr val="1E293B"/>
                </a:solidFill>
                <a:latin typeface="Calibri" pitchFamily="34" charset="0"/>
                <a:ea typeface="Calibri" pitchFamily="34" charset="-122"/>
                <a:cs typeface="Calibri" pitchFamily="34" charset="-120"/>
              </a:rPr>
              <a:t>whats going on here stanley called out cheerfully from beneath the enormous board</a:t>
            </a:r>
            <a:endParaRPr lang="en-US" sz="1900" dirty="0"/>
          </a:p>
        </p:txBody>
      </p:sp>
      <p:sp>
        <p:nvSpPr>
          <p:cNvPr id="9" name="Text 7"/>
          <p:cNvSpPr/>
          <p:nvPr/>
        </p:nvSpPr>
        <p:spPr>
          <a:xfrm>
            <a:off x="457200" y="2121408"/>
            <a:ext cx="8229600" cy="411480"/>
          </a:xfrm>
          <a:prstGeom prst="rect">
            <a:avLst/>
          </a:prstGeom>
          <a:noFill/>
          <a:ln/>
        </p:spPr>
        <p:txBody>
          <a:bodyPr wrap="square" lIns="0" tIns="0" rIns="0" bIns="0" rtlCol="0" anchor="ctr"/>
          <a:lstStyle/>
          <a:p>
            <a:pPr indent="0" marL="0">
              <a:buNone/>
            </a:pPr>
            <a:r>
              <a:rPr lang="en-US" sz="1400" dirty="0">
                <a:solidFill>
                  <a:srgbClr val="0E1C42"/>
                </a:solidFill>
                <a:latin typeface="Calibri" pitchFamily="34" charset="0"/>
                <a:ea typeface="Calibri" pitchFamily="34" charset="-122"/>
                <a:cs typeface="Calibri" pitchFamily="34" charset="-120"/>
              </a:rPr>
              <a:t>Fix: add apostrophe for What's, capitalize Stanley, add question mark + closing quote after here? add period at end</a:t>
            </a:r>
            <a:endParaRPr lang="en-US" sz="1400" dirty="0"/>
          </a:p>
        </p:txBody>
      </p:sp>
      <p:sp>
        <p:nvSpPr>
          <p:cNvPr id="10" name="Text 8"/>
          <p:cNvSpPr/>
          <p:nvPr/>
        </p:nvSpPr>
        <p:spPr>
          <a:xfrm>
            <a:off x="457200" y="2578608"/>
            <a:ext cx="822960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Rewrite the corrected sentence in your notebook.</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700" b="1" dirty="0">
                <a:solidFill>
                  <a:srgbClr val="0E1C42"/>
                </a:solidFill>
                <a:latin typeface="Calibri" pitchFamily="34" charset="0"/>
                <a:ea typeface="Calibri" pitchFamily="34" charset="-122"/>
                <a:cs typeface="Calibri" pitchFamily="34" charset="-120"/>
              </a:rPr>
              <a:t>Daily Oral Language — Fix It</a:t>
            </a:r>
            <a:endParaRPr lang="en-US" sz="27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64592"/>
            <a:ext cx="2286000" cy="512064"/>
          </a:xfrm>
          <a:prstGeom prst="roundRect">
            <a:avLst>
              <a:gd name="adj" fmla="val 21429"/>
            </a:avLst>
          </a:prstGeom>
          <a:solidFill>
            <a:srgbClr val="55C8E8"/>
          </a:solidFill>
          <a:ln/>
        </p:spPr>
      </p:sp>
      <p:sp>
        <p:nvSpPr>
          <p:cNvPr id="5" name="Text 3"/>
          <p:cNvSpPr/>
          <p:nvPr/>
        </p:nvSpPr>
        <p:spPr>
          <a:xfrm>
            <a:off x="6492240" y="164592"/>
            <a:ext cx="2286000" cy="512064"/>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229600" cy="274320"/>
          </a:xfrm>
          <a:prstGeom prst="rect">
            <a:avLst/>
          </a:prstGeom>
          <a:noFill/>
          <a:ln/>
        </p:spPr>
        <p:txBody>
          <a:bodyPr wrap="square" lIns="0" tIns="0" rIns="0" bIns="0" rtlCol="0" anchor="ctr"/>
          <a:lstStyle/>
          <a:p>
            <a:pPr indent="0" marL="0">
              <a:buNone/>
            </a:pPr>
            <a:r>
              <a:rPr lang="en-US" sz="1000" b="1" spc="200" kern="0" dirty="0">
                <a:solidFill>
                  <a:srgbClr val="C7922C"/>
                </a:solidFill>
                <a:latin typeface="Calibri" pitchFamily="34" charset="0"/>
                <a:ea typeface="Calibri" pitchFamily="34" charset="-122"/>
                <a:cs typeface="Calibri" pitchFamily="34" charset="-120"/>
              </a:rPr>
              <a:t>NEEDS FIXING</a:t>
            </a:r>
            <a:endParaRPr lang="en-US" sz="1000" dirty="0"/>
          </a:p>
        </p:txBody>
      </p:sp>
      <p:sp>
        <p:nvSpPr>
          <p:cNvPr id="7" name="Shape 5"/>
          <p:cNvSpPr/>
          <p:nvPr/>
        </p:nvSpPr>
        <p:spPr>
          <a:xfrm>
            <a:off x="365760" y="1097280"/>
            <a:ext cx="8412480" cy="914400"/>
          </a:xfrm>
          <a:prstGeom prst="roundRect">
            <a:avLst>
              <a:gd name="adj" fmla="val 1000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863840" cy="768096"/>
          </a:xfrm>
          <a:prstGeom prst="rect">
            <a:avLst/>
          </a:prstGeom>
          <a:noFill/>
          <a:ln/>
        </p:spPr>
        <p:txBody>
          <a:bodyPr wrap="square" lIns="0" tIns="0" rIns="0" bIns="0" rtlCol="0" anchor="ctr"/>
          <a:lstStyle/>
          <a:p>
            <a:pPr indent="0" marL="0">
              <a:buNone/>
            </a:pPr>
            <a:r>
              <a:rPr lang="en-US" sz="1900" i="1" dirty="0">
                <a:solidFill>
                  <a:srgbClr val="1E293B"/>
                </a:solidFill>
                <a:latin typeface="Calibri" pitchFamily="34" charset="0"/>
                <a:ea typeface="Calibri" pitchFamily="34" charset="-122"/>
                <a:cs typeface="Calibri" pitchFamily="34" charset="-120"/>
              </a:rPr>
              <a:t>whats going on here stanley called out cheerfully from beneath the enormous board</a:t>
            </a:r>
            <a:endParaRPr lang="en-US" sz="1900" dirty="0"/>
          </a:p>
        </p:txBody>
      </p:sp>
      <p:sp>
        <p:nvSpPr>
          <p:cNvPr id="9" name="Text 7"/>
          <p:cNvSpPr/>
          <p:nvPr/>
        </p:nvSpPr>
        <p:spPr>
          <a:xfrm>
            <a:off x="457200" y="2121408"/>
            <a:ext cx="8229600" cy="411480"/>
          </a:xfrm>
          <a:prstGeom prst="rect">
            <a:avLst/>
          </a:prstGeom>
          <a:noFill/>
          <a:ln/>
        </p:spPr>
        <p:txBody>
          <a:bodyPr wrap="square" lIns="0" tIns="0" rIns="0" bIns="0" rtlCol="0" anchor="ctr"/>
          <a:lstStyle/>
          <a:p>
            <a:pPr indent="0" marL="0">
              <a:buNone/>
            </a:pPr>
            <a:r>
              <a:rPr lang="en-US" sz="1400" dirty="0">
                <a:solidFill>
                  <a:srgbClr val="0E1C42"/>
                </a:solidFill>
                <a:latin typeface="Calibri" pitchFamily="34" charset="0"/>
                <a:ea typeface="Calibri" pitchFamily="34" charset="-122"/>
                <a:cs typeface="Calibri" pitchFamily="34" charset="-120"/>
              </a:rPr>
              <a:t>Fix: add apostrophe for What's, capitalize Stanley, add question mark + closing quote after here? add period at end</a:t>
            </a:r>
            <a:endParaRPr lang="en-US" sz="1400" dirty="0"/>
          </a:p>
        </p:txBody>
      </p:sp>
      <p:sp>
        <p:nvSpPr>
          <p:cNvPr id="10" name="Text 8"/>
          <p:cNvSpPr/>
          <p:nvPr/>
        </p:nvSpPr>
        <p:spPr>
          <a:xfrm>
            <a:off x="457200" y="2578608"/>
            <a:ext cx="822960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Rewrite the corrected sentence in your notebook.</a:t>
            </a:r>
            <a:endParaRPr lang="en-US" sz="1600" dirty="0"/>
          </a:p>
        </p:txBody>
      </p:sp>
      <p:sp>
        <p:nvSpPr>
          <p:cNvPr id="11" name="Text 9"/>
          <p:cNvSpPr/>
          <p:nvPr/>
        </p:nvSpPr>
        <p:spPr>
          <a:xfrm>
            <a:off x="594360" y="3063240"/>
            <a:ext cx="8229600" cy="274320"/>
          </a:xfrm>
          <a:prstGeom prst="rect">
            <a:avLst/>
          </a:prstGeom>
          <a:noFill/>
          <a:ln/>
        </p:spPr>
        <p:txBody>
          <a:bodyPr wrap="square" lIns="0" tIns="0" rIns="0" bIns="0" rtlCol="0" anchor="ctr"/>
          <a:lstStyle/>
          <a:p>
            <a:pPr indent="0" marL="0">
              <a:buNone/>
            </a:pPr>
            <a:r>
              <a:rPr lang="en-US" sz="1000" b="1" spc="200" kern="0" dirty="0">
                <a:solidFill>
                  <a:srgbClr val="34B76F"/>
                </a:solidFill>
                <a:latin typeface="Calibri" pitchFamily="34" charset="0"/>
                <a:ea typeface="Calibri" pitchFamily="34" charset="-122"/>
                <a:cs typeface="Calibri" pitchFamily="34" charset="-120"/>
              </a:rPr>
              <a:t>CORRECTED</a:t>
            </a:r>
            <a:endParaRPr lang="en-US" sz="1000" dirty="0"/>
          </a:p>
        </p:txBody>
      </p:sp>
      <p:sp>
        <p:nvSpPr>
          <p:cNvPr id="12" name="Shape 10"/>
          <p:cNvSpPr/>
          <p:nvPr/>
        </p:nvSpPr>
        <p:spPr>
          <a:xfrm>
            <a:off x="365760" y="3337560"/>
            <a:ext cx="8412480" cy="868680"/>
          </a:xfrm>
          <a:prstGeom prst="roundRect">
            <a:avLst>
              <a:gd name="adj" fmla="val 10526"/>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13" name="Text 11"/>
          <p:cNvSpPr/>
          <p:nvPr/>
        </p:nvSpPr>
        <p:spPr>
          <a:xfrm>
            <a:off x="594360" y="3410712"/>
            <a:ext cx="7863840" cy="7315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"What's going on here?" Stanley called out cheerfully from beneath the enormous board.</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700" b="1" dirty="0">
                <a:solidFill>
                  <a:srgbClr val="0E1C42"/>
                </a:solidFill>
                <a:latin typeface="Calibri" pitchFamily="34" charset="0"/>
                <a:ea typeface="Calibri" pitchFamily="34" charset="-122"/>
                <a:cs typeface="Calibri" pitchFamily="34" charset="-120"/>
              </a:rPr>
              <a:t>Copywork — From the Novel</a:t>
            </a:r>
            <a:endParaRPr lang="en-US" sz="27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229600" cy="274320"/>
          </a:xfrm>
          <a:prstGeom prst="rect">
            <a:avLst/>
          </a:prstGeom>
          <a:noFill/>
          <a:ln/>
        </p:spPr>
        <p:txBody>
          <a:bodyPr wrap="square" lIns="0" tIns="0" rIns="0" bIns="0" rtlCol="0" anchor="ctr"/>
          <a:lstStyle/>
          <a:p>
            <a:pPr indent="0" marL="0">
              <a:buNone/>
            </a:pPr>
            <a:r>
              <a:rPr lang="en-US" sz="1000" b="1" spc="200" kern="0" dirty="0">
                <a:solidFill>
                  <a:srgbClr val="C7627E"/>
                </a:solidFill>
                <a:latin typeface="Calibri" pitchFamily="34" charset="0"/>
                <a:ea typeface="Calibri" pitchFamily="34" charset="-122"/>
                <a:cs typeface="Calibri" pitchFamily="34" charset="-120"/>
              </a:rPr>
              <a:t>COPY THIS CAREFULLY INTO YOUR JOURNAL</a:t>
            </a:r>
            <a:endParaRPr lang="en-US" sz="1000" dirty="0"/>
          </a:p>
        </p:txBody>
      </p:sp>
      <p:sp>
        <p:nvSpPr>
          <p:cNvPr id="5" name="Shape 3"/>
          <p:cNvSpPr/>
          <p:nvPr/>
        </p:nvSpPr>
        <p:spPr>
          <a:xfrm>
            <a:off x="365760" y="1097280"/>
            <a:ext cx="8412480" cy="1463040"/>
          </a:xfrm>
          <a:prstGeom prst="roundRect">
            <a:avLst>
              <a:gd name="adj" fmla="val 6250"/>
            </a:avLst>
          </a:prstGeom>
          <a:solidFill>
            <a:srgbClr val="FFF0F4"/>
          </a:solidFill>
          <a:ln w="12700">
            <a:solidFill>
              <a:srgbClr val="C7627E"/>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70432"/>
            <a:ext cx="7863840" cy="1316736"/>
          </a:xfrm>
          <a:prstGeom prst="rect">
            <a:avLst/>
          </a:prstGeom>
          <a:noFill/>
          <a:ln/>
        </p:spPr>
        <p:txBody>
          <a:bodyPr wrap="square" lIns="0" tIns="0" rIns="0" bIns="0" rtlCol="0" anchor="ctr"/>
          <a:lstStyle/>
          <a:p>
            <a:pPr indent="0" marL="0">
              <a:buNone/>
            </a:pPr>
            <a:r>
              <a:rPr lang="en-US" sz="2000" i="1" dirty="0">
                <a:solidFill>
                  <a:srgbClr val="1E293B"/>
                </a:solidFill>
                <a:latin typeface="Calibri" pitchFamily="34" charset="0"/>
                <a:ea typeface="Calibri" pitchFamily="34" charset="-122"/>
                <a:cs typeface="Calibri" pitchFamily="34" charset="-120"/>
              </a:rPr>
              <a:t>"As a pancake," said Mr. Lambchop. "Darndest thing I've ever seen."</a:t>
            </a:r>
            <a:endParaRPr lang="en-US" sz="2000" dirty="0"/>
          </a:p>
        </p:txBody>
      </p:sp>
      <p:sp>
        <p:nvSpPr>
          <p:cNvPr id="7" name="Text 5"/>
          <p:cNvSpPr/>
          <p:nvPr/>
        </p:nvSpPr>
        <p:spPr>
          <a:xfrm>
            <a:off x="457200" y="2697480"/>
            <a:ext cx="8229600" cy="1097280"/>
          </a:xfrm>
          <a:prstGeom prst="rect">
            <a:avLst/>
          </a:prstGeom>
          <a:noFill/>
          <a:ln/>
        </p:spPr>
        <p:txBody>
          <a:bodyPr wrap="square" lIns="0" tIns="0" rIns="0" bIns="0" rtlCol="0" anchor="ctr"/>
          <a:lstStyle/>
          <a:p>
            <a:pPr indent="0" marL="0">
              <a:buNone/>
            </a:pPr>
            <a:r>
              <a:rPr lang="en-US" sz="1600" i="1" dirty="0">
                <a:solidFill>
                  <a:srgbClr val="64748B"/>
                </a:solidFill>
                <a:latin typeface="Calibri" pitchFamily="34" charset="0"/>
                <a:ea typeface="Calibri" pitchFamily="34" charset="-122"/>
                <a:cs typeface="Calibri" pitchFamily="34" charset="-120"/>
              </a:rPr>
              <a:t>Notice how each piece of dialogue gets its own set of quotation marks. Copy the punctuation exactly — commas inside quotes, apostrophe in I've.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700" b="1" dirty="0">
                <a:solidFill>
                  <a:srgbClr val="0E1C42"/>
                </a:solidFill>
                <a:latin typeface="Calibri" pitchFamily="34" charset="0"/>
                <a:ea typeface="Calibri" pitchFamily="34" charset="-122"/>
                <a:cs typeface="Calibri" pitchFamily="34" charset="-120"/>
              </a:rPr>
              <a:t>Morphology — Base Words (Apply — Find the Base)</a:t>
            </a:r>
            <a:endParaRPr lang="en-US" sz="27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229600" cy="274320"/>
          </a:xfrm>
          <a:prstGeom prst="rect">
            <a:avLst/>
          </a:prstGeom>
          <a:noFill/>
          <a:ln/>
        </p:spPr>
        <p:txBody>
          <a:bodyPr wrap="square" lIns="0" tIns="0" rIns="0" bIns="0" rtlCol="0" anchor="ctr"/>
          <a:lstStyle/>
          <a:p>
            <a:pPr indent="0" marL="0">
              <a:buNone/>
            </a:pPr>
            <a:r>
              <a:rPr lang="en-US" sz="1000" b="1" spc="200" kern="0" dirty="0">
                <a:solidFill>
                  <a:srgbClr val="64748B"/>
                </a:solidFill>
                <a:latin typeface="Calibri" pitchFamily="34" charset="0"/>
                <a:ea typeface="Calibri" pitchFamily="34" charset="-122"/>
                <a:cs typeface="Calibri" pitchFamily="34" charset="-120"/>
              </a:rPr>
              <a:t>EXAMPLES</a:t>
            </a:r>
            <a:endParaRPr lang="en-US" sz="1000" dirty="0"/>
          </a:p>
        </p:txBody>
      </p:sp>
      <p:sp>
        <p:nvSpPr>
          <p:cNvPr id="5" name="Text 3"/>
          <p:cNvSpPr/>
          <p:nvPr/>
        </p:nvSpPr>
        <p:spPr>
          <a:xfrm>
            <a:off x="548640" y="1078992"/>
            <a:ext cx="8229600" cy="365760"/>
          </a:xfrm>
          <a:prstGeom prst="rect">
            <a:avLst/>
          </a:prstGeom>
          <a:noFill/>
          <a:ln/>
        </p:spPr>
        <p:txBody>
          <a:bodyPr wrap="square" lIns="0" tIns="0" rIns="0" bIns="0" rtlCol="0" anchor="ctr"/>
          <a:lstStyle/>
          <a:p>
            <a:pPr indent="0" marL="0">
              <a:buNone/>
            </a:pPr>
            <a:r>
              <a:rPr lang="en-US" sz="1700" dirty="0">
                <a:solidFill>
                  <a:srgbClr val="0E1C42"/>
                </a:solidFill>
                <a:latin typeface="Calibri" pitchFamily="34" charset="0"/>
                <a:ea typeface="Calibri" pitchFamily="34" charset="-122"/>
                <a:cs typeface="Calibri" pitchFamily="34" charset="-120"/>
              </a:rPr>
              <a:t>help → help + ing = helping (base word + new ending)</a:t>
            </a:r>
            <a:endParaRPr lang="en-US" sz="1700" dirty="0"/>
          </a:p>
        </p:txBody>
      </p:sp>
      <p:sp>
        <p:nvSpPr>
          <p:cNvPr id="6" name="Text 4"/>
          <p:cNvSpPr/>
          <p:nvPr/>
        </p:nvSpPr>
        <p:spPr>
          <a:xfrm>
            <a:off x="548640" y="1463040"/>
            <a:ext cx="8229600" cy="365760"/>
          </a:xfrm>
          <a:prstGeom prst="rect">
            <a:avLst/>
          </a:prstGeom>
          <a:noFill/>
          <a:ln/>
        </p:spPr>
        <p:txBody>
          <a:bodyPr wrap="square" lIns="0" tIns="0" rIns="0" bIns="0" rtlCol="0" anchor="ctr"/>
          <a:lstStyle/>
          <a:p>
            <a:pPr indent="0" marL="0">
              <a:buNone/>
            </a:pPr>
            <a:r>
              <a:rPr lang="en-US" sz="1700" dirty="0">
                <a:solidFill>
                  <a:srgbClr val="0E1C42"/>
                </a:solidFill>
                <a:latin typeface="Calibri" pitchFamily="34" charset="0"/>
                <a:ea typeface="Calibri" pitchFamily="34" charset="-122"/>
                <a:cs typeface="Calibri" pitchFamily="34" charset="-120"/>
              </a:rPr>
              <a:t>call → call + ed = called (base word + past ending)</a:t>
            </a:r>
            <a:endParaRPr lang="en-US" sz="1700" dirty="0"/>
          </a:p>
        </p:txBody>
      </p:sp>
      <p:sp>
        <p:nvSpPr>
          <p:cNvPr id="7" name="Text 5"/>
          <p:cNvSpPr/>
          <p:nvPr/>
        </p:nvSpPr>
        <p:spPr>
          <a:xfrm>
            <a:off x="365760" y="2011680"/>
            <a:ext cx="8229600" cy="274320"/>
          </a:xfrm>
          <a:prstGeom prst="rect">
            <a:avLst/>
          </a:prstGeom>
          <a:noFill/>
          <a:ln/>
        </p:spPr>
        <p:txBody>
          <a:bodyPr wrap="square" lIns="0" tIns="0" rIns="0" bIns="0" rtlCol="0" anchor="ctr"/>
          <a:lstStyle/>
          <a:p>
            <a:pPr indent="0" marL="0">
              <a:buNone/>
            </a:pPr>
            <a:r>
              <a:rPr lang="en-US" sz="1000" b="1" spc="200" kern="0" dirty="0">
                <a:solidFill>
                  <a:srgbClr val="64748B"/>
                </a:solidFill>
                <a:latin typeface="Calibri" pitchFamily="34" charset="0"/>
                <a:ea typeface="Calibri" pitchFamily="34" charset="-122"/>
                <a:cs typeface="Calibri" pitchFamily="34" charset="-120"/>
              </a:rPr>
              <a:t>FIND THE BASE WORD</a:t>
            </a:r>
            <a:endParaRPr lang="en-US" sz="1000" dirty="0"/>
          </a:p>
        </p:txBody>
      </p:sp>
      <p:sp>
        <p:nvSpPr>
          <p:cNvPr id="8" name="Shape 6"/>
          <p:cNvSpPr/>
          <p:nvPr/>
        </p:nvSpPr>
        <p:spPr>
          <a:xfrm>
            <a:off x="365760" y="2304288"/>
            <a:ext cx="8412480" cy="566928"/>
          </a:xfrm>
          <a:prstGeom prst="roundRect">
            <a:avLst>
              <a:gd name="adj" fmla="val 16129"/>
            </a:avLst>
          </a:prstGeom>
          <a:solidFill>
            <a:srgbClr val="F8FAFC"/>
          </a:solidFill>
          <a:ln w="12700">
            <a:solidFill>
              <a:srgbClr val="8B6FC0"/>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594360" y="2377440"/>
            <a:ext cx="4572000" cy="420624"/>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sleeping  →  base word = </a:t>
            </a:r>
            <a:endParaRPr lang="en-US" sz="1700" dirty="0"/>
          </a:p>
        </p:txBody>
      </p:sp>
      <p:sp>
        <p:nvSpPr>
          <p:cNvPr id="10" name="Text 8"/>
          <p:cNvSpPr/>
          <p:nvPr/>
        </p:nvSpPr>
        <p:spPr>
          <a:xfrm>
            <a:off x="5303520" y="2377440"/>
            <a:ext cx="2743200" cy="420624"/>
          </a:xfrm>
          <a:prstGeom prst="rect">
            <a:avLst/>
          </a:prstGeom>
          <a:noFill/>
          <a:ln/>
        </p:spPr>
        <p:txBody>
          <a:bodyPr wrap="square" lIns="0" tIns="0" rIns="0" bIns="0" rtlCol="0" anchor="ctr"/>
          <a:lstStyle/>
          <a:p>
            <a:pPr indent="0" marL="0">
              <a:buNone/>
            </a:pPr>
            <a:r>
              <a:rPr lang="en-US" sz="1700" b="1" dirty="0">
                <a:solidFill>
                  <a:srgbClr val="8B6FC0"/>
                </a:solidFill>
                <a:latin typeface="Calibri" pitchFamily="34" charset="0"/>
                <a:ea typeface="Calibri" pitchFamily="34" charset="-122"/>
                <a:cs typeface="Calibri" pitchFamily="34" charset="-120"/>
              </a:rPr>
              <a:t>sleep</a:t>
            </a:r>
            <a:endParaRPr lang="en-US" sz="1700" dirty="0"/>
          </a:p>
        </p:txBody>
      </p:sp>
      <p:sp>
        <p:nvSpPr>
          <p:cNvPr id="11" name="Shape 9"/>
          <p:cNvSpPr/>
          <p:nvPr/>
        </p:nvSpPr>
        <p:spPr>
          <a:xfrm>
            <a:off x="365760" y="3054096"/>
            <a:ext cx="8412480" cy="566928"/>
          </a:xfrm>
          <a:prstGeom prst="roundRect">
            <a:avLst>
              <a:gd name="adj" fmla="val 16129"/>
            </a:avLst>
          </a:prstGeom>
          <a:solidFill>
            <a:srgbClr val="F8FAFC"/>
          </a:solidFill>
          <a:ln w="12700">
            <a:solidFill>
              <a:srgbClr val="8B6FC0"/>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594360" y="3127248"/>
            <a:ext cx="4572000" cy="420624"/>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cheerfully  →  base word = </a:t>
            </a:r>
            <a:endParaRPr lang="en-US" sz="1700" dirty="0"/>
          </a:p>
        </p:txBody>
      </p:sp>
      <p:sp>
        <p:nvSpPr>
          <p:cNvPr id="13" name="Text 11"/>
          <p:cNvSpPr/>
          <p:nvPr/>
        </p:nvSpPr>
        <p:spPr>
          <a:xfrm>
            <a:off x="5303520" y="3127248"/>
            <a:ext cx="2743200" cy="420624"/>
          </a:xfrm>
          <a:prstGeom prst="rect">
            <a:avLst/>
          </a:prstGeom>
          <a:noFill/>
          <a:ln/>
        </p:spPr>
        <p:txBody>
          <a:bodyPr wrap="square" lIns="0" tIns="0" rIns="0" bIns="0" rtlCol="0" anchor="ctr"/>
          <a:lstStyle/>
          <a:p>
            <a:pPr indent="0" marL="0">
              <a:buNone/>
            </a:pPr>
            <a:r>
              <a:rPr lang="en-US" sz="1700" b="1" dirty="0">
                <a:solidFill>
                  <a:srgbClr val="8B6FC0"/>
                </a:solidFill>
                <a:latin typeface="Calibri" pitchFamily="34" charset="0"/>
                <a:ea typeface="Calibri" pitchFamily="34" charset="-122"/>
                <a:cs typeface="Calibri" pitchFamily="34" charset="-120"/>
              </a:rPr>
              <a:t>cheer</a:t>
            </a:r>
            <a:endParaRPr lang="en-US" sz="1700" dirty="0"/>
          </a:p>
        </p:txBody>
      </p:sp>
      <p:sp>
        <p:nvSpPr>
          <p:cNvPr id="14" name="Shape 12"/>
          <p:cNvSpPr/>
          <p:nvPr/>
        </p:nvSpPr>
        <p:spPr>
          <a:xfrm>
            <a:off x="365760" y="3803904"/>
            <a:ext cx="8412480" cy="566928"/>
          </a:xfrm>
          <a:prstGeom prst="roundRect">
            <a:avLst>
              <a:gd name="adj" fmla="val 16129"/>
            </a:avLst>
          </a:prstGeom>
          <a:solidFill>
            <a:srgbClr val="F8FAFC"/>
          </a:solidFill>
          <a:ln w="12700">
            <a:solidFill>
              <a:srgbClr val="8B6FC0"/>
            </a:solidFill>
            <a:prstDash val="solid"/>
          </a:ln>
          <a:effectLst>
            <a:outerShdw sx="100000" sy="100000" kx="0" ky="0" algn="bl" rotWithShape="0" blurRad="101600" dist="38100" dir="2700000">
              <a:srgbClr val="000000">
                <a:alpha val="12000"/>
              </a:srgbClr>
            </a:outerShdw>
          </a:effectLst>
        </p:spPr>
      </p:sp>
      <p:sp>
        <p:nvSpPr>
          <p:cNvPr id="15" name="Text 13"/>
          <p:cNvSpPr/>
          <p:nvPr/>
        </p:nvSpPr>
        <p:spPr>
          <a:xfrm>
            <a:off x="594360" y="3877056"/>
            <a:ext cx="4572000" cy="420624"/>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hurried  →  base word = </a:t>
            </a:r>
            <a:endParaRPr lang="en-US" sz="1700" dirty="0"/>
          </a:p>
        </p:txBody>
      </p:sp>
      <p:sp>
        <p:nvSpPr>
          <p:cNvPr id="16" name="Text 14"/>
          <p:cNvSpPr/>
          <p:nvPr/>
        </p:nvSpPr>
        <p:spPr>
          <a:xfrm>
            <a:off x="5303520" y="3877056"/>
            <a:ext cx="2743200" cy="420624"/>
          </a:xfrm>
          <a:prstGeom prst="rect">
            <a:avLst/>
          </a:prstGeom>
          <a:noFill/>
          <a:ln/>
        </p:spPr>
        <p:txBody>
          <a:bodyPr wrap="square" lIns="0" tIns="0" rIns="0" bIns="0" rtlCol="0" anchor="ctr"/>
          <a:lstStyle/>
          <a:p>
            <a:pPr indent="0" marL="0">
              <a:buNone/>
            </a:pPr>
            <a:r>
              <a:rPr lang="en-US" sz="1700" b="1" dirty="0">
                <a:solidFill>
                  <a:srgbClr val="8B6FC0"/>
                </a:solidFill>
                <a:latin typeface="Calibri" pitchFamily="34" charset="0"/>
                <a:ea typeface="Calibri" pitchFamily="34" charset="-122"/>
                <a:cs typeface="Calibri" pitchFamily="34" charset="-120"/>
              </a:rPr>
              <a:t>hurry</a:t>
            </a:r>
            <a:endParaRPr lang="en-US" sz="1700" dirty="0"/>
          </a:p>
        </p:txBody>
      </p:sp>
      <p:sp>
        <p:nvSpPr>
          <p:cNvPr id="17" name="Shape 15"/>
          <p:cNvSpPr/>
          <p:nvPr/>
        </p:nvSpPr>
        <p:spPr>
          <a:xfrm>
            <a:off x="365760" y="4553712"/>
            <a:ext cx="8412480" cy="566928"/>
          </a:xfrm>
          <a:prstGeom prst="roundRect">
            <a:avLst>
              <a:gd name="adj" fmla="val 16129"/>
            </a:avLst>
          </a:prstGeom>
          <a:solidFill>
            <a:srgbClr val="F8FAFC"/>
          </a:solidFill>
          <a:ln w="12700">
            <a:solidFill>
              <a:srgbClr val="8B6FC0"/>
            </a:solidFill>
            <a:prstDash val="solid"/>
          </a:ln>
          <a:effectLst>
            <a:outerShdw sx="100000" sy="100000" kx="0" ky="0" algn="bl" rotWithShape="0" blurRad="101600" dist="38100" dir="2700000">
              <a:srgbClr val="000000">
                <a:alpha val="12000"/>
              </a:srgbClr>
            </a:outerShdw>
          </a:effectLst>
        </p:spPr>
      </p:sp>
      <p:sp>
        <p:nvSpPr>
          <p:cNvPr id="18" name="Text 16"/>
          <p:cNvSpPr/>
          <p:nvPr/>
        </p:nvSpPr>
        <p:spPr>
          <a:xfrm>
            <a:off x="594360" y="4626864"/>
            <a:ext cx="4572000" cy="420624"/>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unroll  →  base word = </a:t>
            </a:r>
            <a:endParaRPr lang="en-US" sz="1700" dirty="0"/>
          </a:p>
        </p:txBody>
      </p:sp>
      <p:sp>
        <p:nvSpPr>
          <p:cNvPr id="19" name="Text 17"/>
          <p:cNvSpPr/>
          <p:nvPr/>
        </p:nvSpPr>
        <p:spPr>
          <a:xfrm>
            <a:off x="5303520" y="4626864"/>
            <a:ext cx="2743200" cy="420624"/>
          </a:xfrm>
          <a:prstGeom prst="rect">
            <a:avLst/>
          </a:prstGeom>
          <a:noFill/>
          <a:ln/>
        </p:spPr>
        <p:txBody>
          <a:bodyPr wrap="square" lIns="0" tIns="0" rIns="0" bIns="0" rtlCol="0" anchor="ctr"/>
          <a:lstStyle/>
          <a:p>
            <a:pPr indent="0" marL="0">
              <a:buNone/>
            </a:pPr>
            <a:r>
              <a:rPr lang="en-US" sz="1700" b="1" dirty="0">
                <a:solidFill>
                  <a:srgbClr val="8B6FC0"/>
                </a:solidFill>
                <a:latin typeface="Calibri" pitchFamily="34" charset="0"/>
                <a:ea typeface="Calibri" pitchFamily="34" charset="-122"/>
                <a:cs typeface="Calibri" pitchFamily="34" charset="-120"/>
              </a:rPr>
              <a:t>roll</a:t>
            </a:r>
            <a:endParaRPr lang="en-US" sz="1700" dirty="0"/>
          </a:p>
        </p:txBody>
      </p:sp>
      <p:sp>
        <p:nvSpPr>
          <p:cNvPr id="20" name="Text 18"/>
          <p:cNvSpPr/>
          <p:nvPr/>
        </p:nvSpPr>
        <p:spPr>
          <a:xfrm>
            <a:off x="365760" y="5376672"/>
            <a:ext cx="8229600" cy="274320"/>
          </a:xfrm>
          <a:prstGeom prst="rect">
            <a:avLst/>
          </a:prstGeom>
          <a:noFill/>
          <a:ln/>
        </p:spPr>
        <p:txBody>
          <a:bodyPr wrap="square" lIns="0" tIns="0" rIns="0" bIns="0" rtlCol="0" anchor="ctr"/>
          <a:lstStyle/>
          <a:p>
            <a:pPr indent="0" marL="0">
              <a:buNone/>
            </a:pPr>
            <a:r>
              <a:rPr lang="en-US" sz="1000" b="1" spc="200" kern="0" dirty="0">
                <a:solidFill>
                  <a:srgbClr val="34B76F"/>
                </a:solidFill>
                <a:latin typeface="Calibri" pitchFamily="34" charset="0"/>
                <a:ea typeface="Calibri" pitchFamily="34" charset="-122"/>
                <a:cs typeface="Calibri" pitchFamily="34" charset="-120"/>
              </a:rPr>
              <a:t>SHOW WHAT YOU KNOW → in your journal:</a:t>
            </a:r>
            <a:endParaRPr lang="en-US" sz="1000" dirty="0"/>
          </a:p>
        </p:txBody>
      </p:sp>
      <p:sp>
        <p:nvSpPr>
          <p:cNvPr id="21" name="Text 19"/>
          <p:cNvSpPr/>
          <p:nvPr/>
        </p:nvSpPr>
        <p:spPr>
          <a:xfrm>
            <a:off x="457200" y="5669280"/>
            <a:ext cx="8229600" cy="365760"/>
          </a:xfrm>
          <a:prstGeom prst="rect">
            <a:avLst/>
          </a:prstGeom>
          <a:noFill/>
          <a:ln/>
        </p:spPr>
        <p:txBody>
          <a:bodyPr wrap="square" lIns="0" tIns="0" rIns="0" bIns="0" rtlCol="0" anchor="ctr"/>
          <a:lstStyle/>
          <a:p>
            <a:pPr indent="0" marL="0">
              <a:buNone/>
            </a:pPr>
            <a:r>
              <a:rPr lang="en-US" sz="1500" i="1" dirty="0">
                <a:solidFill>
                  <a:srgbClr val="1E293B"/>
                </a:solidFill>
                <a:latin typeface="Calibri" pitchFamily="34" charset="0"/>
                <a:ea typeface="Calibri" pitchFamily="34" charset="-122"/>
                <a:cs typeface="Calibri" pitchFamily="34" charset="-120"/>
              </a:rPr>
              <a:t>Explain the closed syllable pattern in your own words. Write two example words.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700" b="1" dirty="0">
                <a:solidFill>
                  <a:srgbClr val="0E1C42"/>
                </a:solidFill>
                <a:latin typeface="Calibri" pitchFamily="34" charset="0"/>
                <a:ea typeface="Calibri" pitchFamily="34" charset="-122"/>
                <a:cs typeface="Calibri" pitchFamily="34" charset="-120"/>
              </a:rPr>
              <a:t>Vocabulary — Context Clues</a:t>
            </a:r>
            <a:endParaRPr lang="en-US" sz="27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229600" cy="274320"/>
          </a:xfrm>
          <a:prstGeom prst="rect">
            <a:avLst/>
          </a:prstGeom>
          <a:noFill/>
          <a:ln/>
        </p:spPr>
        <p:txBody>
          <a:bodyPr wrap="square" lIns="0" tIns="0" rIns="0" bIns="0" rtlCol="0" anchor="ctr"/>
          <a:lstStyle/>
          <a:p>
            <a:pPr indent="0" marL="0">
              <a:buNone/>
            </a:pPr>
            <a:r>
              <a:rPr lang="en-US" sz="1000" b="1" spc="200" kern="0" dirty="0">
                <a:solidFill>
                  <a:srgbClr val="64748B"/>
                </a:solidFill>
                <a:latin typeface="Calibri" pitchFamily="34" charset="0"/>
                <a:ea typeface="Calibri" pitchFamily="34" charset="-122"/>
                <a:cs typeface="Calibri" pitchFamily="34" charset="-120"/>
              </a:rPr>
              <a:t>CONTEXT CLUES — Use the sentence to figure out the meaning</a:t>
            </a:r>
            <a:endParaRPr lang="en-US" sz="1000" dirty="0"/>
          </a:p>
        </p:txBody>
      </p:sp>
      <p:sp>
        <p:nvSpPr>
          <p:cNvPr id="5" name="Shape 3"/>
          <p:cNvSpPr/>
          <p:nvPr/>
        </p:nvSpPr>
        <p:spPr>
          <a:xfrm>
            <a:off x="365760" y="1078992"/>
            <a:ext cx="8412480" cy="1143000"/>
          </a:xfrm>
          <a:prstGeom prst="roundRect">
            <a:avLst>
              <a:gd name="adj" fmla="val 8000"/>
            </a:avLst>
          </a:prstGeom>
          <a:solidFill>
            <a:srgbClr val="F8FAFC"/>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70432"/>
            <a:ext cx="2011680" cy="384048"/>
          </a:xfrm>
          <a:prstGeom prst="rect">
            <a:avLst/>
          </a:prstGeom>
          <a:noFill/>
          <a:ln/>
        </p:spPr>
        <p:txBody>
          <a:bodyPr wrap="square" lIns="0" tIns="0" rIns="0" bIns="0" rtlCol="0" anchor="ctr"/>
          <a:lstStyle/>
          <a:p>
            <a:pPr indent="0" marL="0">
              <a:buNone/>
            </a:pPr>
            <a:r>
              <a:rPr lang="en-US" sz="1800" b="1" dirty="0">
                <a:solidFill>
                  <a:srgbClr val="2B7A78"/>
                </a:solidFill>
                <a:latin typeface="Calibri" pitchFamily="34" charset="0"/>
                <a:ea typeface="Calibri" pitchFamily="34" charset="-122"/>
                <a:cs typeface="Calibri" pitchFamily="34" charset="-120"/>
              </a:rPr>
              <a:t>bulletin</a:t>
            </a:r>
            <a:endParaRPr lang="en-US" sz="1800" dirty="0"/>
          </a:p>
        </p:txBody>
      </p:sp>
      <p:sp>
        <p:nvSpPr>
          <p:cNvPr id="7" name="Text 5"/>
          <p:cNvSpPr/>
          <p:nvPr/>
        </p:nvSpPr>
        <p:spPr>
          <a:xfrm>
            <a:off x="548640" y="1554480"/>
            <a:ext cx="7863840" cy="59436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"Across it lay the enormous bulletin board that Mr. Lambchop had given the boys."</a:t>
            </a:r>
            <a:endParaRPr lang="en-US" sz="1400" dirty="0"/>
          </a:p>
        </p:txBody>
      </p:sp>
      <p:sp>
        <p:nvSpPr>
          <p:cNvPr id="8" name="Shape 6"/>
          <p:cNvSpPr/>
          <p:nvPr/>
        </p:nvSpPr>
        <p:spPr>
          <a:xfrm>
            <a:off x="365760" y="2377440"/>
            <a:ext cx="8412480" cy="1143000"/>
          </a:xfrm>
          <a:prstGeom prst="roundRect">
            <a:avLst>
              <a:gd name="adj" fmla="val 8000"/>
            </a:avLst>
          </a:prstGeom>
          <a:solidFill>
            <a:srgbClr val="F8FAFC"/>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548640" y="2468880"/>
            <a:ext cx="2011680" cy="384048"/>
          </a:xfrm>
          <a:prstGeom prst="rect">
            <a:avLst/>
          </a:prstGeom>
          <a:noFill/>
          <a:ln/>
        </p:spPr>
        <p:txBody>
          <a:bodyPr wrap="square" lIns="0" tIns="0" rIns="0" bIns="0" rtlCol="0" anchor="ctr"/>
          <a:lstStyle/>
          <a:p>
            <a:pPr indent="0" marL="0">
              <a:buNone/>
            </a:pPr>
            <a:r>
              <a:rPr lang="en-US" sz="1800" b="1" dirty="0">
                <a:solidFill>
                  <a:srgbClr val="2B7A78"/>
                </a:solidFill>
                <a:latin typeface="Calibri" pitchFamily="34" charset="0"/>
                <a:ea typeface="Calibri" pitchFamily="34" charset="-122"/>
                <a:cs typeface="Calibri" pitchFamily="34" charset="-120"/>
              </a:rPr>
              <a:t>examined</a:t>
            </a:r>
            <a:endParaRPr lang="en-US" sz="1800" dirty="0"/>
          </a:p>
        </p:txBody>
      </p:sp>
      <p:sp>
        <p:nvSpPr>
          <p:cNvPr id="10" name="Text 8"/>
          <p:cNvSpPr/>
          <p:nvPr/>
        </p:nvSpPr>
        <p:spPr>
          <a:xfrm>
            <a:off x="548640" y="2852928"/>
            <a:ext cx="7863840" cy="59436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"Dr. Dan examined Stanley all over."</a:t>
            </a:r>
            <a:endParaRPr lang="en-US" sz="1400" dirty="0"/>
          </a:p>
        </p:txBody>
      </p:sp>
      <p:sp>
        <p:nvSpPr>
          <p:cNvPr id="11" name="Shape 9"/>
          <p:cNvSpPr/>
          <p:nvPr/>
        </p:nvSpPr>
        <p:spPr>
          <a:xfrm>
            <a:off x="365760" y="3675888"/>
            <a:ext cx="8412480" cy="1143000"/>
          </a:xfrm>
          <a:prstGeom prst="roundRect">
            <a:avLst>
              <a:gd name="adj" fmla="val 8000"/>
            </a:avLst>
          </a:prstGeom>
          <a:solidFill>
            <a:srgbClr val="F8FAFC"/>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548640" y="3767328"/>
            <a:ext cx="2011680" cy="384048"/>
          </a:xfrm>
          <a:prstGeom prst="rect">
            <a:avLst/>
          </a:prstGeom>
          <a:noFill/>
          <a:ln/>
        </p:spPr>
        <p:txBody>
          <a:bodyPr wrap="square" lIns="0" tIns="0" rIns="0" bIns="0" rtlCol="0" anchor="ctr"/>
          <a:lstStyle/>
          <a:p>
            <a:pPr indent="0" marL="0">
              <a:buNone/>
            </a:pPr>
            <a:r>
              <a:rPr lang="en-US" sz="1800" b="1" dirty="0">
                <a:solidFill>
                  <a:srgbClr val="2B7A78"/>
                </a:solidFill>
                <a:latin typeface="Calibri" pitchFamily="34" charset="0"/>
                <a:ea typeface="Calibri" pitchFamily="34" charset="-122"/>
                <a:cs typeface="Calibri" pitchFamily="34" charset="-120"/>
              </a:rPr>
              <a:t>enormous</a:t>
            </a:r>
            <a:endParaRPr lang="en-US" sz="1800" dirty="0"/>
          </a:p>
        </p:txBody>
      </p:sp>
      <p:sp>
        <p:nvSpPr>
          <p:cNvPr id="13" name="Text 11"/>
          <p:cNvSpPr/>
          <p:nvPr/>
        </p:nvSpPr>
        <p:spPr>
          <a:xfrm>
            <a:off x="548640" y="4151376"/>
            <a:ext cx="7863840" cy="59436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"Across it lay the enormous bulletin board."</a:t>
            </a:r>
            <a:endParaRPr lang="en-US" sz="1400" dirty="0"/>
          </a:p>
        </p:txBody>
      </p:sp>
      <p:sp>
        <p:nvSpPr>
          <p:cNvPr id="14" name="Shape 12"/>
          <p:cNvSpPr/>
          <p:nvPr/>
        </p:nvSpPr>
        <p:spPr>
          <a:xfrm>
            <a:off x="365760" y="4974336"/>
            <a:ext cx="8412480" cy="1143000"/>
          </a:xfrm>
          <a:prstGeom prst="roundRect">
            <a:avLst>
              <a:gd name="adj" fmla="val 8000"/>
            </a:avLst>
          </a:prstGeom>
          <a:solidFill>
            <a:srgbClr val="F8FAFC"/>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15" name="Text 13"/>
          <p:cNvSpPr/>
          <p:nvPr/>
        </p:nvSpPr>
        <p:spPr>
          <a:xfrm>
            <a:off x="548640" y="5065776"/>
            <a:ext cx="2011680" cy="384048"/>
          </a:xfrm>
          <a:prstGeom prst="rect">
            <a:avLst/>
          </a:prstGeom>
          <a:noFill/>
          <a:ln/>
        </p:spPr>
        <p:txBody>
          <a:bodyPr wrap="square" lIns="0" tIns="0" rIns="0" bIns="0" rtlCol="0" anchor="ctr"/>
          <a:lstStyle/>
          <a:p>
            <a:pPr indent="0" marL="0">
              <a:buNone/>
            </a:pPr>
            <a:r>
              <a:rPr lang="en-US" sz="1800" b="1" dirty="0">
                <a:solidFill>
                  <a:srgbClr val="2B7A78"/>
                </a:solidFill>
                <a:latin typeface="Calibri" pitchFamily="34" charset="0"/>
                <a:ea typeface="Calibri" pitchFamily="34" charset="-122"/>
                <a:cs typeface="Calibri" pitchFamily="34" charset="-120"/>
              </a:rPr>
              <a:t>marvel</a:t>
            </a:r>
            <a:endParaRPr lang="en-US" sz="1800" dirty="0"/>
          </a:p>
        </p:txBody>
      </p:sp>
      <p:sp>
        <p:nvSpPr>
          <p:cNvPr id="16" name="Text 14"/>
          <p:cNvSpPr/>
          <p:nvPr/>
        </p:nvSpPr>
        <p:spPr>
          <a:xfrm>
            <a:off x="548640" y="5449824"/>
            <a:ext cx="7863840" cy="59436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"Dr. Dan said that Stanley could still marvel at how interesting his life had become."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700" b="1" dirty="0">
                <a:solidFill>
                  <a:srgbClr val="0E1C42"/>
                </a:solidFill>
                <a:latin typeface="Calibri" pitchFamily="34" charset="0"/>
                <a:ea typeface="Calibri" pitchFamily="34" charset="-122"/>
                <a:cs typeface="Calibri" pitchFamily="34" charset="-120"/>
              </a:rPr>
              <a:t>Grammar — Complete Sentences (Apply)</a:t>
            </a:r>
            <a:endParaRPr lang="en-US" sz="27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64592"/>
            <a:ext cx="2286000" cy="512064"/>
          </a:xfrm>
          <a:prstGeom prst="roundRect">
            <a:avLst>
              <a:gd name="adj" fmla="val 21429"/>
            </a:avLst>
          </a:prstGeom>
          <a:solidFill>
            <a:srgbClr val="55C8E8"/>
          </a:solidFill>
          <a:ln/>
        </p:spPr>
      </p:sp>
      <p:sp>
        <p:nvSpPr>
          <p:cNvPr id="5" name="Text 3"/>
          <p:cNvSpPr/>
          <p:nvPr/>
        </p:nvSpPr>
        <p:spPr>
          <a:xfrm>
            <a:off x="6492240" y="164592"/>
            <a:ext cx="2286000" cy="512064"/>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229600" cy="274320"/>
          </a:xfrm>
          <a:prstGeom prst="rect">
            <a:avLst/>
          </a:prstGeom>
          <a:noFill/>
          <a:ln/>
        </p:spPr>
        <p:txBody>
          <a:bodyPr wrap="square" lIns="0" tIns="0" rIns="0" bIns="0" rtlCol="0" anchor="ctr"/>
          <a:lstStyle/>
          <a:p>
            <a:pPr indent="0" marL="0">
              <a:buNone/>
            </a:pPr>
            <a:r>
              <a:rPr lang="en-US" sz="1000" b="1" spc="200" kern="0" dirty="0">
                <a:solidFill>
                  <a:srgbClr val="64748B"/>
                </a:solidFill>
                <a:latin typeface="Calibri" pitchFamily="34" charset="0"/>
                <a:ea typeface="Calibri" pitchFamily="34" charset="-122"/>
                <a:cs typeface="Calibri" pitchFamily="34" charset="-120"/>
              </a:rPr>
              <a:t>COMPLETE or FRAGMENT?</a:t>
            </a:r>
            <a:endParaRPr lang="en-US" sz="1000" dirty="0"/>
          </a:p>
        </p:txBody>
      </p:sp>
      <p:sp>
        <p:nvSpPr>
          <p:cNvPr id="7" name="Shape 5"/>
          <p:cNvSpPr/>
          <p:nvPr/>
        </p:nvSpPr>
        <p:spPr>
          <a:xfrm>
            <a:off x="365760" y="1097280"/>
            <a:ext cx="8412480" cy="804672"/>
          </a:xfrm>
          <a:prstGeom prst="roundRect">
            <a:avLst>
              <a:gd name="adj" fmla="val 11364"/>
            </a:avLst>
          </a:prstGeom>
          <a:solidFill>
            <a:srgbClr val="FFFFFF"/>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207008"/>
            <a:ext cx="7955280" cy="594360"/>
          </a:xfrm>
          <a:prstGeom prst="rect">
            <a:avLst/>
          </a:prstGeom>
          <a:noFill/>
          <a:ln/>
        </p:spPr>
        <p:txBody>
          <a:bodyPr wrap="square" lIns="0" tIns="0" rIns="0" bIns="0" rtlCol="0" anchor="ctr"/>
          <a:lstStyle/>
          <a:p>
            <a:pPr indent="0" marL="0">
              <a:buNone/>
            </a:pPr>
            <a:r>
              <a:rPr lang="en-US" sz="1700" i="1" dirty="0">
                <a:solidFill>
                  <a:srgbClr val="1E293B"/>
                </a:solidFill>
                <a:latin typeface="Calibri" pitchFamily="34" charset="0"/>
                <a:ea typeface="Calibri" pitchFamily="34" charset="-122"/>
                <a:cs typeface="Calibri" pitchFamily="34" charset="-120"/>
              </a:rPr>
              <a:t>Arthur pointed to the bed.</a:t>
            </a:r>
            <a:endParaRPr lang="en-US" sz="1700" dirty="0"/>
          </a:p>
        </p:txBody>
      </p:sp>
      <p:sp>
        <p:nvSpPr>
          <p:cNvPr id="9" name="Shape 7"/>
          <p:cNvSpPr/>
          <p:nvPr/>
        </p:nvSpPr>
        <p:spPr>
          <a:xfrm>
            <a:off x="365760" y="2286000"/>
            <a:ext cx="8412480" cy="804672"/>
          </a:xfrm>
          <a:prstGeom prst="roundRect">
            <a:avLst>
              <a:gd name="adj" fmla="val 11364"/>
            </a:avLst>
          </a:prstGeom>
          <a:solidFill>
            <a:srgbClr val="FFFFFF"/>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594360" y="2395728"/>
            <a:ext cx="7955280" cy="594360"/>
          </a:xfrm>
          <a:prstGeom prst="rect">
            <a:avLst/>
          </a:prstGeom>
          <a:noFill/>
          <a:ln/>
        </p:spPr>
        <p:txBody>
          <a:bodyPr wrap="square" lIns="0" tIns="0" rIns="0" bIns="0" rtlCol="0" anchor="ctr"/>
          <a:lstStyle/>
          <a:p>
            <a:pPr indent="0" marL="0">
              <a:buNone/>
            </a:pPr>
            <a:r>
              <a:rPr lang="en-US" sz="1700" i="1" dirty="0">
                <a:solidFill>
                  <a:srgbClr val="1E293B"/>
                </a:solidFill>
                <a:latin typeface="Calibri" pitchFamily="34" charset="0"/>
                <a:ea typeface="Calibri" pitchFamily="34" charset="-122"/>
                <a:cs typeface="Calibri" pitchFamily="34" charset="-120"/>
              </a:rPr>
              <a:t>Flat as a pancake.</a:t>
            </a:r>
            <a:endParaRPr lang="en-US" sz="1700" dirty="0"/>
          </a:p>
        </p:txBody>
      </p:sp>
      <p:sp>
        <p:nvSpPr>
          <p:cNvPr id="11" name="Shape 9"/>
          <p:cNvSpPr/>
          <p:nvPr/>
        </p:nvSpPr>
        <p:spPr>
          <a:xfrm>
            <a:off x="365760" y="3474720"/>
            <a:ext cx="8412480" cy="804672"/>
          </a:xfrm>
          <a:prstGeom prst="roundRect">
            <a:avLst>
              <a:gd name="adj" fmla="val 11364"/>
            </a:avLst>
          </a:prstGeom>
          <a:solidFill>
            <a:srgbClr val="FFFFFF"/>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594360" y="3584448"/>
            <a:ext cx="7955280" cy="594360"/>
          </a:xfrm>
          <a:prstGeom prst="rect">
            <a:avLst/>
          </a:prstGeom>
          <a:noFill/>
          <a:ln/>
        </p:spPr>
        <p:txBody>
          <a:bodyPr wrap="square" lIns="0" tIns="0" rIns="0" bIns="0" rtlCol="0" anchor="ctr"/>
          <a:lstStyle/>
          <a:p>
            <a:pPr indent="0" marL="0">
              <a:buNone/>
            </a:pPr>
            <a:r>
              <a:rPr lang="en-US" sz="1700" i="1" dirty="0">
                <a:solidFill>
                  <a:srgbClr val="1E293B"/>
                </a:solidFill>
                <a:latin typeface="Calibri" pitchFamily="34" charset="0"/>
                <a:ea typeface="Calibri" pitchFamily="34" charset="-122"/>
                <a:cs typeface="Calibri" pitchFamily="34" charset="-120"/>
              </a:rPr>
              <a:t>Dr. Dan examined Stanley.</a:t>
            </a:r>
            <a:endParaRPr lang="en-US" sz="1700" dirty="0"/>
          </a:p>
        </p:txBody>
      </p:sp>
      <p:sp>
        <p:nvSpPr>
          <p:cNvPr id="13" name="Shape 11"/>
          <p:cNvSpPr/>
          <p:nvPr/>
        </p:nvSpPr>
        <p:spPr>
          <a:xfrm>
            <a:off x="365760" y="4663440"/>
            <a:ext cx="8412480" cy="804672"/>
          </a:xfrm>
          <a:prstGeom prst="roundRect">
            <a:avLst>
              <a:gd name="adj" fmla="val 11364"/>
            </a:avLst>
          </a:prstGeom>
          <a:solidFill>
            <a:srgbClr val="FFFFFF"/>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14" name="Text 12"/>
          <p:cNvSpPr/>
          <p:nvPr/>
        </p:nvSpPr>
        <p:spPr>
          <a:xfrm>
            <a:off x="594360" y="4773168"/>
            <a:ext cx="7955280" cy="594360"/>
          </a:xfrm>
          <a:prstGeom prst="rect">
            <a:avLst/>
          </a:prstGeom>
          <a:noFill/>
          <a:ln/>
        </p:spPr>
        <p:txBody>
          <a:bodyPr wrap="square" lIns="0" tIns="0" rIns="0" bIns="0" rtlCol="0" anchor="ctr"/>
          <a:lstStyle/>
          <a:p>
            <a:pPr indent="0" marL="0">
              <a:buNone/>
            </a:pPr>
            <a:r>
              <a:rPr lang="en-US" sz="1700" i="1" dirty="0">
                <a:solidFill>
                  <a:srgbClr val="1E293B"/>
                </a:solidFill>
                <a:latin typeface="Calibri" pitchFamily="34" charset="0"/>
                <a:ea typeface="Calibri" pitchFamily="34" charset="-122"/>
                <a:cs typeface="Calibri" pitchFamily="34" charset="-120"/>
              </a:rPr>
              <a:t>The enormous board on top of.</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700" b="1" dirty="0">
                <a:solidFill>
                  <a:srgbClr val="0E1C42"/>
                </a:solidFill>
                <a:latin typeface="Calibri" pitchFamily="34" charset="0"/>
                <a:ea typeface="Calibri" pitchFamily="34" charset="-122"/>
                <a:cs typeface="Calibri" pitchFamily="34" charset="-120"/>
              </a:rPr>
              <a:t>Grammar — Complete Sentences (Apply)</a:t>
            </a:r>
            <a:endParaRPr lang="en-US" sz="27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64592"/>
            <a:ext cx="2286000" cy="512064"/>
          </a:xfrm>
          <a:prstGeom prst="roundRect">
            <a:avLst>
              <a:gd name="adj" fmla="val 21429"/>
            </a:avLst>
          </a:prstGeom>
          <a:solidFill>
            <a:srgbClr val="55C8E8"/>
          </a:solidFill>
          <a:ln/>
        </p:spPr>
      </p:sp>
      <p:sp>
        <p:nvSpPr>
          <p:cNvPr id="5" name="Text 3"/>
          <p:cNvSpPr/>
          <p:nvPr/>
        </p:nvSpPr>
        <p:spPr>
          <a:xfrm>
            <a:off x="6492240" y="164592"/>
            <a:ext cx="2286000" cy="512064"/>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229600" cy="274320"/>
          </a:xfrm>
          <a:prstGeom prst="rect">
            <a:avLst/>
          </a:prstGeom>
          <a:noFill/>
          <a:ln/>
        </p:spPr>
        <p:txBody>
          <a:bodyPr wrap="square" lIns="0" tIns="0" rIns="0" bIns="0" rtlCol="0" anchor="ctr"/>
          <a:lstStyle/>
          <a:p>
            <a:pPr indent="0" marL="0">
              <a:buNone/>
            </a:pPr>
            <a:r>
              <a:rPr lang="en-US" sz="1000" b="1" spc="200" kern="0" dirty="0">
                <a:solidFill>
                  <a:srgbClr val="64748B"/>
                </a:solidFill>
                <a:latin typeface="Calibri" pitchFamily="34" charset="0"/>
                <a:ea typeface="Calibri" pitchFamily="34" charset="-122"/>
                <a:cs typeface="Calibri" pitchFamily="34" charset="-120"/>
              </a:rPr>
              <a:t>COMPLETE or FRAGMENT?</a:t>
            </a:r>
            <a:endParaRPr lang="en-US" sz="1000" dirty="0"/>
          </a:p>
        </p:txBody>
      </p:sp>
      <p:sp>
        <p:nvSpPr>
          <p:cNvPr id="7" name="Shape 5"/>
          <p:cNvSpPr/>
          <p:nvPr/>
        </p:nvSpPr>
        <p:spPr>
          <a:xfrm>
            <a:off x="365760" y="1097280"/>
            <a:ext cx="6766560" cy="804672"/>
          </a:xfrm>
          <a:prstGeom prst="roundRect">
            <a:avLst>
              <a:gd name="adj" fmla="val 11364"/>
            </a:avLst>
          </a:prstGeom>
          <a:solidFill>
            <a:srgbClr val="FFFFFF"/>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207008"/>
            <a:ext cx="6309360" cy="594360"/>
          </a:xfrm>
          <a:prstGeom prst="rect">
            <a:avLst/>
          </a:prstGeom>
          <a:noFill/>
          <a:ln/>
        </p:spPr>
        <p:txBody>
          <a:bodyPr wrap="square" lIns="0" tIns="0" rIns="0" bIns="0" rtlCol="0" anchor="ctr"/>
          <a:lstStyle/>
          <a:p>
            <a:pPr indent="0" marL="0">
              <a:buNone/>
            </a:pPr>
            <a:r>
              <a:rPr lang="en-US" sz="1700" i="1" dirty="0">
                <a:solidFill>
                  <a:srgbClr val="1E293B"/>
                </a:solidFill>
                <a:latin typeface="Calibri" pitchFamily="34" charset="0"/>
                <a:ea typeface="Calibri" pitchFamily="34" charset="-122"/>
                <a:cs typeface="Calibri" pitchFamily="34" charset="-120"/>
              </a:rPr>
              <a:t>Arthur pointed to the bed.</a:t>
            </a:r>
            <a:endParaRPr lang="en-US" sz="1700" dirty="0"/>
          </a:p>
        </p:txBody>
      </p:sp>
      <p:sp>
        <p:nvSpPr>
          <p:cNvPr id="9" name="Shape 7"/>
          <p:cNvSpPr/>
          <p:nvPr/>
        </p:nvSpPr>
        <p:spPr>
          <a:xfrm>
            <a:off x="7269480" y="1097280"/>
            <a:ext cx="1508760" cy="804672"/>
          </a:xfrm>
          <a:prstGeom prst="roundRect">
            <a:avLst>
              <a:gd name="adj" fmla="val 11364"/>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7269480" y="1097280"/>
            <a:ext cx="1508760" cy="804672"/>
          </a:xfrm>
          <a:prstGeom prst="rect">
            <a:avLst/>
          </a:prstGeom>
          <a:noFill/>
          <a:ln/>
        </p:spPr>
        <p:txBody>
          <a:bodyPr wrap="square" lIns="0" tIns="0" rIns="0" bIns="0" rtlCol="0" anchor="ctr"/>
          <a:lstStyle/>
          <a:p>
            <a:pPr algn="ctr" indent="0" marL="0">
              <a:buNone/>
            </a:pPr>
            <a:r>
              <a:rPr lang="en-US" sz="1200" b="1" dirty="0">
                <a:solidFill>
                  <a:srgbClr val="34B76F"/>
                </a:solidFill>
                <a:latin typeface="Calibri" pitchFamily="34" charset="0"/>
                <a:ea typeface="Calibri" pitchFamily="34" charset="-122"/>
                <a:cs typeface="Calibri" pitchFamily="34" charset="-120"/>
              </a:rPr>
              <a:t>Complete ✓</a:t>
            </a:r>
            <a:endParaRPr lang="en-US" sz="1200" dirty="0"/>
          </a:p>
        </p:txBody>
      </p:sp>
      <p:sp>
        <p:nvSpPr>
          <p:cNvPr id="11" name="Shape 9"/>
          <p:cNvSpPr/>
          <p:nvPr/>
        </p:nvSpPr>
        <p:spPr>
          <a:xfrm>
            <a:off x="365760" y="2286000"/>
            <a:ext cx="6766560" cy="804672"/>
          </a:xfrm>
          <a:prstGeom prst="roundRect">
            <a:avLst>
              <a:gd name="adj" fmla="val 11364"/>
            </a:avLst>
          </a:prstGeom>
          <a:solidFill>
            <a:srgbClr val="FFFFFF"/>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594360" y="2395728"/>
            <a:ext cx="6309360" cy="594360"/>
          </a:xfrm>
          <a:prstGeom prst="rect">
            <a:avLst/>
          </a:prstGeom>
          <a:noFill/>
          <a:ln/>
        </p:spPr>
        <p:txBody>
          <a:bodyPr wrap="square" lIns="0" tIns="0" rIns="0" bIns="0" rtlCol="0" anchor="ctr"/>
          <a:lstStyle/>
          <a:p>
            <a:pPr indent="0" marL="0">
              <a:buNone/>
            </a:pPr>
            <a:r>
              <a:rPr lang="en-US" sz="1700" i="1" dirty="0">
                <a:solidFill>
                  <a:srgbClr val="1E293B"/>
                </a:solidFill>
                <a:latin typeface="Calibri" pitchFamily="34" charset="0"/>
                <a:ea typeface="Calibri" pitchFamily="34" charset="-122"/>
                <a:cs typeface="Calibri" pitchFamily="34" charset="-120"/>
              </a:rPr>
              <a:t>Flat as a pancake.</a:t>
            </a:r>
            <a:endParaRPr lang="en-US" sz="1700" dirty="0"/>
          </a:p>
        </p:txBody>
      </p:sp>
      <p:sp>
        <p:nvSpPr>
          <p:cNvPr id="13" name="Shape 11"/>
          <p:cNvSpPr/>
          <p:nvPr/>
        </p:nvSpPr>
        <p:spPr>
          <a:xfrm>
            <a:off x="7269480" y="2286000"/>
            <a:ext cx="1508760" cy="804672"/>
          </a:xfrm>
          <a:prstGeom prst="roundRect">
            <a:avLst>
              <a:gd name="adj" fmla="val 11364"/>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4" name="Text 12"/>
          <p:cNvSpPr/>
          <p:nvPr/>
        </p:nvSpPr>
        <p:spPr>
          <a:xfrm>
            <a:off x="7269480" y="2286000"/>
            <a:ext cx="1508760" cy="804672"/>
          </a:xfrm>
          <a:prstGeom prst="rect">
            <a:avLst/>
          </a:prstGeom>
          <a:noFill/>
          <a:ln/>
        </p:spPr>
        <p:txBody>
          <a:bodyPr wrap="square" lIns="0" tIns="0" rIns="0" bIns="0" rtlCol="0" anchor="ctr"/>
          <a:lstStyle/>
          <a:p>
            <a:pPr algn="ctr" indent="0" marL="0">
              <a:buNone/>
            </a:pPr>
            <a:r>
              <a:rPr lang="en-US" sz="1200" b="1" dirty="0">
                <a:solidFill>
                  <a:srgbClr val="C7922C"/>
                </a:solidFill>
                <a:latin typeface="Calibri" pitchFamily="34" charset="0"/>
                <a:ea typeface="Calibri" pitchFamily="34" charset="-122"/>
                <a:cs typeface="Calibri" pitchFamily="34" charset="-120"/>
              </a:rPr>
              <a:t>Fragment ✗</a:t>
            </a:r>
            <a:endParaRPr lang="en-US" sz="1200" dirty="0"/>
          </a:p>
        </p:txBody>
      </p:sp>
      <p:sp>
        <p:nvSpPr>
          <p:cNvPr id="15" name="Shape 13"/>
          <p:cNvSpPr/>
          <p:nvPr/>
        </p:nvSpPr>
        <p:spPr>
          <a:xfrm>
            <a:off x="365760" y="3474720"/>
            <a:ext cx="6766560" cy="804672"/>
          </a:xfrm>
          <a:prstGeom prst="roundRect">
            <a:avLst>
              <a:gd name="adj" fmla="val 11364"/>
            </a:avLst>
          </a:prstGeom>
          <a:solidFill>
            <a:srgbClr val="FFFFFF"/>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16" name="Text 14"/>
          <p:cNvSpPr/>
          <p:nvPr/>
        </p:nvSpPr>
        <p:spPr>
          <a:xfrm>
            <a:off x="594360" y="3584448"/>
            <a:ext cx="6309360" cy="594360"/>
          </a:xfrm>
          <a:prstGeom prst="rect">
            <a:avLst/>
          </a:prstGeom>
          <a:noFill/>
          <a:ln/>
        </p:spPr>
        <p:txBody>
          <a:bodyPr wrap="square" lIns="0" tIns="0" rIns="0" bIns="0" rtlCol="0" anchor="ctr"/>
          <a:lstStyle/>
          <a:p>
            <a:pPr indent="0" marL="0">
              <a:buNone/>
            </a:pPr>
            <a:r>
              <a:rPr lang="en-US" sz="1700" i="1" dirty="0">
                <a:solidFill>
                  <a:srgbClr val="1E293B"/>
                </a:solidFill>
                <a:latin typeface="Calibri" pitchFamily="34" charset="0"/>
                <a:ea typeface="Calibri" pitchFamily="34" charset="-122"/>
                <a:cs typeface="Calibri" pitchFamily="34" charset="-120"/>
              </a:rPr>
              <a:t>Dr. Dan examined Stanley.</a:t>
            </a:r>
            <a:endParaRPr lang="en-US" sz="1700" dirty="0"/>
          </a:p>
        </p:txBody>
      </p:sp>
      <p:sp>
        <p:nvSpPr>
          <p:cNvPr id="17" name="Shape 15"/>
          <p:cNvSpPr/>
          <p:nvPr/>
        </p:nvSpPr>
        <p:spPr>
          <a:xfrm>
            <a:off x="7269480" y="3474720"/>
            <a:ext cx="1508760" cy="804672"/>
          </a:xfrm>
          <a:prstGeom prst="roundRect">
            <a:avLst>
              <a:gd name="adj" fmla="val 11364"/>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18" name="Text 16"/>
          <p:cNvSpPr/>
          <p:nvPr/>
        </p:nvSpPr>
        <p:spPr>
          <a:xfrm>
            <a:off x="7269480" y="3474720"/>
            <a:ext cx="1508760" cy="804672"/>
          </a:xfrm>
          <a:prstGeom prst="rect">
            <a:avLst/>
          </a:prstGeom>
          <a:noFill/>
          <a:ln/>
        </p:spPr>
        <p:txBody>
          <a:bodyPr wrap="square" lIns="0" tIns="0" rIns="0" bIns="0" rtlCol="0" anchor="ctr"/>
          <a:lstStyle/>
          <a:p>
            <a:pPr algn="ctr" indent="0" marL="0">
              <a:buNone/>
            </a:pPr>
            <a:r>
              <a:rPr lang="en-US" sz="1200" b="1" dirty="0">
                <a:solidFill>
                  <a:srgbClr val="34B76F"/>
                </a:solidFill>
                <a:latin typeface="Calibri" pitchFamily="34" charset="0"/>
                <a:ea typeface="Calibri" pitchFamily="34" charset="-122"/>
                <a:cs typeface="Calibri" pitchFamily="34" charset="-120"/>
              </a:rPr>
              <a:t>Complete ✓</a:t>
            </a:r>
            <a:endParaRPr lang="en-US" sz="1200" dirty="0"/>
          </a:p>
        </p:txBody>
      </p:sp>
      <p:sp>
        <p:nvSpPr>
          <p:cNvPr id="19" name="Shape 17"/>
          <p:cNvSpPr/>
          <p:nvPr/>
        </p:nvSpPr>
        <p:spPr>
          <a:xfrm>
            <a:off x="365760" y="4663440"/>
            <a:ext cx="6766560" cy="804672"/>
          </a:xfrm>
          <a:prstGeom prst="roundRect">
            <a:avLst>
              <a:gd name="adj" fmla="val 11364"/>
            </a:avLst>
          </a:prstGeom>
          <a:solidFill>
            <a:srgbClr val="FFFFFF"/>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20" name="Text 18"/>
          <p:cNvSpPr/>
          <p:nvPr/>
        </p:nvSpPr>
        <p:spPr>
          <a:xfrm>
            <a:off x="594360" y="4773168"/>
            <a:ext cx="6309360" cy="594360"/>
          </a:xfrm>
          <a:prstGeom prst="rect">
            <a:avLst/>
          </a:prstGeom>
          <a:noFill/>
          <a:ln/>
        </p:spPr>
        <p:txBody>
          <a:bodyPr wrap="square" lIns="0" tIns="0" rIns="0" bIns="0" rtlCol="0" anchor="ctr"/>
          <a:lstStyle/>
          <a:p>
            <a:pPr indent="0" marL="0">
              <a:buNone/>
            </a:pPr>
            <a:r>
              <a:rPr lang="en-US" sz="1700" i="1" dirty="0">
                <a:solidFill>
                  <a:srgbClr val="1E293B"/>
                </a:solidFill>
                <a:latin typeface="Calibri" pitchFamily="34" charset="0"/>
                <a:ea typeface="Calibri" pitchFamily="34" charset="-122"/>
                <a:cs typeface="Calibri" pitchFamily="34" charset="-120"/>
              </a:rPr>
              <a:t>The enormous board on top of.</a:t>
            </a:r>
            <a:endParaRPr lang="en-US" sz="1700" dirty="0"/>
          </a:p>
        </p:txBody>
      </p:sp>
      <p:sp>
        <p:nvSpPr>
          <p:cNvPr id="21" name="Shape 19"/>
          <p:cNvSpPr/>
          <p:nvPr/>
        </p:nvSpPr>
        <p:spPr>
          <a:xfrm>
            <a:off x="7269480" y="4663440"/>
            <a:ext cx="1508760" cy="804672"/>
          </a:xfrm>
          <a:prstGeom prst="roundRect">
            <a:avLst>
              <a:gd name="adj" fmla="val 11364"/>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22" name="Text 20"/>
          <p:cNvSpPr/>
          <p:nvPr/>
        </p:nvSpPr>
        <p:spPr>
          <a:xfrm>
            <a:off x="7269480" y="4663440"/>
            <a:ext cx="1508760" cy="804672"/>
          </a:xfrm>
          <a:prstGeom prst="rect">
            <a:avLst/>
          </a:prstGeom>
          <a:noFill/>
          <a:ln/>
        </p:spPr>
        <p:txBody>
          <a:bodyPr wrap="square" lIns="0" tIns="0" rIns="0" bIns="0" rtlCol="0" anchor="ctr"/>
          <a:lstStyle/>
          <a:p>
            <a:pPr algn="ctr" indent="0" marL="0">
              <a:buNone/>
            </a:pPr>
            <a:r>
              <a:rPr lang="en-US" sz="1200" b="1" dirty="0">
                <a:solidFill>
                  <a:srgbClr val="C7922C"/>
                </a:solidFill>
                <a:latin typeface="Calibri" pitchFamily="34" charset="0"/>
                <a:ea typeface="Calibri" pitchFamily="34" charset="-122"/>
                <a:cs typeface="Calibri" pitchFamily="34" charset="-120"/>
              </a:rPr>
              <a:t>Fragment ✗</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700" b="1" dirty="0">
                <a:solidFill>
                  <a:srgbClr val="0E1C42"/>
                </a:solidFill>
                <a:latin typeface="Calibri" pitchFamily="34" charset="0"/>
                <a:ea typeface="Calibri" pitchFamily="34" charset="-122"/>
                <a:cs typeface="Calibri" pitchFamily="34" charset="-120"/>
              </a:rPr>
              <a:t>Spelling — Closed Syllables (Apply)</a:t>
            </a:r>
            <a:endParaRPr lang="en-US" sz="27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64592"/>
            <a:ext cx="2286000" cy="512064"/>
          </a:xfrm>
          <a:prstGeom prst="roundRect">
            <a:avLst>
              <a:gd name="adj" fmla="val 21429"/>
            </a:avLst>
          </a:prstGeom>
          <a:solidFill>
            <a:srgbClr val="55C8E8"/>
          </a:solidFill>
          <a:ln/>
        </p:spPr>
      </p:sp>
      <p:sp>
        <p:nvSpPr>
          <p:cNvPr id="5" name="Text 3"/>
          <p:cNvSpPr/>
          <p:nvPr/>
        </p:nvSpPr>
        <p:spPr>
          <a:xfrm>
            <a:off x="6492240" y="164592"/>
            <a:ext cx="2286000" cy="512064"/>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229600" cy="274320"/>
          </a:xfrm>
          <a:prstGeom prst="rect">
            <a:avLst/>
          </a:prstGeom>
          <a:noFill/>
          <a:ln/>
        </p:spPr>
        <p:txBody>
          <a:bodyPr wrap="square" lIns="0" tIns="0" rIns="0" bIns="0" rtlCol="0" anchor="ctr"/>
          <a:lstStyle/>
          <a:p>
            <a:pPr indent="0" marL="0">
              <a:buNone/>
            </a:pPr>
            <a:r>
              <a:rPr lang="en-US" sz="1000" b="1" spc="200" kern="0" dirty="0">
                <a:solidFill>
                  <a:srgbClr val="64748B"/>
                </a:solidFill>
                <a:latin typeface="Calibri" pitchFamily="34" charset="0"/>
                <a:ea typeface="Calibri" pitchFamily="34" charset="-122"/>
                <a:cs typeface="Calibri" pitchFamily="34" charset="-120"/>
              </a:rPr>
              <a:t>SORT THE WORDS: CLOSED SYLLABLE or NOT?</a:t>
            </a:r>
            <a:endParaRPr lang="en-US" sz="1000" dirty="0"/>
          </a:p>
        </p:txBody>
      </p:sp>
      <p:sp>
        <p:nvSpPr>
          <p:cNvPr id="7" name="Shape 5"/>
          <p:cNvSpPr/>
          <p:nvPr/>
        </p:nvSpPr>
        <p:spPr>
          <a:xfrm>
            <a:off x="457200" y="1097280"/>
            <a:ext cx="1828800" cy="530352"/>
          </a:xfrm>
          <a:prstGeom prst="roundRect">
            <a:avLst>
              <a:gd name="adj" fmla="val 17241"/>
            </a:avLst>
          </a:prstGeom>
          <a:solidFill>
            <a:srgbClr val="FFFFFF"/>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457200" y="1097280"/>
            <a:ext cx="1828800" cy="530352"/>
          </a:xfrm>
          <a:prstGeom prst="rect">
            <a:avLst/>
          </a:prstGeom>
          <a:noFill/>
          <a:ln/>
        </p:spPr>
        <p:txBody>
          <a:bodyPr wrap="square" lIns="0" tIns="0" rIns="0" bIns="0" rtlCol="0" anchor="ctr"/>
          <a:lstStyle/>
          <a:p>
            <a:pPr algn="ctr" indent="0" marL="0">
              <a:buNone/>
            </a:pPr>
            <a:r>
              <a:rPr lang="en-US" sz="1800" b="1" dirty="0">
                <a:solidFill>
                  <a:srgbClr val="0E1C42"/>
                </a:solidFill>
                <a:latin typeface="Calibri" pitchFamily="34" charset="0"/>
                <a:ea typeface="Calibri" pitchFamily="34" charset="-122"/>
                <a:cs typeface="Calibri" pitchFamily="34" charset="-120"/>
              </a:rPr>
              <a:t>shut</a:t>
            </a:r>
            <a:endParaRPr lang="en-US" sz="1800" dirty="0"/>
          </a:p>
        </p:txBody>
      </p:sp>
      <p:sp>
        <p:nvSpPr>
          <p:cNvPr id="9" name="Shape 7"/>
          <p:cNvSpPr/>
          <p:nvPr/>
        </p:nvSpPr>
        <p:spPr>
          <a:xfrm>
            <a:off x="2542032" y="1097280"/>
            <a:ext cx="1828800" cy="530352"/>
          </a:xfrm>
          <a:prstGeom prst="roundRect">
            <a:avLst>
              <a:gd name="adj" fmla="val 17241"/>
            </a:avLst>
          </a:prstGeom>
          <a:solidFill>
            <a:srgbClr val="FFFFFF"/>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2542032" y="1097280"/>
            <a:ext cx="1828800" cy="530352"/>
          </a:xfrm>
          <a:prstGeom prst="rect">
            <a:avLst/>
          </a:prstGeom>
          <a:noFill/>
          <a:ln/>
        </p:spPr>
        <p:txBody>
          <a:bodyPr wrap="square" lIns="0" tIns="0" rIns="0" bIns="0" rtlCol="0" anchor="ctr"/>
          <a:lstStyle/>
          <a:p>
            <a:pPr algn="ctr" indent="0" marL="0">
              <a:buNone/>
            </a:pPr>
            <a:r>
              <a:rPr lang="en-US" sz="1800" b="1" dirty="0">
                <a:solidFill>
                  <a:srgbClr val="0E1C42"/>
                </a:solidFill>
                <a:latin typeface="Calibri" pitchFamily="34" charset="0"/>
                <a:ea typeface="Calibri" pitchFamily="34" charset="-122"/>
                <a:cs typeface="Calibri" pitchFamily="34" charset="-120"/>
              </a:rPr>
              <a:t>help</a:t>
            </a:r>
            <a:endParaRPr lang="en-US" sz="1800" dirty="0"/>
          </a:p>
        </p:txBody>
      </p:sp>
      <p:sp>
        <p:nvSpPr>
          <p:cNvPr id="11" name="Shape 9"/>
          <p:cNvSpPr/>
          <p:nvPr/>
        </p:nvSpPr>
        <p:spPr>
          <a:xfrm>
            <a:off x="4626864" y="1097280"/>
            <a:ext cx="1828800" cy="530352"/>
          </a:xfrm>
          <a:prstGeom prst="roundRect">
            <a:avLst>
              <a:gd name="adj" fmla="val 17241"/>
            </a:avLst>
          </a:prstGeom>
          <a:solidFill>
            <a:srgbClr val="FFFFFF"/>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4626864" y="1097280"/>
            <a:ext cx="1828800" cy="530352"/>
          </a:xfrm>
          <a:prstGeom prst="rect">
            <a:avLst/>
          </a:prstGeom>
          <a:noFill/>
          <a:ln/>
        </p:spPr>
        <p:txBody>
          <a:bodyPr wrap="square" lIns="0" tIns="0" rIns="0" bIns="0" rtlCol="0" anchor="ctr"/>
          <a:lstStyle/>
          <a:p>
            <a:pPr algn="ctr" indent="0" marL="0">
              <a:buNone/>
            </a:pPr>
            <a:r>
              <a:rPr lang="en-US" sz="1800" b="1" dirty="0">
                <a:solidFill>
                  <a:srgbClr val="0E1C42"/>
                </a:solidFill>
                <a:latin typeface="Calibri" pitchFamily="34" charset="0"/>
                <a:ea typeface="Calibri" pitchFamily="34" charset="-122"/>
                <a:cs typeface="Calibri" pitchFamily="34" charset="-120"/>
              </a:rPr>
              <a:t>lost</a:t>
            </a:r>
            <a:endParaRPr lang="en-US" sz="1800" dirty="0"/>
          </a:p>
        </p:txBody>
      </p:sp>
      <p:sp>
        <p:nvSpPr>
          <p:cNvPr id="13" name="Shape 11"/>
          <p:cNvSpPr/>
          <p:nvPr/>
        </p:nvSpPr>
        <p:spPr>
          <a:xfrm>
            <a:off x="6711696" y="1097280"/>
            <a:ext cx="1828800" cy="530352"/>
          </a:xfrm>
          <a:prstGeom prst="roundRect">
            <a:avLst>
              <a:gd name="adj" fmla="val 17241"/>
            </a:avLst>
          </a:prstGeom>
          <a:solidFill>
            <a:srgbClr val="FFFFFF"/>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14" name="Text 12"/>
          <p:cNvSpPr/>
          <p:nvPr/>
        </p:nvSpPr>
        <p:spPr>
          <a:xfrm>
            <a:off x="6711696" y="1097280"/>
            <a:ext cx="1828800" cy="530352"/>
          </a:xfrm>
          <a:prstGeom prst="rect">
            <a:avLst/>
          </a:prstGeom>
          <a:noFill/>
          <a:ln/>
        </p:spPr>
        <p:txBody>
          <a:bodyPr wrap="square" lIns="0" tIns="0" rIns="0" bIns="0" rtlCol="0" anchor="ctr"/>
          <a:lstStyle/>
          <a:p>
            <a:pPr algn="ctr" indent="0" marL="0">
              <a:buNone/>
            </a:pPr>
            <a:r>
              <a:rPr lang="en-US" sz="1800" b="1" dirty="0">
                <a:solidFill>
                  <a:srgbClr val="0E1C42"/>
                </a:solidFill>
                <a:latin typeface="Calibri" pitchFamily="34" charset="0"/>
                <a:ea typeface="Calibri" pitchFamily="34" charset="-122"/>
                <a:cs typeface="Calibri" pitchFamily="34" charset="-120"/>
              </a:rPr>
              <a:t>trap</a:t>
            </a:r>
            <a:endParaRPr lang="en-US" sz="1800" dirty="0"/>
          </a:p>
        </p:txBody>
      </p:sp>
      <p:sp>
        <p:nvSpPr>
          <p:cNvPr id="15" name="Shape 13"/>
          <p:cNvSpPr/>
          <p:nvPr/>
        </p:nvSpPr>
        <p:spPr>
          <a:xfrm>
            <a:off x="457200" y="1755648"/>
            <a:ext cx="1828800" cy="530352"/>
          </a:xfrm>
          <a:prstGeom prst="roundRect">
            <a:avLst>
              <a:gd name="adj" fmla="val 17241"/>
            </a:avLst>
          </a:prstGeom>
          <a:solidFill>
            <a:srgbClr val="FFFFFF"/>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16" name="Text 14"/>
          <p:cNvSpPr/>
          <p:nvPr/>
        </p:nvSpPr>
        <p:spPr>
          <a:xfrm>
            <a:off x="457200" y="1755648"/>
            <a:ext cx="1828800" cy="530352"/>
          </a:xfrm>
          <a:prstGeom prst="rect">
            <a:avLst/>
          </a:prstGeom>
          <a:noFill/>
          <a:ln/>
        </p:spPr>
        <p:txBody>
          <a:bodyPr wrap="square" lIns="0" tIns="0" rIns="0" bIns="0" rtlCol="0" anchor="ctr"/>
          <a:lstStyle/>
          <a:p>
            <a:pPr algn="ctr" indent="0" marL="0">
              <a:buNone/>
            </a:pPr>
            <a:r>
              <a:rPr lang="en-US" sz="1800" b="1" dirty="0">
                <a:solidFill>
                  <a:srgbClr val="0E1C42"/>
                </a:solidFill>
                <a:latin typeface="Calibri" pitchFamily="34" charset="0"/>
                <a:ea typeface="Calibri" pitchFamily="34" charset="-122"/>
                <a:cs typeface="Calibri" pitchFamily="34" charset="-120"/>
              </a:rPr>
              <a:t>made</a:t>
            </a:r>
            <a:endParaRPr lang="en-US" sz="1800" dirty="0"/>
          </a:p>
        </p:txBody>
      </p:sp>
      <p:sp>
        <p:nvSpPr>
          <p:cNvPr id="17" name="Shape 15"/>
          <p:cNvSpPr/>
          <p:nvPr/>
        </p:nvSpPr>
        <p:spPr>
          <a:xfrm>
            <a:off x="2542032" y="1755648"/>
            <a:ext cx="1828800" cy="530352"/>
          </a:xfrm>
          <a:prstGeom prst="roundRect">
            <a:avLst>
              <a:gd name="adj" fmla="val 17241"/>
            </a:avLst>
          </a:prstGeom>
          <a:solidFill>
            <a:srgbClr val="FFFFFF"/>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18" name="Text 16"/>
          <p:cNvSpPr/>
          <p:nvPr/>
        </p:nvSpPr>
        <p:spPr>
          <a:xfrm>
            <a:off x="2542032" y="1755648"/>
            <a:ext cx="1828800" cy="530352"/>
          </a:xfrm>
          <a:prstGeom prst="rect">
            <a:avLst/>
          </a:prstGeom>
          <a:noFill/>
          <a:ln/>
        </p:spPr>
        <p:txBody>
          <a:bodyPr wrap="square" lIns="0" tIns="0" rIns="0" bIns="0" rtlCol="0" anchor="ctr"/>
          <a:lstStyle/>
          <a:p>
            <a:pPr algn="ctr" indent="0" marL="0">
              <a:buNone/>
            </a:pPr>
            <a:r>
              <a:rPr lang="en-US" sz="1800" b="1" dirty="0">
                <a:solidFill>
                  <a:srgbClr val="0E1C42"/>
                </a:solidFill>
                <a:latin typeface="Calibri" pitchFamily="34" charset="0"/>
                <a:ea typeface="Calibri" pitchFamily="34" charset="-122"/>
                <a:cs typeface="Calibri" pitchFamily="34" charset="-120"/>
              </a:rPr>
              <a:t>ride</a:t>
            </a:r>
            <a:endParaRPr lang="en-US" sz="1800" dirty="0"/>
          </a:p>
        </p:txBody>
      </p:sp>
      <p:sp>
        <p:nvSpPr>
          <p:cNvPr id="19" name="Shape 17"/>
          <p:cNvSpPr/>
          <p:nvPr/>
        </p:nvSpPr>
        <p:spPr>
          <a:xfrm>
            <a:off x="4626864" y="1755648"/>
            <a:ext cx="1828800" cy="530352"/>
          </a:xfrm>
          <a:prstGeom prst="roundRect">
            <a:avLst>
              <a:gd name="adj" fmla="val 17241"/>
            </a:avLst>
          </a:prstGeom>
          <a:solidFill>
            <a:srgbClr val="FFFFFF"/>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20" name="Text 18"/>
          <p:cNvSpPr/>
          <p:nvPr/>
        </p:nvSpPr>
        <p:spPr>
          <a:xfrm>
            <a:off x="4626864" y="1755648"/>
            <a:ext cx="1828800" cy="530352"/>
          </a:xfrm>
          <a:prstGeom prst="rect">
            <a:avLst/>
          </a:prstGeom>
          <a:noFill/>
          <a:ln/>
        </p:spPr>
        <p:txBody>
          <a:bodyPr wrap="square" lIns="0" tIns="0" rIns="0" bIns="0" rtlCol="0" anchor="ctr"/>
          <a:lstStyle/>
          <a:p>
            <a:pPr algn="ctr" indent="0" marL="0">
              <a:buNone/>
            </a:pPr>
            <a:r>
              <a:rPr lang="en-US" sz="1800" b="1" dirty="0">
                <a:solidFill>
                  <a:srgbClr val="0E1C42"/>
                </a:solidFill>
                <a:latin typeface="Calibri" pitchFamily="34" charset="0"/>
                <a:ea typeface="Calibri" pitchFamily="34" charset="-122"/>
                <a:cs typeface="Calibri" pitchFamily="34" charset="-120"/>
              </a:rPr>
              <a:t>bone</a:t>
            </a:r>
            <a:endParaRPr lang="en-US" sz="1800" dirty="0"/>
          </a:p>
        </p:txBody>
      </p:sp>
      <p:sp>
        <p:nvSpPr>
          <p:cNvPr id="21" name="Shape 19"/>
          <p:cNvSpPr/>
          <p:nvPr/>
        </p:nvSpPr>
        <p:spPr>
          <a:xfrm>
            <a:off x="6711696" y="1755648"/>
            <a:ext cx="1828800" cy="530352"/>
          </a:xfrm>
          <a:prstGeom prst="roundRect">
            <a:avLst>
              <a:gd name="adj" fmla="val 17241"/>
            </a:avLst>
          </a:prstGeom>
          <a:solidFill>
            <a:srgbClr val="FFFFFF"/>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22" name="Text 20"/>
          <p:cNvSpPr/>
          <p:nvPr/>
        </p:nvSpPr>
        <p:spPr>
          <a:xfrm>
            <a:off x="6711696" y="1755648"/>
            <a:ext cx="1828800" cy="530352"/>
          </a:xfrm>
          <a:prstGeom prst="rect">
            <a:avLst/>
          </a:prstGeom>
          <a:noFill/>
          <a:ln/>
        </p:spPr>
        <p:txBody>
          <a:bodyPr wrap="square" lIns="0" tIns="0" rIns="0" bIns="0" rtlCol="0" anchor="ctr"/>
          <a:lstStyle/>
          <a:p>
            <a:pPr algn="ctr" indent="0" marL="0">
              <a:buNone/>
            </a:pPr>
            <a:r>
              <a:rPr lang="en-US" sz="1800" b="1" dirty="0">
                <a:solidFill>
                  <a:srgbClr val="0E1C42"/>
                </a:solidFill>
                <a:latin typeface="Calibri" pitchFamily="34" charset="0"/>
                <a:ea typeface="Calibri" pitchFamily="34" charset="-122"/>
                <a:cs typeface="Calibri" pitchFamily="34" charset="-120"/>
              </a:rPr>
              <a:t>tube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700" b="1" dirty="0">
                <a:solidFill>
                  <a:srgbClr val="0E1C42"/>
                </a:solidFill>
                <a:latin typeface="Calibri" pitchFamily="34" charset="0"/>
                <a:ea typeface="Calibri" pitchFamily="34" charset="-122"/>
                <a:cs typeface="Calibri" pitchFamily="34" charset="-120"/>
              </a:rPr>
              <a:t>Spelling — Closed Syllables (Apply)</a:t>
            </a:r>
            <a:endParaRPr lang="en-US" sz="27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64592"/>
            <a:ext cx="2286000" cy="512064"/>
          </a:xfrm>
          <a:prstGeom prst="roundRect">
            <a:avLst>
              <a:gd name="adj" fmla="val 21429"/>
            </a:avLst>
          </a:prstGeom>
          <a:solidFill>
            <a:srgbClr val="55C8E8"/>
          </a:solidFill>
          <a:ln/>
        </p:spPr>
      </p:sp>
      <p:sp>
        <p:nvSpPr>
          <p:cNvPr id="5" name="Text 3"/>
          <p:cNvSpPr/>
          <p:nvPr/>
        </p:nvSpPr>
        <p:spPr>
          <a:xfrm>
            <a:off x="6492240" y="164592"/>
            <a:ext cx="2286000" cy="512064"/>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229600" cy="274320"/>
          </a:xfrm>
          <a:prstGeom prst="rect">
            <a:avLst/>
          </a:prstGeom>
          <a:noFill/>
          <a:ln/>
        </p:spPr>
        <p:txBody>
          <a:bodyPr wrap="square" lIns="0" tIns="0" rIns="0" bIns="0" rtlCol="0" anchor="ctr"/>
          <a:lstStyle/>
          <a:p>
            <a:pPr indent="0" marL="0">
              <a:buNone/>
            </a:pPr>
            <a:r>
              <a:rPr lang="en-US" sz="1000" b="1" spc="200" kern="0" dirty="0">
                <a:solidFill>
                  <a:srgbClr val="64748B"/>
                </a:solidFill>
                <a:latin typeface="Calibri" pitchFamily="34" charset="0"/>
                <a:ea typeface="Calibri" pitchFamily="34" charset="-122"/>
                <a:cs typeface="Calibri" pitchFamily="34" charset="-120"/>
              </a:rPr>
              <a:t>SORT THE WORDS: CLOSED SYLLABLE or NOT?</a:t>
            </a:r>
            <a:endParaRPr lang="en-US" sz="1000" dirty="0"/>
          </a:p>
        </p:txBody>
      </p:sp>
      <p:sp>
        <p:nvSpPr>
          <p:cNvPr id="7" name="Shape 5"/>
          <p:cNvSpPr/>
          <p:nvPr/>
        </p:nvSpPr>
        <p:spPr>
          <a:xfrm>
            <a:off x="457200" y="1097280"/>
            <a:ext cx="1828800" cy="530352"/>
          </a:xfrm>
          <a:prstGeom prst="roundRect">
            <a:avLst>
              <a:gd name="adj" fmla="val 17241"/>
            </a:avLst>
          </a:prstGeom>
          <a:solidFill>
            <a:srgbClr val="FFFFFF"/>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457200" y="1097280"/>
            <a:ext cx="1828800" cy="530352"/>
          </a:xfrm>
          <a:prstGeom prst="rect">
            <a:avLst/>
          </a:prstGeom>
          <a:noFill/>
          <a:ln/>
        </p:spPr>
        <p:txBody>
          <a:bodyPr wrap="square" lIns="0" tIns="0" rIns="0" bIns="0" rtlCol="0" anchor="ctr"/>
          <a:lstStyle/>
          <a:p>
            <a:pPr algn="ctr" indent="0" marL="0">
              <a:buNone/>
            </a:pPr>
            <a:r>
              <a:rPr lang="en-US" sz="1800" b="1" dirty="0">
                <a:solidFill>
                  <a:srgbClr val="0E1C42"/>
                </a:solidFill>
                <a:latin typeface="Calibri" pitchFamily="34" charset="0"/>
                <a:ea typeface="Calibri" pitchFamily="34" charset="-122"/>
                <a:cs typeface="Calibri" pitchFamily="34" charset="-120"/>
              </a:rPr>
              <a:t>shut</a:t>
            </a:r>
            <a:endParaRPr lang="en-US" sz="1800" dirty="0"/>
          </a:p>
        </p:txBody>
      </p:sp>
      <p:sp>
        <p:nvSpPr>
          <p:cNvPr id="9" name="Shape 7"/>
          <p:cNvSpPr/>
          <p:nvPr/>
        </p:nvSpPr>
        <p:spPr>
          <a:xfrm>
            <a:off x="2542032" y="1097280"/>
            <a:ext cx="1828800" cy="530352"/>
          </a:xfrm>
          <a:prstGeom prst="roundRect">
            <a:avLst>
              <a:gd name="adj" fmla="val 17241"/>
            </a:avLst>
          </a:prstGeom>
          <a:solidFill>
            <a:srgbClr val="FFFFFF"/>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2542032" y="1097280"/>
            <a:ext cx="1828800" cy="530352"/>
          </a:xfrm>
          <a:prstGeom prst="rect">
            <a:avLst/>
          </a:prstGeom>
          <a:noFill/>
          <a:ln/>
        </p:spPr>
        <p:txBody>
          <a:bodyPr wrap="square" lIns="0" tIns="0" rIns="0" bIns="0" rtlCol="0" anchor="ctr"/>
          <a:lstStyle/>
          <a:p>
            <a:pPr algn="ctr" indent="0" marL="0">
              <a:buNone/>
            </a:pPr>
            <a:r>
              <a:rPr lang="en-US" sz="1800" b="1" dirty="0">
                <a:solidFill>
                  <a:srgbClr val="0E1C42"/>
                </a:solidFill>
                <a:latin typeface="Calibri" pitchFamily="34" charset="0"/>
                <a:ea typeface="Calibri" pitchFamily="34" charset="-122"/>
                <a:cs typeface="Calibri" pitchFamily="34" charset="-120"/>
              </a:rPr>
              <a:t>help</a:t>
            </a:r>
            <a:endParaRPr lang="en-US" sz="1800" dirty="0"/>
          </a:p>
        </p:txBody>
      </p:sp>
      <p:sp>
        <p:nvSpPr>
          <p:cNvPr id="11" name="Shape 9"/>
          <p:cNvSpPr/>
          <p:nvPr/>
        </p:nvSpPr>
        <p:spPr>
          <a:xfrm>
            <a:off x="4626864" y="1097280"/>
            <a:ext cx="1828800" cy="530352"/>
          </a:xfrm>
          <a:prstGeom prst="roundRect">
            <a:avLst>
              <a:gd name="adj" fmla="val 17241"/>
            </a:avLst>
          </a:prstGeom>
          <a:solidFill>
            <a:srgbClr val="FFFFFF"/>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4626864" y="1097280"/>
            <a:ext cx="1828800" cy="530352"/>
          </a:xfrm>
          <a:prstGeom prst="rect">
            <a:avLst/>
          </a:prstGeom>
          <a:noFill/>
          <a:ln/>
        </p:spPr>
        <p:txBody>
          <a:bodyPr wrap="square" lIns="0" tIns="0" rIns="0" bIns="0" rtlCol="0" anchor="ctr"/>
          <a:lstStyle/>
          <a:p>
            <a:pPr algn="ctr" indent="0" marL="0">
              <a:buNone/>
            </a:pPr>
            <a:r>
              <a:rPr lang="en-US" sz="1800" b="1" dirty="0">
                <a:solidFill>
                  <a:srgbClr val="0E1C42"/>
                </a:solidFill>
                <a:latin typeface="Calibri" pitchFamily="34" charset="0"/>
                <a:ea typeface="Calibri" pitchFamily="34" charset="-122"/>
                <a:cs typeface="Calibri" pitchFamily="34" charset="-120"/>
              </a:rPr>
              <a:t>lost</a:t>
            </a:r>
            <a:endParaRPr lang="en-US" sz="1800" dirty="0"/>
          </a:p>
        </p:txBody>
      </p:sp>
      <p:sp>
        <p:nvSpPr>
          <p:cNvPr id="13" name="Shape 11"/>
          <p:cNvSpPr/>
          <p:nvPr/>
        </p:nvSpPr>
        <p:spPr>
          <a:xfrm>
            <a:off x="6711696" y="1097280"/>
            <a:ext cx="1828800" cy="530352"/>
          </a:xfrm>
          <a:prstGeom prst="roundRect">
            <a:avLst>
              <a:gd name="adj" fmla="val 17241"/>
            </a:avLst>
          </a:prstGeom>
          <a:solidFill>
            <a:srgbClr val="FFFFFF"/>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14" name="Text 12"/>
          <p:cNvSpPr/>
          <p:nvPr/>
        </p:nvSpPr>
        <p:spPr>
          <a:xfrm>
            <a:off x="6711696" y="1097280"/>
            <a:ext cx="1828800" cy="530352"/>
          </a:xfrm>
          <a:prstGeom prst="rect">
            <a:avLst/>
          </a:prstGeom>
          <a:noFill/>
          <a:ln/>
        </p:spPr>
        <p:txBody>
          <a:bodyPr wrap="square" lIns="0" tIns="0" rIns="0" bIns="0" rtlCol="0" anchor="ctr"/>
          <a:lstStyle/>
          <a:p>
            <a:pPr algn="ctr" indent="0" marL="0">
              <a:buNone/>
            </a:pPr>
            <a:r>
              <a:rPr lang="en-US" sz="1800" b="1" dirty="0">
                <a:solidFill>
                  <a:srgbClr val="0E1C42"/>
                </a:solidFill>
                <a:latin typeface="Calibri" pitchFamily="34" charset="0"/>
                <a:ea typeface="Calibri" pitchFamily="34" charset="-122"/>
                <a:cs typeface="Calibri" pitchFamily="34" charset="-120"/>
              </a:rPr>
              <a:t>trap</a:t>
            </a:r>
            <a:endParaRPr lang="en-US" sz="1800" dirty="0"/>
          </a:p>
        </p:txBody>
      </p:sp>
      <p:sp>
        <p:nvSpPr>
          <p:cNvPr id="15" name="Shape 13"/>
          <p:cNvSpPr/>
          <p:nvPr/>
        </p:nvSpPr>
        <p:spPr>
          <a:xfrm>
            <a:off x="457200" y="1755648"/>
            <a:ext cx="1828800" cy="530352"/>
          </a:xfrm>
          <a:prstGeom prst="roundRect">
            <a:avLst>
              <a:gd name="adj" fmla="val 17241"/>
            </a:avLst>
          </a:prstGeom>
          <a:solidFill>
            <a:srgbClr val="FFFFFF"/>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16" name="Text 14"/>
          <p:cNvSpPr/>
          <p:nvPr/>
        </p:nvSpPr>
        <p:spPr>
          <a:xfrm>
            <a:off x="457200" y="1755648"/>
            <a:ext cx="1828800" cy="530352"/>
          </a:xfrm>
          <a:prstGeom prst="rect">
            <a:avLst/>
          </a:prstGeom>
          <a:noFill/>
          <a:ln/>
        </p:spPr>
        <p:txBody>
          <a:bodyPr wrap="square" lIns="0" tIns="0" rIns="0" bIns="0" rtlCol="0" anchor="ctr"/>
          <a:lstStyle/>
          <a:p>
            <a:pPr algn="ctr" indent="0" marL="0">
              <a:buNone/>
            </a:pPr>
            <a:r>
              <a:rPr lang="en-US" sz="1800" b="1" dirty="0">
                <a:solidFill>
                  <a:srgbClr val="0E1C42"/>
                </a:solidFill>
                <a:latin typeface="Calibri" pitchFamily="34" charset="0"/>
                <a:ea typeface="Calibri" pitchFamily="34" charset="-122"/>
                <a:cs typeface="Calibri" pitchFamily="34" charset="-120"/>
              </a:rPr>
              <a:t>made</a:t>
            </a:r>
            <a:endParaRPr lang="en-US" sz="1800" dirty="0"/>
          </a:p>
        </p:txBody>
      </p:sp>
      <p:sp>
        <p:nvSpPr>
          <p:cNvPr id="17" name="Shape 15"/>
          <p:cNvSpPr/>
          <p:nvPr/>
        </p:nvSpPr>
        <p:spPr>
          <a:xfrm>
            <a:off x="2542032" y="1755648"/>
            <a:ext cx="1828800" cy="530352"/>
          </a:xfrm>
          <a:prstGeom prst="roundRect">
            <a:avLst>
              <a:gd name="adj" fmla="val 17241"/>
            </a:avLst>
          </a:prstGeom>
          <a:solidFill>
            <a:srgbClr val="FFFFFF"/>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18" name="Text 16"/>
          <p:cNvSpPr/>
          <p:nvPr/>
        </p:nvSpPr>
        <p:spPr>
          <a:xfrm>
            <a:off x="2542032" y="1755648"/>
            <a:ext cx="1828800" cy="530352"/>
          </a:xfrm>
          <a:prstGeom prst="rect">
            <a:avLst/>
          </a:prstGeom>
          <a:noFill/>
          <a:ln/>
        </p:spPr>
        <p:txBody>
          <a:bodyPr wrap="square" lIns="0" tIns="0" rIns="0" bIns="0" rtlCol="0" anchor="ctr"/>
          <a:lstStyle/>
          <a:p>
            <a:pPr algn="ctr" indent="0" marL="0">
              <a:buNone/>
            </a:pPr>
            <a:r>
              <a:rPr lang="en-US" sz="1800" b="1" dirty="0">
                <a:solidFill>
                  <a:srgbClr val="0E1C42"/>
                </a:solidFill>
                <a:latin typeface="Calibri" pitchFamily="34" charset="0"/>
                <a:ea typeface="Calibri" pitchFamily="34" charset="-122"/>
                <a:cs typeface="Calibri" pitchFamily="34" charset="-120"/>
              </a:rPr>
              <a:t>ride</a:t>
            </a:r>
            <a:endParaRPr lang="en-US" sz="1800" dirty="0"/>
          </a:p>
        </p:txBody>
      </p:sp>
      <p:sp>
        <p:nvSpPr>
          <p:cNvPr id="19" name="Shape 17"/>
          <p:cNvSpPr/>
          <p:nvPr/>
        </p:nvSpPr>
        <p:spPr>
          <a:xfrm>
            <a:off x="4626864" y="1755648"/>
            <a:ext cx="1828800" cy="530352"/>
          </a:xfrm>
          <a:prstGeom prst="roundRect">
            <a:avLst>
              <a:gd name="adj" fmla="val 17241"/>
            </a:avLst>
          </a:prstGeom>
          <a:solidFill>
            <a:srgbClr val="FFFFFF"/>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20" name="Text 18"/>
          <p:cNvSpPr/>
          <p:nvPr/>
        </p:nvSpPr>
        <p:spPr>
          <a:xfrm>
            <a:off x="4626864" y="1755648"/>
            <a:ext cx="1828800" cy="530352"/>
          </a:xfrm>
          <a:prstGeom prst="rect">
            <a:avLst/>
          </a:prstGeom>
          <a:noFill/>
          <a:ln/>
        </p:spPr>
        <p:txBody>
          <a:bodyPr wrap="square" lIns="0" tIns="0" rIns="0" bIns="0" rtlCol="0" anchor="ctr"/>
          <a:lstStyle/>
          <a:p>
            <a:pPr algn="ctr" indent="0" marL="0">
              <a:buNone/>
            </a:pPr>
            <a:r>
              <a:rPr lang="en-US" sz="1800" b="1" dirty="0">
                <a:solidFill>
                  <a:srgbClr val="0E1C42"/>
                </a:solidFill>
                <a:latin typeface="Calibri" pitchFamily="34" charset="0"/>
                <a:ea typeface="Calibri" pitchFamily="34" charset="-122"/>
                <a:cs typeface="Calibri" pitchFamily="34" charset="-120"/>
              </a:rPr>
              <a:t>bone</a:t>
            </a:r>
            <a:endParaRPr lang="en-US" sz="1800" dirty="0"/>
          </a:p>
        </p:txBody>
      </p:sp>
      <p:sp>
        <p:nvSpPr>
          <p:cNvPr id="21" name="Shape 19"/>
          <p:cNvSpPr/>
          <p:nvPr/>
        </p:nvSpPr>
        <p:spPr>
          <a:xfrm>
            <a:off x="6711696" y="1755648"/>
            <a:ext cx="1828800" cy="530352"/>
          </a:xfrm>
          <a:prstGeom prst="roundRect">
            <a:avLst>
              <a:gd name="adj" fmla="val 17241"/>
            </a:avLst>
          </a:prstGeom>
          <a:solidFill>
            <a:srgbClr val="FFFFFF"/>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22" name="Text 20"/>
          <p:cNvSpPr/>
          <p:nvPr/>
        </p:nvSpPr>
        <p:spPr>
          <a:xfrm>
            <a:off x="6711696" y="1755648"/>
            <a:ext cx="1828800" cy="530352"/>
          </a:xfrm>
          <a:prstGeom prst="rect">
            <a:avLst/>
          </a:prstGeom>
          <a:noFill/>
          <a:ln/>
        </p:spPr>
        <p:txBody>
          <a:bodyPr wrap="square" lIns="0" tIns="0" rIns="0" bIns="0" rtlCol="0" anchor="ctr"/>
          <a:lstStyle/>
          <a:p>
            <a:pPr algn="ctr" indent="0" marL="0">
              <a:buNone/>
            </a:pPr>
            <a:r>
              <a:rPr lang="en-US" sz="1800" b="1" dirty="0">
                <a:solidFill>
                  <a:srgbClr val="0E1C42"/>
                </a:solidFill>
                <a:latin typeface="Calibri" pitchFamily="34" charset="0"/>
                <a:ea typeface="Calibri" pitchFamily="34" charset="-122"/>
                <a:cs typeface="Calibri" pitchFamily="34" charset="-120"/>
              </a:rPr>
              <a:t>tube</a:t>
            </a:r>
            <a:endParaRPr lang="en-US" sz="1800" dirty="0"/>
          </a:p>
        </p:txBody>
      </p:sp>
      <p:sp>
        <p:nvSpPr>
          <p:cNvPr id="23" name="Text 21"/>
          <p:cNvSpPr/>
          <p:nvPr/>
        </p:nvSpPr>
        <p:spPr>
          <a:xfrm>
            <a:off x="365760" y="2487168"/>
            <a:ext cx="8229600" cy="274320"/>
          </a:xfrm>
          <a:prstGeom prst="rect">
            <a:avLst/>
          </a:prstGeom>
          <a:noFill/>
          <a:ln/>
        </p:spPr>
        <p:txBody>
          <a:bodyPr wrap="square" lIns="0" tIns="0" rIns="0" bIns="0" rtlCol="0" anchor="ctr"/>
          <a:lstStyle/>
          <a:p>
            <a:pPr indent="0" marL="0">
              <a:buNone/>
            </a:pPr>
            <a:r>
              <a:rPr lang="en-US" sz="1000" b="1" spc="200" kern="0" dirty="0">
                <a:solidFill>
                  <a:srgbClr val="34B76F"/>
                </a:solidFill>
                <a:latin typeface="Calibri" pitchFamily="34" charset="0"/>
                <a:ea typeface="Calibri" pitchFamily="34" charset="-122"/>
                <a:cs typeface="Calibri" pitchFamily="34" charset="-120"/>
              </a:rPr>
              <a:t>CLOSED (consonant ends the syllable → short vowel)</a:t>
            </a:r>
            <a:endParaRPr lang="en-US" sz="1000" dirty="0"/>
          </a:p>
        </p:txBody>
      </p:sp>
      <p:sp>
        <p:nvSpPr>
          <p:cNvPr id="24" name="Shape 22"/>
          <p:cNvSpPr/>
          <p:nvPr/>
        </p:nvSpPr>
        <p:spPr>
          <a:xfrm>
            <a:off x="365760" y="2743200"/>
            <a:ext cx="4114800" cy="658368"/>
          </a:xfrm>
          <a:prstGeom prst="roundRect">
            <a:avLst>
              <a:gd name="adj" fmla="val 13889"/>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25" name="Text 23"/>
          <p:cNvSpPr/>
          <p:nvPr/>
        </p:nvSpPr>
        <p:spPr>
          <a:xfrm>
            <a:off x="457200" y="2743200"/>
            <a:ext cx="3931920" cy="658368"/>
          </a:xfrm>
          <a:prstGeom prst="rect">
            <a:avLst/>
          </a:prstGeom>
          <a:noFill/>
          <a:ln/>
        </p:spPr>
        <p:txBody>
          <a:bodyPr wrap="square" lIns="0" tIns="0" rIns="0" bIns="0" rtlCol="0" anchor="ctr"/>
          <a:lstStyle/>
          <a:p>
            <a:pPr algn="ctr" indent="0" marL="0">
              <a:buNone/>
            </a:pPr>
            <a:r>
              <a:rPr lang="en-US" sz="1800" b="1" dirty="0">
                <a:solidFill>
                  <a:srgbClr val="34B76F"/>
                </a:solidFill>
                <a:latin typeface="Calibri" pitchFamily="34" charset="0"/>
                <a:ea typeface="Calibri" pitchFamily="34" charset="-122"/>
                <a:cs typeface="Calibri" pitchFamily="34" charset="-120"/>
              </a:rPr>
              <a:t>shut   help   lost   trap</a:t>
            </a:r>
            <a:endParaRPr lang="en-US" sz="1800" dirty="0"/>
          </a:p>
        </p:txBody>
      </p:sp>
      <p:sp>
        <p:nvSpPr>
          <p:cNvPr id="26" name="Text 24"/>
          <p:cNvSpPr/>
          <p:nvPr/>
        </p:nvSpPr>
        <p:spPr>
          <a:xfrm>
            <a:off x="4663440" y="2487168"/>
            <a:ext cx="8229600" cy="274320"/>
          </a:xfrm>
          <a:prstGeom prst="rect">
            <a:avLst/>
          </a:prstGeom>
          <a:noFill/>
          <a:ln/>
        </p:spPr>
        <p:txBody>
          <a:bodyPr wrap="square" lIns="0" tIns="0" rIns="0" bIns="0" rtlCol="0" anchor="ctr"/>
          <a:lstStyle/>
          <a:p>
            <a:pPr indent="0" marL="0">
              <a:buNone/>
            </a:pPr>
            <a:r>
              <a:rPr lang="en-US" sz="1000" b="1" spc="200" kern="0" dirty="0">
                <a:solidFill>
                  <a:srgbClr val="C7922C"/>
                </a:solidFill>
                <a:latin typeface="Calibri" pitchFamily="34" charset="0"/>
                <a:ea typeface="Calibri" pitchFamily="34" charset="-122"/>
                <a:cs typeface="Calibri" pitchFamily="34" charset="-120"/>
              </a:rPr>
              <a:t>NOT CLOSED (long vowel or other pattern)</a:t>
            </a:r>
            <a:endParaRPr lang="en-US" sz="1000" dirty="0"/>
          </a:p>
        </p:txBody>
      </p:sp>
      <p:sp>
        <p:nvSpPr>
          <p:cNvPr id="27" name="Shape 25"/>
          <p:cNvSpPr/>
          <p:nvPr/>
        </p:nvSpPr>
        <p:spPr>
          <a:xfrm>
            <a:off x="4663440" y="2743200"/>
            <a:ext cx="4114800" cy="658368"/>
          </a:xfrm>
          <a:prstGeom prst="roundRect">
            <a:avLst>
              <a:gd name="adj" fmla="val 13889"/>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28" name="Text 26"/>
          <p:cNvSpPr/>
          <p:nvPr/>
        </p:nvSpPr>
        <p:spPr>
          <a:xfrm>
            <a:off x="4754880" y="2743200"/>
            <a:ext cx="3931920" cy="658368"/>
          </a:xfrm>
          <a:prstGeom prst="rect">
            <a:avLst/>
          </a:prstGeom>
          <a:noFill/>
          <a:ln/>
        </p:spPr>
        <p:txBody>
          <a:bodyPr wrap="square" lIns="0" tIns="0" rIns="0" bIns="0" rtlCol="0" anchor="ctr"/>
          <a:lstStyle/>
          <a:p>
            <a:pPr algn="ctr" indent="0" marL="0">
              <a:buNone/>
            </a:pPr>
            <a:r>
              <a:rPr lang="en-US" sz="1800" b="1" dirty="0">
                <a:solidFill>
                  <a:srgbClr val="C7922C"/>
                </a:solidFill>
                <a:latin typeface="Calibri" pitchFamily="34" charset="0"/>
                <a:ea typeface="Calibri" pitchFamily="34" charset="-122"/>
                <a:cs typeface="Calibri" pitchFamily="34" charset="-120"/>
              </a:rPr>
              <a:t>made   ride   bone   tube</a:t>
            </a:r>
            <a:endParaRPr lang="en-US" sz="1800" dirty="0"/>
          </a:p>
        </p:txBody>
      </p:sp>
      <p:sp>
        <p:nvSpPr>
          <p:cNvPr id="29" name="Text 27"/>
          <p:cNvSpPr/>
          <p:nvPr/>
        </p:nvSpPr>
        <p:spPr>
          <a:xfrm>
            <a:off x="457200" y="3520440"/>
            <a:ext cx="822960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A closed syllable ends in a consonant and has a SHORT vowel sound. An open syllable ends in a vowel and has a LONG vowel sound.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700" b="1" dirty="0">
                <a:solidFill>
                  <a:srgbClr val="0E1C42"/>
                </a:solidFill>
                <a:latin typeface="Calibri" pitchFamily="34" charset="0"/>
                <a:ea typeface="Calibri" pitchFamily="34" charset="-122"/>
                <a:cs typeface="Calibri" pitchFamily="34" charset="-120"/>
              </a:rPr>
              <a:t>Reading — Rereading Chapter 1</a:t>
            </a:r>
            <a:endParaRPr lang="en-US" sz="27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229600" cy="274320"/>
          </a:xfrm>
          <a:prstGeom prst="rect">
            <a:avLst/>
          </a:prstGeom>
          <a:noFill/>
          <a:ln/>
        </p:spPr>
        <p:txBody>
          <a:bodyPr wrap="square" lIns="0" tIns="0" rIns="0" bIns="0" rtlCol="0" anchor="ctr"/>
          <a:lstStyle/>
          <a:p>
            <a:pPr indent="0" marL="0">
              <a:buNone/>
            </a:pPr>
            <a:r>
              <a:rPr lang="en-US" sz="1000" b="1" spc="200" kern="0" dirty="0">
                <a:solidFill>
                  <a:srgbClr val="64748B"/>
                </a:solidFill>
                <a:latin typeface="Calibri" pitchFamily="34" charset="0"/>
                <a:ea typeface="Calibri" pitchFamily="34" charset="-122"/>
                <a:cs typeface="Calibri" pitchFamily="34" charset="-120"/>
              </a:rPr>
              <a:t>CHAPTER 1 (REREAD) — ASKING QUESTIONS</a:t>
            </a:r>
            <a:endParaRPr lang="en-US" sz="1000" dirty="0"/>
          </a:p>
        </p:txBody>
      </p:sp>
      <p:sp>
        <p:nvSpPr>
          <p:cNvPr id="5" name="Shape 3"/>
          <p:cNvSpPr/>
          <p:nvPr/>
        </p:nvSpPr>
        <p:spPr>
          <a:xfrm>
            <a:off x="365760" y="1078992"/>
            <a:ext cx="8412480" cy="960120"/>
          </a:xfrm>
          <a:prstGeom prst="roundRect">
            <a:avLst>
              <a:gd name="adj" fmla="val 9524"/>
            </a:avLst>
          </a:prstGeom>
          <a:solidFill>
            <a:srgbClr val="F3EEF9"/>
          </a:solidFill>
          <a:ln w="12700">
            <a:solidFill>
              <a:srgbClr val="8B6FC0"/>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863840" cy="292608"/>
          </a:xfrm>
          <a:prstGeom prst="rect">
            <a:avLst/>
          </a:prstGeom>
          <a:noFill/>
          <a:ln/>
        </p:spPr>
        <p:txBody>
          <a:bodyPr wrap="square" lIns="0" tIns="0" rIns="0" bIns="0" rtlCol="0" anchor="ctr"/>
          <a:lstStyle/>
          <a:p>
            <a:pPr indent="0" marL="0">
              <a:buNone/>
            </a:pPr>
            <a:r>
              <a:rPr lang="en-US" sz="1200" b="1" spc="100" kern="0" dirty="0">
                <a:solidFill>
                  <a:srgbClr val="8B6FC0"/>
                </a:solidFill>
                <a:latin typeface="Calibri" pitchFamily="34" charset="0"/>
                <a:ea typeface="Calibri" pitchFamily="34" charset="-122"/>
                <a:cs typeface="Calibri" pitchFamily="34" charset="-120"/>
              </a:rPr>
              <a:t>What Good Readers Do — Think About This:</a:t>
            </a:r>
            <a:endParaRPr lang="en-US" sz="1200" dirty="0"/>
          </a:p>
        </p:txBody>
      </p:sp>
      <p:sp>
        <p:nvSpPr>
          <p:cNvPr id="7" name="Text 5"/>
          <p:cNvSpPr/>
          <p:nvPr/>
        </p:nvSpPr>
        <p:spPr>
          <a:xfrm>
            <a:off x="594360" y="1444752"/>
            <a:ext cx="7863840" cy="530352"/>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Stanley is four feet tall, a foot wide, and half an inch thick. What questions do you have about how his life will change?</a:t>
            </a:r>
            <a:endParaRPr lang="en-US" sz="1600" dirty="0"/>
          </a:p>
        </p:txBody>
      </p:sp>
      <p:sp>
        <p:nvSpPr>
          <p:cNvPr id="8" name="Shape 6"/>
          <p:cNvSpPr/>
          <p:nvPr/>
        </p:nvSpPr>
        <p:spPr>
          <a:xfrm>
            <a:off x="365760" y="2176272"/>
            <a:ext cx="8412480" cy="960120"/>
          </a:xfrm>
          <a:prstGeom prst="roundRect">
            <a:avLst>
              <a:gd name="adj" fmla="val 9524"/>
            </a:avLst>
          </a:prstGeom>
          <a:solidFill>
            <a:srgbClr val="E5F7FC"/>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594360" y="2249424"/>
            <a:ext cx="7863840" cy="292608"/>
          </a:xfrm>
          <a:prstGeom prst="rect">
            <a:avLst/>
          </a:prstGeom>
          <a:noFill/>
          <a:ln/>
        </p:spPr>
        <p:txBody>
          <a:bodyPr wrap="square" lIns="0" tIns="0" rIns="0" bIns="0" rtlCol="0" anchor="ctr"/>
          <a:lstStyle/>
          <a:p>
            <a:pPr indent="0" marL="0">
              <a:buNone/>
            </a:pPr>
            <a:r>
              <a:rPr lang="en-US" sz="1200" b="1" spc="100" kern="0" dirty="0">
                <a:solidFill>
                  <a:srgbClr val="55C8E8"/>
                </a:solidFill>
                <a:latin typeface="Calibri" pitchFamily="34" charset="0"/>
                <a:ea typeface="Calibri" pitchFamily="34" charset="-122"/>
                <a:cs typeface="Calibri" pitchFamily="34" charset="-120"/>
              </a:rPr>
              <a:t>Pause &amp; Think 1</a:t>
            </a:r>
            <a:endParaRPr lang="en-US" sz="1200" dirty="0"/>
          </a:p>
        </p:txBody>
      </p:sp>
      <p:sp>
        <p:nvSpPr>
          <p:cNvPr id="10" name="Text 8"/>
          <p:cNvSpPr/>
          <p:nvPr/>
        </p:nvSpPr>
        <p:spPr>
          <a:xfrm>
            <a:off x="594360" y="2542032"/>
            <a:ext cx="7863840" cy="530352"/>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What is ONE thing you noticed on the reread that you missed the first time?</a:t>
            </a:r>
            <a:endParaRPr lang="en-US" sz="1600" dirty="0"/>
          </a:p>
        </p:txBody>
      </p:sp>
      <p:sp>
        <p:nvSpPr>
          <p:cNvPr id="11" name="Shape 9"/>
          <p:cNvSpPr/>
          <p:nvPr/>
        </p:nvSpPr>
        <p:spPr>
          <a:xfrm>
            <a:off x="365760" y="3273552"/>
            <a:ext cx="8412480" cy="960120"/>
          </a:xfrm>
          <a:prstGeom prst="roundRect">
            <a:avLst>
              <a:gd name="adj" fmla="val 9524"/>
            </a:avLst>
          </a:prstGeom>
          <a:solidFill>
            <a:srgbClr val="E5F7FC"/>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594360" y="3346704"/>
            <a:ext cx="7863840" cy="292608"/>
          </a:xfrm>
          <a:prstGeom prst="rect">
            <a:avLst/>
          </a:prstGeom>
          <a:noFill/>
          <a:ln/>
        </p:spPr>
        <p:txBody>
          <a:bodyPr wrap="square" lIns="0" tIns="0" rIns="0" bIns="0" rtlCol="0" anchor="ctr"/>
          <a:lstStyle/>
          <a:p>
            <a:pPr indent="0" marL="0">
              <a:buNone/>
            </a:pPr>
            <a:r>
              <a:rPr lang="en-US" sz="1200" b="1" spc="100" kern="0" dirty="0">
                <a:solidFill>
                  <a:srgbClr val="55C8E8"/>
                </a:solidFill>
                <a:latin typeface="Calibri" pitchFamily="34" charset="0"/>
                <a:ea typeface="Calibri" pitchFamily="34" charset="-122"/>
                <a:cs typeface="Calibri" pitchFamily="34" charset="-120"/>
              </a:rPr>
              <a:t>Pause &amp; Think 2</a:t>
            </a:r>
            <a:endParaRPr lang="en-US" sz="1200" dirty="0"/>
          </a:p>
        </p:txBody>
      </p:sp>
      <p:sp>
        <p:nvSpPr>
          <p:cNvPr id="13" name="Text 11"/>
          <p:cNvSpPr/>
          <p:nvPr/>
        </p:nvSpPr>
        <p:spPr>
          <a:xfrm>
            <a:off x="594360" y="3639312"/>
            <a:ext cx="7863840" cy="530352"/>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What question do you still have after rereading Chapter 1?</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700" b="1" dirty="0">
                <a:solidFill>
                  <a:srgbClr val="0E1C42"/>
                </a:solidFill>
                <a:latin typeface="Calibri" pitchFamily="34" charset="0"/>
                <a:ea typeface="Calibri" pitchFamily="34" charset="-122"/>
                <a:cs typeface="Calibri" pitchFamily="34" charset="-120"/>
              </a:rPr>
              <a:t>Reading Comprehension</a:t>
            </a:r>
            <a:endParaRPr lang="en-US" sz="27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229600" cy="274320"/>
          </a:xfrm>
          <a:prstGeom prst="rect">
            <a:avLst/>
          </a:prstGeom>
          <a:noFill/>
          <a:ln/>
        </p:spPr>
        <p:txBody>
          <a:bodyPr wrap="square" lIns="0" tIns="0" rIns="0" bIns="0" rtlCol="0" anchor="ctr"/>
          <a:lstStyle/>
          <a:p>
            <a:pPr indent="0" marL="0">
              <a:buNone/>
            </a:pPr>
            <a:r>
              <a:rPr lang="en-US" sz="1000" b="1" spc="200" kern="0" dirty="0">
                <a:solidFill>
                  <a:srgbClr val="64748B"/>
                </a:solidFill>
                <a:latin typeface="Calibri" pitchFamily="34" charset="0"/>
                <a:ea typeface="Calibri" pitchFamily="34" charset="-122"/>
                <a:cs typeface="Calibri" pitchFamily="34" charset="-120"/>
              </a:rPr>
              <a:t>ANSWER IN COMPLETE SENTENCES — USE TEXT EVIDENCE</a:t>
            </a:r>
            <a:endParaRPr lang="en-US" sz="1000" dirty="0"/>
          </a:p>
        </p:txBody>
      </p:sp>
      <p:sp>
        <p:nvSpPr>
          <p:cNvPr id="5" name="Shape 3"/>
          <p:cNvSpPr/>
          <p:nvPr/>
        </p:nvSpPr>
        <p:spPr>
          <a:xfrm>
            <a:off x="365760" y="1078992"/>
            <a:ext cx="8412480" cy="1417320"/>
          </a:xfrm>
          <a:prstGeom prst="roundRect">
            <a:avLst>
              <a:gd name="adj" fmla="val 6452"/>
            </a:avLst>
          </a:prstGeom>
          <a:solidFill>
            <a:srgbClr val="F8FAFC"/>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6" name="Shape 4"/>
          <p:cNvSpPr/>
          <p:nvPr/>
        </p:nvSpPr>
        <p:spPr>
          <a:xfrm>
            <a:off x="502920" y="1188720"/>
            <a:ext cx="475488" cy="475488"/>
          </a:xfrm>
          <a:prstGeom prst="roundRect">
            <a:avLst>
              <a:gd name="adj" fmla="val 19231"/>
            </a:avLst>
          </a:prstGeom>
          <a:solidFill>
            <a:srgbClr val="55C8E8"/>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02920" y="1188720"/>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6"/>
          <p:cNvSpPr/>
          <p:nvPr/>
        </p:nvSpPr>
        <p:spPr>
          <a:xfrm>
            <a:off x="1143000" y="1188720"/>
            <a:ext cx="7452360" cy="118872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List three things that happen in Chapter 1 in the correct order.</a:t>
            </a:r>
            <a:endParaRPr lang="en-US" sz="1600" dirty="0"/>
          </a:p>
        </p:txBody>
      </p:sp>
      <p:sp>
        <p:nvSpPr>
          <p:cNvPr id="9" name="Shape 7"/>
          <p:cNvSpPr/>
          <p:nvPr/>
        </p:nvSpPr>
        <p:spPr>
          <a:xfrm>
            <a:off x="365760" y="2651760"/>
            <a:ext cx="8412480" cy="1417320"/>
          </a:xfrm>
          <a:prstGeom prst="roundRect">
            <a:avLst>
              <a:gd name="adj" fmla="val 6452"/>
            </a:avLst>
          </a:prstGeom>
          <a:solidFill>
            <a:srgbClr val="F8FAFC"/>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10" name="Shape 8"/>
          <p:cNvSpPr/>
          <p:nvPr/>
        </p:nvSpPr>
        <p:spPr>
          <a:xfrm>
            <a:off x="502920" y="2761488"/>
            <a:ext cx="475488" cy="475488"/>
          </a:xfrm>
          <a:prstGeom prst="roundRect">
            <a:avLst>
              <a:gd name="adj" fmla="val 19231"/>
            </a:avLst>
          </a:prstGeom>
          <a:solidFill>
            <a:srgbClr val="55C8E8"/>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11" name="Text 9"/>
          <p:cNvSpPr/>
          <p:nvPr/>
        </p:nvSpPr>
        <p:spPr>
          <a:xfrm>
            <a:off x="502920" y="276148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1143000" y="2761488"/>
            <a:ext cx="7452360" cy="118872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Why is Stanley cheerful even though a board fell on him? What does this tell you about him?</a:t>
            </a:r>
            <a:endParaRPr lang="en-US" sz="1600" dirty="0"/>
          </a:p>
        </p:txBody>
      </p:sp>
      <p:sp>
        <p:nvSpPr>
          <p:cNvPr id="13" name="Shape 11"/>
          <p:cNvSpPr/>
          <p:nvPr/>
        </p:nvSpPr>
        <p:spPr>
          <a:xfrm>
            <a:off x="365760" y="4224528"/>
            <a:ext cx="8412480" cy="1417320"/>
          </a:xfrm>
          <a:prstGeom prst="roundRect">
            <a:avLst>
              <a:gd name="adj" fmla="val 6452"/>
            </a:avLst>
          </a:prstGeom>
          <a:solidFill>
            <a:srgbClr val="F8FAFC"/>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14" name="Shape 12"/>
          <p:cNvSpPr/>
          <p:nvPr/>
        </p:nvSpPr>
        <p:spPr>
          <a:xfrm>
            <a:off x="502920" y="4334256"/>
            <a:ext cx="475488" cy="475488"/>
          </a:xfrm>
          <a:prstGeom prst="roundRect">
            <a:avLst>
              <a:gd name="adj" fmla="val 19231"/>
            </a:avLst>
          </a:prstGeom>
          <a:solidFill>
            <a:srgbClr val="55C8E8"/>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15" name="Text 13"/>
          <p:cNvSpPr/>
          <p:nvPr/>
        </p:nvSpPr>
        <p:spPr>
          <a:xfrm>
            <a:off x="502920" y="433425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6" name="Text 14"/>
          <p:cNvSpPr/>
          <p:nvPr/>
        </p:nvSpPr>
        <p:spPr>
          <a:xfrm>
            <a:off x="1143000" y="4334256"/>
            <a:ext cx="7452360" cy="118872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Write one question you still have after reading Chapter 1.</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700" b="1" dirty="0">
                <a:solidFill>
                  <a:srgbClr val="0E1C42"/>
                </a:solidFill>
                <a:latin typeface="Calibri" pitchFamily="34" charset="0"/>
                <a:ea typeface="Calibri" pitchFamily="34" charset="-122"/>
                <a:cs typeface="Calibri" pitchFamily="34" charset="-120"/>
              </a:rPr>
              <a:t>Writing Workshop</a:t>
            </a:r>
            <a:endParaRPr lang="en-US" sz="27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365760" y="822960"/>
            <a:ext cx="1316736" cy="347472"/>
          </a:xfrm>
          <a:prstGeom prst="roundRect">
            <a:avLst>
              <a:gd name="adj" fmla="val 26316"/>
            </a:avLst>
          </a:prstGeom>
          <a:solidFill>
            <a:srgbClr val="C7922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365760" y="822960"/>
            <a:ext cx="1316736"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 Seed Ideas</a:t>
            </a:r>
            <a:endParaRPr lang="en-US" sz="900" dirty="0"/>
          </a:p>
        </p:txBody>
      </p:sp>
      <p:sp>
        <p:nvSpPr>
          <p:cNvPr id="6" name="Shape 4"/>
          <p:cNvSpPr/>
          <p:nvPr/>
        </p:nvSpPr>
        <p:spPr>
          <a:xfrm>
            <a:off x="1810512" y="822960"/>
            <a:ext cx="1316736" cy="347472"/>
          </a:xfrm>
          <a:prstGeom prst="roundRect">
            <a:avLst>
              <a:gd name="adj" fmla="val 26316"/>
            </a:avLst>
          </a:prstGeom>
          <a:solidFill>
            <a:srgbClr val="F8FAFC"/>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1810512" y="822960"/>
            <a:ext cx="1316736" cy="347472"/>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o Plan</a:t>
            </a:r>
            <a:endParaRPr lang="en-US" sz="900" dirty="0"/>
          </a:p>
        </p:txBody>
      </p:sp>
      <p:sp>
        <p:nvSpPr>
          <p:cNvPr id="8" name="Shape 6"/>
          <p:cNvSpPr/>
          <p:nvPr/>
        </p:nvSpPr>
        <p:spPr>
          <a:xfrm>
            <a:off x="3255264" y="822960"/>
            <a:ext cx="1316736" cy="347472"/>
          </a:xfrm>
          <a:prstGeom prst="roundRect">
            <a:avLst>
              <a:gd name="adj" fmla="val 26316"/>
            </a:avLst>
          </a:prstGeom>
          <a:solidFill>
            <a:srgbClr val="F8FAFC"/>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3255264" y="822960"/>
            <a:ext cx="1316736" cy="347472"/>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o Draft</a:t>
            </a:r>
            <a:endParaRPr lang="en-US" sz="900" dirty="0"/>
          </a:p>
        </p:txBody>
      </p:sp>
      <p:sp>
        <p:nvSpPr>
          <p:cNvPr id="10" name="Shape 8"/>
          <p:cNvSpPr/>
          <p:nvPr/>
        </p:nvSpPr>
        <p:spPr>
          <a:xfrm>
            <a:off x="4700016" y="822960"/>
            <a:ext cx="1060704" cy="347472"/>
          </a:xfrm>
          <a:prstGeom prst="roundRect">
            <a:avLst>
              <a:gd name="adj" fmla="val 26316"/>
            </a:avLst>
          </a:prstGeom>
          <a:solidFill>
            <a:srgbClr val="F8FAFC"/>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11" name="Text 9"/>
          <p:cNvSpPr/>
          <p:nvPr/>
        </p:nvSpPr>
        <p:spPr>
          <a:xfrm>
            <a:off x="4700016" y="822960"/>
            <a:ext cx="1060704" cy="347472"/>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o Add Craft</a:t>
            </a:r>
            <a:endParaRPr lang="en-US" sz="900" dirty="0"/>
          </a:p>
        </p:txBody>
      </p:sp>
      <p:sp>
        <p:nvSpPr>
          <p:cNvPr id="12" name="Shape 10"/>
          <p:cNvSpPr/>
          <p:nvPr/>
        </p:nvSpPr>
        <p:spPr>
          <a:xfrm>
            <a:off x="5888736" y="822960"/>
            <a:ext cx="1371600" cy="347472"/>
          </a:xfrm>
          <a:prstGeom prst="roundRect">
            <a:avLst>
              <a:gd name="adj" fmla="val 26316"/>
            </a:avLst>
          </a:prstGeom>
          <a:solidFill>
            <a:srgbClr val="F8FAFC"/>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13" name="Text 11"/>
          <p:cNvSpPr/>
          <p:nvPr/>
        </p:nvSpPr>
        <p:spPr>
          <a:xfrm>
            <a:off x="5888736" y="822960"/>
            <a:ext cx="1371600" cy="347472"/>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o Revise &amp; Edit</a:t>
            </a:r>
            <a:endParaRPr lang="en-US" sz="900" dirty="0"/>
          </a:p>
        </p:txBody>
      </p:sp>
      <p:sp>
        <p:nvSpPr>
          <p:cNvPr id="14" name="Shape 12"/>
          <p:cNvSpPr/>
          <p:nvPr/>
        </p:nvSpPr>
        <p:spPr>
          <a:xfrm>
            <a:off x="7406640" y="822960"/>
            <a:ext cx="1371600" cy="347472"/>
          </a:xfrm>
          <a:prstGeom prst="roundRect">
            <a:avLst>
              <a:gd name="adj" fmla="val 26316"/>
            </a:avLst>
          </a:prstGeom>
          <a:solidFill>
            <a:srgbClr val="F8FAFC"/>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15" name="Text 13"/>
          <p:cNvSpPr/>
          <p:nvPr/>
        </p:nvSpPr>
        <p:spPr>
          <a:xfrm>
            <a:off x="7406640" y="822960"/>
            <a:ext cx="1371600" cy="347472"/>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o Publish</a:t>
            </a:r>
            <a:endParaRPr lang="en-US" sz="900" dirty="0"/>
          </a:p>
        </p:txBody>
      </p:sp>
      <p:sp>
        <p:nvSpPr>
          <p:cNvPr id="16" name="Shape 14"/>
          <p:cNvSpPr/>
          <p:nvPr/>
        </p:nvSpPr>
        <p:spPr>
          <a:xfrm>
            <a:off x="365760" y="1280160"/>
            <a:ext cx="8412480" cy="658368"/>
          </a:xfrm>
          <a:prstGeom prst="roundRect">
            <a:avLst>
              <a:gd name="adj" fmla="val 13889"/>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7" name="Text 15"/>
          <p:cNvSpPr/>
          <p:nvPr/>
        </p:nvSpPr>
        <p:spPr>
          <a:xfrm>
            <a:off x="594360" y="1316736"/>
            <a:ext cx="7863840" cy="585216"/>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Today: SEED IDEAS — Write 2–3 sentences about your chosen moment. Focus on the FEELING — not just what happened, but how it felt inside.</a:t>
            </a:r>
            <a:endParaRPr lang="en-US" sz="1500" dirty="0"/>
          </a:p>
        </p:txBody>
      </p:sp>
      <p:sp>
        <p:nvSpPr>
          <p:cNvPr id="18" name="Text 16"/>
          <p:cNvSpPr/>
          <p:nvPr/>
        </p:nvSpPr>
        <p:spPr>
          <a:xfrm>
            <a:off x="365760" y="2057400"/>
            <a:ext cx="8229600" cy="274320"/>
          </a:xfrm>
          <a:prstGeom prst="rect">
            <a:avLst/>
          </a:prstGeom>
          <a:noFill/>
          <a:ln/>
        </p:spPr>
        <p:txBody>
          <a:bodyPr wrap="square" lIns="0" tIns="0" rIns="0" bIns="0" rtlCol="0" anchor="ctr"/>
          <a:lstStyle/>
          <a:p>
            <a:pPr indent="0" marL="0">
              <a:buNone/>
            </a:pPr>
            <a:r>
              <a:rPr lang="en-US" sz="1000" b="1" spc="200" kern="0" dirty="0">
                <a:solidFill>
                  <a:srgbClr val="64748B"/>
                </a:solidFill>
                <a:latin typeface="Calibri" pitchFamily="34" charset="0"/>
                <a:ea typeface="Calibri" pitchFamily="34" charset="-122"/>
                <a:cs typeface="Calibri" pitchFamily="34" charset="-120"/>
              </a:rPr>
              <a:t>READ, WRITE, MENTOR — IMITATE THIS SENTENCE</a:t>
            </a:r>
            <a:endParaRPr lang="en-US" sz="1000" dirty="0"/>
          </a:p>
        </p:txBody>
      </p:sp>
      <p:sp>
        <p:nvSpPr>
          <p:cNvPr id="19" name="Shape 17"/>
          <p:cNvSpPr/>
          <p:nvPr/>
        </p:nvSpPr>
        <p:spPr>
          <a:xfrm>
            <a:off x="365760" y="2350008"/>
            <a:ext cx="8412480" cy="804672"/>
          </a:xfrm>
          <a:prstGeom prst="roundRect">
            <a:avLst>
              <a:gd name="adj" fmla="val 11364"/>
            </a:avLst>
          </a:prstGeom>
          <a:solidFill>
            <a:srgbClr val="F8FAFC"/>
          </a:solidFill>
          <a:ln w="12700">
            <a:solidFill>
              <a:srgbClr val="55C8E8"/>
            </a:solidFill>
            <a:prstDash val="solid"/>
          </a:ln>
          <a:effectLst>
            <a:outerShdw sx="100000" sy="100000" kx="0" ky="0" algn="bl" rotWithShape="0" blurRad="101600" dist="38100" dir="2700000">
              <a:srgbClr val="000000">
                <a:alpha val="12000"/>
              </a:srgbClr>
            </a:outerShdw>
          </a:effectLst>
        </p:spPr>
      </p:sp>
      <p:sp>
        <p:nvSpPr>
          <p:cNvPr id="20" name="Text 18"/>
          <p:cNvSpPr/>
          <p:nvPr/>
        </p:nvSpPr>
        <p:spPr>
          <a:xfrm>
            <a:off x="594360" y="2423160"/>
            <a:ext cx="7863840" cy="658368"/>
          </a:xfrm>
          <a:prstGeom prst="rect">
            <a:avLst/>
          </a:prstGeom>
          <a:noFill/>
          <a:ln/>
        </p:spPr>
        <p:txBody>
          <a:bodyPr wrap="square" lIns="0" tIns="0" rIns="0" bIns="0" rtlCol="0" anchor="ctr"/>
          <a:lstStyle/>
          <a:p>
            <a:pPr indent="0" marL="0">
              <a:buNone/>
            </a:pPr>
            <a:r>
              <a:rPr lang="en-US" sz="1900" i="1" dirty="0">
                <a:solidFill>
                  <a:srgbClr val="1E293B"/>
                </a:solidFill>
                <a:latin typeface="Calibri" pitchFamily="34" charset="0"/>
                <a:ea typeface="Calibri" pitchFamily="34" charset="-122"/>
                <a:cs typeface="Calibri" pitchFamily="34" charset="-120"/>
              </a:rPr>
              <a:t>"But Stanley was not hurt."</a:t>
            </a:r>
            <a:endParaRPr lang="en-US" sz="1900" dirty="0"/>
          </a:p>
        </p:txBody>
      </p:sp>
      <p:sp>
        <p:nvSpPr>
          <p:cNvPr id="21" name="Text 19"/>
          <p:cNvSpPr/>
          <p:nvPr/>
        </p:nvSpPr>
        <p:spPr>
          <a:xfrm>
            <a:off x="365760" y="3291840"/>
            <a:ext cx="8229600" cy="274320"/>
          </a:xfrm>
          <a:prstGeom prst="rect">
            <a:avLst/>
          </a:prstGeom>
          <a:noFill/>
          <a:ln/>
        </p:spPr>
        <p:txBody>
          <a:bodyPr wrap="square" lIns="0" tIns="0" rIns="0" bIns="0" rtlCol="0" anchor="ctr"/>
          <a:lstStyle/>
          <a:p>
            <a:pPr indent="0" marL="0">
              <a:buNone/>
            </a:pPr>
            <a:r>
              <a:rPr lang="en-US" sz="1000" b="1" spc="200" kern="0" dirty="0">
                <a:solidFill>
                  <a:srgbClr val="64748B"/>
                </a:solidFill>
                <a:latin typeface="Calibri" pitchFamily="34" charset="0"/>
                <a:ea typeface="Calibri" pitchFamily="34" charset="-122"/>
                <a:cs typeface="Calibri" pitchFamily="34" charset="-120"/>
              </a:rPr>
              <a:t>WRITING CONNECTION — IN YOUR JOURNAL</a:t>
            </a:r>
            <a:endParaRPr lang="en-US" sz="1000" dirty="0"/>
          </a:p>
        </p:txBody>
      </p:sp>
      <p:sp>
        <p:nvSpPr>
          <p:cNvPr id="22" name="Shape 20"/>
          <p:cNvSpPr/>
          <p:nvPr/>
        </p:nvSpPr>
        <p:spPr>
          <a:xfrm>
            <a:off x="365760" y="3584448"/>
            <a:ext cx="8412480" cy="1234440"/>
          </a:xfrm>
          <a:prstGeom prst="roundRect">
            <a:avLst>
              <a:gd name="adj" fmla="val 7407"/>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23" name="Text 21"/>
          <p:cNvSpPr/>
          <p:nvPr/>
        </p:nvSpPr>
        <p:spPr>
          <a:xfrm>
            <a:off x="594360" y="3675888"/>
            <a:ext cx="7863840" cy="1005840"/>
          </a:xfrm>
          <a:prstGeom prst="rect">
            <a:avLst/>
          </a:prstGeom>
          <a:noFill/>
          <a:ln/>
        </p:spPr>
        <p:txBody>
          <a:bodyPr wrap="square" lIns="0" tIns="0" rIns="0" bIns="0" rtlCol="0" anchor="ctr"/>
          <a:lstStyle/>
          <a:p>
            <a:pPr indent="0" marL="0">
              <a:buNone/>
            </a:pPr>
            <a:r>
              <a:rPr lang="en-US" sz="1500" i="1" dirty="0">
                <a:solidFill>
                  <a:srgbClr val="1E293B"/>
                </a:solidFill>
                <a:latin typeface="Calibri" pitchFamily="34" charset="0"/>
                <a:ea typeface="Calibri" pitchFamily="34" charset="-122"/>
                <a:cs typeface="Calibri" pitchFamily="34" charset="-120"/>
              </a:rPr>
              <a:t>Stanley calls out cheerfully from under the board. Write 2–3 sentences about a time you reacted in a way that surprised people.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2026-07-10T22:05:39Z</dcterms:created>
  <dcterms:modified xsi:type="dcterms:W3CDTF">2026-07-10T22:05:39Z</dcterms:modified>
</cp:coreProperties>
</file>