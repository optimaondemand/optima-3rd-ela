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</p:sldIdLst>
  <p:notesMasterIdLst>
    <p:notesMasterId r:id="rId18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notesMaster" Target="notesMasters/notesMaster1.xml"/><Relationship Id="rId19" Type="http://schemas.openxmlformats.org/officeDocument/2006/relationships/presProps" Target="presProps.xml"/><Relationship Id="rId20" Type="http://schemas.openxmlformats.org/officeDocument/2006/relationships/viewProps" Target="viewProps.xml"/><Relationship Id="rId21" Type="http://schemas.openxmlformats.org/officeDocument/2006/relationships/theme" Target="theme/theme1.xml"/><Relationship Id="rId22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Lesson 32.1. Reading: 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prompt aloud. Give students a moment to think before writing.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Five minutes of sustained writing. Stamina over polish. Do not correct spelling now.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fix only. Editing is conventions; revision is ideas. Name which one you are asking for.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Two or three volunteers. Praise something specific in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Reading lens: Good readers in a fantasy story slow down and pay attention to how the author builds the world . Details of setting, character, and pattern all work together to create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Model sentence in the lesson: character virtue watching are.
Tap through each highlighted word in the lesson and name what it does right before moving to the fix-it.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Honesty means telling the truth even when it's difficult, and that's one of the hardest things a person can do. 
Look for: Honesty = sentence opener (capital H); it's = it + is (contraction); comma before and joining two complete thoughts; that's = that + is (contraction);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Corrected: Corrected: Honesty means telling the truth even when it's difficult, and that's one of the hardest things a person can do. 
Look for: Honesty = sentence opener (capital H); it's = it + is (contraction); comma before and joining two complete thoughts; that's = that + is (contraction); period ends.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Break the word into base + word part. Ask what the part adds to the meaning.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Each word appears in the chapters read this week, in the author’s own sentence.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despereaux, didnt, narnia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Answers: despereaux, didnt, narnia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Suffix -y: honesty | Has a suffix: courageous | Prefix un-: unafraid | Prefix re-: rebuild | Suffix -less: fearless | Has a prefix: transform | Suffix -ance: perseverance | Suffix -ful: respectful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Suffix -y: honesty | Has a suffix: courageous | Prefix un-: unafraid | Prefix re-: rebuild | Suffix -less: fearless | Has a prefix: transform | Suffix -ance: perseverance | Suffix -ful: respectful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the chapters, then return to the pause questions.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E1C42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0" y="822960"/>
            <a:ext cx="91440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5200" dirty="0">
                <a:solidFill>
                  <a:srgbClr val="000000"/>
                </a:solidFill>
              </a:rPr>
              <a:t>🎉</a:t>
            </a:r>
            <a:endParaRPr lang="en-US" sz="5200" dirty="0"/>
          </a:p>
        </p:txBody>
      </p:sp>
      <p:sp>
        <p:nvSpPr>
          <p:cNvPr id="3" name="Text 1"/>
          <p:cNvSpPr/>
          <p:nvPr/>
        </p:nvSpPr>
        <p:spPr>
          <a:xfrm>
            <a:off x="457200" y="1691640"/>
            <a:ext cx="822960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Year-End Synthesis</a:t>
            </a:r>
            <a:endParaRPr lang="en-US" sz="3400" dirty="0"/>
          </a:p>
        </p:txBody>
      </p:sp>
      <p:sp>
        <p:nvSpPr>
          <p:cNvPr id="4" name="Text 2"/>
          <p:cNvSpPr/>
          <p:nvPr/>
        </p:nvSpPr>
        <p:spPr>
          <a:xfrm>
            <a:off x="457200" y="2331720"/>
            <a:ext cx="8229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00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Lesson 32.1</a:t>
            </a:r>
            <a:endParaRPr lang="en-US" sz="2000" dirty="0"/>
          </a:p>
        </p:txBody>
      </p:sp>
      <p:sp>
        <p:nvSpPr>
          <p:cNvPr id="5" name="Text 3"/>
          <p:cNvSpPr/>
          <p:nvPr/>
        </p:nvSpPr>
        <p:spPr>
          <a:xfrm>
            <a:off x="457200" y="288036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C9BCE4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Grade 3 ELA  ·  Virtue: Gratitude</a:t>
            </a:r>
            <a:endParaRPr lang="en-US" sz="14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10-Minute Write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2296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 THE PROMPT — 1 MINUTE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143000"/>
            <a:ext cx="8412480" cy="1737360"/>
          </a:xfrm>
          <a:prstGeom prst="roundRect">
            <a:avLst>
              <a:gd name="adj" fmla="val 5263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71016"/>
            <a:ext cx="7955280" cy="14813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which book from this year you would read again first, and why.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30632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Think first. You will have five minutes to write.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EF6E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✍️  Writing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 minutes — keep your pencil moving!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4630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PROMPT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73736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FFFFFF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65376"/>
            <a:ext cx="7955280" cy="11612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about which book from this year you would read again first, and why.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329184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 not stop to erase. If you get stuck, write the last word again and keep going.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E8F8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🔍  Edit &amp; Revise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minute — pick ONE thing to fix.</a:t>
            </a:r>
            <a:endParaRPr lang="en-US" sz="2400" dirty="0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TODAY'S EDIT FOCUS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691640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34B76F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819656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 I use a capital letter for every title and name?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65176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Quick check:  </a:t>
            </a:r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capitals  ·  end punctuation  ·  circle a word you are unsure of  ·  read it aloud</a:t>
            </a:r>
            <a:endParaRPr lang="en-US" sz="15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E5F7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🗣️  Share Time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1005840"/>
            <a:ext cx="841248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 minutes — let's hear your writing!</a:t>
            </a:r>
            <a:endParaRPr lang="en-US" sz="2600" dirty="0"/>
          </a:p>
        </p:txBody>
      </p:sp>
      <p:sp>
        <p:nvSpPr>
          <p:cNvPr id="5" name="Text 3"/>
          <p:cNvSpPr/>
          <p:nvPr/>
        </p:nvSpPr>
        <p:spPr>
          <a:xfrm>
            <a:off x="365760" y="169164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Raise your hand  ·  paste it in the chat  ·  or hold your paper up to the camera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📖  Today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BIG QUESTION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14984"/>
            <a:ext cx="8412480" cy="731520"/>
          </a:xfrm>
          <a:prstGeom prst="roundRect">
            <a:avLst>
              <a:gd name="adj" fmla="val 12500"/>
            </a:avLst>
          </a:prstGeom>
          <a:solidFill>
            <a:srgbClr val="FEF6E8"/>
          </a:solidFill>
          <a:ln w="19050">
            <a:solidFill>
              <a:srgbClr val="C7922C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43000"/>
            <a:ext cx="7955280" cy="47548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 on how reading skills have grown.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187452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READING LENS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365760" y="2112264"/>
            <a:ext cx="841248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Good readers in a fantasy story slow down and pay attention to how the author builds the world . Details of setting, character, and pattern all work together to create meaning.</a:t>
            </a:r>
            <a:endParaRPr lang="en-US" sz="15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GRAMMAR POINTS IN THE MODEL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88720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character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Common noun — lowercase here, not referring to a story character.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19072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810512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watching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Gerund used as object of preposition is.</a:t>
            </a:r>
            <a:endParaRPr lang="en-US" sz="1500" dirty="0"/>
          </a:p>
        </p:txBody>
      </p:sp>
      <p:sp>
        <p:nvSpPr>
          <p:cNvPr id="9" name="Shape 7"/>
          <p:cNvSpPr/>
          <p:nvPr/>
        </p:nvSpPr>
        <p:spPr>
          <a:xfrm>
            <a:off x="365760" y="2340864"/>
            <a:ext cx="8412480" cy="548640"/>
          </a:xfrm>
          <a:prstGeom prst="roundRect">
            <a:avLst>
              <a:gd name="adj" fmla="val 16667"/>
            </a:avLst>
          </a:prstGeom>
          <a:solidFill>
            <a:srgbClr val="F8FA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432304"/>
            <a:ext cx="78638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are.  </a:t>
            </a:r>
            <a:pPr indent="0" marL="0">
              <a:buNone/>
            </a:pPr>
            <a:r>
              <a:rPr lang="en-US" sz="13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Linking verb; period ends the sentence.</a:t>
            </a:r>
            <a:endParaRPr lang="en-US" sz="15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means telling the truth even when its difficult and thats one of the hardest things a person can do</a:t>
            </a:r>
            <a:endParaRPr lang="en-US" sz="1700" dirty="0"/>
          </a:p>
        </p:txBody>
      </p:sp>
      <p:sp>
        <p:nvSpPr>
          <p:cNvPr id="7" name="Text 5"/>
          <p:cNvSpPr/>
          <p:nvPr/>
        </p:nvSpPr>
        <p:spPr>
          <a:xfrm>
            <a:off x="365760" y="2788920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Rewrite the sentence correctly in your notebook.</a:t>
            </a:r>
            <a:endParaRPr lang="en-US" sz="16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Daily Oral Language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49808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NOW FIX THIS ONE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24128"/>
            <a:ext cx="8412480" cy="777240"/>
          </a:xfrm>
          <a:prstGeom prst="roundRect">
            <a:avLst>
              <a:gd name="adj" fmla="val 11765"/>
            </a:avLst>
          </a:prstGeom>
          <a:solidFill>
            <a:srgbClr val="FFFFFF"/>
          </a:solidFill>
          <a:ln w="19050">
            <a:solidFill>
              <a:srgbClr val="55C8E8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152144"/>
            <a:ext cx="7955280" cy="5212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means telling the truth even when its difficult and thats one of the hardest things a person can do</a:t>
            </a: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2743200"/>
            <a:ext cx="8412480" cy="1417320"/>
          </a:xfrm>
          <a:prstGeom prst="roundRect">
            <a:avLst>
              <a:gd name="adj" fmla="val 6452"/>
            </a:avLst>
          </a:prstGeom>
          <a:solidFill>
            <a:srgbClr val="E8F8E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66928" y="281635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CORRECTED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566928" y="3072384"/>
            <a:ext cx="8010144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Corrected: Honesty means telling the truth even when it's difficult, and that's one of the hardest things a person can do.</a:t>
            </a:r>
            <a:endParaRPr lang="en-US" sz="1400" dirty="0"/>
          </a:p>
          <a:p>
            <a:pPr indent="0" marL="0">
              <a:buNone/>
            </a:pP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767328"/>
            <a:ext cx="8010144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= sentence opener (capital H); it's = it + is (contraction); comma before and joining two complete thoughts; that's = that + is (contraction); period ends.</a:t>
            </a:r>
            <a:endParaRPr lang="en-US" sz="12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8B6FC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MORPHOLOGY REFLECTION: WORD PARTS I KNOW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0E8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16152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Morphology reflection: word parts I know.</a:t>
            </a:r>
            <a:endParaRPr lang="en-US" sz="1500" dirty="0"/>
          </a:p>
        </p:txBody>
      </p:sp>
      <p:sp>
        <p:nvSpPr>
          <p:cNvPr id="7" name="Shape 5"/>
          <p:cNvSpPr/>
          <p:nvPr/>
        </p:nvSpPr>
        <p:spPr>
          <a:xfrm>
            <a:off x="365760" y="1792224"/>
            <a:ext cx="8412480" cy="621792"/>
          </a:xfrm>
          <a:prstGeom prst="roundRect">
            <a:avLst>
              <a:gd name="adj" fmla="val 14706"/>
            </a:avLst>
          </a:prstGeom>
          <a:solidFill>
            <a:srgbClr val="F8F4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11096"/>
            <a:ext cx="7863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🌱  Fill in the missing part after the prefix to build the word.</a:t>
            </a:r>
            <a:endParaRPr lang="en-US" sz="15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55C8E8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🔤  Vocabulary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0467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55C8E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DECODE &amp; DISCOVER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9728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integrity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7" name="Shape 5"/>
          <p:cNvSpPr/>
          <p:nvPr/>
        </p:nvSpPr>
        <p:spPr>
          <a:xfrm>
            <a:off x="365760" y="182880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empathy  </a:t>
            </a:r>
            <a:pPr indent="0" marL="0">
              <a:buNone/>
            </a:pPr>
            <a:endParaRPr lang="en-US" sz="1700" dirty="0"/>
          </a:p>
        </p:txBody>
      </p:sp>
      <p:sp>
        <p:nvSpPr>
          <p:cNvPr id="9" name="Shape 7"/>
          <p:cNvSpPr/>
          <p:nvPr/>
        </p:nvSpPr>
        <p:spPr>
          <a:xfrm>
            <a:off x="365760" y="2560320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E5F7FC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resilience  </a:t>
            </a:r>
            <a:pPr indent="0" marL="0">
              <a:buNone/>
            </a:pP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EDITING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 was small but his heart was bigger than the whole castle.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didnt want to be a prince but he learned respect anyway.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believed in narnia even when no one else did.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Click the word that does NOT match the correct pattern.</a:t>
            </a:r>
            <a:endParaRPr lang="en-US" sz="15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C7922C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✏️  Grammar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C7922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EDITING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365760" y="107899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122529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despereaux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was small but his heart was bigger than the whole castle.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365760" y="181051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195681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Jemmy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didnt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want to be a prince but he learned respect anyway.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365760" y="2542032"/>
            <a:ext cx="8412480" cy="658368"/>
          </a:xfrm>
          <a:prstGeom prst="roundRect">
            <a:avLst>
              <a:gd name="adj" fmla="val 13889"/>
            </a:avLst>
          </a:prstGeom>
          <a:solidFill>
            <a:srgbClr val="FEF6E8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594360" y="2688336"/>
            <a:ext cx="7863840" cy="40233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lucy believed in </a:t>
            </a:r>
            <a:pPr indent="0" marL="0">
              <a:buNone/>
            </a:pPr>
            <a:r>
              <a:rPr lang="en-US" sz="16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narnia</a:t>
            </a:r>
            <a:pPr indent="0" marL="0">
              <a:buNone/>
            </a:pPr>
            <a:r>
              <a:rPr lang="en-US" sz="16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even when no one else did.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365760" y="3319272"/>
            <a:ext cx="84124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34B76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✅  Answers revealed</a:t>
            </a:r>
            <a:endParaRPr lang="en-US" sz="15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SPELLING AND CONVENTIONS REVIEW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365760" y="1078992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WORD BANK</a:t>
            </a:r>
            <a:endParaRPr lang="en-US" sz="1100" dirty="0"/>
          </a:p>
        </p:txBody>
      </p:sp>
      <p:sp>
        <p:nvSpPr>
          <p:cNvPr id="6" name="Shape 4"/>
          <p:cNvSpPr/>
          <p:nvPr/>
        </p:nvSpPr>
        <p:spPr>
          <a:xfrm>
            <a:off x="365760" y="1353312"/>
            <a:ext cx="8412480" cy="1005840"/>
          </a:xfrm>
          <a:prstGeom prst="roundRect">
            <a:avLst>
              <a:gd name="adj" fmla="val 9091"/>
            </a:avLst>
          </a:prstGeom>
          <a:solidFill>
            <a:srgbClr val="FFFFFF"/>
          </a:solidFill>
          <a:ln w="19050">
            <a:solidFill>
              <a:srgbClr val="0E1C42"/>
            </a:solidFill>
            <a:prstDash val="solid"/>
          </a:ln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1481328"/>
            <a:ext cx="795528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   ·   courageous   ·   unafraid   ·   rebuild   ·   fearless   ·   transform   ·   perseverance   ·   respectful</a:t>
            </a:r>
            <a:endParaRPr lang="en-US" sz="1700" dirty="0"/>
          </a:p>
        </p:txBody>
      </p:sp>
      <p:sp>
        <p:nvSpPr>
          <p:cNvPr id="8" name="Text 6"/>
          <p:cNvSpPr/>
          <p:nvPr/>
        </p:nvSpPr>
        <p:spPr>
          <a:xfrm>
            <a:off x="365760" y="2514600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Which column does each word belong in?  Columns: Suffix -y  |  Has a suffix  |  Prefix un-  |  Prefix re-  |  Suffix -less  |  Has a prefix  |  Suffix -ance  |  Suffix -ful</a:t>
            </a:r>
            <a:endParaRPr lang="en-US" sz="15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8FA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0E1C42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🔠  Spelling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777240"/>
            <a:ext cx="8229600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FINAL SPELLING AND CONVENTIONS REVIEW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411480" y="107899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6" name="Text 4"/>
          <p:cNvSpPr/>
          <p:nvPr/>
        </p:nvSpPr>
        <p:spPr>
          <a:xfrm>
            <a:off x="457200" y="11338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-y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411480" y="1591056"/>
            <a:ext cx="960120" cy="2103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02920" y="1700784"/>
            <a:ext cx="7772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honesty</a:t>
            </a:r>
            <a:endParaRPr lang="en-US" sz="1400" dirty="0"/>
          </a:p>
        </p:txBody>
      </p:sp>
      <p:sp>
        <p:nvSpPr>
          <p:cNvPr id="9" name="Shape 7"/>
          <p:cNvSpPr/>
          <p:nvPr/>
        </p:nvSpPr>
        <p:spPr>
          <a:xfrm>
            <a:off x="1463040" y="107899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0" name="Text 8"/>
          <p:cNvSpPr/>
          <p:nvPr/>
        </p:nvSpPr>
        <p:spPr>
          <a:xfrm>
            <a:off x="1508760" y="11338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suffix</a:t>
            </a:r>
            <a:endParaRPr 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1463040" y="1591056"/>
            <a:ext cx="960120" cy="2103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1554480" y="1700784"/>
            <a:ext cx="7772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courageous</a:t>
            </a:r>
            <a:endParaRPr lang="en-US" sz="1400" dirty="0"/>
          </a:p>
        </p:txBody>
      </p:sp>
      <p:sp>
        <p:nvSpPr>
          <p:cNvPr id="13" name="Shape 11"/>
          <p:cNvSpPr/>
          <p:nvPr/>
        </p:nvSpPr>
        <p:spPr>
          <a:xfrm>
            <a:off x="2514600" y="107899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4" name="Text 12"/>
          <p:cNvSpPr/>
          <p:nvPr/>
        </p:nvSpPr>
        <p:spPr>
          <a:xfrm>
            <a:off x="2560320" y="11338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un-</a:t>
            </a:r>
            <a:endParaRPr lang="en-US" sz="1300" dirty="0"/>
          </a:p>
        </p:txBody>
      </p:sp>
      <p:sp>
        <p:nvSpPr>
          <p:cNvPr id="15" name="Shape 13"/>
          <p:cNvSpPr/>
          <p:nvPr/>
        </p:nvSpPr>
        <p:spPr>
          <a:xfrm>
            <a:off x="2514600" y="1591056"/>
            <a:ext cx="960120" cy="2103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2606040" y="1700784"/>
            <a:ext cx="7772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unafraid</a:t>
            </a:r>
            <a:endParaRPr lang="en-US" sz="1400" dirty="0"/>
          </a:p>
        </p:txBody>
      </p:sp>
      <p:sp>
        <p:nvSpPr>
          <p:cNvPr id="17" name="Shape 15"/>
          <p:cNvSpPr/>
          <p:nvPr/>
        </p:nvSpPr>
        <p:spPr>
          <a:xfrm>
            <a:off x="3566160" y="107899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18" name="Text 16"/>
          <p:cNvSpPr/>
          <p:nvPr/>
        </p:nvSpPr>
        <p:spPr>
          <a:xfrm>
            <a:off x="3611880" y="11338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Prefix re-</a:t>
            </a:r>
            <a:endParaRPr lang="en-US" sz="1300" dirty="0"/>
          </a:p>
        </p:txBody>
      </p:sp>
      <p:sp>
        <p:nvSpPr>
          <p:cNvPr id="19" name="Shape 17"/>
          <p:cNvSpPr/>
          <p:nvPr/>
        </p:nvSpPr>
        <p:spPr>
          <a:xfrm>
            <a:off x="3566160" y="1591056"/>
            <a:ext cx="960120" cy="2103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0" name="Text 18"/>
          <p:cNvSpPr/>
          <p:nvPr/>
        </p:nvSpPr>
        <p:spPr>
          <a:xfrm>
            <a:off x="3657600" y="1700784"/>
            <a:ext cx="7772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rebuild</a:t>
            </a:r>
            <a:endParaRPr lang="en-US" sz="1400" dirty="0"/>
          </a:p>
        </p:txBody>
      </p:sp>
      <p:sp>
        <p:nvSpPr>
          <p:cNvPr id="21" name="Shape 19"/>
          <p:cNvSpPr/>
          <p:nvPr/>
        </p:nvSpPr>
        <p:spPr>
          <a:xfrm>
            <a:off x="4617720" y="107899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22" name="Text 20"/>
          <p:cNvSpPr/>
          <p:nvPr/>
        </p:nvSpPr>
        <p:spPr>
          <a:xfrm>
            <a:off x="4663440" y="11338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-less</a:t>
            </a:r>
            <a:endParaRPr lang="en-US" sz="1300" dirty="0"/>
          </a:p>
        </p:txBody>
      </p:sp>
      <p:sp>
        <p:nvSpPr>
          <p:cNvPr id="23" name="Shape 21"/>
          <p:cNvSpPr/>
          <p:nvPr/>
        </p:nvSpPr>
        <p:spPr>
          <a:xfrm>
            <a:off x="4617720" y="1591056"/>
            <a:ext cx="960120" cy="2103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4" name="Text 22"/>
          <p:cNvSpPr/>
          <p:nvPr/>
        </p:nvSpPr>
        <p:spPr>
          <a:xfrm>
            <a:off x="4709160" y="1700784"/>
            <a:ext cx="7772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fearless</a:t>
            </a:r>
            <a:endParaRPr lang="en-US" sz="1400" dirty="0"/>
          </a:p>
        </p:txBody>
      </p:sp>
      <p:sp>
        <p:nvSpPr>
          <p:cNvPr id="25" name="Shape 23"/>
          <p:cNvSpPr/>
          <p:nvPr/>
        </p:nvSpPr>
        <p:spPr>
          <a:xfrm>
            <a:off x="5669280" y="107899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26" name="Text 24"/>
          <p:cNvSpPr/>
          <p:nvPr/>
        </p:nvSpPr>
        <p:spPr>
          <a:xfrm>
            <a:off x="5715000" y="11338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Has a prefix</a:t>
            </a:r>
            <a:endParaRPr lang="en-US" sz="1300" dirty="0"/>
          </a:p>
        </p:txBody>
      </p:sp>
      <p:sp>
        <p:nvSpPr>
          <p:cNvPr id="27" name="Shape 25"/>
          <p:cNvSpPr/>
          <p:nvPr/>
        </p:nvSpPr>
        <p:spPr>
          <a:xfrm>
            <a:off x="5669280" y="1591056"/>
            <a:ext cx="960120" cy="2103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5760720" y="1700784"/>
            <a:ext cx="7772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transform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720840" y="107899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30" name="Text 28"/>
          <p:cNvSpPr/>
          <p:nvPr/>
        </p:nvSpPr>
        <p:spPr>
          <a:xfrm>
            <a:off x="6766560" y="11338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-ance</a:t>
            </a:r>
            <a:endParaRPr lang="en-US" sz="1300" dirty="0"/>
          </a:p>
        </p:txBody>
      </p:sp>
      <p:sp>
        <p:nvSpPr>
          <p:cNvPr id="31" name="Shape 29"/>
          <p:cNvSpPr/>
          <p:nvPr/>
        </p:nvSpPr>
        <p:spPr>
          <a:xfrm>
            <a:off x="6720840" y="1591056"/>
            <a:ext cx="960120" cy="2103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812280" y="1700784"/>
            <a:ext cx="7772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perseverance</a:t>
            </a:r>
            <a:endParaRPr lang="en-US" sz="1400" dirty="0"/>
          </a:p>
        </p:txBody>
      </p:sp>
      <p:sp>
        <p:nvSpPr>
          <p:cNvPr id="33" name="Shape 31"/>
          <p:cNvSpPr/>
          <p:nvPr/>
        </p:nvSpPr>
        <p:spPr>
          <a:xfrm>
            <a:off x="7772400" y="1078992"/>
            <a:ext cx="960120" cy="457200"/>
          </a:xfrm>
          <a:prstGeom prst="roundRect">
            <a:avLst>
              <a:gd name="adj" fmla="val 16000"/>
            </a:avLst>
          </a:prstGeom>
          <a:solidFill>
            <a:srgbClr val="0E1C42"/>
          </a:solidFill>
          <a:ln/>
        </p:spPr>
      </p:sp>
      <p:sp>
        <p:nvSpPr>
          <p:cNvPr id="34" name="Text 32"/>
          <p:cNvSpPr/>
          <p:nvPr/>
        </p:nvSpPr>
        <p:spPr>
          <a:xfrm>
            <a:off x="7818120" y="1133856"/>
            <a:ext cx="8686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Suffix -ful</a:t>
            </a:r>
            <a:endParaRPr lang="en-US" sz="1300" dirty="0"/>
          </a:p>
        </p:txBody>
      </p:sp>
      <p:sp>
        <p:nvSpPr>
          <p:cNvPr id="35" name="Shape 33"/>
          <p:cNvSpPr/>
          <p:nvPr/>
        </p:nvSpPr>
        <p:spPr>
          <a:xfrm>
            <a:off x="7772400" y="1591056"/>
            <a:ext cx="960120" cy="2103120"/>
          </a:xfrm>
          <a:prstGeom prst="roundRect">
            <a:avLst>
              <a:gd name="adj" fmla="val 9524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38100" dir="2700000">
              <a:srgbClr val="000000">
                <a:alpha val="12000"/>
              </a:srgbClr>
            </a:outerShdw>
          </a:effectLst>
        </p:spPr>
      </p:sp>
      <p:sp>
        <p:nvSpPr>
          <p:cNvPr id="36" name="Text 34"/>
          <p:cNvSpPr/>
          <p:nvPr/>
        </p:nvSpPr>
        <p:spPr>
          <a:xfrm>
            <a:off x="7863840" y="1700784"/>
            <a:ext cx="777240" cy="18836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dirty="0">
                <a:solidFill>
                  <a:srgbClr val="1E29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respectful</a:t>
            </a:r>
            <a:endParaRPr lang="en-US" sz="14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66928"/>
          </a:xfrm>
          <a:prstGeom prst="rect">
            <a:avLst/>
          </a:prstGeom>
          <a:solidFill>
            <a:srgbClr val="34B76F"/>
          </a:solidFill>
          <a:ln/>
        </p:spPr>
      </p:sp>
      <p:sp>
        <p:nvSpPr>
          <p:cNvPr id="3" name="Text 1"/>
          <p:cNvSpPr/>
          <p:nvPr/>
        </p:nvSpPr>
        <p:spPr>
          <a:xfrm>
            <a:off x="365760" y="54864"/>
            <a:ext cx="841248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📕  Read</a:t>
            </a:r>
            <a:endParaRPr lang="en-US" sz="2200" dirty="0"/>
          </a:p>
        </p:txBody>
      </p:sp>
      <p:sp>
        <p:nvSpPr>
          <p:cNvPr id="4" name="Text 2"/>
          <p:cNvSpPr/>
          <p:nvPr/>
        </p:nvSpPr>
        <p:spPr>
          <a:xfrm>
            <a:off x="365760" y="868680"/>
            <a:ext cx="841248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0E1C4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Today’s chapters</a:t>
            </a:r>
            <a:endParaRPr lang="en-US" sz="2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16</Slides>
  <Notes>16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16</vt:i4>
      </vt:variant>
    </vt:vector>
  </HeadingPairs>
  <TitlesOfParts>
    <vt:vector size="19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Optima Academy Online</dc:creator>
  <cp:lastModifiedBy>Optima Academy Online</cp:lastModifiedBy>
  <cp:revision>1</cp:revision>
  <dcterms:created xsi:type="dcterms:W3CDTF">2026-09-09T12:44:18Z</dcterms:created>
  <dcterms:modified xsi:type="dcterms:W3CDTF">2026-09-09T12:44:18Z</dcterms:modified>
</cp:coreProperties>
</file>