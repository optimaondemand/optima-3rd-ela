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32 Day 1. Extension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name the lesson and explain it clearly?.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grammar point with students. These are the key patterns to notice before fixing the next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3E50"/>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32 · Day 1</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E67E22"/>
                </a:solidFill>
                <a:latin typeface="Calibri" pitchFamily="34" charset="0"/>
                <a:ea typeface="Calibri" pitchFamily="34" charset="-122"/>
                <a:cs typeface="Calibri" pitchFamily="34" charset="-120"/>
              </a:rPr>
              <a:t>Extension Unit — Lesson 32.1</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Think about all the characters you have met in books this year. Which one taught you the most important lesson? What was it? Write as if you are telling a friend.</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Think about all the characters you have met in books this year. Which one taught you the most important lesson? What was it? Write as if you are telling a friend.</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name the lesson and explain it clearly?</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E67E22"/>
            </a:solidFill>
            <a:prstDash val="solid"/>
          </a:ln>
        </p:spPr>
      </p:sp>
      <p:sp>
        <p:nvSpPr>
          <p:cNvPr id="4" name="Shape 2"/>
          <p:cNvSpPr/>
          <p:nvPr/>
        </p:nvSpPr>
        <p:spPr>
          <a:xfrm>
            <a:off x="6492240" y="173736"/>
            <a:ext cx="2286000" cy="502920"/>
          </a:xfrm>
          <a:prstGeom prst="roundRect">
            <a:avLst>
              <a:gd name="adj" fmla="val 21818"/>
            </a:avLst>
          </a:prstGeom>
          <a:solidFill>
            <a:srgbClr val="E67E22"/>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Reflect on how reading skills have grown.</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As you read today, ask yourself: What does it mean to have good character — and which character from our novels best shows it?</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Choose the character from this year's novels that you want to write your culmination project about. Write their name, the novel they come from, and one sentence explaining why you chose them.</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in a fantasy story slow down and pay attention to how the author builds the world . Details of setting, character, and pattern all work together to create meaning.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KEY GRAMMAR POINTS</a:t>
            </a:r>
            <a:endParaRPr lang="en-US" sz="1100" dirty="0"/>
          </a:p>
        </p:txBody>
      </p:sp>
      <p:sp>
        <p:nvSpPr>
          <p:cNvPr id="5" name="Shape 3"/>
          <p:cNvSpPr/>
          <p:nvPr/>
        </p:nvSpPr>
        <p:spPr>
          <a:xfrm>
            <a:off x="457200" y="1371600"/>
            <a:ext cx="8229600" cy="475488"/>
          </a:xfrm>
          <a:prstGeom prst="roundRect">
            <a:avLst>
              <a:gd name="adj" fmla="val 19231"/>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2646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character</a:t>
            </a:r>
            <a:pPr indent="0" marL="0">
              <a:buNone/>
            </a:pPr>
            <a:r>
              <a:rPr lang="en-US" sz="1300" dirty="0">
                <a:solidFill>
                  <a:srgbClr val="64748B"/>
                </a:solidFill>
                <a:latin typeface="Calibri" pitchFamily="34" charset="0"/>
                <a:ea typeface="Calibri" pitchFamily="34" charset="-122"/>
                <a:cs typeface="Calibri" pitchFamily="34" charset="-120"/>
              </a:rPr>
              <a:t>  —  Common noun — lowercase here, not referring to a story character.</a:t>
            </a:r>
            <a:endParaRPr lang="en-US" sz="1600" dirty="0"/>
          </a:p>
        </p:txBody>
      </p:sp>
      <p:sp>
        <p:nvSpPr>
          <p:cNvPr id="7" name="Shape 5"/>
          <p:cNvSpPr/>
          <p:nvPr/>
        </p:nvSpPr>
        <p:spPr>
          <a:xfrm>
            <a:off x="457200" y="1901952"/>
            <a:ext cx="8229600" cy="475488"/>
          </a:xfrm>
          <a:prstGeom prst="roundRect">
            <a:avLst>
              <a:gd name="adj" fmla="val 19231"/>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5681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watching</a:t>
            </a:r>
            <a:pPr indent="0" marL="0">
              <a:buNone/>
            </a:pPr>
            <a:r>
              <a:rPr lang="en-US" sz="1300" dirty="0">
                <a:solidFill>
                  <a:srgbClr val="64748B"/>
                </a:solidFill>
                <a:latin typeface="Calibri" pitchFamily="34" charset="0"/>
                <a:ea typeface="Calibri" pitchFamily="34" charset="-122"/>
                <a:cs typeface="Calibri" pitchFamily="34" charset="-120"/>
              </a:rPr>
              <a:t>  —  Gerund used as object of preposition is.</a:t>
            </a:r>
            <a:endParaRPr lang="en-US" sz="1600" dirty="0"/>
          </a:p>
        </p:txBody>
      </p:sp>
      <p:sp>
        <p:nvSpPr>
          <p:cNvPr id="9" name="Shape 7"/>
          <p:cNvSpPr/>
          <p:nvPr/>
        </p:nvSpPr>
        <p:spPr>
          <a:xfrm>
            <a:off x="457200" y="2432304"/>
            <a:ext cx="8229600" cy="475488"/>
          </a:xfrm>
          <a:prstGeom prst="roundRect">
            <a:avLst>
              <a:gd name="adj" fmla="val 19231"/>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87168"/>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are.</a:t>
            </a:r>
            <a:pPr indent="0" marL="0">
              <a:buNone/>
            </a:pPr>
            <a:r>
              <a:rPr lang="en-US" sz="1300" dirty="0">
                <a:solidFill>
                  <a:srgbClr val="64748B"/>
                </a:solidFill>
                <a:latin typeface="Calibri" pitchFamily="34" charset="0"/>
                <a:ea typeface="Calibri" pitchFamily="34" charset="-122"/>
                <a:cs typeface="Calibri" pitchFamily="34" charset="-120"/>
              </a:rPr>
              <a:t>  —  Linking verb; period ends the sentence.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E67E22"/>
            </a:solidFill>
            <a:prstDash val="solid"/>
          </a:ln>
        </p:spPr>
      </p:sp>
      <p:sp>
        <p:nvSpPr>
          <p:cNvPr id="4" name="Shape 2"/>
          <p:cNvSpPr/>
          <p:nvPr/>
        </p:nvSpPr>
        <p:spPr>
          <a:xfrm>
            <a:off x="6492240" y="173736"/>
            <a:ext cx="2286000" cy="502920"/>
          </a:xfrm>
          <a:prstGeom prst="roundRect">
            <a:avLst>
              <a:gd name="adj" fmla="val 21818"/>
            </a:avLst>
          </a:prstGeom>
          <a:solidFill>
            <a:srgbClr val="E67E22"/>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honesty means telling the truth even when its difficult and thats one of the hardest things a person can do</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E67E22"/>
            </a:solidFill>
            <a:prstDash val="solid"/>
          </a:ln>
        </p:spPr>
      </p:sp>
      <p:sp>
        <p:nvSpPr>
          <p:cNvPr id="4" name="Shape 2"/>
          <p:cNvSpPr/>
          <p:nvPr/>
        </p:nvSpPr>
        <p:spPr>
          <a:xfrm>
            <a:off x="6492240" y="173736"/>
            <a:ext cx="2286000" cy="502920"/>
          </a:xfrm>
          <a:prstGeom prst="roundRect">
            <a:avLst>
              <a:gd name="adj" fmla="val 21818"/>
            </a:avLst>
          </a:prstGeom>
          <a:solidFill>
            <a:srgbClr val="E67E22"/>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honesty means telling the truth even when its difficult and thats one of the hardest things a person can do</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CORRECTED</a:t>
            </a:r>
            <a:endParaRPr lang="en-US" sz="1100" dirty="0"/>
          </a:p>
        </p:txBody>
      </p:sp>
      <p:sp>
        <p:nvSpPr>
          <p:cNvPr id="9" name="Shape 7"/>
          <p:cNvSpPr/>
          <p:nvPr/>
        </p:nvSpPr>
        <p:spPr>
          <a:xfrm>
            <a:off x="457200" y="2057400"/>
            <a:ext cx="8229600" cy="640080"/>
          </a:xfrm>
          <a:prstGeom prst="roundRect">
            <a:avLst>
              <a:gd name="adj" fmla="val 14286"/>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167128"/>
            <a:ext cx="7863840" cy="411480"/>
          </a:xfrm>
          <a:prstGeom prst="rect">
            <a:avLst/>
          </a:prstGeom>
          <a:noFill/>
          <a:ln/>
        </p:spPr>
        <p:txBody>
          <a:bodyPr wrap="square" lIns="0" tIns="0" rIns="0" bIns="0" rtlCol="0" anchor="ctr"/>
          <a:lstStyle/>
          <a:p>
            <a:pPr indent="0" marL="0">
              <a:buNone/>
            </a:pPr>
            <a:r>
              <a:rPr lang="en-US" sz="1800" i="1" dirty="0">
                <a:solidFill>
                  <a:srgbClr val="34B76F"/>
                </a:solidFill>
                <a:latin typeface="Calibri" pitchFamily="34" charset="0"/>
                <a:ea typeface="Calibri" pitchFamily="34" charset="-122"/>
                <a:cs typeface="Calibri" pitchFamily="34" charset="-120"/>
              </a:rPr>
              <a:t>Honesty means telling the truth even when it's difficult, and that's one of the hardest things a person can do.</a:t>
            </a:r>
            <a:endParaRPr lang="en-US" sz="1800" dirty="0"/>
          </a:p>
        </p:txBody>
      </p:sp>
      <p:sp>
        <p:nvSpPr>
          <p:cNvPr id="11" name="Text 9"/>
          <p:cNvSpPr/>
          <p:nvPr/>
        </p:nvSpPr>
        <p:spPr>
          <a:xfrm>
            <a:off x="457200" y="28346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2" name="Text 10"/>
          <p:cNvSpPr/>
          <p:nvPr/>
        </p:nvSpPr>
        <p:spPr>
          <a:xfrm>
            <a:off x="640080" y="310896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Honesty = sentence opener (capital H); it's = it + is (contraction); comma before and joining two complete thoughts; that's = that + is (contraction); period 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Morphology reflection: word parts I know</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y</a:t>
            </a:r>
            <a:pPr indent="0" marL="0">
              <a:buNone/>
            </a:pPr>
            <a:r>
              <a:rPr lang="en-US" sz="1400" dirty="0">
                <a:solidFill>
                  <a:srgbClr val="64748B"/>
                </a:solidFill>
                <a:latin typeface="Calibri" pitchFamily="34" charset="0"/>
                <a:ea typeface="Calibri" pitchFamily="34" charset="-122"/>
                <a:cs typeface="Calibri" pitchFamily="34" charset="-120"/>
              </a:rPr>
              <a:t>  ·  — the state of being honest — honesty</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ous</a:t>
            </a:r>
            <a:pPr indent="0" marL="0">
              <a:buNone/>
            </a:pPr>
            <a:r>
              <a:rPr lang="en-US" sz="1400" dirty="0">
                <a:solidFill>
                  <a:srgbClr val="64748B"/>
                </a:solidFill>
                <a:latin typeface="Calibri" pitchFamily="34" charset="0"/>
                <a:ea typeface="Calibri" pitchFamily="34" charset="-122"/>
                <a:cs typeface="Calibri" pitchFamily="34" charset="-120"/>
              </a:rPr>
              <a:t>  ·  — full of courage — courageous</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ance</a:t>
            </a:r>
            <a:pPr indent="0" marL="0">
              <a:buNone/>
            </a:pPr>
            <a:r>
              <a:rPr lang="en-US" sz="1400" dirty="0">
                <a:solidFill>
                  <a:srgbClr val="64748B"/>
                </a:solidFill>
                <a:latin typeface="Calibri" pitchFamily="34" charset="0"/>
                <a:ea typeface="Calibri" pitchFamily="34" charset="-122"/>
                <a:cs typeface="Calibri" pitchFamily="34" charset="-120"/>
              </a:rPr>
              <a:t>  ·  — the state of persevering — perseverance</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spect</a:t>
            </a:r>
            <a:pPr indent="0" marL="0">
              <a:buNone/>
            </a:pPr>
            <a:r>
              <a:rPr lang="en-US" sz="1400" dirty="0">
                <a:solidFill>
                  <a:srgbClr val="64748B"/>
                </a:solidFill>
                <a:latin typeface="Calibri" pitchFamily="34" charset="0"/>
                <a:ea typeface="Calibri" pitchFamily="34" charset="-122"/>
                <a:cs typeface="Calibri" pitchFamily="34" charset="-120"/>
              </a:rPr>
              <a:t>  ·  — to value; to look again — respect</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This week's word part: Year Review</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integrity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Doing the right thing even when no one is watching.</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empathy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Understanding and sharing the feelings of another person.</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resilience</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The ability to recover and keep going after difficulty or hardship.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Final editing review</a:t>
            </a:r>
            <a:endParaRPr lang="en-US" sz="2800" dirty="0"/>
          </a:p>
        </p:txBody>
      </p:sp>
      <p:sp>
        <p:nvSpPr>
          <p:cNvPr id="3" name="Shape 1"/>
          <p:cNvSpPr/>
          <p:nvPr/>
        </p:nvSpPr>
        <p:spPr>
          <a:xfrm>
            <a:off x="365760" y="749808"/>
            <a:ext cx="8412480" cy="0"/>
          </a:xfrm>
          <a:prstGeom prst="line">
            <a:avLst/>
          </a:prstGeom>
          <a:noFill/>
          <a:ln w="19050">
            <a:solidFill>
              <a:srgbClr val="E67E22"/>
            </a:solidFill>
            <a:prstDash val="solid"/>
          </a:ln>
        </p:spPr>
      </p:sp>
      <p:sp>
        <p:nvSpPr>
          <p:cNvPr id="4" name="Shape 2"/>
          <p:cNvSpPr/>
          <p:nvPr/>
        </p:nvSpPr>
        <p:spPr>
          <a:xfrm>
            <a:off x="6492240" y="173736"/>
            <a:ext cx="2286000" cy="502920"/>
          </a:xfrm>
          <a:prstGeom prst="roundRect">
            <a:avLst>
              <a:gd name="adj" fmla="val 21818"/>
            </a:avLst>
          </a:prstGeom>
          <a:solidFill>
            <a:srgbClr val="E67E22"/>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despereaux was small but his heart was bigger than the whole castle.</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didnt want to be a prince but he learned respect anyway.</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lucy believed in narnia even when no one else did.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Final editing review — Answers</a:t>
            </a:r>
            <a:endParaRPr lang="en-US" sz="2800" dirty="0"/>
          </a:p>
        </p:txBody>
      </p:sp>
      <p:sp>
        <p:nvSpPr>
          <p:cNvPr id="3" name="Shape 1"/>
          <p:cNvSpPr/>
          <p:nvPr/>
        </p:nvSpPr>
        <p:spPr>
          <a:xfrm>
            <a:off x="365760" y="749808"/>
            <a:ext cx="8412480" cy="0"/>
          </a:xfrm>
          <a:prstGeom prst="line">
            <a:avLst/>
          </a:prstGeom>
          <a:noFill/>
          <a:ln w="19050">
            <a:solidFill>
              <a:srgbClr val="E67E22"/>
            </a:solidFill>
            <a:prstDash val="solid"/>
          </a:ln>
        </p:spPr>
      </p:sp>
      <p:sp>
        <p:nvSpPr>
          <p:cNvPr id="4" name="Shape 2"/>
          <p:cNvSpPr/>
          <p:nvPr/>
        </p:nvSpPr>
        <p:spPr>
          <a:xfrm>
            <a:off x="6492240" y="173736"/>
            <a:ext cx="2286000" cy="502920"/>
          </a:xfrm>
          <a:prstGeom prst="roundRect">
            <a:avLst>
              <a:gd name="adj" fmla="val 21818"/>
            </a:avLst>
          </a:prstGeom>
          <a:solidFill>
            <a:srgbClr val="E67E22"/>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despereaux</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small</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but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heart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bigger</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than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whole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castle.</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didnt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want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to</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but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learned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respect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anyway.</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lucy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believed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in</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narnia</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even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when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one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else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did.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Final spelling and conventions review</a:t>
            </a:r>
            <a:endParaRPr lang="en-US" sz="2800" dirty="0"/>
          </a:p>
        </p:txBody>
      </p:sp>
      <p:sp>
        <p:nvSpPr>
          <p:cNvPr id="3" name="Shape 1"/>
          <p:cNvSpPr/>
          <p:nvPr/>
        </p:nvSpPr>
        <p:spPr>
          <a:xfrm>
            <a:off x="365760" y="749808"/>
            <a:ext cx="8412480" cy="0"/>
          </a:xfrm>
          <a:prstGeom prst="line">
            <a:avLst/>
          </a:prstGeom>
          <a:noFill/>
          <a:ln w="19050">
            <a:solidFill>
              <a:srgbClr val="E67E22"/>
            </a:solidFill>
            <a:prstDash val="solid"/>
          </a:ln>
        </p:spPr>
      </p:sp>
      <p:sp>
        <p:nvSpPr>
          <p:cNvPr id="4" name="Shape 2"/>
          <p:cNvSpPr/>
          <p:nvPr/>
        </p:nvSpPr>
        <p:spPr>
          <a:xfrm>
            <a:off x="6492240" y="173736"/>
            <a:ext cx="2286000" cy="502920"/>
          </a:xfrm>
          <a:prstGeom prst="roundRect">
            <a:avLst>
              <a:gd name="adj" fmla="val 21818"/>
            </a:avLst>
          </a:prstGeom>
          <a:solidFill>
            <a:srgbClr val="E67E22"/>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honesty     courageous     unafraid     rebuild     fearless     transform     perseverance     respectful</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Has a prefix</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Has a suffix</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Final spelling and conventions review — Sorted</a:t>
            </a:r>
            <a:endParaRPr lang="en-US" sz="2800" dirty="0"/>
          </a:p>
        </p:txBody>
      </p:sp>
      <p:sp>
        <p:nvSpPr>
          <p:cNvPr id="3" name="Shape 1"/>
          <p:cNvSpPr/>
          <p:nvPr/>
        </p:nvSpPr>
        <p:spPr>
          <a:xfrm>
            <a:off x="365760" y="749808"/>
            <a:ext cx="8412480" cy="0"/>
          </a:xfrm>
          <a:prstGeom prst="line">
            <a:avLst/>
          </a:prstGeom>
          <a:noFill/>
          <a:ln w="19050">
            <a:solidFill>
              <a:srgbClr val="E67E22"/>
            </a:solidFill>
            <a:prstDash val="solid"/>
          </a:ln>
        </p:spPr>
      </p:sp>
      <p:sp>
        <p:nvSpPr>
          <p:cNvPr id="4" name="Shape 2"/>
          <p:cNvSpPr/>
          <p:nvPr/>
        </p:nvSpPr>
        <p:spPr>
          <a:xfrm>
            <a:off x="6492240" y="173736"/>
            <a:ext cx="2286000" cy="502920"/>
          </a:xfrm>
          <a:prstGeom prst="roundRect">
            <a:avLst>
              <a:gd name="adj" fmla="val 21818"/>
            </a:avLst>
          </a:prstGeom>
          <a:solidFill>
            <a:srgbClr val="E67E22"/>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Has a prefix</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honesty</a:t>
            </a:r>
            <a:endParaRPr lang="en-US" sz="1400" dirty="0"/>
          </a:p>
        </p:txBody>
      </p:sp>
      <p:sp>
        <p:nvSpPr>
          <p:cNvPr id="9" name="Shape 7"/>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Has a suffix</a:t>
            </a:r>
            <a:endParaRPr lang="en-US" sz="1400" dirty="0"/>
          </a:p>
        </p:txBody>
      </p:sp>
      <p:sp>
        <p:nvSpPr>
          <p:cNvPr id="11" name="Text 9"/>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courageous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Reading: Week 32</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As you read today, ask yourself: What does it mean to have good character — and which character from our novels best shows it?</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Choose the character from this year's novels that you want to write your culmination project about. Write their name, the novel they come from, and one sentence explaining why you chose them.</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32 · PLAN the Project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