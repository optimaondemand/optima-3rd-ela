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32.1. Reading: Reading: Week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Give students a moment to think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of sustained writing. Stamina over polish. Do not correct spelling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fix only. Editing is conventions; revision is ideas. Name which one you are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or three volunteers. Praise something specific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lens: Good readers in a fantasy story slow down and pay attention to how the author builds the world . Details of setting, character, and pattern all work together to create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 in the lesson: character virtue watching are.
Tap through each highlighted word in the lesson and name what it does right before moving to the fix-it.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Honesty means telling the truth even when it's difficult, and that's one of the hardest things a person can do. 
Look for: Honesty = sentence opener (capital H); it's = it + is (contraction); comma before and joining two complete thoughts; that's = that + is (contraction); period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Corrected: Honesty means telling the truth even when it's difficult, and that's one of the hardest things a person can do. 
Look for: Honesty = sentence opener (capital H); it's = it + is (contraction); comma before and joining two complete thoughts; that's = that + is (contraction); period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word into base + word part. Ask what the part adds to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appears in the chapters read this week, in the author’s own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despereaux, didnt,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despereaux, didnt, narnia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Suffix -y: honesty | Has a suffix: courageous | Prefix un-: unafraid | Prefix re-: rebuild | Suffix -less: fearless | Has a prefix: transform | Suffix -ance: perseverance | Suffix -ful: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Suffix -y: honesty | Has a suffix: courageous | Prefix un-: unafraid | Prefix re-: rebuild | Suffix -less: fearless | Has a prefix: transform | Suffix -ance: perseverance | Suffix -ful: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chapters, then return to the pause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0" y="822960"/>
            <a:ext cx="9144000" cy="822960"/>
          </a:xfrm>
          <a:prstGeom prst="rect">
            <a:avLst/>
          </a:prstGeom>
          <a:noFill/>
          <a:ln/>
        </p:spPr>
        <p:txBody>
          <a:bodyPr wrap="square" lIns="0" tIns="0" rIns="0" bIns="0" rtlCol="0" anchor="ctr"/>
          <a:lstStyle/>
          <a:p>
            <a:pPr algn="ctr" indent="0" marL="0">
              <a:buNone/>
            </a:pPr>
            <a:r>
              <a:rPr lang="en-US" sz="5200" dirty="0">
                <a:solidFill>
                  <a:srgbClr val="000000"/>
                </a:solidFill>
              </a:rPr>
              <a:t>🎉</a:t>
            </a:r>
            <a:endParaRPr lang="en-US" sz="5200" dirty="0"/>
          </a:p>
        </p:txBody>
      </p:sp>
      <p:sp>
        <p:nvSpPr>
          <p:cNvPr id="3" name="Text 1"/>
          <p:cNvSpPr/>
          <p:nvPr/>
        </p:nvSpPr>
        <p:spPr>
          <a:xfrm>
            <a:off x="457200" y="1691640"/>
            <a:ext cx="8229600"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Year-End Synthesis</a:t>
            </a:r>
            <a:endParaRPr lang="en-US" sz="3400" dirty="0"/>
          </a:p>
        </p:txBody>
      </p:sp>
      <p:sp>
        <p:nvSpPr>
          <p:cNvPr id="4" name="Text 2"/>
          <p:cNvSpPr/>
          <p:nvPr/>
        </p:nvSpPr>
        <p:spPr>
          <a:xfrm>
            <a:off x="457200" y="2331720"/>
            <a:ext cx="8229600" cy="411480"/>
          </a:xfrm>
          <a:prstGeom prst="rect">
            <a:avLst/>
          </a:prstGeom>
          <a:noFill/>
          <a:ln/>
        </p:spPr>
        <p:txBody>
          <a:bodyPr wrap="square" lIns="0" tIns="0" rIns="0" bIns="0" rtlCol="0" anchor="ctr"/>
          <a:lstStyle/>
          <a:p>
            <a:pPr algn="ctr" indent="0" marL="0">
              <a:buNone/>
            </a:pPr>
            <a:r>
              <a:rPr lang="en-US" sz="2000" dirty="0">
                <a:solidFill>
                  <a:srgbClr val="34B76F"/>
                </a:solidFill>
                <a:latin typeface="Calibri" pitchFamily="34" charset="0"/>
                <a:ea typeface="Calibri" pitchFamily="34" charset="-122"/>
                <a:cs typeface="Calibri" pitchFamily="34" charset="-120"/>
              </a:rPr>
              <a:t>Lesson 32.1  ·  Reading: Week 32</a:t>
            </a:r>
            <a:endParaRPr lang="en-US" sz="2000" dirty="0"/>
          </a:p>
        </p:txBody>
      </p:sp>
      <p:sp>
        <p:nvSpPr>
          <p:cNvPr id="5" name="Text 3"/>
          <p:cNvSpPr/>
          <p:nvPr/>
        </p:nvSpPr>
        <p:spPr>
          <a:xfrm>
            <a:off x="457200" y="2880360"/>
            <a:ext cx="8229600" cy="320040"/>
          </a:xfrm>
          <a:prstGeom prst="rect">
            <a:avLst/>
          </a:prstGeom>
          <a:noFill/>
          <a:ln/>
        </p:spPr>
        <p:txBody>
          <a:bodyPr wrap="square" lIns="0" tIns="0" rIns="0" bIns="0" rtlCol="0" anchor="ctr"/>
          <a:lstStyle/>
          <a:p>
            <a:pPr algn="ctr" indent="0" marL="0">
              <a:buNone/>
            </a:pPr>
            <a:r>
              <a:rPr lang="en-US" sz="1400" dirty="0">
                <a:solidFill>
                  <a:srgbClr val="C9BCE4"/>
                </a:solidFill>
                <a:latin typeface="Calibri" pitchFamily="34" charset="0"/>
                <a:ea typeface="Calibri" pitchFamily="34" charset="-122"/>
                <a:cs typeface="Calibri" pitchFamily="34" charset="-120"/>
              </a:rPr>
              <a:t>Grade 3 ELA  ·  Virtue: Gratitude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10-Minute Write</a:t>
            </a:r>
            <a:endParaRPr lang="en-US" sz="2200" dirty="0"/>
          </a:p>
        </p:txBody>
      </p:sp>
      <p:sp>
        <p:nvSpPr>
          <p:cNvPr id="4" name="Text 2"/>
          <p:cNvSpPr/>
          <p:nvPr/>
        </p:nvSpPr>
        <p:spPr>
          <a:xfrm>
            <a:off x="365760" y="8229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READ THE PROMPT — 1 MINUTE</a:t>
            </a:r>
            <a:endParaRPr lang="en-US" sz="1100" dirty="0"/>
          </a:p>
        </p:txBody>
      </p:sp>
      <p:sp>
        <p:nvSpPr>
          <p:cNvPr id="5" name="Shape 3"/>
          <p:cNvSpPr/>
          <p:nvPr/>
        </p:nvSpPr>
        <p:spPr>
          <a:xfrm>
            <a:off x="365760" y="1143000"/>
            <a:ext cx="8412480" cy="1737360"/>
          </a:xfrm>
          <a:prstGeom prst="roundRect">
            <a:avLst>
              <a:gd name="adj" fmla="val 5263"/>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271016"/>
            <a:ext cx="7955280" cy="148132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which book from this year you would read again first, and why.</a:t>
            </a:r>
            <a:endParaRPr lang="en-US" sz="1700" dirty="0"/>
          </a:p>
        </p:txBody>
      </p:sp>
      <p:sp>
        <p:nvSpPr>
          <p:cNvPr id="7" name="Text 5"/>
          <p:cNvSpPr/>
          <p:nvPr/>
        </p:nvSpPr>
        <p:spPr>
          <a:xfrm>
            <a:off x="365760" y="3063240"/>
            <a:ext cx="8412480" cy="36576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Think first. You will have five minutes to write.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Writing Time</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5 minutes — keep your pencil moving!</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YOUR PROMPT</a:t>
            </a:r>
            <a:endParaRPr lang="en-US" sz="1100" dirty="0"/>
          </a:p>
        </p:txBody>
      </p:sp>
      <p:sp>
        <p:nvSpPr>
          <p:cNvPr id="6" name="Shape 4"/>
          <p:cNvSpPr/>
          <p:nvPr/>
        </p:nvSpPr>
        <p:spPr>
          <a:xfrm>
            <a:off x="365760" y="1737360"/>
            <a:ext cx="8412480" cy="1417320"/>
          </a:xfrm>
          <a:prstGeom prst="roundRect">
            <a:avLst>
              <a:gd name="adj" fmla="val 6452"/>
            </a:avLst>
          </a:prstGeom>
          <a:solidFill>
            <a:srgbClr val="FFFFFF"/>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65376"/>
            <a:ext cx="7955280" cy="11612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Write about which book from this year you would read again first, and why.</a:t>
            </a:r>
            <a:endParaRPr lang="en-US" sz="1700" dirty="0"/>
          </a:p>
        </p:txBody>
      </p:sp>
      <p:sp>
        <p:nvSpPr>
          <p:cNvPr id="8" name="Text 6"/>
          <p:cNvSpPr/>
          <p:nvPr/>
        </p:nvSpPr>
        <p:spPr>
          <a:xfrm>
            <a:off x="365760" y="3291840"/>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Do not stop to erase. If you get stuck, write the last word again and keep going.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Edit &amp; Revise</a:t>
            </a:r>
            <a:endParaRPr lang="en-US" sz="2200" dirty="0"/>
          </a:p>
        </p:txBody>
      </p:sp>
      <p:sp>
        <p:nvSpPr>
          <p:cNvPr id="4" name="Text 2"/>
          <p:cNvSpPr/>
          <p:nvPr/>
        </p:nvSpPr>
        <p:spPr>
          <a:xfrm>
            <a:off x="365760" y="868680"/>
            <a:ext cx="8412480" cy="457200"/>
          </a:xfrm>
          <a:prstGeom prst="rect">
            <a:avLst/>
          </a:prstGeom>
          <a:noFill/>
          <a:ln/>
        </p:spPr>
        <p:txBody>
          <a:bodyPr wrap="square" lIns="0" tIns="0" rIns="0" bIns="0" rtlCol="0" anchor="ctr"/>
          <a:lstStyle/>
          <a:p>
            <a:pPr indent="0" marL="0">
              <a:buNone/>
            </a:pPr>
            <a:r>
              <a:rPr lang="en-US" sz="2400" b="1" dirty="0">
                <a:solidFill>
                  <a:srgbClr val="0E1C42"/>
                </a:solidFill>
                <a:latin typeface="Calibri" pitchFamily="34" charset="0"/>
                <a:ea typeface="Calibri" pitchFamily="34" charset="-122"/>
                <a:cs typeface="Calibri" pitchFamily="34" charset="-120"/>
              </a:rPr>
              <a:t>1 minute — pick ONE thing to fix.</a:t>
            </a:r>
            <a:endParaRPr lang="en-US" sz="2400" dirty="0"/>
          </a:p>
        </p:txBody>
      </p:sp>
      <p:sp>
        <p:nvSpPr>
          <p:cNvPr id="5" name="Text 3"/>
          <p:cNvSpPr/>
          <p:nvPr/>
        </p:nvSpPr>
        <p:spPr>
          <a:xfrm>
            <a:off x="365760" y="1417320"/>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TODAY'S EDIT FOCUS</a:t>
            </a:r>
            <a:endParaRPr lang="en-US" sz="1100" dirty="0"/>
          </a:p>
        </p:txBody>
      </p:sp>
      <p:sp>
        <p:nvSpPr>
          <p:cNvPr id="6" name="Shape 4"/>
          <p:cNvSpPr/>
          <p:nvPr/>
        </p:nvSpPr>
        <p:spPr>
          <a:xfrm>
            <a:off x="365760" y="1691640"/>
            <a:ext cx="841248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9656"/>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Did I use a capital letter for every title and name?</a:t>
            </a:r>
            <a:endParaRPr lang="en-US" sz="1700" dirty="0"/>
          </a:p>
        </p:txBody>
      </p:sp>
      <p:sp>
        <p:nvSpPr>
          <p:cNvPr id="8" name="Text 6"/>
          <p:cNvSpPr/>
          <p:nvPr/>
        </p:nvSpPr>
        <p:spPr>
          <a:xfrm>
            <a:off x="365760" y="2651760"/>
            <a:ext cx="8412480" cy="36576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Quick check:  </a:t>
            </a:r>
            <a:pPr indent="0" marL="0">
              <a:buNone/>
            </a:pPr>
            <a:r>
              <a:rPr lang="en-US" sz="1500" dirty="0">
                <a:solidFill>
                  <a:srgbClr val="1E293B"/>
                </a:solidFill>
                <a:latin typeface="Calibri" pitchFamily="34" charset="0"/>
                <a:ea typeface="Calibri" pitchFamily="34" charset="-122"/>
                <a:cs typeface="Calibri" pitchFamily="34" charset="-120"/>
              </a:rPr>
              <a:t>capitals  ·  end punctuation  ·  circle a word you are unsure of  ·  read it aloud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Share Time</a:t>
            </a:r>
            <a:endParaRPr lang="en-US" sz="2200" dirty="0"/>
          </a:p>
        </p:txBody>
      </p:sp>
      <p:sp>
        <p:nvSpPr>
          <p:cNvPr id="4" name="Text 2"/>
          <p:cNvSpPr/>
          <p:nvPr/>
        </p:nvSpPr>
        <p:spPr>
          <a:xfrm>
            <a:off x="365760" y="1005840"/>
            <a:ext cx="8412480" cy="54864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3 minutes — let's hear your writing!</a:t>
            </a:r>
            <a:endParaRPr lang="en-US" sz="2600" dirty="0"/>
          </a:p>
        </p:txBody>
      </p:sp>
      <p:sp>
        <p:nvSpPr>
          <p:cNvPr id="5" name="Text 3"/>
          <p:cNvSpPr/>
          <p:nvPr/>
        </p:nvSpPr>
        <p:spPr>
          <a:xfrm>
            <a:off x="365760" y="1691640"/>
            <a:ext cx="8412480" cy="457200"/>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Raise your hand  ·  paste it in the chat  ·  or hold your paper up to the camera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Today</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READING</a:t>
            </a:r>
            <a:endParaRPr lang="en-US" sz="1100" dirty="0"/>
          </a:p>
        </p:txBody>
      </p:sp>
      <p:sp>
        <p:nvSpPr>
          <p:cNvPr id="5" name="Text 3"/>
          <p:cNvSpPr/>
          <p:nvPr/>
        </p:nvSpPr>
        <p:spPr>
          <a:xfrm>
            <a:off x="365760" y="1014984"/>
            <a:ext cx="84124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Reading: Week 32</a:t>
            </a:r>
            <a:endParaRPr lang="en-US" sz="2000" dirty="0"/>
          </a:p>
        </p:txBody>
      </p:sp>
      <p:sp>
        <p:nvSpPr>
          <p:cNvPr id="6" name="Text 4"/>
          <p:cNvSpPr/>
          <p:nvPr/>
        </p:nvSpPr>
        <p:spPr>
          <a:xfrm>
            <a:off x="365760" y="150876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BIG QUESTION</a:t>
            </a:r>
            <a:endParaRPr lang="en-US" sz="1100" dirty="0"/>
          </a:p>
        </p:txBody>
      </p:sp>
      <p:sp>
        <p:nvSpPr>
          <p:cNvPr id="7" name="Shape 5"/>
          <p:cNvSpPr/>
          <p:nvPr/>
        </p:nvSpPr>
        <p:spPr>
          <a:xfrm>
            <a:off x="365760" y="1746504"/>
            <a:ext cx="8412480" cy="731520"/>
          </a:xfrm>
          <a:prstGeom prst="roundRect">
            <a:avLst>
              <a:gd name="adj" fmla="val 12500"/>
            </a:avLst>
          </a:prstGeom>
          <a:solidFill>
            <a:srgbClr val="FEF6E8"/>
          </a:solidFill>
          <a:ln w="1905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94360" y="1874520"/>
            <a:ext cx="7955280" cy="47548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Reflect on how reading skills have grown.</a:t>
            </a:r>
            <a:endParaRPr lang="en-US" sz="1700" dirty="0"/>
          </a:p>
        </p:txBody>
      </p:sp>
      <p:sp>
        <p:nvSpPr>
          <p:cNvPr id="9" name="Text 7"/>
          <p:cNvSpPr/>
          <p:nvPr/>
        </p:nvSpPr>
        <p:spPr>
          <a:xfrm>
            <a:off x="365760" y="2606040"/>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READING LENS</a:t>
            </a:r>
            <a:endParaRPr lang="en-US" sz="1100" dirty="0"/>
          </a:p>
        </p:txBody>
      </p:sp>
      <p:sp>
        <p:nvSpPr>
          <p:cNvPr id="10" name="Text 8"/>
          <p:cNvSpPr/>
          <p:nvPr/>
        </p:nvSpPr>
        <p:spPr>
          <a:xfrm>
            <a:off x="365760" y="2843784"/>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Good readers in a fantasy story slow down and pay attention to how the author builds the world . Details of setting, character, and pattern all work together to create meaning.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GRAMMAR POINTS IN THE MODEL</a:t>
            </a:r>
            <a:endParaRPr lang="en-US" sz="1100" dirty="0"/>
          </a:p>
        </p:txBody>
      </p:sp>
      <p:sp>
        <p:nvSpPr>
          <p:cNvPr id="5" name="Shape 3"/>
          <p:cNvSpPr/>
          <p:nvPr/>
        </p:nvSpPr>
        <p:spPr>
          <a:xfrm>
            <a:off x="365760" y="1097280"/>
            <a:ext cx="8412480" cy="548640"/>
          </a:xfrm>
          <a:prstGeom prst="roundRect">
            <a:avLst>
              <a:gd name="adj" fmla="val 1666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character  </a:t>
            </a:r>
            <a:pPr indent="0" marL="0">
              <a:buNone/>
            </a:pPr>
            <a:r>
              <a:rPr lang="en-US" sz="1300" dirty="0">
                <a:solidFill>
                  <a:srgbClr val="1E293B"/>
                </a:solidFill>
                <a:latin typeface="Calibri" pitchFamily="34" charset="0"/>
                <a:ea typeface="Calibri" pitchFamily="34" charset="-122"/>
                <a:cs typeface="Calibri" pitchFamily="34" charset="-120"/>
              </a:rPr>
              <a:t>Common noun — lowercase here, not referring to a story character.</a:t>
            </a:r>
            <a:endParaRPr lang="en-US" sz="1500" dirty="0"/>
          </a:p>
        </p:txBody>
      </p:sp>
      <p:sp>
        <p:nvSpPr>
          <p:cNvPr id="7" name="Shape 5"/>
          <p:cNvSpPr/>
          <p:nvPr/>
        </p:nvSpPr>
        <p:spPr>
          <a:xfrm>
            <a:off x="365760" y="1719072"/>
            <a:ext cx="8412480" cy="548640"/>
          </a:xfrm>
          <a:prstGeom prst="roundRect">
            <a:avLst>
              <a:gd name="adj" fmla="val 16667"/>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810512"/>
            <a:ext cx="786384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watching  </a:t>
            </a:r>
            <a:pPr indent="0" marL="0">
              <a:buNone/>
            </a:pPr>
            <a:r>
              <a:rPr lang="en-US" sz="1300" dirty="0">
                <a:solidFill>
                  <a:srgbClr val="1E293B"/>
                </a:solidFill>
                <a:latin typeface="Calibri" pitchFamily="34" charset="0"/>
                <a:ea typeface="Calibri" pitchFamily="34" charset="-122"/>
                <a:cs typeface="Calibri" pitchFamily="34" charset="-120"/>
              </a:rPr>
              <a:t>Gerund used as object of preposition is.</a:t>
            </a:r>
            <a:endParaRPr lang="en-US" sz="1500" dirty="0"/>
          </a:p>
        </p:txBody>
      </p:sp>
      <p:sp>
        <p:nvSpPr>
          <p:cNvPr id="9" name="Shape 7"/>
          <p:cNvSpPr/>
          <p:nvPr/>
        </p:nvSpPr>
        <p:spPr>
          <a:xfrm>
            <a:off x="365760" y="2340864"/>
            <a:ext cx="8412480" cy="548640"/>
          </a:xfrm>
          <a:prstGeom prst="roundRect">
            <a:avLst>
              <a:gd name="adj" fmla="val 1666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432304"/>
            <a:ext cx="786384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are.  </a:t>
            </a:r>
            <a:pPr indent="0" marL="0">
              <a:buNone/>
            </a:pPr>
            <a:r>
              <a:rPr lang="en-US" sz="1300" dirty="0">
                <a:solidFill>
                  <a:srgbClr val="1E293B"/>
                </a:solidFill>
                <a:latin typeface="Calibri" pitchFamily="34" charset="0"/>
                <a:ea typeface="Calibri" pitchFamily="34" charset="-122"/>
                <a:cs typeface="Calibri" pitchFamily="34" charset="-120"/>
              </a:rPr>
              <a:t>Linking verb; period ends the sentence.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honesty means telling the truth even when its difficult and thats one of the hardest things a person can do</a:t>
            </a:r>
            <a:endParaRPr lang="en-US" sz="1700" dirty="0"/>
          </a:p>
        </p:txBody>
      </p:sp>
      <p:sp>
        <p:nvSpPr>
          <p:cNvPr id="7" name="Text 5"/>
          <p:cNvSpPr/>
          <p:nvPr/>
        </p:nvSpPr>
        <p:spPr>
          <a:xfrm>
            <a:off x="365760" y="2788920"/>
            <a:ext cx="8412480" cy="36576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Rewrite the sentence correctly in your notebook.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Daily Oral Language</a:t>
            </a:r>
            <a:endParaRPr lang="en-US" sz="2200" dirty="0"/>
          </a:p>
        </p:txBody>
      </p:sp>
      <p:sp>
        <p:nvSpPr>
          <p:cNvPr id="4" name="Text 2"/>
          <p:cNvSpPr/>
          <p:nvPr/>
        </p:nvSpPr>
        <p:spPr>
          <a:xfrm>
            <a:off x="365760" y="749808"/>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NOW FIX THIS ONE</a:t>
            </a:r>
            <a:endParaRPr lang="en-US" sz="1100" dirty="0"/>
          </a:p>
        </p:txBody>
      </p:sp>
      <p:sp>
        <p:nvSpPr>
          <p:cNvPr id="5" name="Shape 3"/>
          <p:cNvSpPr/>
          <p:nvPr/>
        </p:nvSpPr>
        <p:spPr>
          <a:xfrm>
            <a:off x="365760" y="1024128"/>
            <a:ext cx="8412480" cy="777240"/>
          </a:xfrm>
          <a:prstGeom prst="roundRect">
            <a:avLst>
              <a:gd name="adj" fmla="val 11765"/>
            </a:avLst>
          </a:prstGeom>
          <a:solidFill>
            <a:srgbClr val="FFFFFF"/>
          </a:solidFill>
          <a:ln w="19050">
            <a:solidFill>
              <a:srgbClr val="55C8E8"/>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94360" y="1152144"/>
            <a:ext cx="7955280" cy="521208"/>
          </a:xfrm>
          <a:prstGeom prst="rect">
            <a:avLst/>
          </a:prstGeom>
          <a:noFill/>
          <a:ln/>
        </p:spPr>
        <p:txBody>
          <a:bodyPr wrap="square" lIns="0" tIns="0" rIns="0" bIns="0" rtlCol="0" anchor="ctr"/>
          <a:lstStyle/>
          <a:p>
            <a:pPr indent="0" marL="0">
              <a:buNone/>
            </a:pPr>
            <a:r>
              <a:rPr lang="en-US" sz="1700" dirty="0">
                <a:solidFill>
                  <a:srgbClr val="1E293B"/>
                </a:solidFill>
                <a:latin typeface="Calibri" pitchFamily="34" charset="0"/>
                <a:ea typeface="Calibri" pitchFamily="34" charset="-122"/>
                <a:cs typeface="Calibri" pitchFamily="34" charset="-120"/>
              </a:rPr>
              <a:t>honesty means telling the truth even when its difficult and thats one of the hardest things a person can do</a:t>
            </a:r>
            <a:endParaRPr lang="en-US" sz="1700" dirty="0"/>
          </a:p>
        </p:txBody>
      </p:sp>
      <p:sp>
        <p:nvSpPr>
          <p:cNvPr id="7" name="Shape 5"/>
          <p:cNvSpPr/>
          <p:nvPr/>
        </p:nvSpPr>
        <p:spPr>
          <a:xfrm>
            <a:off x="365760" y="2743200"/>
            <a:ext cx="8412480" cy="1417320"/>
          </a:xfrm>
          <a:prstGeom prst="roundRect">
            <a:avLst>
              <a:gd name="adj" fmla="val 6452"/>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66928" y="2816352"/>
            <a:ext cx="8229600" cy="237744"/>
          </a:xfrm>
          <a:prstGeom prst="rect">
            <a:avLst/>
          </a:prstGeom>
          <a:noFill/>
          <a:ln/>
        </p:spPr>
        <p:txBody>
          <a:bodyPr wrap="square" lIns="0" tIns="0" rIns="0" bIns="0" rtlCol="0" anchor="ctr"/>
          <a:lstStyle/>
          <a:p>
            <a:pPr indent="0" marL="0">
              <a:buNone/>
            </a:pPr>
            <a:r>
              <a:rPr lang="en-US" sz="1100" b="1" spc="1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9" name="Text 7"/>
          <p:cNvSpPr/>
          <p:nvPr/>
        </p:nvSpPr>
        <p:spPr>
          <a:xfrm>
            <a:off x="566928" y="3072384"/>
            <a:ext cx="8010144" cy="68580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Corrected: Honesty means telling the truth even when it's difficult, and that's one of the hardest things a person can do.</a:t>
            </a:r>
            <a:endParaRPr lang="en-US" sz="1400" dirty="0"/>
          </a:p>
          <a:p>
            <a:pPr indent="0" marL="0">
              <a:buNone/>
            </a:pPr>
            <a:endParaRPr lang="en-US" sz="1400" dirty="0"/>
          </a:p>
        </p:txBody>
      </p:sp>
      <p:sp>
        <p:nvSpPr>
          <p:cNvPr id="10" name="Text 8"/>
          <p:cNvSpPr/>
          <p:nvPr/>
        </p:nvSpPr>
        <p:spPr>
          <a:xfrm>
            <a:off x="566928" y="3767328"/>
            <a:ext cx="8010144"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Honesty = sentence opener (capital H); it's = it + is (contraction); comma before and joining two complete thoughts; that's = that + is (contraction); period ends.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Morphology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MORPHOLOGY REFLECTION: WORD PARTS I KNOW</a:t>
            </a:r>
            <a:endParaRPr lang="en-US" sz="1100" dirty="0"/>
          </a:p>
        </p:txBody>
      </p:sp>
      <p:sp>
        <p:nvSpPr>
          <p:cNvPr id="5" name="Shape 3"/>
          <p:cNvSpPr/>
          <p:nvPr/>
        </p:nvSpPr>
        <p:spPr>
          <a:xfrm>
            <a:off x="365760" y="1097280"/>
            <a:ext cx="8412480" cy="621792"/>
          </a:xfrm>
          <a:prstGeom prst="roundRect">
            <a:avLst>
              <a:gd name="adj" fmla="val 1470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16152"/>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Morphology reflection: word parts I know.</a:t>
            </a:r>
            <a:endParaRPr lang="en-US" sz="1500" dirty="0"/>
          </a:p>
        </p:txBody>
      </p:sp>
      <p:sp>
        <p:nvSpPr>
          <p:cNvPr id="7" name="Shape 5"/>
          <p:cNvSpPr/>
          <p:nvPr/>
        </p:nvSpPr>
        <p:spPr>
          <a:xfrm>
            <a:off x="365760" y="1792224"/>
            <a:ext cx="8412480" cy="621792"/>
          </a:xfrm>
          <a:prstGeom prst="roundRect">
            <a:avLst>
              <a:gd name="adj" fmla="val 14706"/>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11096"/>
            <a:ext cx="7863840" cy="38404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Fill in the missing part after the prefix to build the word.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55C8E8"/>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Vocabulary</a:t>
            </a:r>
            <a:endParaRPr lang="en-US" sz="2200" dirty="0"/>
          </a:p>
        </p:txBody>
      </p:sp>
      <p:sp>
        <p:nvSpPr>
          <p:cNvPr id="4" name="Text 2"/>
          <p:cNvSpPr/>
          <p:nvPr/>
        </p:nvSpPr>
        <p:spPr>
          <a:xfrm>
            <a:off x="365760" y="804672"/>
            <a:ext cx="8229600" cy="237744"/>
          </a:xfrm>
          <a:prstGeom prst="rect">
            <a:avLst/>
          </a:prstGeom>
          <a:noFill/>
          <a:ln/>
        </p:spPr>
        <p:txBody>
          <a:bodyPr wrap="square" lIns="0" tIns="0" rIns="0" bIns="0"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DECODE &amp; DISCOVER</a:t>
            </a:r>
            <a:endParaRPr lang="en-US" sz="1100" dirty="0"/>
          </a:p>
        </p:txBody>
      </p:sp>
      <p:sp>
        <p:nvSpPr>
          <p:cNvPr id="5" name="Shape 3"/>
          <p:cNvSpPr/>
          <p:nvPr/>
        </p:nvSpPr>
        <p:spPr>
          <a:xfrm>
            <a:off x="365760" y="109728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integrity  </a:t>
            </a:r>
            <a:pPr indent="0" marL="0">
              <a:buNone/>
            </a:pPr>
            <a:endParaRPr lang="en-US" sz="1700" dirty="0"/>
          </a:p>
        </p:txBody>
      </p:sp>
      <p:sp>
        <p:nvSpPr>
          <p:cNvPr id="7" name="Shape 5"/>
          <p:cNvSpPr/>
          <p:nvPr/>
        </p:nvSpPr>
        <p:spPr>
          <a:xfrm>
            <a:off x="365760" y="18288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empathy  </a:t>
            </a:r>
            <a:pPr indent="0" marL="0">
              <a:buNone/>
            </a:pPr>
            <a:endParaRPr lang="en-US" sz="1700" dirty="0"/>
          </a:p>
        </p:txBody>
      </p:sp>
      <p:sp>
        <p:nvSpPr>
          <p:cNvPr id="9" name="Shape 7"/>
          <p:cNvSpPr/>
          <p:nvPr/>
        </p:nvSpPr>
        <p:spPr>
          <a:xfrm>
            <a:off x="365760" y="2560320"/>
            <a:ext cx="8412480" cy="658368"/>
          </a:xfrm>
          <a:prstGeom prst="roundRect">
            <a:avLst>
              <a:gd name="adj" fmla="val 13889"/>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20624"/>
          </a:xfrm>
          <a:prstGeom prst="rect">
            <a:avLst/>
          </a:prstGeom>
          <a:noFill/>
          <a:ln/>
        </p:spPr>
        <p:txBody>
          <a:bodyPr wrap="square" lIns="0" tIns="0" rIns="0" bIns="0" rtlCol="0" anchor="ctr"/>
          <a:lstStyle/>
          <a:p>
            <a:pPr indent="0" marL="0">
              <a:buNone/>
            </a:pPr>
            <a:r>
              <a:rPr lang="en-US" sz="1700" b="1" dirty="0">
                <a:solidFill>
                  <a:srgbClr val="0E1C42"/>
                </a:solidFill>
                <a:latin typeface="Calibri" pitchFamily="34" charset="0"/>
                <a:ea typeface="Calibri" pitchFamily="34" charset="-122"/>
                <a:cs typeface="Calibri" pitchFamily="34" charset="-120"/>
              </a:rPr>
              <a:t>resilience  </a:t>
            </a:r>
            <a:pPr indent="0" marL="0">
              <a:buNone/>
            </a:pP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FINAL EDITING REVIEW</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despereaux was small but his heart was bigger than the whole castle.</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Jemmy didnt want to be a prince but he learned respect anyway.</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lucy believed in narnia even when no one else did.</a:t>
            </a:r>
            <a:endParaRPr lang="en-US" sz="1600" dirty="0"/>
          </a:p>
        </p:txBody>
      </p:sp>
      <p:sp>
        <p:nvSpPr>
          <p:cNvPr id="11" name="Text 9"/>
          <p:cNvSpPr/>
          <p:nvPr/>
        </p:nvSpPr>
        <p:spPr>
          <a:xfrm>
            <a:off x="365760" y="3319272"/>
            <a:ext cx="8412480" cy="36576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Click the word that does NOT match the correct pattern.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7922C"/>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Grammar</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FINAL EDITING REVIEW</a:t>
            </a:r>
            <a:endParaRPr lang="en-US" sz="1100" dirty="0"/>
          </a:p>
        </p:txBody>
      </p:sp>
      <p:sp>
        <p:nvSpPr>
          <p:cNvPr id="5" name="Shape 3"/>
          <p:cNvSpPr/>
          <p:nvPr/>
        </p:nvSpPr>
        <p:spPr>
          <a:xfrm>
            <a:off x="365760" y="107899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25296"/>
            <a:ext cx="7863840" cy="402336"/>
          </a:xfrm>
          <a:prstGeom prst="rect">
            <a:avLst/>
          </a:prstGeom>
          <a:noFill/>
          <a:ln/>
        </p:spPr>
        <p:txBody>
          <a:bodyPr wrap="square" lIns="0" tIns="0" rIns="0" bIns="0" rtlCol="0" anchor="ctr"/>
          <a:lstStyle/>
          <a:p>
            <a:pPr indent="0" marL="0">
              <a:buNone/>
            </a:pPr>
            <a:r>
              <a:rPr lang="en-US" sz="1600" b="1" dirty="0">
                <a:solidFill>
                  <a:srgbClr val="34B76F"/>
                </a:solidFill>
                <a:latin typeface="Calibri" pitchFamily="34" charset="0"/>
                <a:ea typeface="Calibri" pitchFamily="34" charset="-122"/>
                <a:cs typeface="Calibri" pitchFamily="34" charset="-120"/>
              </a:rPr>
              <a:t>despereaux</a:t>
            </a:r>
            <a:pPr indent="0" marL="0">
              <a:buNone/>
            </a:pPr>
            <a:r>
              <a:rPr lang="en-US" sz="1600" dirty="0">
                <a:solidFill>
                  <a:srgbClr val="1E293B"/>
                </a:solidFill>
                <a:latin typeface="Calibri" pitchFamily="34" charset="0"/>
                <a:ea typeface="Calibri" pitchFamily="34" charset="-122"/>
                <a:cs typeface="Calibri" pitchFamily="34" charset="-120"/>
              </a:rPr>
              <a:t> was small but his heart was bigger than the whole castle.</a:t>
            </a:r>
            <a:endParaRPr lang="en-US" sz="1600" dirty="0"/>
          </a:p>
        </p:txBody>
      </p:sp>
      <p:sp>
        <p:nvSpPr>
          <p:cNvPr id="7" name="Shape 5"/>
          <p:cNvSpPr/>
          <p:nvPr/>
        </p:nvSpPr>
        <p:spPr>
          <a:xfrm>
            <a:off x="365760" y="1810512"/>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95681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Jemmy </a:t>
            </a:r>
            <a:pPr indent="0" marL="0">
              <a:buNone/>
            </a:pPr>
            <a:r>
              <a:rPr lang="en-US" sz="1600" b="1" dirty="0">
                <a:solidFill>
                  <a:srgbClr val="34B76F"/>
                </a:solidFill>
                <a:latin typeface="Calibri" pitchFamily="34" charset="0"/>
                <a:ea typeface="Calibri" pitchFamily="34" charset="-122"/>
                <a:cs typeface="Calibri" pitchFamily="34" charset="-120"/>
              </a:rPr>
              <a:t>didnt</a:t>
            </a:r>
            <a:pPr indent="0" marL="0">
              <a:buNone/>
            </a:pPr>
            <a:r>
              <a:rPr lang="en-US" sz="1600" dirty="0">
                <a:solidFill>
                  <a:srgbClr val="1E293B"/>
                </a:solidFill>
                <a:latin typeface="Calibri" pitchFamily="34" charset="0"/>
                <a:ea typeface="Calibri" pitchFamily="34" charset="-122"/>
                <a:cs typeface="Calibri" pitchFamily="34" charset="-120"/>
              </a:rPr>
              <a:t> want to be a prince but he learned respect anyway.</a:t>
            </a:r>
            <a:endParaRPr lang="en-US" sz="1600" dirty="0"/>
          </a:p>
        </p:txBody>
      </p:sp>
      <p:sp>
        <p:nvSpPr>
          <p:cNvPr id="9" name="Shape 7"/>
          <p:cNvSpPr/>
          <p:nvPr/>
        </p:nvSpPr>
        <p:spPr>
          <a:xfrm>
            <a:off x="365760" y="2542032"/>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688336"/>
            <a:ext cx="7863840" cy="402336"/>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lucy believed in </a:t>
            </a:r>
            <a:pPr indent="0" marL="0">
              <a:buNone/>
            </a:pPr>
            <a:r>
              <a:rPr lang="en-US" sz="1600" b="1" dirty="0">
                <a:solidFill>
                  <a:srgbClr val="34B76F"/>
                </a:solidFill>
                <a:latin typeface="Calibri" pitchFamily="34" charset="0"/>
                <a:ea typeface="Calibri" pitchFamily="34" charset="-122"/>
                <a:cs typeface="Calibri" pitchFamily="34" charset="-120"/>
              </a:rPr>
              <a:t>narnia</a:t>
            </a:r>
            <a:pPr indent="0" marL="0">
              <a:buNone/>
            </a:pPr>
            <a:r>
              <a:rPr lang="en-US" sz="1600" dirty="0">
                <a:solidFill>
                  <a:srgbClr val="1E293B"/>
                </a:solidFill>
                <a:latin typeface="Calibri" pitchFamily="34" charset="0"/>
                <a:ea typeface="Calibri" pitchFamily="34" charset="-122"/>
                <a:cs typeface="Calibri" pitchFamily="34" charset="-120"/>
              </a:rPr>
              <a:t> even when no one else did.</a:t>
            </a:r>
            <a:endParaRPr lang="en-US" sz="1600" dirty="0"/>
          </a:p>
        </p:txBody>
      </p:sp>
      <p:sp>
        <p:nvSpPr>
          <p:cNvPr id="11" name="Text 9"/>
          <p:cNvSpPr/>
          <p:nvPr/>
        </p:nvSpPr>
        <p:spPr>
          <a:xfrm>
            <a:off x="365760" y="3319272"/>
            <a:ext cx="8412480" cy="365760"/>
          </a:xfrm>
          <a:prstGeom prst="rect">
            <a:avLst/>
          </a:prstGeom>
          <a:noFill/>
          <a:ln/>
        </p:spPr>
        <p:txBody>
          <a:bodyPr wrap="square" lIns="0" tIns="0" rIns="0" bIns="0" rtlCol="0" anchor="ctr"/>
          <a:lstStyle/>
          <a:p>
            <a:pPr indent="0" marL="0">
              <a:buNone/>
            </a:pPr>
            <a:r>
              <a:rPr lang="en-US" sz="1500" b="1" dirty="0">
                <a:solidFill>
                  <a:srgbClr val="34B76F"/>
                </a:solidFill>
                <a:latin typeface="Calibri" pitchFamily="34" charset="0"/>
                <a:ea typeface="Calibri" pitchFamily="34" charset="-122"/>
                <a:cs typeface="Calibri" pitchFamily="34" charset="-120"/>
              </a:rPr>
              <a:t>✅  Answers revealed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FINAL SPELLING AND CONVENTIONS REVIEW</a:t>
            </a:r>
            <a:endParaRPr lang="en-US" sz="1100" dirty="0"/>
          </a:p>
        </p:txBody>
      </p:sp>
      <p:sp>
        <p:nvSpPr>
          <p:cNvPr id="5" name="Text 3"/>
          <p:cNvSpPr/>
          <p:nvPr/>
        </p:nvSpPr>
        <p:spPr>
          <a:xfrm>
            <a:off x="365760" y="1078992"/>
            <a:ext cx="8229600" cy="237744"/>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6" name="Shape 4"/>
          <p:cNvSpPr/>
          <p:nvPr/>
        </p:nvSpPr>
        <p:spPr>
          <a:xfrm>
            <a:off x="365760" y="1353312"/>
            <a:ext cx="8412480" cy="1005840"/>
          </a:xfrm>
          <a:prstGeom prst="roundRect">
            <a:avLst>
              <a:gd name="adj" fmla="val 9091"/>
            </a:avLst>
          </a:prstGeom>
          <a:solidFill>
            <a:srgbClr val="FFFFFF"/>
          </a:solidFill>
          <a:ln w="19050">
            <a:solidFill>
              <a:srgbClr val="0E1C42"/>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481328"/>
            <a:ext cx="7955280" cy="749808"/>
          </a:xfrm>
          <a:prstGeom prst="rect">
            <a:avLst/>
          </a:prstGeom>
          <a:noFill/>
          <a:ln/>
        </p:spPr>
        <p:txBody>
          <a:bodyPr wrap="square" lIns="0" tIns="0" rIns="0" bIns="0" rtlCol="0" anchor="ctr"/>
          <a:lstStyle/>
          <a:p>
            <a:pPr indent="0" marL="0">
              <a:buNone/>
            </a:pPr>
            <a:r>
              <a:rPr lang="en-US" sz="1700" dirty="0">
                <a:solidFill>
                  <a:srgbClr val="0E1C42"/>
                </a:solidFill>
                <a:latin typeface="Calibri" pitchFamily="34" charset="0"/>
                <a:ea typeface="Calibri" pitchFamily="34" charset="-122"/>
                <a:cs typeface="Calibri" pitchFamily="34" charset="-120"/>
              </a:rPr>
              <a:t>honesty   ·   courageous   ·   unafraid   ·   rebuild   ·   fearless   ·   transform   ·   perseverance   ·   respectful</a:t>
            </a:r>
            <a:endParaRPr lang="en-US" sz="1700" dirty="0"/>
          </a:p>
        </p:txBody>
      </p:sp>
      <p:sp>
        <p:nvSpPr>
          <p:cNvPr id="8" name="Text 6"/>
          <p:cNvSpPr/>
          <p:nvPr/>
        </p:nvSpPr>
        <p:spPr>
          <a:xfrm>
            <a:off x="365760" y="2514600"/>
            <a:ext cx="8412480" cy="457200"/>
          </a:xfrm>
          <a:prstGeom prst="rect">
            <a:avLst/>
          </a:prstGeom>
          <a:noFill/>
          <a:ln/>
        </p:spPr>
        <p:txBody>
          <a:bodyPr wrap="square" lIns="0" tIns="0" rIns="0" bIns="0" rtlCol="0" anchor="ctr"/>
          <a:lstStyle/>
          <a:p>
            <a:pPr indent="0" marL="0">
              <a:buNone/>
            </a:pPr>
            <a:r>
              <a:rPr lang="en-US" sz="1500" i="1" dirty="0">
                <a:solidFill>
                  <a:srgbClr val="64748B"/>
                </a:solidFill>
                <a:latin typeface="Calibri" pitchFamily="34" charset="0"/>
                <a:ea typeface="Calibri" pitchFamily="34" charset="-122"/>
                <a:cs typeface="Calibri" pitchFamily="34" charset="-120"/>
              </a:rPr>
              <a:t>Which column does each word belong in?  Columns: Suffix -y  |  Has a suffix  |  Prefix un-  |  Prefix re-  |  Suffix -less  |  Has a prefix  |  Suffix -ance  |  Suffix -ful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E1C42"/>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Spelling</a:t>
            </a:r>
            <a:endParaRPr lang="en-US" sz="2200" dirty="0"/>
          </a:p>
        </p:txBody>
      </p:sp>
      <p:sp>
        <p:nvSpPr>
          <p:cNvPr id="4" name="Text 2"/>
          <p:cNvSpPr/>
          <p:nvPr/>
        </p:nvSpPr>
        <p:spPr>
          <a:xfrm>
            <a:off x="365760" y="777240"/>
            <a:ext cx="8229600" cy="237744"/>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FINAL SPELLING AND CONVENTIONS REVIEW</a:t>
            </a:r>
            <a:endParaRPr lang="en-US" sz="1100" dirty="0"/>
          </a:p>
        </p:txBody>
      </p:sp>
      <p:sp>
        <p:nvSpPr>
          <p:cNvPr id="5" name="Shape 3"/>
          <p:cNvSpPr/>
          <p:nvPr/>
        </p:nvSpPr>
        <p:spPr>
          <a:xfrm>
            <a:off x="411480" y="1078992"/>
            <a:ext cx="960120" cy="457200"/>
          </a:xfrm>
          <a:prstGeom prst="roundRect">
            <a:avLst>
              <a:gd name="adj" fmla="val 16000"/>
            </a:avLst>
          </a:prstGeom>
          <a:solidFill>
            <a:srgbClr val="0E1C42"/>
          </a:solidFill>
          <a:ln/>
        </p:spPr>
      </p:sp>
      <p:sp>
        <p:nvSpPr>
          <p:cNvPr id="6" name="Text 4"/>
          <p:cNvSpPr/>
          <p:nvPr/>
        </p:nvSpPr>
        <p:spPr>
          <a:xfrm>
            <a:off x="45720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Suffix -y</a:t>
            </a:r>
            <a:endParaRPr lang="en-US" sz="1300" dirty="0"/>
          </a:p>
        </p:txBody>
      </p:sp>
      <p:sp>
        <p:nvSpPr>
          <p:cNvPr id="7" name="Shape 5"/>
          <p:cNvSpPr/>
          <p:nvPr/>
        </p:nvSpPr>
        <p:spPr>
          <a:xfrm>
            <a:off x="41148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8" name="Text 6"/>
          <p:cNvSpPr/>
          <p:nvPr/>
        </p:nvSpPr>
        <p:spPr>
          <a:xfrm>
            <a:off x="50292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honesty</a:t>
            </a:r>
            <a:endParaRPr lang="en-US" sz="1400" dirty="0"/>
          </a:p>
        </p:txBody>
      </p:sp>
      <p:sp>
        <p:nvSpPr>
          <p:cNvPr id="9" name="Shape 7"/>
          <p:cNvSpPr/>
          <p:nvPr/>
        </p:nvSpPr>
        <p:spPr>
          <a:xfrm>
            <a:off x="1463040" y="1078992"/>
            <a:ext cx="960120" cy="457200"/>
          </a:xfrm>
          <a:prstGeom prst="roundRect">
            <a:avLst>
              <a:gd name="adj" fmla="val 16000"/>
            </a:avLst>
          </a:prstGeom>
          <a:solidFill>
            <a:srgbClr val="0E1C42"/>
          </a:solidFill>
          <a:ln/>
        </p:spPr>
      </p:sp>
      <p:sp>
        <p:nvSpPr>
          <p:cNvPr id="10" name="Text 8"/>
          <p:cNvSpPr/>
          <p:nvPr/>
        </p:nvSpPr>
        <p:spPr>
          <a:xfrm>
            <a:off x="150876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Has a suffix</a:t>
            </a:r>
            <a:endParaRPr lang="en-US" sz="1300" dirty="0"/>
          </a:p>
        </p:txBody>
      </p:sp>
      <p:sp>
        <p:nvSpPr>
          <p:cNvPr id="11" name="Shape 9"/>
          <p:cNvSpPr/>
          <p:nvPr/>
        </p:nvSpPr>
        <p:spPr>
          <a:xfrm>
            <a:off x="146304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155448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courageous</a:t>
            </a:r>
            <a:endParaRPr lang="en-US" sz="1400" dirty="0"/>
          </a:p>
        </p:txBody>
      </p:sp>
      <p:sp>
        <p:nvSpPr>
          <p:cNvPr id="13" name="Shape 11"/>
          <p:cNvSpPr/>
          <p:nvPr/>
        </p:nvSpPr>
        <p:spPr>
          <a:xfrm>
            <a:off x="2514600" y="1078992"/>
            <a:ext cx="960120" cy="457200"/>
          </a:xfrm>
          <a:prstGeom prst="roundRect">
            <a:avLst>
              <a:gd name="adj" fmla="val 16000"/>
            </a:avLst>
          </a:prstGeom>
          <a:solidFill>
            <a:srgbClr val="0E1C42"/>
          </a:solidFill>
          <a:ln/>
        </p:spPr>
      </p:sp>
      <p:sp>
        <p:nvSpPr>
          <p:cNvPr id="14" name="Text 12"/>
          <p:cNvSpPr/>
          <p:nvPr/>
        </p:nvSpPr>
        <p:spPr>
          <a:xfrm>
            <a:off x="256032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Prefix un-</a:t>
            </a:r>
            <a:endParaRPr lang="en-US" sz="1300" dirty="0"/>
          </a:p>
        </p:txBody>
      </p:sp>
      <p:sp>
        <p:nvSpPr>
          <p:cNvPr id="15" name="Shape 13"/>
          <p:cNvSpPr/>
          <p:nvPr/>
        </p:nvSpPr>
        <p:spPr>
          <a:xfrm>
            <a:off x="251460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16" name="Text 14"/>
          <p:cNvSpPr/>
          <p:nvPr/>
        </p:nvSpPr>
        <p:spPr>
          <a:xfrm>
            <a:off x="260604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unafraid</a:t>
            </a:r>
            <a:endParaRPr lang="en-US" sz="1400" dirty="0"/>
          </a:p>
        </p:txBody>
      </p:sp>
      <p:sp>
        <p:nvSpPr>
          <p:cNvPr id="17" name="Shape 15"/>
          <p:cNvSpPr/>
          <p:nvPr/>
        </p:nvSpPr>
        <p:spPr>
          <a:xfrm>
            <a:off x="3566160" y="1078992"/>
            <a:ext cx="960120" cy="457200"/>
          </a:xfrm>
          <a:prstGeom prst="roundRect">
            <a:avLst>
              <a:gd name="adj" fmla="val 16000"/>
            </a:avLst>
          </a:prstGeom>
          <a:solidFill>
            <a:srgbClr val="0E1C42"/>
          </a:solidFill>
          <a:ln/>
        </p:spPr>
      </p:sp>
      <p:sp>
        <p:nvSpPr>
          <p:cNvPr id="18" name="Text 16"/>
          <p:cNvSpPr/>
          <p:nvPr/>
        </p:nvSpPr>
        <p:spPr>
          <a:xfrm>
            <a:off x="361188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Prefix re-</a:t>
            </a:r>
            <a:endParaRPr lang="en-US" sz="1300" dirty="0"/>
          </a:p>
        </p:txBody>
      </p:sp>
      <p:sp>
        <p:nvSpPr>
          <p:cNvPr id="19" name="Shape 17"/>
          <p:cNvSpPr/>
          <p:nvPr/>
        </p:nvSpPr>
        <p:spPr>
          <a:xfrm>
            <a:off x="356616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20" name="Text 18"/>
          <p:cNvSpPr/>
          <p:nvPr/>
        </p:nvSpPr>
        <p:spPr>
          <a:xfrm>
            <a:off x="365760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rebuild</a:t>
            </a:r>
            <a:endParaRPr lang="en-US" sz="1400" dirty="0"/>
          </a:p>
        </p:txBody>
      </p:sp>
      <p:sp>
        <p:nvSpPr>
          <p:cNvPr id="21" name="Shape 19"/>
          <p:cNvSpPr/>
          <p:nvPr/>
        </p:nvSpPr>
        <p:spPr>
          <a:xfrm>
            <a:off x="4617720" y="1078992"/>
            <a:ext cx="960120" cy="457200"/>
          </a:xfrm>
          <a:prstGeom prst="roundRect">
            <a:avLst>
              <a:gd name="adj" fmla="val 16000"/>
            </a:avLst>
          </a:prstGeom>
          <a:solidFill>
            <a:srgbClr val="0E1C42"/>
          </a:solidFill>
          <a:ln/>
        </p:spPr>
      </p:sp>
      <p:sp>
        <p:nvSpPr>
          <p:cNvPr id="22" name="Text 20"/>
          <p:cNvSpPr/>
          <p:nvPr/>
        </p:nvSpPr>
        <p:spPr>
          <a:xfrm>
            <a:off x="466344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Suffix -less</a:t>
            </a:r>
            <a:endParaRPr lang="en-US" sz="1300" dirty="0"/>
          </a:p>
        </p:txBody>
      </p:sp>
      <p:sp>
        <p:nvSpPr>
          <p:cNvPr id="23" name="Shape 21"/>
          <p:cNvSpPr/>
          <p:nvPr/>
        </p:nvSpPr>
        <p:spPr>
          <a:xfrm>
            <a:off x="461772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24" name="Text 22"/>
          <p:cNvSpPr/>
          <p:nvPr/>
        </p:nvSpPr>
        <p:spPr>
          <a:xfrm>
            <a:off x="470916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fearless</a:t>
            </a:r>
            <a:endParaRPr lang="en-US" sz="1400" dirty="0"/>
          </a:p>
        </p:txBody>
      </p:sp>
      <p:sp>
        <p:nvSpPr>
          <p:cNvPr id="25" name="Shape 23"/>
          <p:cNvSpPr/>
          <p:nvPr/>
        </p:nvSpPr>
        <p:spPr>
          <a:xfrm>
            <a:off x="5669280" y="1078992"/>
            <a:ext cx="960120" cy="457200"/>
          </a:xfrm>
          <a:prstGeom prst="roundRect">
            <a:avLst>
              <a:gd name="adj" fmla="val 16000"/>
            </a:avLst>
          </a:prstGeom>
          <a:solidFill>
            <a:srgbClr val="0E1C42"/>
          </a:solidFill>
          <a:ln/>
        </p:spPr>
      </p:sp>
      <p:sp>
        <p:nvSpPr>
          <p:cNvPr id="26" name="Text 24"/>
          <p:cNvSpPr/>
          <p:nvPr/>
        </p:nvSpPr>
        <p:spPr>
          <a:xfrm>
            <a:off x="571500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Has a prefix</a:t>
            </a:r>
            <a:endParaRPr lang="en-US" sz="1300" dirty="0"/>
          </a:p>
        </p:txBody>
      </p:sp>
      <p:sp>
        <p:nvSpPr>
          <p:cNvPr id="27" name="Shape 25"/>
          <p:cNvSpPr/>
          <p:nvPr/>
        </p:nvSpPr>
        <p:spPr>
          <a:xfrm>
            <a:off x="566928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28" name="Text 26"/>
          <p:cNvSpPr/>
          <p:nvPr/>
        </p:nvSpPr>
        <p:spPr>
          <a:xfrm>
            <a:off x="576072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transform</a:t>
            </a:r>
            <a:endParaRPr lang="en-US" sz="1400" dirty="0"/>
          </a:p>
        </p:txBody>
      </p:sp>
      <p:sp>
        <p:nvSpPr>
          <p:cNvPr id="29" name="Shape 27"/>
          <p:cNvSpPr/>
          <p:nvPr/>
        </p:nvSpPr>
        <p:spPr>
          <a:xfrm>
            <a:off x="6720840" y="1078992"/>
            <a:ext cx="960120" cy="457200"/>
          </a:xfrm>
          <a:prstGeom prst="roundRect">
            <a:avLst>
              <a:gd name="adj" fmla="val 16000"/>
            </a:avLst>
          </a:prstGeom>
          <a:solidFill>
            <a:srgbClr val="0E1C42"/>
          </a:solidFill>
          <a:ln/>
        </p:spPr>
      </p:sp>
      <p:sp>
        <p:nvSpPr>
          <p:cNvPr id="30" name="Text 28"/>
          <p:cNvSpPr/>
          <p:nvPr/>
        </p:nvSpPr>
        <p:spPr>
          <a:xfrm>
            <a:off x="676656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Suffix -ance</a:t>
            </a:r>
            <a:endParaRPr lang="en-US" sz="1300" dirty="0"/>
          </a:p>
        </p:txBody>
      </p:sp>
      <p:sp>
        <p:nvSpPr>
          <p:cNvPr id="31" name="Shape 29"/>
          <p:cNvSpPr/>
          <p:nvPr/>
        </p:nvSpPr>
        <p:spPr>
          <a:xfrm>
            <a:off x="672084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32" name="Text 30"/>
          <p:cNvSpPr/>
          <p:nvPr/>
        </p:nvSpPr>
        <p:spPr>
          <a:xfrm>
            <a:off x="681228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perseverance</a:t>
            </a:r>
            <a:endParaRPr lang="en-US" sz="1400" dirty="0"/>
          </a:p>
        </p:txBody>
      </p:sp>
      <p:sp>
        <p:nvSpPr>
          <p:cNvPr id="33" name="Shape 31"/>
          <p:cNvSpPr/>
          <p:nvPr/>
        </p:nvSpPr>
        <p:spPr>
          <a:xfrm>
            <a:off x="7772400" y="1078992"/>
            <a:ext cx="960120" cy="457200"/>
          </a:xfrm>
          <a:prstGeom prst="roundRect">
            <a:avLst>
              <a:gd name="adj" fmla="val 16000"/>
            </a:avLst>
          </a:prstGeom>
          <a:solidFill>
            <a:srgbClr val="0E1C42"/>
          </a:solidFill>
          <a:ln/>
        </p:spPr>
      </p:sp>
      <p:sp>
        <p:nvSpPr>
          <p:cNvPr id="34" name="Text 32"/>
          <p:cNvSpPr/>
          <p:nvPr/>
        </p:nvSpPr>
        <p:spPr>
          <a:xfrm>
            <a:off x="7818120" y="1133856"/>
            <a:ext cx="8686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Suffix -ful</a:t>
            </a:r>
            <a:endParaRPr lang="en-US" sz="1300" dirty="0"/>
          </a:p>
        </p:txBody>
      </p:sp>
      <p:sp>
        <p:nvSpPr>
          <p:cNvPr id="35" name="Shape 33"/>
          <p:cNvSpPr/>
          <p:nvPr/>
        </p:nvSpPr>
        <p:spPr>
          <a:xfrm>
            <a:off x="7772400" y="1591056"/>
            <a:ext cx="960120" cy="2103120"/>
          </a:xfrm>
          <a:prstGeom prst="roundRect">
            <a:avLst>
              <a:gd name="adj" fmla="val 9524"/>
            </a:avLst>
          </a:prstGeom>
          <a:solidFill>
            <a:srgbClr val="FFFFFF"/>
          </a:solidFill>
          <a:ln/>
          <a:effectLst>
            <a:outerShdw sx="100000" sy="100000" kx="0" ky="0" algn="bl" rotWithShape="0" blurRad="101600" dist="38100" dir="2700000">
              <a:srgbClr val="000000">
                <a:alpha val="12000"/>
              </a:srgbClr>
            </a:outerShdw>
          </a:effectLst>
        </p:spPr>
      </p:sp>
      <p:sp>
        <p:nvSpPr>
          <p:cNvPr id="36" name="Text 34"/>
          <p:cNvSpPr/>
          <p:nvPr/>
        </p:nvSpPr>
        <p:spPr>
          <a:xfrm>
            <a:off x="7863840" y="1700784"/>
            <a:ext cx="777240" cy="1883664"/>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respectful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4B76F"/>
          </a:solidFill>
          <a:ln/>
        </p:spPr>
      </p:sp>
      <p:sp>
        <p:nvSpPr>
          <p:cNvPr id="3" name="Text 1"/>
          <p:cNvSpPr/>
          <p:nvPr/>
        </p:nvSpPr>
        <p:spPr>
          <a:xfrm>
            <a:off x="365760" y="548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  Read</a:t>
            </a:r>
            <a:endParaRPr lang="en-US" sz="2200" dirty="0"/>
          </a:p>
        </p:txBody>
      </p:sp>
      <p:sp>
        <p:nvSpPr>
          <p:cNvPr id="4" name="Text 2"/>
          <p:cNvSpPr/>
          <p:nvPr/>
        </p:nvSpPr>
        <p:spPr>
          <a:xfrm>
            <a:off x="365760" y="868680"/>
            <a:ext cx="8412480" cy="502920"/>
          </a:xfrm>
          <a:prstGeom prst="rect">
            <a:avLst/>
          </a:prstGeom>
          <a:noFill/>
          <a:ln/>
        </p:spPr>
        <p:txBody>
          <a:bodyPr wrap="square" lIns="0" tIns="0" rIns="0" bIns="0" rtlCol="0" anchor="ctr"/>
          <a:lstStyle/>
          <a:p>
            <a:pPr indent="0" marL="0">
              <a:buNone/>
            </a:pPr>
            <a:r>
              <a:rPr lang="en-US" sz="2600" b="1" dirty="0">
                <a:solidFill>
                  <a:srgbClr val="0E1C42"/>
                </a:solidFill>
                <a:latin typeface="Calibri" pitchFamily="34" charset="0"/>
                <a:ea typeface="Calibri" pitchFamily="34" charset="-122"/>
                <a:cs typeface="Calibri" pitchFamily="34" charset="-120"/>
              </a:rPr>
              <a:t>Reading: Week 32</a:t>
            </a:r>
            <a:endParaRPr lang="en-US" sz="2600" dirty="0"/>
          </a:p>
        </p:txBody>
      </p:sp>
      <p:sp>
        <p:nvSpPr>
          <p:cNvPr id="5" name="Text 3"/>
          <p:cNvSpPr/>
          <p:nvPr/>
        </p:nvSpPr>
        <p:spPr>
          <a:xfrm>
            <a:off x="365760" y="1463040"/>
            <a:ext cx="8229600" cy="237744"/>
          </a:xfrm>
          <a:prstGeom prst="rect">
            <a:avLst/>
          </a:prstGeom>
          <a:noFill/>
          <a:ln/>
        </p:spPr>
        <p:txBody>
          <a:bodyPr wrap="square" lIns="0" tIns="0" rIns="0" bIns="0" rtlCol="0" anchor="ctr"/>
          <a:lstStyle/>
          <a:p>
            <a:pPr indent="0" marL="0">
              <a:buNone/>
            </a:pPr>
            <a:r>
              <a:rPr lang="en-US" sz="1100" b="1" spc="1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Text 4"/>
          <p:cNvSpPr/>
          <p:nvPr/>
        </p:nvSpPr>
        <p:spPr>
          <a:xfrm>
            <a:off x="365760" y="1719072"/>
            <a:ext cx="8412480" cy="9144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  Reflect on how reading skills have grown.</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As you read today, ask yourself: What does it mean to have good character — and which character from our novels best shows it?</a:t>
            </a:r>
            <a:endParaRPr lang="en-US" sz="1500" dirty="0"/>
          </a:p>
          <a:p>
            <a:pPr indent="0" marL="0">
              <a:buNone/>
            </a:pPr>
            <a:r>
              <a:rPr lang="en-US" sz="1500" dirty="0">
                <a:solidFill>
                  <a:srgbClr val="1E293B"/>
                </a:solidFill>
                <a:latin typeface="Calibri" pitchFamily="34" charset="0"/>
                <a:ea typeface="Calibri" pitchFamily="34" charset="-122"/>
                <a:cs typeface="Calibri" pitchFamily="34" charset="-120"/>
              </a:rPr>
              <a:t>•  Choose the character from this year's novels that you want to write your culmination project about. Write their name, the novel they come from, and one sentence explaining why you chose them.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2026-09-07T02:45:02Z</dcterms:created>
  <dcterms:modified xsi:type="dcterms:W3CDTF">2026-09-07T02:45:02Z</dcterms:modified>
</cp:coreProperties>
</file>