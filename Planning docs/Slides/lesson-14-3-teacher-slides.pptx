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14.3. Reading: Ch. 50–52.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notice how characters change from beginning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kingdom had soup, light, and stories again, and the people were filled with hope and warmth.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The kingdom had soup, light, and stories again, and the people were filled with hope and warmth.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When you list three or more things, separate them with commas, and put and before the last one. The comma before and is optional in some styles — but be consistent.
Three items, two commas, and and before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2, 3, 0,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2, 3, 0,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An open syllable ends in a vowel, so nothing shuts the vowel in and it says its name: ti in ti·ger, mu in mu·sic. Closed syllable, short vowel. Open syllable, long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14.3  ·  Ch. 50–52</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holds the needle to Roscuro's heart and then lowers his head. Why do you think he does not use it? Write what you believe.</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Despereaux holds the needle to Roscuro's heart and then lowers his head. Why do you think he does not use it? Write what you believe.</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commas between the items in a list?</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50–52</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How has Despereaux changed since Chapter 1?</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notice how characters change from beginning to end.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cooks carried soup, bread, and warm bowls to every table in the hall.</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commas separate the three things in the series, and and comes before the last one. The sentence starts with a capital letter and ends with a period.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kingdom had soup and light and stories again and the people were filled with hope and warmth</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kingdom had soup and light and stories again and the people were filled with hope and warmth</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The kingdom had soup, light, and stories again, and the people were filled with hope and warmth.</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OVER-</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 + joyed →overjoyed — more than joyful</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 + loaded →overloaded — loaded with too much</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 + look →overlook — to look over and miss</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over- + flow →overflow — to flow over the top</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together  </a:t>
            </a:r>
            <a:pPr indent="0" marL="0">
              <a:buNone/>
            </a:pPr>
            <a:r>
              <a:rPr lang="en-US" sz="1400" dirty="0">
                <a:solidFill>
                  <a:srgbClr val="1E293B"/>
                </a:solidFill>
                <a:latin typeface="Calibri" pitchFamily="34" charset="0"/>
                <a:ea typeface="Calibri" pitchFamily="34" charset="-122"/>
                <a:cs typeface="Calibri" pitchFamily="34" charset="-120"/>
              </a:rPr>
              <a:t>With each other; joined rather than apart.</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trembled  </a:t>
            </a:r>
            <a:pPr indent="0" marL="0">
              <a:buNone/>
            </a:pPr>
            <a:r>
              <a:rPr lang="en-US" sz="1400" dirty="0">
                <a:solidFill>
                  <a:srgbClr val="1E293B"/>
                </a:solidFill>
                <a:latin typeface="Calibri" pitchFamily="34" charset="0"/>
                <a:ea typeface="Calibri" pitchFamily="34" charset="-122"/>
                <a:cs typeface="Calibri" pitchFamily="34" charset="-120"/>
              </a:rPr>
              <a:t>Shook a little, usually from fear or cold.</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tears  </a:t>
            </a:r>
            <a:pPr indent="0" marL="0">
              <a:buNone/>
            </a:pPr>
            <a:r>
              <a:rPr lang="en-US" sz="1400" dirty="0">
                <a:solidFill>
                  <a:srgbClr val="1E293B"/>
                </a:solidFill>
                <a:latin typeface="Calibri" pitchFamily="34" charset="0"/>
                <a:ea typeface="Calibri" pitchFamily="34" charset="-122"/>
                <a:cs typeface="Calibri" pitchFamily="34" charset="-120"/>
              </a:rPr>
              <a:t>Drops of water that come from your eyes when you cry.</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happily  </a:t>
            </a:r>
            <a:pPr indent="0" marL="0">
              <a:buNone/>
            </a:pPr>
            <a:r>
              <a:rPr lang="en-US" sz="1400" dirty="0">
                <a:solidFill>
                  <a:srgbClr val="1E293B"/>
                </a:solidFill>
                <a:latin typeface="Calibri" pitchFamily="34" charset="0"/>
                <a:ea typeface="Calibri" pitchFamily="34" charset="-122"/>
                <a:cs typeface="Calibri" pitchFamily="34" charset="-120"/>
              </a:rPr>
              <a:t>In a happy way; with joy.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How many items are in each list?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How many commas are there — the same number, or one fewer?</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What word shows up right before the last item?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Count the commas in each sentence, then count the things being listed.</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Please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hand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over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spoons,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bowls,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your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kettle.</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saw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that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floor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dungeon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littered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with</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tufts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fur,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knots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red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thread,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skeletons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mice.</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When you list three or more things, separate them with commas, and put and before the last one. The comma before and is optional in some styles — but be consistent.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Three items, two commas, and and before the last.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soup spoons and thread — commas needed: ______ (type a number)</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red gold green and silver — commas needed: ______</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and Roscuro — commas needed: ______ (careful)</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ran jumped hid and waited — commas needed: ______</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Count the commas each list needs and type the number. One of these needs none at all.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COMMAS IN A SERIES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soup spoons and thread — commas needed: </a:t>
            </a:r>
            <a:pPr indent="0" marL="0">
              <a:buNone/>
            </a:pPr>
            <a:r>
              <a:rPr lang="en-US" sz="1600" b="1" dirty="0">
                <a:solidFill>
                  <a:srgbClr val="34B76F"/>
                </a:solidFill>
                <a:latin typeface="Calibri" pitchFamily="34" charset="0"/>
                <a:ea typeface="Calibri" pitchFamily="34" charset="-122"/>
                <a:cs typeface="Calibri" pitchFamily="34" charset="-120"/>
              </a:rPr>
              <a:t>2</a:t>
            </a:r>
            <a:pPr indent="0" marL="0">
              <a:buNone/>
            </a:pPr>
            <a:r>
              <a:rPr lang="en-US" sz="1600" dirty="0">
                <a:solidFill>
                  <a:srgbClr val="1E293B"/>
                </a:solidFill>
                <a:latin typeface="Calibri" pitchFamily="34" charset="0"/>
                <a:ea typeface="Calibri" pitchFamily="34" charset="-122"/>
                <a:cs typeface="Calibri" pitchFamily="34" charset="-120"/>
              </a:rPr>
              <a:t> (type a number)</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red gold green and silver — commas needed: </a:t>
            </a:r>
            <a:pPr indent="0" marL="0">
              <a:buNone/>
            </a:pPr>
            <a:r>
              <a:rPr lang="en-US" sz="1600" b="1" dirty="0">
                <a:solidFill>
                  <a:srgbClr val="34B76F"/>
                </a:solidFill>
                <a:latin typeface="Calibri" pitchFamily="34" charset="0"/>
                <a:ea typeface="Calibri" pitchFamily="34" charset="-122"/>
                <a:cs typeface="Calibri" pitchFamily="34" charset="-120"/>
              </a:rPr>
              <a:t>3</a:t>
            </a:r>
            <a:pPr indent="0" marL="0">
              <a:buNone/>
            </a:pP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and Roscuro — commas needed: </a:t>
            </a:r>
            <a:pPr indent="0" marL="0">
              <a:buNone/>
            </a:pPr>
            <a:r>
              <a:rPr lang="en-US" sz="1600" b="1" dirty="0">
                <a:solidFill>
                  <a:srgbClr val="34B76F"/>
                </a:solidFill>
                <a:latin typeface="Calibri" pitchFamily="34" charset="0"/>
                <a:ea typeface="Calibri" pitchFamily="34" charset="-122"/>
                <a:cs typeface="Calibri" pitchFamily="34" charset="-120"/>
              </a:rPr>
              <a:t>0</a:t>
            </a:r>
            <a:pPr indent="0" marL="0">
              <a:buNone/>
            </a:pPr>
            <a:r>
              <a:rPr lang="en-US" sz="1600" dirty="0">
                <a:solidFill>
                  <a:srgbClr val="1E293B"/>
                </a:solidFill>
                <a:latin typeface="Calibri" pitchFamily="34" charset="0"/>
                <a:ea typeface="Calibri" pitchFamily="34" charset="-122"/>
                <a:cs typeface="Calibri" pitchFamily="34" charset="-120"/>
              </a:rPr>
              <a:t> (careful)</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ran jumped hid and waited — commas needed: </a:t>
            </a:r>
            <a:pPr indent="0" marL="0">
              <a:buNone/>
            </a:pPr>
            <a:r>
              <a:rPr lang="en-US" sz="1600" b="1" dirty="0">
                <a:solidFill>
                  <a:srgbClr val="34B76F"/>
                </a:solidFill>
                <a:latin typeface="Calibri" pitchFamily="34" charset="0"/>
                <a:ea typeface="Calibri" pitchFamily="34" charset="-122"/>
                <a:cs typeface="Calibri" pitchFamily="34" charset="-120"/>
              </a:rPr>
              <a:t>3</a:t>
            </a:r>
            <a:pPr indent="0" marL="0">
              <a:buNone/>
            </a:pP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OPEN SYLLABLES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 open syllable ends in a vowel, so nothing shuts the vowel in and it says its name: ti in ti·ger, mu in mu·sic. Closed syllable, short vowel. Open syllable, long vowel.</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Open Syllable Splitter! Say the first beat on its own. Does the vowel say its name? Tap to check.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50–52</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 then the princess took a deep breath and put a hand on her heart. I think, reader, that she was feeling the same thing that Despereaux had felt when he was faced with his father begging him for forgiveness.”</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What are the last images the author gives us for each character? Why do you think she chose these particular images to end with?</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What feeling are you left with at the end of Chapter 52? How did the author create that feeling?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PUBLISH</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Polish and prepare to publish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2026-10-19T11:55:31Z</dcterms:created>
  <dcterms:modified xsi:type="dcterms:W3CDTF">2026-10-19T11:55:31Z</dcterms:modified>
</cp:coreProperties>
</file>