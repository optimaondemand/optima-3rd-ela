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Title slide for Week 7 Day 4. Nonfiction Unit.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prompt aloud once. Give students about 1 minute to read it again silently and think. Remind them: there is no wrong answer — just write what comes to mind. Advance to the writing slide when ready.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Set a 5-minute timer. Walk the room quietly. If a student stops, gently encourage them: "Keep writing — even one more sentence." The goal is sustained writing, not perfection. Do not interrupt to correct spelling or grammar during this time.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Set a 1-minute timer. Remind students: we are only fixing ONE thing today — Did I include what I want to LEARN, not just what I want to see?. They should also do a quick conventions check (capitals, punctuation, spelling). They do NOT need to rewrite — just fix and improve. Revision = improving ideas; Editing = fixing conventions. Keep them separate in your language.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Call on 3-5 students to share. Respond with genuine interest: "I love how you described that" or "That's a really interesting idea." Avoid correcting grammar or spelling during share time — this is about celebrating writing. If time is short, have 2-3 students share in chat instead.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Review the big question and reading lens with students before reading.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model sentence aloud. Ask students: what do you notice about the punctuation and capitalization?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Give students 1-2 minutes to fix the sentence. Walk the room and check.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Reveal the corrected version. Point out each fix: capitalization, punctuation, spelling.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Review morphology focus. Have students identify the base word and affix in each example.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Go through each vocabulary word. For flip cards, have students guess the definition before revealing.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Give students time to sort the words. Use the chat or paper to organize.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Review each column. Ask: what pattern do you see in each group?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Reading focus slide. Use pause-and-think questions during reading. Copywork can be done after reading.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Transition to the writing workshop assignment in Canvas.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4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914400"/>
            <a:ext cx="8229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🗺️  Week 7 · Day 4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457200" y="21031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5CB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Nonfiction Unit — Lesson 7.4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57200" y="41148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Optima Academy Online · 3rd Grade ELA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10-Minute Write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C7922C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005840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📖 READ THE PROMPT — 1 MINUTE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57200" y="1417320"/>
            <a:ext cx="8229600" cy="1645920"/>
          </a:xfrm>
          <a:prstGeom prst="roundRect">
            <a:avLst>
              <a:gd name="adj" fmla="val 5556"/>
            </a:avLst>
          </a:prstGeom>
          <a:solidFill>
            <a:srgbClr val="FEF6E8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640080" y="1527048"/>
            <a:ext cx="786384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you could travel anywhere in the world and write about it, where would you go? What would you want to learn there? Start with: 'I would pack my bag and fly to... because I want to find out...'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640080" y="324612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 in the chat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 </a:t>
            </a:r>
            <a:pPr indent="0" marL="0">
              <a:buNone/>
            </a:pPr>
            <a:r>
              <a:rPr lang="en-US" sz="1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on paper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to hold up when we share.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EF6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Writing Time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914400" y="82296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minutes — keep your pencil moving!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8229600" cy="128016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640080" y="1417320"/>
            <a:ext cx="78638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📖 Prompt: </a:t>
            </a:r>
            <a:pPr indent="0" marL="0">
              <a:buNone/>
            </a:pPr>
            <a:r>
              <a:rPr lang="en-US" sz="12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you could travel anywhere in the world and write about it, where would you go? What would you want to learn there? Start with: 'I would pack my bag and fly to... because I want to find out...'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2286000" y="2926080"/>
            <a:ext cx="4572000" cy="1280160"/>
          </a:xfrm>
          <a:prstGeom prst="roundRect">
            <a:avLst>
              <a:gd name="adj" fmla="val 857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2468880" y="3017520"/>
            <a:ext cx="4206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you get stuck:
</a:t>
            </a:r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Reread the prompt above
</a:t>
            </a:r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Write "I'm thinking..." until a new idea comes
</a:t>
            </a:r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Keep going — don't erase!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8F8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0" y="365760"/>
            <a:ext cx="1828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dirty="0">
                <a:solidFill>
                  <a:srgbClr val="000000"/>
                </a:solidFill>
              </a:rPr>
              <a:t>🔍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914400" y="91440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Edit &amp; Revise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914400" y="150876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minute — pick ONE thing to fix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1371600" y="2103120"/>
            <a:ext cx="6400800" cy="64008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9050">
            <a:solidFill>
              <a:srgbClr val="34B76F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1554480" y="2148840"/>
            <a:ext cx="6035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Today's check: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Did I include what I want to LEARN, not just what I want to see?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1371600" y="2926080"/>
            <a:ext cx="6400800" cy="146304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1554480" y="3017520"/>
            <a:ext cx="60350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 check:
</a:t>
            </a:r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□ Capital letters at the start of every sentence
</a:t>
            </a:r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□ End punctuation ( .  ?  ! )
</a:t>
            </a:r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□ Spelling — circle any words that look wrong
</a:t>
            </a:r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□ Read it quietly to yourself — does it sound right?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0" y="457200"/>
            <a:ext cx="1828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dirty="0">
                <a:solidFill>
                  <a:srgbClr val="000000"/>
                </a:solidFill>
              </a:rPr>
              <a:t>🗣️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914400" y="109728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 Time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914400" y="173736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minutes — let's hear your writing!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1828800" y="2468880"/>
            <a:ext cx="5486400" cy="164592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2103120" y="2560320"/>
            <a:ext cx="49377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to share:
</a:t>
            </a:r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✋ Raise your hand if you want to read yours aloud
</a:t>
            </a:r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💬 Or paste your writing in the chat
</a:t>
            </a:r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👂 Listen respectfully when others share
</a:t>
            </a:r>
            <a:pPr indent="0" marL="0">
              <a:spcAft>
                <a:spcPts val="200"/>
              </a:spcAft>
              <a:buNone/>
            </a:pP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writer's ideas matter — there are no wrong answers.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5943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Today's Focus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5CB85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92240" y="173736"/>
            <a:ext cx="2286000" cy="502920"/>
          </a:xfrm>
          <a:prstGeom prst="roundRect">
            <a:avLst>
              <a:gd name="adj" fmla="val 21818"/>
            </a:avLst>
          </a:prstGeom>
          <a:solidFill>
            <a:srgbClr val="5CB85C"/>
          </a:solidFill>
          <a:ln/>
        </p:spPr>
      </p:sp>
      <p:sp>
        <p:nvSpPr>
          <p:cNvPr id="5" name="Text 3"/>
          <p:cNvSpPr/>
          <p:nvPr/>
        </p:nvSpPr>
        <p:spPr>
          <a:xfrm>
            <a:off x="6492240" y="173736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PROMPT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914400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 QUESTION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57200" y="1234440"/>
            <a:ext cx="8229600" cy="640080"/>
          </a:xfrm>
          <a:prstGeom prst="roundRect">
            <a:avLst>
              <a:gd name="adj" fmla="val 14286"/>
            </a:avLst>
          </a:prstGeom>
          <a:solidFill>
            <a:srgbClr val="FEF6E8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40080" y="1344168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text says a well-written travel guide makes you feel like you’re already there. What kind of details create that feeling?</a:t>
            </a:r>
            <a:endParaRPr lang="en-US" sz="1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Model Sentence — Study What's Right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34B76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1097280"/>
            <a:ext cx="8229600" cy="914400"/>
          </a:xfrm>
          <a:prstGeom prst="roundRect">
            <a:avLst>
              <a:gd name="adj" fmla="val 10000"/>
            </a:avLst>
          </a:prstGeom>
          <a:solidFill>
            <a:srgbClr val="E8F8EF"/>
          </a:solidFill>
          <a:ln w="12700">
            <a:solidFill>
              <a:srgbClr val="34B76F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640080" y="1207008"/>
            <a:ext cx="7863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travel guide uses vivid details to paint a picture of the place.</a:t>
            </a:r>
            <a:endParaRPr lang="en-US" sz="1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5943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🔧 Fix-It Sentence — Now You Try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5CB85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92240" y="173736"/>
            <a:ext cx="2286000" cy="502920"/>
          </a:xfrm>
          <a:prstGeom prst="roundRect">
            <a:avLst>
              <a:gd name="adj" fmla="val 21818"/>
            </a:avLst>
          </a:prstGeom>
          <a:solidFill>
            <a:srgbClr val="5CB85C"/>
          </a:solidFill>
          <a:ln/>
        </p:spPr>
      </p:sp>
      <p:sp>
        <p:nvSpPr>
          <p:cNvPr id="5" name="Text 3"/>
          <p:cNvSpPr/>
          <p:nvPr/>
        </p:nvSpPr>
        <p:spPr>
          <a:xfrm>
            <a:off x="6492240" y="173736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PROMPT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1005840"/>
            <a:ext cx="8229600" cy="640080"/>
          </a:xfrm>
          <a:prstGeom prst="roundRect">
            <a:avLst>
              <a:gd name="adj" fmla="val 14286"/>
            </a:avLst>
          </a:prstGeom>
          <a:solidFill>
            <a:srgbClr val="F8FAFC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640080" y="1115568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a travel guide is well written you can almost feel like you are already there in that place</a:t>
            </a:r>
            <a:endParaRPr lang="en-US" sz="1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5943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🔧 Fix-It Sentence — Answer Revealed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5CB85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92240" y="173736"/>
            <a:ext cx="2286000" cy="502920"/>
          </a:xfrm>
          <a:prstGeom prst="roundRect">
            <a:avLst>
              <a:gd name="adj" fmla="val 21818"/>
            </a:avLst>
          </a:prstGeom>
          <a:solidFill>
            <a:srgbClr val="5CB85C"/>
          </a:solidFill>
          <a:ln/>
        </p:spPr>
      </p:sp>
      <p:sp>
        <p:nvSpPr>
          <p:cNvPr id="5" name="Text 3"/>
          <p:cNvSpPr/>
          <p:nvPr/>
        </p:nvSpPr>
        <p:spPr>
          <a:xfrm>
            <a:off x="6492240" y="173736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PROMPT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1005840"/>
            <a:ext cx="8229600" cy="640080"/>
          </a:xfrm>
          <a:prstGeom prst="roundRect">
            <a:avLst>
              <a:gd name="adj" fmla="val 14286"/>
            </a:avLst>
          </a:prstGeom>
          <a:solidFill>
            <a:srgbClr val="F8FAFC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640080" y="1115568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a travel guide is well written you can almost feel like you are already there in that place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457200" y="1737360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40080" y="201168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a travel guide is well written , you can almost feel like you are already there in that place .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Morphology: Suffix -ing shows action happening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8B6FC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005840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57200" y="1371600"/>
            <a:ext cx="8229600" cy="411480"/>
          </a:xfrm>
          <a:prstGeom prst="roundRect">
            <a:avLst>
              <a:gd name="adj" fmla="val 22222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640080" y="1417320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traveling → travel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457200" y="1847088"/>
            <a:ext cx="8229600" cy="411480"/>
          </a:xfrm>
          <a:prstGeom prst="roundRect">
            <a:avLst>
              <a:gd name="adj" fmla="val 22222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40080" y="1892808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writing → write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457200" y="2322576"/>
            <a:ext cx="8229600" cy="411480"/>
          </a:xfrm>
          <a:prstGeom prst="roundRect">
            <a:avLst>
              <a:gd name="adj" fmla="val 22222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640080" y="2368296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stopping → stop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457200" y="2798064"/>
            <a:ext cx="8229600" cy="411480"/>
          </a:xfrm>
          <a:prstGeom prst="roundRect">
            <a:avLst>
              <a:gd name="adj" fmla="val 22222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0080" y="2843784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guiding → guide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457200" y="3273552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 EXAMPLES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640080" y="3593592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📌 Examples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🔤 Vocabulary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55C8E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1005840"/>
            <a:ext cx="3840480" cy="640080"/>
          </a:xfrm>
          <a:prstGeom prst="roundRect">
            <a:avLst>
              <a:gd name="adj" fmla="val 14286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594360" y="1060704"/>
            <a:ext cx="3566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region</a:t>
            </a:r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large area of land that shares similar features.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4572000" y="1005840"/>
            <a:ext cx="3840480" cy="640080"/>
          </a:xfrm>
          <a:prstGeom prst="roundRect">
            <a:avLst>
              <a:gd name="adj" fmla="val 14286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4709160" y="1060704"/>
            <a:ext cx="3566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climate</a:t>
            </a:r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typical weather in a place over a long time.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57200" y="1755648"/>
            <a:ext cx="3840480" cy="640080"/>
          </a:xfrm>
          <a:prstGeom prst="roundRect">
            <a:avLst>
              <a:gd name="adj" fmla="val 14286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594360" y="1810512"/>
            <a:ext cx="3566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</a:t>
            </a:r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study of places, land, and features of the earth.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4572000" y="1755648"/>
            <a:ext cx="3840480" cy="640080"/>
          </a:xfrm>
          <a:prstGeom prst="roundRect">
            <a:avLst>
              <a:gd name="adj" fmla="val 14286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4709160" y="1810512"/>
            <a:ext cx="3566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landmark</a:t>
            </a:r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well-known place or object that helps people find their way.</a:t>
            </a:r>
            <a:endParaRPr lang="en-US" sz="15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5943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🔠 Spelling: Adding -ed and -ing to base words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5CB85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92240" y="173736"/>
            <a:ext cx="2286000" cy="502920"/>
          </a:xfrm>
          <a:prstGeom prst="roundRect">
            <a:avLst>
              <a:gd name="adj" fmla="val 21818"/>
            </a:avLst>
          </a:prstGeom>
          <a:solidFill>
            <a:srgbClr val="5CB85C"/>
          </a:solidFill>
          <a:ln/>
        </p:spPr>
      </p:sp>
      <p:sp>
        <p:nvSpPr>
          <p:cNvPr id="5" name="Text 3"/>
          <p:cNvSpPr/>
          <p:nvPr/>
        </p:nvSpPr>
        <p:spPr>
          <a:xfrm>
            <a:off x="6492240" y="173736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PROMPT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1005840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BANK — Sort these words!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57200" y="1371600"/>
            <a:ext cx="8229600" cy="914400"/>
          </a:xfrm>
          <a:prstGeom prst="roundRect">
            <a:avLst>
              <a:gd name="adj" fmla="val 10000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40080" y="146304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mailing     stopped     planned     writing     using     traveled     visited     mapping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457200" y="2468880"/>
            <a:ext cx="3794760" cy="457200"/>
          </a:xfrm>
          <a:prstGeom prst="roundRect">
            <a:avLst>
              <a:gd name="adj" fmla="val 20000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48640" y="2514600"/>
            <a:ext cx="3611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-ing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480560" y="2468880"/>
            <a:ext cx="3794760" cy="457200"/>
          </a:xfrm>
          <a:prstGeom prst="roundRect">
            <a:avLst>
              <a:gd name="adj" fmla="val 20000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4572000" y="2514600"/>
            <a:ext cx="3611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double + -ed</a:t>
            </a:r>
            <a:endParaRPr lang="en-US" sz="14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5943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🔠 Spelling: Adding -ed and -ing to base words — Sorted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5CB85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92240" y="173736"/>
            <a:ext cx="2286000" cy="502920"/>
          </a:xfrm>
          <a:prstGeom prst="roundRect">
            <a:avLst>
              <a:gd name="adj" fmla="val 21818"/>
            </a:avLst>
          </a:prstGeom>
          <a:solidFill>
            <a:srgbClr val="5CB85C"/>
          </a:solidFill>
          <a:ln/>
        </p:spPr>
      </p:sp>
      <p:sp>
        <p:nvSpPr>
          <p:cNvPr id="5" name="Text 3"/>
          <p:cNvSpPr/>
          <p:nvPr/>
        </p:nvSpPr>
        <p:spPr>
          <a:xfrm>
            <a:off x="6492240" y="173736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PROMPT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1005840"/>
            <a:ext cx="3794760" cy="457200"/>
          </a:xfrm>
          <a:prstGeom prst="roundRect">
            <a:avLst>
              <a:gd name="adj" fmla="val 20000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48640" y="1051560"/>
            <a:ext cx="3611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-ing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48640" y="1554480"/>
            <a:ext cx="3611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mailing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480560" y="1005840"/>
            <a:ext cx="3794760" cy="457200"/>
          </a:xfrm>
          <a:prstGeom prst="roundRect">
            <a:avLst>
              <a:gd name="adj" fmla="val 20000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4572000" y="1051560"/>
            <a:ext cx="3611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double + -ed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572000" y="1554480"/>
            <a:ext cx="3611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stopped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4572000" y="1901952"/>
            <a:ext cx="3611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planned</a:t>
            </a:r>
            <a:endParaRPr lang="en-US" sz="14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📕 Reading Focus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55C8E8"/>
            </a:solidFill>
            <a:prstDash val="solid"/>
          </a:ln>
        </p:spPr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🪶 Writing Connection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34B76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137160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your writing assignment in Canvas.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40080" y="201168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Follow the writing prompt for today's workshop.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2026-07-11T14:32:39Z</dcterms:created>
  <dcterms:modified xsi:type="dcterms:W3CDTF">2026-07-11T14:32:39Z</dcterms:modified>
</cp:coreProperties>
</file>