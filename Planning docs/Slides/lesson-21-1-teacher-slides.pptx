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11–15: Jemmy and the prince are still on the run — but something has quietly shifted between them.
TODAY: Ch. 16–17: The prince doesn't cry when Billy whips him. What has changed?
BIG Q: The prince doesn't cry when Billy whips him. Why is this significant? What has changed in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"run now the prince ordered i wont wait for you"
Corrected: ""Run now!" the prince ordered. "I won't wait for you!""
Errors: Quotation marks around each speech; capital R on Run; exclamation mark inside first closing quote; capital I on I; apostrophe in won't; exclamation mark inside second closing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"run now the prince ordered i wont wait for you"
Corrected: ""Run now!" the prince ordered. "I won't wait for you!""
Errors: Quotation marks around each speech; capital R on Run; exclamation mark inside first closing quote; capital I on I; apostrophe in won't; exclamation mark inside second closing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inspect — to look into carefully | spectator — one who watches | suspect — to look at with doubt | expect — to look forward to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pluck: Brave spirit; courage and determination when things are hard. | defiant: Refusing to give in; boldly standing firm against authority. | girded: Prepared and braced for something hard that is coming. | snarling: Making a low, angry growl — like the bear Petunia.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prince came [down the hill]." → down the hill | "Jemmy hid [behind the rock]." → behind the rock | "Billy shouted [across the road]." → across the road | "Petunia lumbered [through the trees]." → through the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prince came [down the hill]." → down the hill | "Jemmy hid [behind the rock]." → behind the rock | "Billy shouted [across the road]." → across the road | "Petunia lumbered [through the trees]." → through the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syllable: robin, cotton, kitten | Open syllable: table, broken,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syllable: robin, cotton, kitten | Open syllable: table, broken,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16–17
When The Whipping Boy sees Jeremy tangled in string and the cat coming, she could have run. She stays and unties him instead. Later, Nicodemus and the rats agree to move her cinderblock house — a dangerous, hours-long job — because she asked for help.
When Billy whips the prince, the prince doesn't cry. Jemmy urges him to cry out. Why — and why doesn't the prince listen?
What happens to Billy and Cutwater when Betsy releases Petunia? Why is it funny and 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Revise &amp; Publish
Focus: Revise for strong verbs and clear transitions. Then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21  ·  DAY 1</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16–17</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Wherein the prince neither bawls nor bellows; Petunia to the rescue</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21  ·  Virtue: Loyalty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11–15: Jemmy and the prince are still on the run — but something has quietly shifted between them.</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16–17: The prince doesn't cry when Billy whips him. What has changed?</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The prince doesn't cry when Billy whips him. Why is this significant? What has changed in him?</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begin to see the theme in the final chapters. As you read Chapters 16 and 17, ask: what is this story reall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"Bawl out!" Jemmy shouted. "I won't tell anyone!"</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run now the prince ordered i wont wait for you</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Quotation marks around each speech; capital R on Run; exclamation mark inside first closing quote; capital I on I; apostrophe in won't; exclamation mark inside second closing quote.</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run now the prince ordered i wont wait for you</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Quotation marks around each speech; capital R on Run; exclamation mark inside first closing quote; capital I on I; apostrophe in won't; exclamation mark inside second closing quote.</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"Run now!" the prince ordered. "I won't wait for you!"</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re-</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inspect — to look into carefully</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spectator — one who watches</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suspect — to look at with doubt</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expect — to look forward to something</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pluck   ·   defiant   ·   girded   ·   snarling</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pluck</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Brave spirit; courage and determination when things are hard.</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defiant</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Refusing to give in; boldly standing firm against authority.</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girded</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Prepared and braced for something hard that is coming.</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snarling</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Making a low, angry growl — like the bear Petunia.</a:t>
            </a:r>
            <a:endParaRPr lang="en-US" sz="1200" dirty="0"/>
          </a:p>
        </p:txBody>
      </p:sp>
      <p:sp>
        <p:nvSpPr>
          <p:cNvPr id="17" name="Text 15"/>
          <p:cNvSpPr/>
          <p:nvPr/>
        </p:nvSpPr>
        <p:spPr>
          <a:xfrm>
            <a:off x="365760" y="4251960"/>
            <a:ext cx="8412480" cy="38404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 Read the sentence in the book. Look at word parts. Then flip the card.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Prepositional Phrases (Define)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came _____.</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hid _____.</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shouted _____.</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Petunia lumbered _____.</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Prepositional Phrases (Define)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came </a:t>
            </a:r>
            <a:pPr indent="0" marL="0">
              <a:buNone/>
            </a:pPr>
            <a:r>
              <a:rPr lang="en-US" sz="1500" b="1" u="sng" dirty="0">
                <a:solidFill>
                  <a:srgbClr val="34B76F"/>
                </a:solidFill>
                <a:latin typeface="Calibri" pitchFamily="34" charset="0"/>
                <a:ea typeface="Calibri" pitchFamily="34" charset="-122"/>
                <a:cs typeface="Calibri" pitchFamily="34" charset="-120"/>
              </a:rPr>
              <a:t>down the hill</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hid </a:t>
            </a:r>
            <a:pPr indent="0" marL="0">
              <a:buNone/>
            </a:pPr>
            <a:r>
              <a:rPr lang="en-US" sz="1500" b="1" u="sng" dirty="0">
                <a:solidFill>
                  <a:srgbClr val="34B76F"/>
                </a:solidFill>
                <a:latin typeface="Calibri" pitchFamily="34" charset="0"/>
                <a:ea typeface="Calibri" pitchFamily="34" charset="-122"/>
                <a:cs typeface="Calibri" pitchFamily="34" charset="-120"/>
              </a:rPr>
              <a:t>behind the rock</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shouted </a:t>
            </a:r>
            <a:pPr indent="0" marL="0">
              <a:buNone/>
            </a:pPr>
            <a:r>
              <a:rPr lang="en-US" sz="1500" b="1" u="sng" dirty="0">
                <a:solidFill>
                  <a:srgbClr val="34B76F"/>
                </a:solidFill>
                <a:latin typeface="Calibri" pitchFamily="34" charset="0"/>
                <a:ea typeface="Calibri" pitchFamily="34" charset="-122"/>
                <a:cs typeface="Calibri" pitchFamily="34" charset="-120"/>
              </a:rPr>
              <a:t>across the road</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Petunia lumbered </a:t>
            </a:r>
            <a:pPr indent="0" marL="0">
              <a:buNone/>
            </a:pPr>
            <a:r>
              <a:rPr lang="en-US" sz="1500" b="1" u="sng" dirty="0">
                <a:solidFill>
                  <a:srgbClr val="34B76F"/>
                </a:solidFill>
                <a:latin typeface="Calibri" pitchFamily="34" charset="0"/>
                <a:ea typeface="Calibri" pitchFamily="34" charset="-122"/>
                <a:cs typeface="Calibri" pitchFamily="34" charset="-120"/>
              </a:rPr>
              <a:t>through the trees</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Syllable Review (Day 1: Closed + Open)</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robin   ·   cotton   ·   kitten   ·   table   ·   broken   ·   open</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Closed syllable</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Open syllable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Syllable Review (Day 1: Closed + Open)</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426464"/>
          </a:xfrm>
          <a:prstGeom prst="roundRect">
            <a:avLst>
              <a:gd name="adj" fmla="val 64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Closed syllable</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robin</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cotton</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kitten</a:t>
            </a:r>
            <a:endParaRPr lang="en-US" sz="1400" dirty="0"/>
          </a:p>
        </p:txBody>
      </p:sp>
      <p:sp>
        <p:nvSpPr>
          <p:cNvPr id="12" name="Shape 10"/>
          <p:cNvSpPr/>
          <p:nvPr/>
        </p:nvSpPr>
        <p:spPr>
          <a:xfrm>
            <a:off x="4709160" y="1024128"/>
            <a:ext cx="4114800" cy="1426464"/>
          </a:xfrm>
          <a:prstGeom prst="roundRect">
            <a:avLst>
              <a:gd name="adj" fmla="val 6410"/>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Open syllable</a:t>
            </a:r>
            <a:endParaRPr lang="en-US" sz="1200" dirty="0"/>
          </a:p>
        </p:txBody>
      </p:sp>
      <p:sp>
        <p:nvSpPr>
          <p:cNvPr id="14" name="Text 12"/>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table</a:t>
            </a:r>
            <a:endParaRPr lang="en-US" sz="1400" dirty="0"/>
          </a:p>
        </p:txBody>
      </p:sp>
      <p:sp>
        <p:nvSpPr>
          <p:cNvPr id="15" name="Text 13"/>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broken</a:t>
            </a:r>
            <a:endParaRPr lang="en-US" sz="1400" dirty="0"/>
          </a:p>
        </p:txBody>
      </p:sp>
      <p:sp>
        <p:nvSpPr>
          <p:cNvPr id="16" name="Text 14"/>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open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16–17</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Wherein the prince neither bawls nor bellows; Petunia to the rescue</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When Billy whips the prince, the prince doesn't cry. Jemmy urges him to cry out. Why — and why doesn't the prince listen?</a:t>
            </a:r>
            <a:endParaRPr lang="en-US" sz="1400" dirty="0"/>
          </a:p>
        </p:txBody>
      </p:sp>
      <p:sp>
        <p:nvSpPr>
          <p:cNvPr id="11" name="Shape 9"/>
          <p:cNvSpPr/>
          <p:nvPr/>
        </p:nvSpPr>
        <p:spPr>
          <a:xfrm>
            <a:off x="365760" y="37124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8039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What happens to Billy and Cutwater when Betsy releases Petunia? Why is it funny and fitting?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21</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Revise &amp; Publish</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Revise for strong verbs and clear transitions. Then publish.</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revised ___ by changing ___ to ___ because it is stronger."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