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W4D2: Reading: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Recap: We read extension text about letters and airmail. We learned about the parts of a friendly letter.
Today: Read extension text about maps — how to use them to understand where Stanley traveled.
Big Q: If you drew a map of Stanley's travels, what places would you include? What symbol would you use for Stanley on the map?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DOL Model: One Sunday afternoon, in the street, they met Ralph Jones, an old college friend of Mr. Lambchop’s.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Fix: well george i see you have bought some wallpaper said mr jones going to decorate your house i suppose
Answer: “Well, George, I see you have bought some wallpaper,” said Mr. Jones. “Going to decorate your house, I suppose?”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Fix: well george i see you have bought some wallpaper said mr jones going to decorate your house i suppose
Answer: “Well, George, I see you have bought some wallpaper,” said Mr. Jones. “Going to decorate your house, I suppose?”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Poetry: The Map
Lines and colors, roads and rivers,
Every map a story delivers.
Where you've been and where you'll go —
Maps can help a reader know.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RWM: He told it to Mr. Dart.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Morphology W4D2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Vocabulary W4D2: airmail, insurance, expensive, postcard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Grammar W4D2
Thomas → proper
friend → common
Famous Museum → proper
city → common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Grammar W4D2
Thomas → proper
friend → common
Famous Museum → proper
city → common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Spelling W4D2
{"ai":["wait","rain"],"ay":["day","stay"],"oa":["coat","float"],"ow":["grow","show"]}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Spelling W4D2
{"ai":["wait","rain"],"ay":["day","stay"],"oa":["coat","float"],"ow":["grow","show"]}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Reading: Reading:
WGRD: Look at a map showing where Stanley traveled. How far do you think Stanley’s envelope traveled?
Pause: Look at a map showing where Stanley traveled. How far do you think Stanley’s envelope traveled?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Comprehension:
Q1: Why did Mr. Lambchop decide to mail Stanley instead of buying a plane ticket?
Q2: What information would you find on a map that you would NOT find in the story?
Q3: Compare how Stanley travels (by mail) with how most people travel. What is the same? What is different?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Writing W4D2: REVISE &amp; EDIT
Today: REVISE FOR VOICE. Reread your narrative. Does it sound like YOU? Add at least one detail that makes the moment feel real and personal.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C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069080"/>
            <a:ext cx="9144000" cy="1097280"/>
          </a:xfrm>
          <a:prstGeom prst="rect">
            <a:avLst/>
          </a:prstGeom>
          <a:solidFill>
            <a:srgbClr val="55C8E8">
              <a:alpha val="1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94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 ·  DAY 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0515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Reading: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Stanley  ·  Jeff Brown  ·  3rd Grade ELA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 ·  Virtue: Curiosity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Recap + Today's Focus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412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YESTERDAY WE...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115568"/>
            <a:ext cx="8412480" cy="713232"/>
          </a:xfrm>
          <a:prstGeom prst="roundRect">
            <a:avLst>
              <a:gd name="adj" fmla="val 12821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188720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read extension text about letters and airmail. We learned about the parts of a friendly letter.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65760" y="1956816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65760" y="2231136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E5F7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86000"/>
            <a:ext cx="7863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extension text about maps — how to use them to understand where Stanley traveled.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65760" y="2980944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 — CHAT ABOUT THIS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65760" y="3255264"/>
            <a:ext cx="8412480" cy="841248"/>
          </a:xfrm>
          <a:prstGeom prst="roundRect">
            <a:avLst>
              <a:gd name="adj" fmla="val 10870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94360" y="3328416"/>
            <a:ext cx="78638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drew a map of Stanley's travels, what places would you include? What symbol would you use for Stanley on the map?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Oral Language — Model Sentence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WHAT'S DONE RIGHT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70432"/>
            <a:ext cx="78638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Sunday afternoon, in the street, they met Ralph Jones, an old college friend of Mr. Lambchop’s.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65760" y="22128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NOTICE: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2487168"/>
            <a:ext cx="8229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Notice: Sunday and Ralph Jones are proper nouns. Commas set off extra information. The apostrophe in Lambchop’s shows possession.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Oral Language — Fix It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FIXING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97280"/>
            <a:ext cx="841248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170432"/>
            <a:ext cx="7863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 george i see you have bought some wallpaper said mr jones going to decorate your house i suppose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21214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corrected sentence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Oral Language — Fix It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FIXING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97280"/>
            <a:ext cx="841248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170432"/>
            <a:ext cx="7863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 george i see you have bought some wallpaper said mr jones going to decorate your house i suppose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212140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corrected sentence in your notebook.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94360" y="27889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65760" y="3063240"/>
            <a:ext cx="8412480" cy="960120"/>
          </a:xfrm>
          <a:prstGeom prst="roundRect">
            <a:avLst>
              <a:gd name="adj" fmla="val 9524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136392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“Well, George, I see you have bought some wallpaper,” said Mr. Jones. “Going to decorate your house, I suppose?”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Poetry Corner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822960"/>
            <a:ext cx="8412480" cy="2834640"/>
          </a:xfrm>
          <a:prstGeom prst="roundRect">
            <a:avLst>
              <a:gd name="adj" fmla="val 3226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960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Map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640080" y="141732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 poem for Flat Stanley readers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1719072"/>
            <a:ext cx="73152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 and colors, roads and rivers,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map a story delivers.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you've been and where you'll go —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can help a reader know.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76732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DISCUSS: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5760" y="4041648"/>
            <a:ext cx="8412480" cy="749808"/>
          </a:xfrm>
          <a:prstGeom prst="roundRect">
            <a:avLst>
              <a:gd name="adj" fmla="val 12195"/>
            </a:avLst>
          </a:prstGeom>
          <a:solidFill>
            <a:srgbClr val="E5F7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4114800"/>
            <a:ext cx="7863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poem says a map "delivers a story." What story would a map of Stanley's travels tell? What places would it need to include?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Read, Write, Mentor — Imitate This Sentence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 SENTENCE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960120"/>
          </a:xfrm>
          <a:prstGeom prst="roundRect">
            <a:avLst>
              <a:gd name="adj" fmla="val 9524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70432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"He told it to Mr. Dart."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craft move did the author use? Now try writing your own sentence that imitates the structure.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Morphology — Identify — Match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BASE OR PAIR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65760" y="109728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297680" y="1097280"/>
            <a:ext cx="548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937760" y="109728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937760" y="109728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65760" y="205740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205740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pregame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4297680" y="2057400"/>
            <a:ext cx="548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4937760" y="205740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937760" y="205740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365760" y="301752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301752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prepay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4297680" y="3017520"/>
            <a:ext cx="548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4937760" y="301752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937760" y="301752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365760" y="397764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65760" y="397764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preschool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297680" y="3977640"/>
            <a:ext cx="548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937760" y="397764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937760" y="397764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</a:t>
            </a:r>
            <a:endParaRPr lang="en-US" sz="2000" dirty="0"/>
          </a:p>
        </p:txBody>
      </p:sp>
      <p:sp>
        <p:nvSpPr>
          <p:cNvPr id="25" name="Shape 23"/>
          <p:cNvSpPr/>
          <p:nvPr/>
        </p:nvSpPr>
        <p:spPr>
          <a:xfrm>
            <a:off x="365760" y="493776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365760" y="493776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airmail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4297680" y="4937760"/>
            <a:ext cx="548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4937760" y="493776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937760" y="493776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</a:t>
            </a:r>
            <a:endParaRPr lang="en-US" sz="2000" dirty="0"/>
          </a:p>
        </p:txBody>
      </p:sp>
      <p:sp>
        <p:nvSpPr>
          <p:cNvPr id="30" name="Shape 28"/>
          <p:cNvSpPr/>
          <p:nvPr/>
        </p:nvSpPr>
        <p:spPr>
          <a:xfrm>
            <a:off x="365760" y="589788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365760" y="589788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insurance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4297680" y="5897880"/>
            <a:ext cx="548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33" name="Shape 31"/>
          <p:cNvSpPr/>
          <p:nvPr/>
        </p:nvSpPr>
        <p:spPr>
          <a:xfrm>
            <a:off x="4937760" y="589788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4937760" y="589788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</a:t>
            </a:r>
            <a:endParaRPr lang="en-US" sz="2000" dirty="0"/>
          </a:p>
        </p:txBody>
      </p:sp>
      <p:sp>
        <p:nvSpPr>
          <p:cNvPr id="35" name="Shape 33"/>
          <p:cNvSpPr/>
          <p:nvPr/>
        </p:nvSpPr>
        <p:spPr>
          <a:xfrm>
            <a:off x="365760" y="685800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685800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expensive</a:t>
            </a:r>
            <a:endParaRPr lang="en-US" sz="2000" dirty="0"/>
          </a:p>
        </p:txBody>
      </p:sp>
      <p:sp>
        <p:nvSpPr>
          <p:cNvPr id="37" name="Text 35"/>
          <p:cNvSpPr/>
          <p:nvPr/>
        </p:nvSpPr>
        <p:spPr>
          <a:xfrm>
            <a:off x="4297680" y="6858000"/>
            <a:ext cx="548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38" name="Shape 36"/>
          <p:cNvSpPr/>
          <p:nvPr/>
        </p:nvSpPr>
        <p:spPr>
          <a:xfrm>
            <a:off x="4937760" y="685800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4937760" y="685800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</a:t>
            </a:r>
            <a:endParaRPr lang="en-US" sz="2000" dirty="0"/>
          </a:p>
        </p:txBody>
      </p:sp>
      <p:sp>
        <p:nvSpPr>
          <p:cNvPr id="40" name="Shape 38"/>
          <p:cNvSpPr/>
          <p:nvPr/>
        </p:nvSpPr>
        <p:spPr>
          <a:xfrm>
            <a:off x="365760" y="781812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365760" y="781812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postcard</a:t>
            </a:r>
            <a:endParaRPr lang="en-US" sz="2000" dirty="0"/>
          </a:p>
        </p:txBody>
      </p:sp>
      <p:sp>
        <p:nvSpPr>
          <p:cNvPr id="42" name="Text 40"/>
          <p:cNvSpPr/>
          <p:nvPr/>
        </p:nvSpPr>
        <p:spPr>
          <a:xfrm>
            <a:off x="4297680" y="7818120"/>
            <a:ext cx="548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43" name="Shape 41"/>
          <p:cNvSpPr/>
          <p:nvPr/>
        </p:nvSpPr>
        <p:spPr>
          <a:xfrm>
            <a:off x="4937760" y="7818120"/>
            <a:ext cx="3840480" cy="749808"/>
          </a:xfrm>
          <a:prstGeom prst="roundRect">
            <a:avLst>
              <a:gd name="adj" fmla="val 12195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4937760" y="7818120"/>
            <a:ext cx="3840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 — Match Game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MATCH — Connect each word to its meaning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2743200" cy="841248"/>
          </a:xfrm>
          <a:prstGeom prst="roundRect">
            <a:avLst>
              <a:gd name="adj" fmla="val 10870"/>
            </a:avLst>
          </a:prstGeom>
          <a:solidFill>
            <a:srgbClr val="2B7A78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65760" y="1078992"/>
            <a:ext cx="2743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airmail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291840" y="1078992"/>
            <a:ext cx="5486400" cy="841248"/>
          </a:xfrm>
          <a:prstGeom prst="roundRect">
            <a:avLst>
              <a:gd name="adj" fmla="val 10870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474720" y="1170432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 sent by airplane.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65760" y="2194560"/>
            <a:ext cx="2743200" cy="841248"/>
          </a:xfrm>
          <a:prstGeom prst="roundRect">
            <a:avLst>
              <a:gd name="adj" fmla="val 10870"/>
            </a:avLst>
          </a:prstGeom>
          <a:solidFill>
            <a:srgbClr val="2B7A78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65760" y="2194560"/>
            <a:ext cx="2743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insurance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291840" y="2194560"/>
            <a:ext cx="5486400" cy="841248"/>
          </a:xfrm>
          <a:prstGeom prst="roundRect">
            <a:avLst>
              <a:gd name="adj" fmla="val 10870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474720" y="2286000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Protection in case something goes wrong.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3310128"/>
            <a:ext cx="2743200" cy="841248"/>
          </a:xfrm>
          <a:prstGeom prst="roundRect">
            <a:avLst>
              <a:gd name="adj" fmla="val 10870"/>
            </a:avLst>
          </a:prstGeom>
          <a:solidFill>
            <a:srgbClr val="2B7A78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65760" y="3310128"/>
            <a:ext cx="2743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expensive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3291840" y="3310128"/>
            <a:ext cx="5486400" cy="841248"/>
          </a:xfrm>
          <a:prstGeom prst="roundRect">
            <a:avLst>
              <a:gd name="adj" fmla="val 10870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474720" y="3401568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Costing a lot of money.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65760" y="4425696"/>
            <a:ext cx="2743200" cy="841248"/>
          </a:xfrm>
          <a:prstGeom prst="roundRect">
            <a:avLst>
              <a:gd name="adj" fmla="val 10870"/>
            </a:avLst>
          </a:prstGeom>
          <a:solidFill>
            <a:srgbClr val="2B7A78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365760" y="4425696"/>
            <a:ext cx="2743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postcard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3291840" y="4425696"/>
            <a:ext cx="5486400" cy="841248"/>
          </a:xfrm>
          <a:prstGeom prst="roundRect">
            <a:avLst>
              <a:gd name="adj" fmla="val 10870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474720" y="4517136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card with a picture, sent through the mail.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Grammar — Proper nouns and capitalization (Identify)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EACH ONE: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78992"/>
            <a:ext cx="841248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170432"/>
            <a:ext cx="7955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Thomas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066544"/>
            <a:ext cx="841248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157984"/>
            <a:ext cx="7955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friend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054096"/>
            <a:ext cx="841248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145536"/>
            <a:ext cx="7955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Famous Museum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365760" y="4041648"/>
            <a:ext cx="841248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94360" y="4133088"/>
            <a:ext cx="79552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Grammar — Proper nouns and capitalization (Identify)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EACH ONE: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78992"/>
            <a:ext cx="621792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170432"/>
            <a:ext cx="5760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Thomas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720840" y="1078992"/>
            <a:ext cx="2057400" cy="804672"/>
          </a:xfrm>
          <a:prstGeom prst="roundRect">
            <a:avLst>
              <a:gd name="adj" fmla="val 11364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720840" y="1078992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2066544"/>
            <a:ext cx="621792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2157984"/>
            <a:ext cx="5760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friend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720840" y="2066544"/>
            <a:ext cx="2057400" cy="804672"/>
          </a:xfrm>
          <a:prstGeom prst="roundRect">
            <a:avLst>
              <a:gd name="adj" fmla="val 11364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720840" y="2066544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3054096"/>
            <a:ext cx="621792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94360" y="3145536"/>
            <a:ext cx="5760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Famous Museum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6720840" y="3054096"/>
            <a:ext cx="2057400" cy="804672"/>
          </a:xfrm>
          <a:prstGeom prst="roundRect">
            <a:avLst>
              <a:gd name="adj" fmla="val 11364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720840" y="3054096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4041648"/>
            <a:ext cx="6217920" cy="804672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94360" y="4133088"/>
            <a:ext cx="5760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720840" y="4041648"/>
            <a:ext cx="2057400" cy="804672"/>
          </a:xfrm>
          <a:prstGeom prst="roundRect">
            <a:avLst>
              <a:gd name="adj" fmla="val 11364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720840" y="4041648"/>
            <a:ext cx="20574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Spelling — Sort the Words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EACH WORD INTO THE RIGHT COLUMN: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6576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246888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46888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rain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57200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67512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67512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36576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coat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246888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246888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457200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57200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67512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67512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Spelling — Sort the Words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64592"/>
            <a:ext cx="2286000" cy="512064"/>
          </a:xfrm>
          <a:prstGeom prst="roundRect">
            <a:avLst>
              <a:gd name="adj" fmla="val 21429"/>
            </a:avLst>
          </a:prstGeom>
          <a:solidFill>
            <a:srgbClr val="55C8E8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64592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EACH WORD INTO THE RIGHT COLUMN: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6576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246888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46888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rain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57200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6675120" y="1078992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675120" y="1078992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36576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coat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246888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246888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457200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57200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6675120" y="1792224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675120" y="1792224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365760" y="249631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760" y="2788920"/>
            <a:ext cx="1965960" cy="960120"/>
          </a:xfrm>
          <a:prstGeom prst="roundRect">
            <a:avLst>
              <a:gd name="adj" fmla="val 9524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57200" y="2788920"/>
            <a:ext cx="1783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  rain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2468880" y="249631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468880" y="2788920"/>
            <a:ext cx="1965960" cy="960120"/>
          </a:xfrm>
          <a:prstGeom prst="roundRect">
            <a:avLst>
              <a:gd name="adj" fmla="val 9524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2560320" y="2788920"/>
            <a:ext cx="1783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 stay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4572000" y="249631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572000" y="2788920"/>
            <a:ext cx="1965960" cy="960120"/>
          </a:xfrm>
          <a:prstGeom prst="roundRect">
            <a:avLst>
              <a:gd name="adj" fmla="val 9524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663440" y="2788920"/>
            <a:ext cx="1783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coat  float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6675120" y="249631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B7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675120" y="2788920"/>
            <a:ext cx="1965960" cy="960120"/>
          </a:xfrm>
          <a:prstGeom prst="roundRect">
            <a:avLst>
              <a:gd name="adj" fmla="val 9524"/>
            </a:avLst>
          </a:prstGeom>
          <a:solidFill>
            <a:srgbClr val="E5F7FC"/>
          </a:solidFill>
          <a:ln w="12700">
            <a:solidFill>
              <a:srgbClr val="2B7A7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766560" y="2788920"/>
            <a:ext cx="1783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B7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  show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— Reading: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GOOD READERS DO — Keep this in mind as you read: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914400"/>
          </a:xfrm>
          <a:prstGeom prst="roundRect">
            <a:avLst>
              <a:gd name="adj" fmla="val 10000"/>
            </a:avLst>
          </a:prstGeom>
          <a:solidFill>
            <a:srgbClr val="F3EEF9"/>
          </a:solidFill>
          <a:ln w="1270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70432"/>
            <a:ext cx="7863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a map showing where Stanley traveled. How far do you think Stanley’s envelope traveled?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365760" y="21488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" y="2423160"/>
            <a:ext cx="8412480" cy="960120"/>
          </a:xfrm>
          <a:prstGeom prst="roundRect">
            <a:avLst>
              <a:gd name="adj" fmla="val 9524"/>
            </a:avLst>
          </a:prstGeom>
          <a:solidFill>
            <a:srgbClr val="E5F7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2496312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a map showing where Stanley traveled. How far do you think Stanley’s envelope traveled?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Comprehension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8229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IN COMPLETE SENTENCES — USE TEXT EVIDENCE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1325880"/>
          </a:xfrm>
          <a:prstGeom prst="roundRect">
            <a:avLst>
              <a:gd name="adj" fmla="val 6897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118872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55C8E8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02920" y="1188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" y="1170432"/>
            <a:ext cx="7498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did Mr. Lambchop decide to mail Stanley instead of buying a plane ticket?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1325880"/>
          </a:xfrm>
          <a:prstGeom prst="roundRect">
            <a:avLst>
              <a:gd name="adj" fmla="val 6897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02920" y="2670048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55C8E8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97280" y="2651760"/>
            <a:ext cx="7498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information would you find on a map that you would NOT find in the story?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365760" y="4041648"/>
            <a:ext cx="8412480" cy="1325880"/>
          </a:xfrm>
          <a:prstGeom prst="roundRect">
            <a:avLst>
              <a:gd name="adj" fmla="val 6897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02920" y="41513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55C8E8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02920" y="41513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097280" y="4133088"/>
            <a:ext cx="7498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how Stanley travels (by mail) with how most people travel. What is the same? What is different?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Writer's Workshop — REVISE &amp; EDIT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822960"/>
            <a:ext cx="1316736" cy="347472"/>
          </a:xfrm>
          <a:prstGeom prst="roundRect">
            <a:avLst>
              <a:gd name="adj" fmla="val 26316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65760" y="822960"/>
            <a:ext cx="1316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Seed Ideas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810512" y="822960"/>
            <a:ext cx="1316736" cy="347472"/>
          </a:xfrm>
          <a:prstGeom prst="roundRect">
            <a:avLst>
              <a:gd name="adj" fmla="val 26316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810512" y="822960"/>
            <a:ext cx="1316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Plan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55264" y="822960"/>
            <a:ext cx="1316736" cy="347472"/>
          </a:xfrm>
          <a:prstGeom prst="roundRect">
            <a:avLst>
              <a:gd name="adj" fmla="val 26316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255264" y="822960"/>
            <a:ext cx="13167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Draft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700016" y="822960"/>
            <a:ext cx="1060704" cy="347472"/>
          </a:xfrm>
          <a:prstGeom prst="roundRect">
            <a:avLst>
              <a:gd name="adj" fmla="val 26316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0016" y="822960"/>
            <a:ext cx="10607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Add Craft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888736" y="822960"/>
            <a:ext cx="1371600" cy="347472"/>
          </a:xfrm>
          <a:prstGeom prst="roundRect">
            <a:avLst>
              <a:gd name="adj" fmla="val 26316"/>
            </a:avLst>
          </a:prstGeom>
          <a:solidFill>
            <a:srgbClr val="C7922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888736" y="82296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Revise &amp; Edit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406640" y="822960"/>
            <a:ext cx="1371600" cy="347472"/>
          </a:xfrm>
          <a:prstGeom prst="roundRect">
            <a:avLst>
              <a:gd name="adj" fmla="val 26316"/>
            </a:avLst>
          </a:prstGeom>
          <a:solidFill>
            <a:srgbClr val="F8FAFC"/>
          </a:solidFill>
          <a:ln w="1270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406640" y="82296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Publish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65760" y="128016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94360" y="1316736"/>
            <a:ext cx="7863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Revise for voice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65760" y="208483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WRITING TASK — IN YOUR JOURNAL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65760" y="2359152"/>
            <a:ext cx="8412480" cy="1097280"/>
          </a:xfrm>
          <a:prstGeom prst="roundRect">
            <a:avLst>
              <a:gd name="adj" fmla="val 8333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94360" y="2450592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REVISE FOR VOICE. Reread your narrative. Does it sound like YOU? Add at least one detail that makes the moment feel real and personal.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2026-07-10T22:22:36Z</dcterms:created>
  <dcterms:modified xsi:type="dcterms:W3CDTF">2026-07-10T22:22:36Z</dcterms:modified>
</cp:coreProperties>
</file>