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Lesson 16.1. Reading: Comparison.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prompt aloud. Give students a moment to think before writing.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Five minutes of sustained writing. Stamina over polish. Do not correct spelling now.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One fix only. Editing is conventions; revision is ideas. Name which one you are asking for.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Two or three volunteers. Praise something specific in each.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Reading lens: Good readers compare characters' perspectives . Two characters can experience the same event very differently.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Corrected:  1. Both Despereaux and Roscuro wanted something very badly and were willing to do almost anything to get it.
Look for: Did you catch the proper nouns (Despereaux, Roscuro), the comma before "but," and capital letters?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Corrected:  1. Both Despereaux and Roscuro wanted something very badly and were willing to do almost anything to get it.
Look for: Did you catch the proper nouns (Despereaux, Roscuro), the comma before "but," and capital letters?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Break the word into base + word part. Ask what the part adds to the meaning.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Each word appears in the chapters read this week, in the author’s own sentence.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Answers: basket,”, soup,, said,, Garlic,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Answers: basket,”, soup,, said,, Garlic,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Doubled: snapped, stopped | Dropped the e: staring | y → i: carried | Plural ending: dishes, stories | Soft c or g: prince, gentle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Doubled: snapped, stopped | Dropped the e: staring | y → i: carried | Plural ending: dishes, stories | Soft c or g: prince, gentle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chapters, then return to the pause questions.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Writer’s Workshop stage for the week.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D1A6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822960"/>
            <a:ext cx="9144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dirty="0">
                <a:solidFill>
                  <a:srgbClr val="000000"/>
                </a:solidFill>
              </a:rPr>
              <a:t>🐭</a:t>
            </a:r>
            <a:endParaRPr lang="en-US" sz="5200" dirty="0"/>
          </a:p>
        </p:txBody>
      </p:sp>
      <p:sp>
        <p:nvSpPr>
          <p:cNvPr id="3" name="Text 1"/>
          <p:cNvSpPr/>
          <p:nvPr/>
        </p:nvSpPr>
        <p:spPr>
          <a:xfrm>
            <a:off x="457200" y="1691640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Tale of Despereaux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457200" y="233172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8B6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Lesson 16.1  ·  Comparison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457200" y="2880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C9BC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Grade 3 ELA  ·  Virtue: Courage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C7922C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✍️  10-Minute Write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2296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 PROMPT — 1 MINUTE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143000"/>
            <a:ext cx="8412480" cy="1737360"/>
          </a:xfrm>
          <a:prstGeom prst="roundRect">
            <a:avLst>
              <a:gd name="adj" fmla="val 5263"/>
            </a:avLst>
          </a:prstGeom>
          <a:solidFill>
            <a:srgbClr val="FEF6E8"/>
          </a:solidFill>
          <a:ln w="1905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71016"/>
            <a:ext cx="7955280" cy="1481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Despereaux and Roscuro both go looking for light. Write about which of them you understand better, and why.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365760" y="306324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Think first. You will have five minutes to write.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EF6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C7922C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✍️  Writing Time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68680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minutes — keep your pencil moving!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65760" y="14630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PROMPT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365760" y="1737360"/>
            <a:ext cx="8412480" cy="1417320"/>
          </a:xfrm>
          <a:prstGeom prst="roundRect">
            <a:avLst>
              <a:gd name="adj" fmla="val 6452"/>
            </a:avLst>
          </a:prstGeom>
          <a:solidFill>
            <a:srgbClr val="FFFFFF"/>
          </a:solidFill>
          <a:ln w="1905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94360" y="1865376"/>
            <a:ext cx="7955280" cy="11612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Despereaux and Roscuro both go looking for light. Write about which of them you understand better, and why.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365760" y="329184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not stop to erase. If you get stuck, write the last word again and keep going.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8F8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34B76F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🔍  Edit &amp; Revise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68680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minute — pick ONE thing to fix.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365760" y="141732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TODAY'S EDIT FOCUS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365760" y="1691640"/>
            <a:ext cx="841248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9050">
            <a:solidFill>
              <a:srgbClr val="34B76F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94360" y="1819656"/>
            <a:ext cx="79552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Did I use a capital letter for every name?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365760" y="26517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Quick check: 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capitals  ·  end punctuation  ·  circle a word you are unsure of  ·  read it aloud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🗣️  Share Time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1005840"/>
            <a:ext cx="8412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minutes — let's hear your writing!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65760" y="1691640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Raise your hand  ·  paste it in the chat  ·  or hold your paper up to the camera</a:t>
            </a:r>
            <a:endParaRPr lang="en-US" sz="17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8B6FC0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📖  Today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8B6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365760" y="1014984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Comparison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365760" y="150876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 QUESTION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365760" y="1746504"/>
            <a:ext cx="8412480" cy="731520"/>
          </a:xfrm>
          <a:prstGeom prst="roundRect">
            <a:avLst>
              <a:gd name="adj" fmla="val 12500"/>
            </a:avLst>
          </a:prstGeom>
          <a:solidFill>
            <a:srgbClr val="FEF6E8"/>
          </a:solidFill>
          <a:ln w="1905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874520"/>
            <a:ext cx="7955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does Despereaux believe about the world?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365760" y="26060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 LENS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365760" y="2843784"/>
            <a:ext cx="8412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Good readers compare characters' perspectives . Two characters can experience the same event very differently.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 Daily Oral Language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49808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 THESE SENTENCES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24128"/>
            <a:ext cx="841248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905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152144"/>
            <a:ext cx="79552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both despereaux and roscuro wanted something very badly and were willing to do almost anything to get it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365760" y="1874520"/>
            <a:ext cx="841248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905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2002536"/>
            <a:ext cx="79552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despereaux wanted love and roscuro wanted light but neither of them understood the cost at the beginning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365760" y="278892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Rewrite both sentences correctly in your notebook.</a:t>
            </a:r>
            <a:endParaRPr lang="en-US" sz="1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 Daily Oral Language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49808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 THESE SENTENCES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24128"/>
            <a:ext cx="841248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905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152144"/>
            <a:ext cx="79552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both despereaux and roscuro wanted something very badly and were willing to do almost anything to get it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365760" y="1874520"/>
            <a:ext cx="841248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905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2002536"/>
            <a:ext cx="79552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despereaux wanted love and roscuro wanted light but neither of them understood the cost at the beginning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365760" y="2743200"/>
            <a:ext cx="8412480" cy="1417320"/>
          </a:xfrm>
          <a:prstGeom prst="roundRect">
            <a:avLst>
              <a:gd name="adj" fmla="val 6452"/>
            </a:avLst>
          </a:prstGeom>
          <a:solidFill>
            <a:srgbClr val="E8F8E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66928" y="281635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CORRECTED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66928" y="3072384"/>
            <a:ext cx="801014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400" dirty="0"/>
          </a:p>
          <a:p>
            <a:pPr indent="0" marL="0">
              <a:buNone/>
            </a:pPr>
            <a:r>
              <a:rPr lang="en-US" sz="14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Both Despereaux and Roscuro wanted something very badly and were willing to do almost anything to get it.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566928" y="3767328"/>
            <a:ext cx="801014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Did you catch the proper nouns (Despereaux, Roscuro), the comma before "but," and capital letters?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8B6FC0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🌱  Morphology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0467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8B6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97280"/>
            <a:ext cx="8412480" cy="621792"/>
          </a:xfrm>
          <a:prstGeom prst="roundRect">
            <a:avLst>
              <a:gd name="adj" fmla="val 14706"/>
            </a:avLst>
          </a:prstGeom>
          <a:solidFill>
            <a:srgbClr val="F0E8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16152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🌱  fearless — base word: fear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365760" y="1792224"/>
            <a:ext cx="8412480" cy="621792"/>
          </a:xfrm>
          <a:prstGeom prst="roundRect">
            <a:avLst>
              <a:gd name="adj" fmla="val 14706"/>
            </a:avLst>
          </a:prstGeom>
          <a:solidFill>
            <a:srgbClr val="F8F4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911096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🌱  celebration — base word: celebrate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365760" y="2487168"/>
            <a:ext cx="8412480" cy="621792"/>
          </a:xfrm>
          <a:prstGeom prst="roundRect">
            <a:avLst>
              <a:gd name="adj" fmla="val 14706"/>
            </a:avLst>
          </a:prstGeom>
          <a:solidFill>
            <a:srgbClr val="F0E8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94360" y="2606040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🌱  kindness — base word: kind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365760" y="3182112"/>
            <a:ext cx="8412480" cy="621792"/>
          </a:xfrm>
          <a:prstGeom prst="roundRect">
            <a:avLst>
              <a:gd name="adj" fmla="val 14706"/>
            </a:avLst>
          </a:prstGeom>
          <a:solidFill>
            <a:srgbClr val="F8F4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94360" y="33009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🌱  disagree — base word: agree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🔤  Vocabulary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0467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VOCABULARY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9728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E5F7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25296"/>
            <a:ext cx="7863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disappointment  </a:t>
            </a:r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 or thing that lets you down; not what you hoped for.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365760" y="182880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956816"/>
            <a:ext cx="7863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clout  </a:t>
            </a:r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hard hit or blow, usually with an open hand.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365760" y="256032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E5F7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94360" y="2688336"/>
            <a:ext cx="7863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braver  </a:t>
            </a:r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More willing to face something frightening.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365760" y="329184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94360" y="3419856"/>
            <a:ext cx="7863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happily  </a:t>
            </a:r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happy way; with joy.</a:t>
            </a:r>
            <a:endParaRPr lang="en-US" sz="17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C7922C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 Grammar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REVIEW: DIALOGUE AND COMMAS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7899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2529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“Carry the basket,” said Roscuro.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365760" y="181051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95681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 brought soup, bread, and a candle.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365760" y="254203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94360" y="268833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Cook said, “That is soup.”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365760" y="327355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94360" y="341985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Garlic, chicken, and watercress went into the pot.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365760" y="4050792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turn. Explain one comma rule you used this unit, with an example. Tap a word to check — green means you got it.</a:t>
            </a:r>
            <a:endParaRPr lang="en-US" sz="15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C7922C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 Grammar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REVIEW: DIALOGUE AND COMMAS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7899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2529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“Carry the </a:t>
            </a:r>
            <a:pPr indent="0" marL="0">
              <a:buNone/>
            </a:pPr>
            <a:r>
              <a:rPr lang="en-US" sz="16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basket,”</a:t>
            </a:r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said Roscuro.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365760" y="181051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95681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 brought </a:t>
            </a:r>
            <a:pPr indent="0" marL="0">
              <a:buNone/>
            </a:pPr>
            <a:r>
              <a:rPr lang="en-US" sz="16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soup,</a:t>
            </a:r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bread, and a candle.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365760" y="254203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94360" y="268833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Cook </a:t>
            </a:r>
            <a:pPr indent="0" marL="0">
              <a:buNone/>
            </a:pPr>
            <a:r>
              <a:rPr lang="en-US" sz="16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said,</a:t>
            </a:r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“That is soup.”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365760" y="327355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94360" y="341985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Garlic,</a:t>
            </a:r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chicken, and watercress went into the pot.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365760" y="4050792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Answers revealed</a:t>
            </a:r>
            <a:endParaRPr lang="en-US" sz="15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0E1C42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🔠  Spelling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CUMULATIVE SPELLING REVIEW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365760" y="107899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BANK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365760" y="1353312"/>
            <a:ext cx="8412480" cy="100584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9050">
            <a:solidFill>
              <a:srgbClr val="0E1C42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94360" y="1481328"/>
            <a:ext cx="79552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snapped   ·   stopped   ·   staring   ·   carried   ·   dishes   ·   stories   ·   prince   ·   gentle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365760" y="2514600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column does each word belong in?  Columns: Doubled  |  Dropped the e  |  y → i  |  Plural ending  |  Soft c or g</a:t>
            </a:r>
            <a:endParaRPr lang="en-US" sz="15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0E1C42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🔠  Spelling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CUMULATIVE SPELLING REVIEW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411480" y="1078992"/>
            <a:ext cx="1591056" cy="457200"/>
          </a:xfrm>
          <a:prstGeom prst="roundRect">
            <a:avLst>
              <a:gd name="adj" fmla="val 16000"/>
            </a:avLst>
          </a:prstGeom>
          <a:solidFill>
            <a:srgbClr val="0E1C42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1133856"/>
            <a:ext cx="149961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Doubled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11480" y="1591056"/>
            <a:ext cx="1591056" cy="2103120"/>
          </a:xfrm>
          <a:prstGeom prst="roundRect">
            <a:avLst>
              <a:gd name="adj" fmla="val 574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02920" y="1700784"/>
            <a:ext cx="1408176" cy="18836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snapped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stopped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2093976" y="1078992"/>
            <a:ext cx="1591056" cy="457200"/>
          </a:xfrm>
          <a:prstGeom prst="roundRect">
            <a:avLst>
              <a:gd name="adj" fmla="val 16000"/>
            </a:avLst>
          </a:prstGeom>
          <a:solidFill>
            <a:srgbClr val="0E1C42"/>
          </a:solidFill>
          <a:ln/>
        </p:spPr>
      </p:sp>
      <p:sp>
        <p:nvSpPr>
          <p:cNvPr id="10" name="Text 8"/>
          <p:cNvSpPr/>
          <p:nvPr/>
        </p:nvSpPr>
        <p:spPr>
          <a:xfrm>
            <a:off x="2139696" y="1133856"/>
            <a:ext cx="149961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Dropped the e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2093976" y="1591056"/>
            <a:ext cx="1591056" cy="2103120"/>
          </a:xfrm>
          <a:prstGeom prst="roundRect">
            <a:avLst>
              <a:gd name="adj" fmla="val 574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2185416" y="1700784"/>
            <a:ext cx="1408176" cy="18836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staring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776472" y="1078992"/>
            <a:ext cx="1591056" cy="457200"/>
          </a:xfrm>
          <a:prstGeom prst="roundRect">
            <a:avLst>
              <a:gd name="adj" fmla="val 16000"/>
            </a:avLst>
          </a:prstGeom>
          <a:solidFill>
            <a:srgbClr val="0E1C42"/>
          </a:solidFill>
          <a:ln/>
        </p:spPr>
      </p:sp>
      <p:sp>
        <p:nvSpPr>
          <p:cNvPr id="14" name="Text 12"/>
          <p:cNvSpPr/>
          <p:nvPr/>
        </p:nvSpPr>
        <p:spPr>
          <a:xfrm>
            <a:off x="3822192" y="1133856"/>
            <a:ext cx="149961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 → i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3776472" y="1591056"/>
            <a:ext cx="1591056" cy="2103120"/>
          </a:xfrm>
          <a:prstGeom prst="roundRect">
            <a:avLst>
              <a:gd name="adj" fmla="val 574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867912" y="1700784"/>
            <a:ext cx="1408176" cy="18836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carried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5458968" y="1078992"/>
            <a:ext cx="1591056" cy="457200"/>
          </a:xfrm>
          <a:prstGeom prst="roundRect">
            <a:avLst>
              <a:gd name="adj" fmla="val 16000"/>
            </a:avLst>
          </a:prstGeom>
          <a:solidFill>
            <a:srgbClr val="0E1C42"/>
          </a:solidFill>
          <a:ln/>
        </p:spPr>
      </p:sp>
      <p:sp>
        <p:nvSpPr>
          <p:cNvPr id="18" name="Text 16"/>
          <p:cNvSpPr/>
          <p:nvPr/>
        </p:nvSpPr>
        <p:spPr>
          <a:xfrm>
            <a:off x="5504688" y="1133856"/>
            <a:ext cx="149961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Plural ending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5458968" y="1591056"/>
            <a:ext cx="1591056" cy="2103120"/>
          </a:xfrm>
          <a:prstGeom prst="roundRect">
            <a:avLst>
              <a:gd name="adj" fmla="val 574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550408" y="1700784"/>
            <a:ext cx="1408176" cy="18836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dishes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stories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7141464" y="1078992"/>
            <a:ext cx="1591056" cy="457200"/>
          </a:xfrm>
          <a:prstGeom prst="roundRect">
            <a:avLst>
              <a:gd name="adj" fmla="val 16000"/>
            </a:avLst>
          </a:prstGeom>
          <a:solidFill>
            <a:srgbClr val="0E1C42"/>
          </a:solidFill>
          <a:ln/>
        </p:spPr>
      </p:sp>
      <p:sp>
        <p:nvSpPr>
          <p:cNvPr id="22" name="Text 20"/>
          <p:cNvSpPr/>
          <p:nvPr/>
        </p:nvSpPr>
        <p:spPr>
          <a:xfrm>
            <a:off x="7187184" y="1133856"/>
            <a:ext cx="149961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 c or g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7141464" y="1591056"/>
            <a:ext cx="1591056" cy="2103120"/>
          </a:xfrm>
          <a:prstGeom prst="roundRect">
            <a:avLst>
              <a:gd name="adj" fmla="val 574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7232904" y="1700784"/>
            <a:ext cx="1408176" cy="18836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prince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gentle</a:t>
            </a:r>
            <a:endParaRPr lang="en-US" sz="14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8B6FC0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📕  Read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68680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Comparison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65760" y="14630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8B6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COPYWORK — FROM THE NOVEL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365760" y="1719072"/>
            <a:ext cx="8412480" cy="1143000"/>
          </a:xfrm>
          <a:prstGeom prst="roundRect">
            <a:avLst>
              <a:gd name="adj" fmla="val 8000"/>
            </a:avLst>
          </a:prstGeom>
          <a:solidFill>
            <a:srgbClr val="F0E8FF"/>
          </a:solidFill>
          <a:ln w="19050">
            <a:solidFill>
              <a:srgbClr val="8B6FC0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94360" y="1847088"/>
            <a:ext cx="795528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“What Furlough saw was Despereaux Tilling sitting at the foot of the king. What Furlough saw was the princess touching the top of his brother’s head.”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365760" y="301752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PAUSE &amp; THINK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365760" y="3273552"/>
            <a:ext cx="8412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What does Despereaux believe about the world?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What does Roscuro believe?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How do their different beliefs lead to different choices?</a:t>
            </a:r>
            <a:endParaRPr lang="en-US" sz="15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34B76F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🪶  Writer’s Workshop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2296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WEEK’S STAGE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365760" y="1078992"/>
            <a:ext cx="8412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COMPARE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365760" y="1691640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Compare Despereaux and Roscuro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Optima Academy Online</dc:creator>
  <cp:lastModifiedBy>Optima Academy Online</cp:lastModifiedBy>
  <cp:revision>1</cp:revision>
  <dcterms:created xsi:type="dcterms:W3CDTF">2026-09-07T02:49:07Z</dcterms:created>
  <dcterms:modified xsi:type="dcterms:W3CDTF">2026-09-07T02:49:07Z</dcterms:modified>
</cp:coreProperties>
</file>