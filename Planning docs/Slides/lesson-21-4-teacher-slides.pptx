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Ch. 20: The story ended with the prince asking the king to protect Jemmy. A remarkable change.
TODAY: Ch. 16–20 Review: Who changed the most — Jemmy or Prince Brat?
BIG Q: By the end of The Whipping Boy, who changed the most — Jemmy or Prince Brat? Back your answer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sentence aloud together. Ask: What capitalization rules do you see? What punctuation? Any dialogue formatting?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"you kept me safe through all of it the prince murmured"
Corrected: ""You kept me safe through all of it," the prince murmured."
Errors: Opening quotation mark; capital Y on You; comma inside the closing quote; lowercase the;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"you kept me safe through all of it the prince murmured"
Corrected: ""You kept me safe through all of it," the prince murmured."
Errors: Opening quotation mark; capital Y on You; comma inside the closing quote; lowercase the;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respect — to regard highly; to admire | spectator — one who watches | unexpected — not predicted; surprising | expect — to look forward to; to believe something will come | Jemmy gave a quickwink — to let the prince know the plan was already working. | Even the outlaws had to admit that Jemmy had actednobly — in a very un-prince-like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 wink: A quick eye signal that shares a secret meaning. | nobly: In a brave, loyal, or honorable way. | pluck: Brave spirit and determination in a difficult situation. | befuddled: Confused or puzzled by something unexpected.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"Jemmy whispered [to the prince] on the way in." → to the prince | "They bowed [before the king]." → before the king | "The prince smiled [for the first time]." → for the first time | "Jemmy stepped [into the sunlight]." → into the sunlight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"Jemmy whispered [to the prince] on the way in." → to the prince | "They bowed [before the king]." → before the king | "The prince smiled [for the first time]." → for the first time | "Jemmy stepped [into the sunlight]." → into the sunlight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Closed or r-controlled: purple, rabbit, corner | Open or silent-e: broken, fire, tiger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Closed or r-controlled: purple, rabbit, corner | Open or silent-e: broken, fire, tiger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Ch. 16–20 Review
When The Whipping Boy sees Jeremy tangled in string and the cat coming, she could have run. She stays and unties him instead. Later, Nicodemus and the rats agree to move her cinderblock house — a dangerous, hours-long job — because she asked for help.
Think back to Chapter 1. How has the king's view of Jemmy changed from beginning to end?
The book ends with ballad sellers making up new verses about Hold-Your-Nose Billy. Why is this a funny and fitting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sentence: "Jemmy thought: I am free. And then he thought: but am I?"
Craft: thought as dialogue; reversal with but
Reader: What does this moment reveal?
Writer: What technique did the author use and why?
Mimic: Write your own using the same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stage: ♻️ Revise &amp; Publish
Focus: Revise for strong verbs and clear transitions. Then publish.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0A4A"/>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B8860B">
              <a:alpha val="20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B8860B"/>
                </a:solidFill>
                <a:latin typeface="Calibri" pitchFamily="34" charset="0"/>
                <a:ea typeface="Calibri" pitchFamily="34" charset="-122"/>
                <a:cs typeface="Calibri" pitchFamily="34" charset="-120"/>
              </a:rPr>
              <a:t>WEEK 21  ·  DAY 4</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Ch. 16–20 Review</a:t>
            </a:r>
            <a:endParaRPr lang="en-US" sz="2800" dirty="0"/>
          </a:p>
          <a:p>
            <a:pPr algn="l" indent="0" marL="0">
              <a:buNone/>
            </a:pPr>
            <a:r>
              <a:rPr lang="en-US" sz="2800" b="1" dirty="0">
                <a:solidFill>
                  <a:srgbClr val="FFFFFF"/>
                </a:solidFill>
                <a:latin typeface="Calibri" pitchFamily="34" charset="0"/>
                <a:ea typeface="Calibri" pitchFamily="34" charset="-122"/>
                <a:cs typeface="Calibri" pitchFamily="34" charset="-120"/>
              </a:rPr>
              <a:t>Review, Publish, and Discuss Character Change</a:t>
            </a:r>
            <a:endParaRPr lang="en-US" sz="2800" dirty="0"/>
          </a:p>
        </p:txBody>
      </p:sp>
      <p:sp>
        <p:nvSpPr>
          <p:cNvPr id="5" name="Text 3"/>
          <p:cNvSpPr/>
          <p:nvPr/>
        </p:nvSpPr>
        <p:spPr>
          <a:xfrm>
            <a:off x="457200" y="2834640"/>
            <a:ext cx="8229600" cy="457200"/>
          </a:xfrm>
          <a:prstGeom prst="rect">
            <a:avLst/>
          </a:prstGeom>
          <a:noFill/>
          <a:ln/>
        </p:spPr>
        <p:txBody>
          <a:bodyPr wrap="square" lIns="0" tIns="0" rIns="0" bIns="0" rtlCol="0" anchor="ctr"/>
          <a:lstStyle/>
          <a:p>
            <a:pPr algn="l" indent="0" marL="0">
              <a:buNone/>
            </a:pPr>
            <a:r>
              <a:rPr lang="en-US" sz="1800" dirty="0">
                <a:solidFill>
                  <a:srgbClr val="B8860B"/>
                </a:solidFill>
                <a:latin typeface="Calibri" pitchFamily="34" charset="0"/>
                <a:ea typeface="Calibri" pitchFamily="34" charset="-122"/>
                <a:cs typeface="Calibri" pitchFamily="34" charset="-120"/>
              </a:rPr>
              <a:t>The Whipping Boy  ·  Sid Fleischman</a:t>
            </a:r>
            <a:endParaRPr lang="en-US" sz="1800" dirty="0"/>
          </a:p>
        </p:txBody>
      </p:sp>
      <p:sp>
        <p:nvSpPr>
          <p:cNvPr id="6" name="Text 4"/>
          <p:cNvSpPr/>
          <p:nvPr/>
        </p:nvSpPr>
        <p:spPr>
          <a:xfrm>
            <a:off x="457200" y="448056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Week 21  ·  Virtue: Loyalty  ·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Recap + Today's Focus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YESTERDAY</a:t>
            </a:r>
            <a:endParaRPr lang="en-US" sz="1100" dirty="0"/>
          </a:p>
        </p:txBody>
      </p:sp>
      <p:sp>
        <p:nvSpPr>
          <p:cNvPr id="7" name="Shape 5"/>
          <p:cNvSpPr/>
          <p:nvPr/>
        </p:nvSpPr>
        <p:spPr>
          <a:xfrm>
            <a:off x="365760" y="1078992"/>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Ch. 20: The story ended with the prince asking the king to protect Jemmy. A remarkable change.</a:t>
            </a:r>
            <a:endParaRPr lang="en-US" sz="1400" dirty="0"/>
          </a:p>
        </p:txBody>
      </p:sp>
      <p:sp>
        <p:nvSpPr>
          <p:cNvPr id="9" name="Text 7"/>
          <p:cNvSpPr/>
          <p:nvPr/>
        </p:nvSpPr>
        <p:spPr>
          <a:xfrm>
            <a:off x="365760" y="199339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TODAY</a:t>
            </a:r>
            <a:endParaRPr lang="en-US" sz="1100" dirty="0"/>
          </a:p>
        </p:txBody>
      </p:sp>
      <p:sp>
        <p:nvSpPr>
          <p:cNvPr id="10" name="Shape 8"/>
          <p:cNvSpPr/>
          <p:nvPr/>
        </p:nvSpPr>
        <p:spPr>
          <a:xfrm>
            <a:off x="365760" y="2249424"/>
            <a:ext cx="8412480" cy="713232"/>
          </a:xfrm>
          <a:prstGeom prst="roundRect">
            <a:avLst>
              <a:gd name="adj" fmla="val 12821"/>
            </a:avLst>
          </a:prstGeom>
          <a:solidFill>
            <a:srgbClr val="FFF8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40864"/>
            <a:ext cx="7955280" cy="530352"/>
          </a:xfrm>
          <a:prstGeom prst="rect">
            <a:avLst/>
          </a:prstGeom>
          <a:noFill/>
          <a:ln/>
        </p:spPr>
        <p:txBody>
          <a:bodyPr wrap="square" lIns="0" tIns="0" rIns="0" bIns="0" rtlCol="0" anchor="ctr"/>
          <a:lstStyle/>
          <a:p>
            <a:pPr indent="0" marL="0">
              <a:buNone/>
            </a:pPr>
            <a:r>
              <a:rPr lang="en-US" sz="1400" b="1" dirty="0">
                <a:solidFill>
                  <a:srgbClr val="2A0A4A"/>
                </a:solidFill>
                <a:latin typeface="Calibri" pitchFamily="34" charset="0"/>
                <a:ea typeface="Calibri" pitchFamily="34" charset="-122"/>
                <a:cs typeface="Calibri" pitchFamily="34" charset="-120"/>
              </a:rPr>
              <a:t>Ch. 16–20 Review: Who changed the most — Jemmy or Prince Brat?</a:t>
            </a:r>
            <a:endParaRPr lang="en-US" sz="1400" dirty="0"/>
          </a:p>
        </p:txBody>
      </p:sp>
      <p:sp>
        <p:nvSpPr>
          <p:cNvPr id="12" name="Text 10"/>
          <p:cNvSpPr/>
          <p:nvPr/>
        </p:nvSpPr>
        <p:spPr>
          <a:xfrm>
            <a:off x="365760" y="307238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BIG QUESTION</a:t>
            </a:r>
            <a:endParaRPr lang="en-US" sz="1100" dirty="0"/>
          </a:p>
        </p:txBody>
      </p:sp>
      <p:sp>
        <p:nvSpPr>
          <p:cNvPr id="13" name="Shape 11"/>
          <p:cNvSpPr/>
          <p:nvPr/>
        </p:nvSpPr>
        <p:spPr>
          <a:xfrm>
            <a:off x="365760" y="3328416"/>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419856"/>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By the end of The Whipping Boy, who changed the most — Jemmy or Prince Brat? Back your answer with evidence.</a:t>
            </a:r>
            <a:endParaRPr lang="en-US" sz="1300" dirty="0"/>
          </a:p>
        </p:txBody>
      </p:sp>
      <p:sp>
        <p:nvSpPr>
          <p:cNvPr id="15" name="Text 13"/>
          <p:cNvSpPr/>
          <p:nvPr/>
        </p:nvSpPr>
        <p:spPr>
          <a:xfrm>
            <a:off x="365760" y="42062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READING LENS</a:t>
            </a:r>
            <a:endParaRPr lang="en-US" sz="1100" dirty="0"/>
          </a:p>
        </p:txBody>
      </p:sp>
      <p:sp>
        <p:nvSpPr>
          <p:cNvPr id="16" name="Text 14"/>
          <p:cNvSpPr/>
          <p:nvPr/>
        </p:nvSpPr>
        <p:spPr>
          <a:xfrm>
            <a:off x="457200" y="4434840"/>
            <a:ext cx="8229600"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 Good readers think about the whole book. Now that you have read all 20 chapters, ask: what was this story really about? </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Study What's Right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FROM THE NOVEL</a:t>
            </a:r>
            <a:endParaRPr lang="en-US" sz="1100" dirty="0"/>
          </a:p>
        </p:txBody>
      </p:sp>
      <p:sp>
        <p:nvSpPr>
          <p:cNvPr id="5" name="Shape 3"/>
          <p:cNvSpPr/>
          <p:nvPr/>
        </p:nvSpPr>
        <p:spPr>
          <a:xfrm>
            <a:off x="365760" y="1078992"/>
            <a:ext cx="8412480" cy="1005840"/>
          </a:xfrm>
          <a:prstGeom prst="roundRect">
            <a:avLst>
              <a:gd name="adj" fmla="val 9091"/>
            </a:avLst>
          </a:prstGeom>
          <a:solidFill>
            <a:srgbClr val="E8F8E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77724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"You got me off without so much as a single whack," Jemmy whispered.</a:t>
            </a:r>
            <a:endParaRPr lang="en-US" sz="1800" dirty="0"/>
          </a:p>
        </p:txBody>
      </p:sp>
      <p:sp>
        <p:nvSpPr>
          <p:cNvPr id="7" name="Text 5"/>
          <p:cNvSpPr/>
          <p:nvPr/>
        </p:nvSpPr>
        <p:spPr>
          <a:xfrm>
            <a:off x="365760" y="21945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WHAT TO NOTICE</a:t>
            </a:r>
            <a:endParaRPr lang="en-US" sz="1100" dirty="0"/>
          </a:p>
        </p:txBody>
      </p:sp>
      <p:sp>
        <p:nvSpPr>
          <p:cNvPr id="8" name="Text 6"/>
          <p:cNvSpPr/>
          <p:nvPr/>
        </p:nvSpPr>
        <p:spPr>
          <a:xfrm>
            <a:off x="502920" y="2423160"/>
            <a:ext cx="8229600" cy="41148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Tap or circle: capital letters, quotation marks, punctuation, proper nouns.</a:t>
            </a:r>
            <a:endParaRPr lang="en-US" sz="1500" dirty="0"/>
          </a:p>
        </p:txBody>
      </p:sp>
      <p:sp>
        <p:nvSpPr>
          <p:cNvPr id="9" name="Text 7"/>
          <p:cNvSpPr/>
          <p:nvPr/>
        </p:nvSpPr>
        <p:spPr>
          <a:xfrm>
            <a:off x="502920" y="2926080"/>
            <a:ext cx="8229600" cy="411480"/>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Copy this sentence in your journal. Circle one thing you notice.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you kept me safe through all of it the prince murmured</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Opening quotation mark; capital Y on You; comma inside the closing quote; lowercase the;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you kept me safe through all of it the prince murmured</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Opening quotation mark; capital Y on You; comma inside the closing quote; lowercase the;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
        <p:nvSpPr>
          <p:cNvPr id="11" name="Shape 9"/>
          <p:cNvSpPr/>
          <p:nvPr/>
        </p:nvSpPr>
        <p:spPr>
          <a:xfrm>
            <a:off x="365760" y="3063240"/>
            <a:ext cx="8412480" cy="914400"/>
          </a:xfrm>
          <a:prstGeom prst="roundRect">
            <a:avLst>
              <a:gd name="adj" fmla="val 10000"/>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127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3" name="Text 11"/>
          <p:cNvSpPr/>
          <p:nvPr/>
        </p:nvSpPr>
        <p:spPr>
          <a:xfrm>
            <a:off x="594360" y="3438144"/>
            <a:ext cx="7863840" cy="475488"/>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"You kept me safe through all of it," the prince murmured.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Morphology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WORD PART: re-</a:t>
            </a:r>
            <a:endParaRPr lang="en-US" sz="1100" dirty="0"/>
          </a:p>
        </p:txBody>
      </p:sp>
      <p:sp>
        <p:nvSpPr>
          <p:cNvPr id="5" name="Shape 3"/>
          <p:cNvSpPr/>
          <p:nvPr/>
        </p:nvSpPr>
        <p:spPr>
          <a:xfrm>
            <a:off x="365760" y="118872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9844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respect — to regard highly; to admire</a:t>
            </a:r>
            <a:endParaRPr lang="en-US" sz="1500" dirty="0"/>
          </a:p>
        </p:txBody>
      </p:sp>
      <p:sp>
        <p:nvSpPr>
          <p:cNvPr id="7" name="Shape 5"/>
          <p:cNvSpPr/>
          <p:nvPr/>
        </p:nvSpPr>
        <p:spPr>
          <a:xfrm>
            <a:off x="365760" y="182880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3852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spectator — one who watches</a:t>
            </a:r>
            <a:endParaRPr lang="en-US" sz="1500" dirty="0"/>
          </a:p>
        </p:txBody>
      </p:sp>
      <p:sp>
        <p:nvSpPr>
          <p:cNvPr id="9" name="Shape 7"/>
          <p:cNvSpPr/>
          <p:nvPr/>
        </p:nvSpPr>
        <p:spPr>
          <a:xfrm>
            <a:off x="365760" y="246888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57860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unexpected — not predicted; surprising</a:t>
            </a:r>
            <a:endParaRPr lang="en-US" sz="1500" dirty="0"/>
          </a:p>
        </p:txBody>
      </p:sp>
      <p:sp>
        <p:nvSpPr>
          <p:cNvPr id="11" name="Shape 9"/>
          <p:cNvSpPr/>
          <p:nvPr/>
        </p:nvSpPr>
        <p:spPr>
          <a:xfrm>
            <a:off x="365760" y="310896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21868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expect — to look forward to; to believe something will come</a:t>
            </a:r>
            <a:endParaRPr lang="en-US" sz="1500" dirty="0"/>
          </a:p>
        </p:txBody>
      </p:sp>
      <p:sp>
        <p:nvSpPr>
          <p:cNvPr id="13" name="Text 11"/>
          <p:cNvSpPr/>
          <p:nvPr/>
        </p:nvSpPr>
        <p:spPr>
          <a:xfrm>
            <a:off x="365760" y="37947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MATCH GAME WORDS</a:t>
            </a:r>
            <a:endParaRPr lang="en-US" sz="1100" dirty="0"/>
          </a:p>
        </p:txBody>
      </p:sp>
      <p:sp>
        <p:nvSpPr>
          <p:cNvPr id="14" name="Text 12"/>
          <p:cNvSpPr/>
          <p:nvPr/>
        </p:nvSpPr>
        <p:spPr>
          <a:xfrm>
            <a:off x="457200" y="4096512"/>
            <a:ext cx="8229600" cy="347472"/>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wink   ·   nobly   ·   pluck   ·   befuddled</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79552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4 WORDS THIS WEEK</a:t>
            </a:r>
            <a:endParaRPr lang="en-US" sz="1100" dirty="0"/>
          </a:p>
        </p:txBody>
      </p:sp>
      <p:sp>
        <p:nvSpPr>
          <p:cNvPr id="5" name="Shape 3"/>
          <p:cNvSpPr/>
          <p:nvPr/>
        </p:nvSpPr>
        <p:spPr>
          <a:xfrm>
            <a:off x="32004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45720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wink</a:t>
            </a:r>
            <a:endParaRPr lang="en-US" sz="1600" dirty="0"/>
          </a:p>
        </p:txBody>
      </p:sp>
      <p:sp>
        <p:nvSpPr>
          <p:cNvPr id="7" name="Text 5"/>
          <p:cNvSpPr/>
          <p:nvPr/>
        </p:nvSpPr>
        <p:spPr>
          <a:xfrm>
            <a:off x="45720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quick eye signal that shares a secret meaning.</a:t>
            </a:r>
            <a:endParaRPr lang="en-US" sz="1200" dirty="0"/>
          </a:p>
        </p:txBody>
      </p:sp>
      <p:sp>
        <p:nvSpPr>
          <p:cNvPr id="8" name="Shape 6"/>
          <p:cNvSpPr/>
          <p:nvPr/>
        </p:nvSpPr>
        <p:spPr>
          <a:xfrm>
            <a:off x="457200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470916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nobly</a:t>
            </a:r>
            <a:endParaRPr lang="en-US" sz="1600" dirty="0"/>
          </a:p>
        </p:txBody>
      </p:sp>
      <p:sp>
        <p:nvSpPr>
          <p:cNvPr id="10" name="Text 8"/>
          <p:cNvSpPr/>
          <p:nvPr/>
        </p:nvSpPr>
        <p:spPr>
          <a:xfrm>
            <a:off x="470916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In a brave, loyal, or honorable way.</a:t>
            </a:r>
            <a:endParaRPr lang="en-US" sz="1200" dirty="0"/>
          </a:p>
        </p:txBody>
      </p:sp>
      <p:sp>
        <p:nvSpPr>
          <p:cNvPr id="11" name="Shape 9"/>
          <p:cNvSpPr/>
          <p:nvPr/>
        </p:nvSpPr>
        <p:spPr>
          <a:xfrm>
            <a:off x="32004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pluck</a:t>
            </a:r>
            <a:endParaRPr lang="en-US" sz="1600" dirty="0"/>
          </a:p>
        </p:txBody>
      </p:sp>
      <p:sp>
        <p:nvSpPr>
          <p:cNvPr id="13" name="Text 11"/>
          <p:cNvSpPr/>
          <p:nvPr/>
        </p:nvSpPr>
        <p:spPr>
          <a:xfrm>
            <a:off x="45720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Brave spirit and determination in a difficult situation.</a:t>
            </a:r>
            <a:endParaRPr lang="en-US" sz="1200" dirty="0"/>
          </a:p>
        </p:txBody>
      </p:sp>
      <p:sp>
        <p:nvSpPr>
          <p:cNvPr id="14" name="Shape 12"/>
          <p:cNvSpPr/>
          <p:nvPr/>
        </p:nvSpPr>
        <p:spPr>
          <a:xfrm>
            <a:off x="457200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befuddled</a:t>
            </a:r>
            <a:endParaRPr lang="en-US" sz="1600" dirty="0"/>
          </a:p>
        </p:txBody>
      </p:sp>
      <p:sp>
        <p:nvSpPr>
          <p:cNvPr id="16" name="Text 14"/>
          <p:cNvSpPr/>
          <p:nvPr/>
        </p:nvSpPr>
        <p:spPr>
          <a:xfrm>
            <a:off x="470916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Confused or puzzled by something unexpected.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Prepositional Phrases (Review + Write)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SPOT THE ANSWER</a:t>
            </a:r>
            <a:endParaRPr lang="en-US" sz="1100" dirty="0"/>
          </a:p>
        </p:txBody>
      </p:sp>
      <p:sp>
        <p:nvSpPr>
          <p:cNvPr id="7" name="Shape 5"/>
          <p:cNvSpPr/>
          <p:nvPr/>
        </p:nvSpPr>
        <p:spPr>
          <a:xfrm>
            <a:off x="365760" y="10789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whispered _____ on the way in.</a:t>
            </a:r>
            <a:endParaRPr lang="en-US" sz="1500" dirty="0"/>
          </a:p>
        </p:txBody>
      </p:sp>
      <p:sp>
        <p:nvSpPr>
          <p:cNvPr id="9" name="Shape 7"/>
          <p:cNvSpPr/>
          <p:nvPr/>
        </p:nvSpPr>
        <p:spPr>
          <a:xfrm>
            <a:off x="365760" y="17647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They bowed _____.</a:t>
            </a:r>
            <a:endParaRPr lang="en-US" sz="1500" dirty="0"/>
          </a:p>
        </p:txBody>
      </p:sp>
      <p:sp>
        <p:nvSpPr>
          <p:cNvPr id="11" name="Shape 9"/>
          <p:cNvSpPr/>
          <p:nvPr/>
        </p:nvSpPr>
        <p:spPr>
          <a:xfrm>
            <a:off x="365760" y="24505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smiled _____.</a:t>
            </a:r>
            <a:endParaRPr lang="en-US" sz="1500" dirty="0"/>
          </a:p>
        </p:txBody>
      </p:sp>
      <p:sp>
        <p:nvSpPr>
          <p:cNvPr id="13" name="Shape 11"/>
          <p:cNvSpPr/>
          <p:nvPr/>
        </p:nvSpPr>
        <p:spPr>
          <a:xfrm>
            <a:off x="365760" y="31363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stepped _____.</a:t>
            </a:r>
            <a:endParaRPr lang="en-US" sz="1500" dirty="0"/>
          </a:p>
        </p:txBody>
      </p:sp>
      <p:sp>
        <p:nvSpPr>
          <p:cNvPr id="15" name="Text 13"/>
          <p:cNvSpPr/>
          <p:nvPr/>
        </p:nvSpPr>
        <p:spPr>
          <a:xfrm>
            <a:off x="457200" y="3867912"/>
            <a:ext cx="8229600" cy="347472"/>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Find the answer! Write it in your notebook.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Prepositional Phrases (Review + Write)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ANSWERS REVEALED</a:t>
            </a:r>
            <a:endParaRPr lang="en-US" sz="1100" dirty="0"/>
          </a:p>
        </p:txBody>
      </p:sp>
      <p:sp>
        <p:nvSpPr>
          <p:cNvPr id="7" name="Shape 5"/>
          <p:cNvSpPr/>
          <p:nvPr/>
        </p:nvSpPr>
        <p:spPr>
          <a:xfrm>
            <a:off x="365760" y="10789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whispered </a:t>
            </a:r>
            <a:pPr indent="0" marL="0">
              <a:buNone/>
            </a:pPr>
            <a:r>
              <a:rPr lang="en-US" sz="1500" b="1" u="sng" dirty="0">
                <a:solidFill>
                  <a:srgbClr val="34B76F"/>
                </a:solidFill>
                <a:latin typeface="Calibri" pitchFamily="34" charset="0"/>
                <a:ea typeface="Calibri" pitchFamily="34" charset="-122"/>
                <a:cs typeface="Calibri" pitchFamily="34" charset="-120"/>
              </a:rPr>
              <a:t>to the prince</a:t>
            </a:r>
            <a:pPr indent="0" marL="0">
              <a:buNone/>
            </a:pPr>
            <a:r>
              <a:rPr lang="en-US" sz="1500" dirty="0">
                <a:solidFill>
                  <a:srgbClr val="1E293B"/>
                </a:solidFill>
                <a:latin typeface="Calibri" pitchFamily="34" charset="0"/>
                <a:ea typeface="Calibri" pitchFamily="34" charset="-122"/>
                <a:cs typeface="Calibri" pitchFamily="34" charset="-120"/>
              </a:rPr>
              <a:t> on the way in.</a:t>
            </a:r>
            <a:endParaRPr lang="en-US" sz="1500" dirty="0"/>
          </a:p>
        </p:txBody>
      </p:sp>
      <p:sp>
        <p:nvSpPr>
          <p:cNvPr id="9" name="Shape 7"/>
          <p:cNvSpPr/>
          <p:nvPr/>
        </p:nvSpPr>
        <p:spPr>
          <a:xfrm>
            <a:off x="365760" y="17647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They bowed </a:t>
            </a:r>
            <a:pPr indent="0" marL="0">
              <a:buNone/>
            </a:pPr>
            <a:r>
              <a:rPr lang="en-US" sz="1500" b="1" u="sng" dirty="0">
                <a:solidFill>
                  <a:srgbClr val="34B76F"/>
                </a:solidFill>
                <a:latin typeface="Calibri" pitchFamily="34" charset="0"/>
                <a:ea typeface="Calibri" pitchFamily="34" charset="-122"/>
                <a:cs typeface="Calibri" pitchFamily="34" charset="-120"/>
              </a:rPr>
              <a:t>before the king</a:t>
            </a:r>
            <a:pPr indent="0" marL="0">
              <a:buNone/>
            </a:pPr>
            <a:r>
              <a:rPr lang="en-US" sz="1500" dirty="0">
                <a:solidFill>
                  <a:srgbClr val="1E293B"/>
                </a:solidFill>
                <a:latin typeface="Calibri" pitchFamily="34" charset="0"/>
                <a:ea typeface="Calibri" pitchFamily="34" charset="-122"/>
                <a:cs typeface="Calibri" pitchFamily="34" charset="-120"/>
              </a:rPr>
              <a:t>.</a:t>
            </a:r>
            <a:endParaRPr lang="en-US" sz="1500" dirty="0"/>
          </a:p>
        </p:txBody>
      </p:sp>
      <p:sp>
        <p:nvSpPr>
          <p:cNvPr id="11" name="Shape 9"/>
          <p:cNvSpPr/>
          <p:nvPr/>
        </p:nvSpPr>
        <p:spPr>
          <a:xfrm>
            <a:off x="365760" y="24505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smiled </a:t>
            </a:r>
            <a:pPr indent="0" marL="0">
              <a:buNone/>
            </a:pPr>
            <a:r>
              <a:rPr lang="en-US" sz="1500" b="1" u="sng" dirty="0">
                <a:solidFill>
                  <a:srgbClr val="34B76F"/>
                </a:solidFill>
                <a:latin typeface="Calibri" pitchFamily="34" charset="0"/>
                <a:ea typeface="Calibri" pitchFamily="34" charset="-122"/>
                <a:cs typeface="Calibri" pitchFamily="34" charset="-120"/>
              </a:rPr>
              <a:t>for the first time</a:t>
            </a:r>
            <a:pPr indent="0" marL="0">
              <a:buNone/>
            </a:pPr>
            <a:r>
              <a:rPr lang="en-US" sz="1500" dirty="0">
                <a:solidFill>
                  <a:srgbClr val="1E293B"/>
                </a:solidFill>
                <a:latin typeface="Calibri" pitchFamily="34" charset="0"/>
                <a:ea typeface="Calibri" pitchFamily="34" charset="-122"/>
                <a:cs typeface="Calibri" pitchFamily="34" charset="-120"/>
              </a:rPr>
              <a:t>.</a:t>
            </a:r>
            <a:endParaRPr lang="en-US" sz="1500" dirty="0"/>
          </a:p>
        </p:txBody>
      </p:sp>
      <p:sp>
        <p:nvSpPr>
          <p:cNvPr id="13" name="Shape 11"/>
          <p:cNvSpPr/>
          <p:nvPr/>
        </p:nvSpPr>
        <p:spPr>
          <a:xfrm>
            <a:off x="365760" y="31363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stepped </a:t>
            </a:r>
            <a:pPr indent="0" marL="0">
              <a:buNone/>
            </a:pPr>
            <a:r>
              <a:rPr lang="en-US" sz="1500" b="1" u="sng" dirty="0">
                <a:solidFill>
                  <a:srgbClr val="34B76F"/>
                </a:solidFill>
                <a:latin typeface="Calibri" pitchFamily="34" charset="0"/>
                <a:ea typeface="Calibri" pitchFamily="34" charset="-122"/>
                <a:cs typeface="Calibri" pitchFamily="34" charset="-120"/>
              </a:rPr>
              <a:t>into the sunlight</a:t>
            </a:r>
            <a:pPr indent="0" marL="0">
              <a:buNone/>
            </a:pPr>
            <a:r>
              <a:rPr lang="en-US" sz="1500" dirty="0">
                <a:solidFill>
                  <a:srgbClr val="1E293B"/>
                </a:solidFill>
                <a:latin typeface="Calibri" pitchFamily="34" charset="0"/>
                <a:ea typeface="Calibri" pitchFamily="34" charset="-122"/>
                <a:cs typeface="Calibri" pitchFamily="34" charset="-120"/>
              </a:rPr>
              <a: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Syllable Review (Day 4: Full spiral review)</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SORT THE WORDS</a:t>
            </a:r>
            <a:endParaRPr lang="en-US" sz="1100" dirty="0"/>
          </a:p>
        </p:txBody>
      </p:sp>
      <p:sp>
        <p:nvSpPr>
          <p:cNvPr id="7" name="Shape 5"/>
          <p:cNvSpPr/>
          <p:nvPr/>
        </p:nvSpPr>
        <p:spPr>
          <a:xfrm>
            <a:off x="365760" y="1024128"/>
            <a:ext cx="8412480" cy="685800"/>
          </a:xfrm>
          <a:prstGeom prst="roundRect">
            <a:avLst>
              <a:gd name="adj" fmla="val 13333"/>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078992"/>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9" name="Text 7"/>
          <p:cNvSpPr/>
          <p:nvPr/>
        </p:nvSpPr>
        <p:spPr>
          <a:xfrm>
            <a:off x="594360" y="1325880"/>
            <a:ext cx="7863840" cy="320040"/>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purple   ·   rabbit   ·   corner   ·   broken   ·   fire   ·   tiger</a:t>
            </a:r>
            <a:endParaRPr lang="en-US" sz="1600" dirty="0"/>
          </a:p>
        </p:txBody>
      </p:sp>
      <p:sp>
        <p:nvSpPr>
          <p:cNvPr id="10" name="Text 8"/>
          <p:cNvSpPr/>
          <p:nvPr/>
        </p:nvSpPr>
        <p:spPr>
          <a:xfrm>
            <a:off x="365760" y="187452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SORT INTO GROUPS</a:t>
            </a:r>
            <a:endParaRPr lang="en-US" sz="1100" dirty="0"/>
          </a:p>
        </p:txBody>
      </p:sp>
      <p:sp>
        <p:nvSpPr>
          <p:cNvPr id="11" name="Shape 9"/>
          <p:cNvSpPr/>
          <p:nvPr/>
        </p:nvSpPr>
        <p:spPr>
          <a:xfrm>
            <a:off x="365760" y="2176272"/>
            <a:ext cx="4114800" cy="1051560"/>
          </a:xfrm>
          <a:prstGeom prst="roundRect">
            <a:avLst>
              <a:gd name="adj" fmla="val 8696"/>
            </a:avLst>
          </a:prstGeom>
          <a:solidFill>
            <a:srgbClr val="E8F8EF"/>
          </a:solidFill>
          <a:ln w="19050">
            <a:solidFill>
              <a:srgbClr val="4A7C2E"/>
            </a:solidFill>
            <a:prstDash val="solid"/>
          </a:ln>
        </p:spPr>
      </p:sp>
      <p:sp>
        <p:nvSpPr>
          <p:cNvPr id="12" name="Text 10"/>
          <p:cNvSpPr/>
          <p:nvPr/>
        </p:nvSpPr>
        <p:spPr>
          <a:xfrm>
            <a:off x="502920" y="2249424"/>
            <a:ext cx="3840480" cy="384048"/>
          </a:xfrm>
          <a:prstGeom prst="rect">
            <a:avLst/>
          </a:prstGeom>
          <a:noFill/>
          <a:ln/>
        </p:spPr>
        <p:txBody>
          <a:bodyPr wrap="square" lIns="0" tIns="0" rIns="0" bIns="0" rtlCol="0" anchor="ctr"/>
          <a:lstStyle/>
          <a:p>
            <a:pPr indent="0" marL="0">
              <a:buNone/>
            </a:pPr>
            <a:r>
              <a:rPr lang="en-US" sz="1300" b="1" dirty="0">
                <a:solidFill>
                  <a:srgbClr val="4A7C2E"/>
                </a:solidFill>
                <a:latin typeface="Calibri" pitchFamily="34" charset="0"/>
                <a:ea typeface="Calibri" pitchFamily="34" charset="-122"/>
                <a:cs typeface="Calibri" pitchFamily="34" charset="-120"/>
              </a:rPr>
              <a:t>Closed or r-controlled</a:t>
            </a:r>
            <a:endParaRPr lang="en-US" sz="1300" dirty="0"/>
          </a:p>
        </p:txBody>
      </p:sp>
      <p:sp>
        <p:nvSpPr>
          <p:cNvPr id="13" name="Shape 11"/>
          <p:cNvSpPr/>
          <p:nvPr/>
        </p:nvSpPr>
        <p:spPr>
          <a:xfrm>
            <a:off x="4709160" y="2176272"/>
            <a:ext cx="4114800" cy="1051560"/>
          </a:xfrm>
          <a:prstGeom prst="roundRect">
            <a:avLst>
              <a:gd name="adj" fmla="val 8696"/>
            </a:avLst>
          </a:prstGeom>
          <a:solidFill>
            <a:srgbClr val="F0E8FF"/>
          </a:solidFill>
          <a:ln w="19050">
            <a:solidFill>
              <a:srgbClr val="5C2D91"/>
            </a:solidFill>
            <a:prstDash val="solid"/>
          </a:ln>
        </p:spPr>
      </p:sp>
      <p:sp>
        <p:nvSpPr>
          <p:cNvPr id="14" name="Text 12"/>
          <p:cNvSpPr/>
          <p:nvPr/>
        </p:nvSpPr>
        <p:spPr>
          <a:xfrm>
            <a:off x="4846320" y="2249424"/>
            <a:ext cx="3840480" cy="384048"/>
          </a:xfrm>
          <a:prstGeom prst="rect">
            <a:avLst/>
          </a:prstGeom>
          <a:noFill/>
          <a:ln/>
        </p:spPr>
        <p:txBody>
          <a:bodyPr wrap="square" lIns="0" tIns="0" rIns="0" bIns="0" rtlCol="0" anchor="ctr"/>
          <a:lstStyle/>
          <a:p>
            <a:pPr indent="0" marL="0">
              <a:buNone/>
            </a:pPr>
            <a:r>
              <a:rPr lang="en-US" sz="1300" b="1" dirty="0">
                <a:solidFill>
                  <a:srgbClr val="5C2D91"/>
                </a:solidFill>
                <a:latin typeface="Calibri" pitchFamily="34" charset="0"/>
                <a:ea typeface="Calibri" pitchFamily="34" charset="-122"/>
                <a:cs typeface="Calibri" pitchFamily="34" charset="-120"/>
              </a:rPr>
              <a:t>Open or silent-e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Syllable Review (Day 4: Full spiral review)</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SORTED</a:t>
            </a:r>
            <a:endParaRPr lang="en-US" sz="1100" dirty="0"/>
          </a:p>
        </p:txBody>
      </p:sp>
      <p:sp>
        <p:nvSpPr>
          <p:cNvPr id="7" name="Shape 5"/>
          <p:cNvSpPr/>
          <p:nvPr/>
        </p:nvSpPr>
        <p:spPr>
          <a:xfrm>
            <a:off x="365760" y="1024128"/>
            <a:ext cx="4114800" cy="1426464"/>
          </a:xfrm>
          <a:prstGeom prst="roundRect">
            <a:avLst>
              <a:gd name="adj" fmla="val 6410"/>
            </a:avLst>
          </a:prstGeom>
          <a:solidFill>
            <a:srgbClr val="E8F8EF"/>
          </a:solidFill>
          <a:ln w="19050">
            <a:solidFill>
              <a:srgbClr val="4A7C2E"/>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02920" y="1097280"/>
            <a:ext cx="3840480" cy="347472"/>
          </a:xfrm>
          <a:prstGeom prst="rect">
            <a:avLst/>
          </a:prstGeom>
          <a:noFill/>
          <a:ln/>
        </p:spPr>
        <p:txBody>
          <a:bodyPr wrap="square" lIns="0" tIns="0" rIns="0" bIns="0" rtlCol="0" anchor="ctr"/>
          <a:lstStyle/>
          <a:p>
            <a:pPr indent="0" marL="0">
              <a:buNone/>
            </a:pPr>
            <a:r>
              <a:rPr lang="en-US" sz="1200" b="1" dirty="0">
                <a:solidFill>
                  <a:srgbClr val="4A7C2E"/>
                </a:solidFill>
                <a:latin typeface="Calibri" pitchFamily="34" charset="0"/>
                <a:ea typeface="Calibri" pitchFamily="34" charset="-122"/>
                <a:cs typeface="Calibri" pitchFamily="34" charset="-120"/>
              </a:rPr>
              <a:t>Closed or r-controlled</a:t>
            </a:r>
            <a:endParaRPr lang="en-US" sz="1200" dirty="0"/>
          </a:p>
        </p:txBody>
      </p:sp>
      <p:sp>
        <p:nvSpPr>
          <p:cNvPr id="9" name="Text 7"/>
          <p:cNvSpPr/>
          <p:nvPr/>
        </p:nvSpPr>
        <p:spPr>
          <a:xfrm>
            <a:off x="5943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purple</a:t>
            </a:r>
            <a:endParaRPr lang="en-US" sz="1400" dirty="0"/>
          </a:p>
        </p:txBody>
      </p:sp>
      <p:sp>
        <p:nvSpPr>
          <p:cNvPr id="10" name="Text 8"/>
          <p:cNvSpPr/>
          <p:nvPr/>
        </p:nvSpPr>
        <p:spPr>
          <a:xfrm>
            <a:off x="5943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rabbit</a:t>
            </a:r>
            <a:endParaRPr lang="en-US" sz="1400" dirty="0"/>
          </a:p>
        </p:txBody>
      </p:sp>
      <p:sp>
        <p:nvSpPr>
          <p:cNvPr id="11" name="Text 9"/>
          <p:cNvSpPr/>
          <p:nvPr/>
        </p:nvSpPr>
        <p:spPr>
          <a:xfrm>
            <a:off x="5943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corner</a:t>
            </a:r>
            <a:endParaRPr lang="en-US" sz="1400" dirty="0"/>
          </a:p>
        </p:txBody>
      </p:sp>
      <p:sp>
        <p:nvSpPr>
          <p:cNvPr id="12" name="Shape 10"/>
          <p:cNvSpPr/>
          <p:nvPr/>
        </p:nvSpPr>
        <p:spPr>
          <a:xfrm>
            <a:off x="4709160" y="1024128"/>
            <a:ext cx="4114800" cy="1426464"/>
          </a:xfrm>
          <a:prstGeom prst="roundRect">
            <a:avLst>
              <a:gd name="adj" fmla="val 6410"/>
            </a:avLst>
          </a:prstGeom>
          <a:solidFill>
            <a:srgbClr val="F0E8FF"/>
          </a:solidFill>
          <a:ln w="19050">
            <a:solidFill>
              <a:srgbClr val="5C2D91"/>
            </a:solidFill>
            <a:prstDash val="solid"/>
          </a:ln>
          <a:effectLst>
            <a:outerShdw sx="100000" sy="100000" kx="0" ky="0" algn="bl" rotWithShape="0" blurRad="101600" dist="38100" dir="2700000">
              <a:srgbClr val="000000">
                <a:alpha val="12000"/>
              </a:srgbClr>
            </a:outerShdw>
          </a:effectLst>
        </p:spPr>
      </p:sp>
      <p:sp>
        <p:nvSpPr>
          <p:cNvPr id="13" name="Text 11"/>
          <p:cNvSpPr/>
          <p:nvPr/>
        </p:nvSpPr>
        <p:spPr>
          <a:xfrm>
            <a:off x="4846320" y="1097280"/>
            <a:ext cx="3840480" cy="347472"/>
          </a:xfrm>
          <a:prstGeom prst="rect">
            <a:avLst/>
          </a:prstGeom>
          <a:noFill/>
          <a:ln/>
        </p:spPr>
        <p:txBody>
          <a:bodyPr wrap="square" lIns="0" tIns="0" rIns="0" bIns="0" rtlCol="0" anchor="ctr"/>
          <a:lstStyle/>
          <a:p>
            <a:pPr indent="0" marL="0">
              <a:buNone/>
            </a:pPr>
            <a:r>
              <a:rPr lang="en-US" sz="1200" b="1" dirty="0">
                <a:solidFill>
                  <a:srgbClr val="5C2D91"/>
                </a:solidFill>
                <a:latin typeface="Calibri" pitchFamily="34" charset="0"/>
                <a:ea typeface="Calibri" pitchFamily="34" charset="-122"/>
                <a:cs typeface="Calibri" pitchFamily="34" charset="-120"/>
              </a:rPr>
              <a:t>Open or silent-e</a:t>
            </a:r>
            <a:endParaRPr lang="en-US" sz="1200" dirty="0"/>
          </a:p>
        </p:txBody>
      </p:sp>
      <p:sp>
        <p:nvSpPr>
          <p:cNvPr id="14" name="Text 12"/>
          <p:cNvSpPr/>
          <p:nvPr/>
        </p:nvSpPr>
        <p:spPr>
          <a:xfrm>
            <a:off x="49377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broken</a:t>
            </a:r>
            <a:endParaRPr lang="en-US" sz="1400" dirty="0"/>
          </a:p>
        </p:txBody>
      </p:sp>
      <p:sp>
        <p:nvSpPr>
          <p:cNvPr id="15" name="Text 13"/>
          <p:cNvSpPr/>
          <p:nvPr/>
        </p:nvSpPr>
        <p:spPr>
          <a:xfrm>
            <a:off x="49377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fire</a:t>
            </a:r>
            <a:endParaRPr lang="en-US" sz="1400" dirty="0"/>
          </a:p>
        </p:txBody>
      </p:sp>
      <p:sp>
        <p:nvSpPr>
          <p:cNvPr id="16" name="Text 14"/>
          <p:cNvSpPr/>
          <p:nvPr/>
        </p:nvSpPr>
        <p:spPr>
          <a:xfrm>
            <a:off x="49377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tiger</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Reading — Ch. 16–20 Review</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CHAPTERS</a:t>
            </a:r>
            <a:endParaRPr lang="en-US" sz="1100" dirty="0"/>
          </a:p>
        </p:txBody>
      </p:sp>
      <p:sp>
        <p:nvSpPr>
          <p:cNvPr id="5" name="Text 3"/>
          <p:cNvSpPr/>
          <p:nvPr/>
        </p:nvSpPr>
        <p:spPr>
          <a:xfrm>
            <a:off x="457200" y="1005840"/>
            <a:ext cx="8229600" cy="502920"/>
          </a:xfrm>
          <a:prstGeom prst="rect">
            <a:avLst/>
          </a:prstGeom>
          <a:noFill/>
          <a:ln/>
        </p:spPr>
        <p:txBody>
          <a:bodyPr wrap="square" lIns="0" tIns="0" rIns="0" bIns="0" rtlCol="0" anchor="ctr"/>
          <a:lstStyle/>
          <a:p>
            <a:pPr indent="0" marL="0">
              <a:buNone/>
            </a:pPr>
            <a:r>
              <a:rPr lang="en-US" sz="1800" b="1" i="1" dirty="0">
                <a:solidFill>
                  <a:srgbClr val="2A0A4A"/>
                </a:solidFill>
                <a:latin typeface="Calibri" pitchFamily="34" charset="0"/>
                <a:ea typeface="Calibri" pitchFamily="34" charset="-122"/>
                <a:cs typeface="Calibri" pitchFamily="34" charset="-120"/>
              </a:rPr>
              <a:t>Review, Publish, and Discuss Character Change</a:t>
            </a:r>
            <a:endParaRPr lang="en-US" sz="1800" dirty="0"/>
          </a:p>
        </p:txBody>
      </p:sp>
      <p:sp>
        <p:nvSpPr>
          <p:cNvPr id="6" name="Text 4"/>
          <p:cNvSpPr/>
          <p:nvPr/>
        </p:nvSpPr>
        <p:spPr>
          <a:xfrm>
            <a:off x="365760" y="162763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PAUSE &amp; THINK</a:t>
            </a:r>
            <a:endParaRPr lang="en-US" sz="1100" dirty="0"/>
          </a:p>
        </p:txBody>
      </p:sp>
      <p:sp>
        <p:nvSpPr>
          <p:cNvPr id="7" name="Shape 5"/>
          <p:cNvSpPr/>
          <p:nvPr/>
        </p:nvSpPr>
        <p:spPr>
          <a:xfrm>
            <a:off x="365760" y="18836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9751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1.  When The Whipping Boy sees Jeremy tangled in string and the cat coming, she could have run. She stays and unties him instead. Later, Nicodemus and the rats agree to move her cinderblock house — a dangerous, hours-long job — because she asked for help.</a:t>
            </a:r>
            <a:endParaRPr lang="en-US" sz="1400" dirty="0"/>
          </a:p>
        </p:txBody>
      </p:sp>
      <p:sp>
        <p:nvSpPr>
          <p:cNvPr id="9" name="Shape 7"/>
          <p:cNvSpPr/>
          <p:nvPr/>
        </p:nvSpPr>
        <p:spPr>
          <a:xfrm>
            <a:off x="365760" y="2798064"/>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594360" y="2889504"/>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2.  Think back to Chapter 1. How has the king's view of Jemmy changed from beginning to end?</a:t>
            </a:r>
            <a:endParaRPr lang="en-US" sz="1400" dirty="0"/>
          </a:p>
        </p:txBody>
      </p:sp>
      <p:sp>
        <p:nvSpPr>
          <p:cNvPr id="11" name="Shape 9"/>
          <p:cNvSpPr/>
          <p:nvPr/>
        </p:nvSpPr>
        <p:spPr>
          <a:xfrm>
            <a:off x="365760" y="3566160"/>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3657600"/>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3.  The book ends with ballad sellers making up new verses about Hold-Your-Nose Billy. Why is this a funny and fitting ending?</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 like a Reader · Read like a Writer · Mimic</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MENTOR SENTENCE</a:t>
            </a:r>
            <a:endParaRPr lang="en-US" sz="1100" dirty="0"/>
          </a:p>
        </p:txBody>
      </p:sp>
      <p:sp>
        <p:nvSpPr>
          <p:cNvPr id="5" name="Shape 3"/>
          <p:cNvSpPr/>
          <p:nvPr/>
        </p:nvSpPr>
        <p:spPr>
          <a:xfrm>
            <a:off x="365760" y="1042416"/>
            <a:ext cx="8412480" cy="914400"/>
          </a:xfrm>
          <a:prstGeom prst="roundRect">
            <a:avLst>
              <a:gd name="adj" fmla="val 10000"/>
            </a:avLst>
          </a:prstGeom>
          <a:solidFill>
            <a:srgbClr val="F0E8F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685800"/>
          </a:xfrm>
          <a:prstGeom prst="rect">
            <a:avLst/>
          </a:prstGeom>
          <a:noFill/>
          <a:ln/>
        </p:spPr>
        <p:txBody>
          <a:bodyPr wrap="square" lIns="0" tIns="0" rIns="0" bIns="0" rtlCol="0" anchor="ctr"/>
          <a:lstStyle/>
          <a:p>
            <a:pPr indent="0" marL="0">
              <a:buNone/>
            </a:pPr>
            <a:r>
              <a:rPr lang="en-US" sz="1800" i="1" dirty="0">
                <a:solidFill>
                  <a:srgbClr val="2A0A4A"/>
                </a:solidFill>
                <a:latin typeface="Calibri" pitchFamily="34" charset="0"/>
                <a:ea typeface="Calibri" pitchFamily="34" charset="-122"/>
                <a:cs typeface="Calibri" pitchFamily="34" charset="-120"/>
              </a:rPr>
              <a:t>"Jemmy thought: I am free. And then he thought: but am I?"</a:t>
            </a:r>
            <a:endParaRPr lang="en-US" sz="1800" dirty="0"/>
          </a:p>
        </p:txBody>
      </p:sp>
      <p:sp>
        <p:nvSpPr>
          <p:cNvPr id="7" name="Text 5"/>
          <p:cNvSpPr/>
          <p:nvPr/>
        </p:nvSpPr>
        <p:spPr>
          <a:xfrm>
            <a:off x="457200" y="2048256"/>
            <a:ext cx="8229600" cy="347472"/>
          </a:xfrm>
          <a:prstGeom prst="rect">
            <a:avLst/>
          </a:prstGeom>
          <a:noFill/>
          <a:ln/>
        </p:spPr>
        <p:txBody>
          <a:bodyPr wrap="square" lIns="0" tIns="0" rIns="0" bIns="0" rtlCol="0" anchor="ctr"/>
          <a:lstStyle/>
          <a:p>
            <a:pPr indent="0" marL="0">
              <a:buNone/>
            </a:pPr>
            <a:r>
              <a:rPr lang="en-US" sz="1300" i="1" dirty="0">
                <a:solidFill>
                  <a:srgbClr val="5C2D91"/>
                </a:solidFill>
                <a:latin typeface="Calibri" pitchFamily="34" charset="0"/>
                <a:ea typeface="Calibri" pitchFamily="34" charset="-122"/>
                <a:cs typeface="Calibri" pitchFamily="34" charset="-120"/>
              </a:rPr>
              <a:t>📌 Craft focus: thought as dialogue; reversal with but</a:t>
            </a:r>
            <a:endParaRPr lang="en-US" sz="1300" dirty="0"/>
          </a:p>
        </p:txBody>
      </p:sp>
      <p:sp>
        <p:nvSpPr>
          <p:cNvPr id="8" name="Text 6"/>
          <p:cNvSpPr/>
          <p:nvPr/>
        </p:nvSpPr>
        <p:spPr>
          <a:xfrm>
            <a:off x="365760" y="248716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YOUR THREE JOBS</a:t>
            </a:r>
            <a:endParaRPr lang="en-US" sz="1100" dirty="0"/>
          </a:p>
        </p:txBody>
      </p:sp>
      <p:sp>
        <p:nvSpPr>
          <p:cNvPr id="9" name="Shape 7"/>
          <p:cNvSpPr/>
          <p:nvPr/>
        </p:nvSpPr>
        <p:spPr>
          <a:xfrm>
            <a:off x="365760" y="2724912"/>
            <a:ext cx="8412480" cy="438912"/>
          </a:xfrm>
          <a:prstGeom prst="roundRect">
            <a:avLst>
              <a:gd name="adj" fmla="val 20833"/>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77977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Read like a Reader</a:t>
            </a:r>
            <a:endParaRPr lang="en-US" sz="1300" dirty="0"/>
          </a:p>
        </p:txBody>
      </p:sp>
      <p:sp>
        <p:nvSpPr>
          <p:cNvPr id="11" name="Text 9"/>
          <p:cNvSpPr/>
          <p:nvPr/>
        </p:nvSpPr>
        <p:spPr>
          <a:xfrm>
            <a:off x="3246120" y="277977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What is happening here? What does this moment reveal about the character?</a:t>
            </a:r>
            <a:endParaRPr lang="en-US" sz="1200" dirty="0"/>
          </a:p>
        </p:txBody>
      </p:sp>
      <p:sp>
        <p:nvSpPr>
          <p:cNvPr id="12" name="Shape 10"/>
          <p:cNvSpPr/>
          <p:nvPr/>
        </p:nvSpPr>
        <p:spPr>
          <a:xfrm>
            <a:off x="365760" y="3227832"/>
            <a:ext cx="8412480" cy="438912"/>
          </a:xfrm>
          <a:prstGeom prst="roundRect">
            <a:avLst>
              <a:gd name="adj" fmla="val 20833"/>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328269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Read like a Writer</a:t>
            </a:r>
            <a:endParaRPr lang="en-US" sz="1300" dirty="0"/>
          </a:p>
        </p:txBody>
      </p:sp>
      <p:sp>
        <p:nvSpPr>
          <p:cNvPr id="14" name="Text 12"/>
          <p:cNvSpPr/>
          <p:nvPr/>
        </p:nvSpPr>
        <p:spPr>
          <a:xfrm>
            <a:off x="3246120" y="328269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What did the author do? Name the craft technique and explain why it works.</a:t>
            </a:r>
            <a:endParaRPr lang="en-US" sz="1200" dirty="0"/>
          </a:p>
        </p:txBody>
      </p:sp>
      <p:sp>
        <p:nvSpPr>
          <p:cNvPr id="15" name="Shape 13"/>
          <p:cNvSpPr/>
          <p:nvPr/>
        </p:nvSpPr>
        <p:spPr>
          <a:xfrm>
            <a:off x="365760" y="3730752"/>
            <a:ext cx="8412480" cy="438912"/>
          </a:xfrm>
          <a:prstGeom prst="roundRect">
            <a:avLst>
              <a:gd name="adj" fmla="val 20833"/>
            </a:avLst>
          </a:prstGeom>
          <a:solidFill>
            <a:srgbClr val="E8F8EF"/>
          </a:solidFill>
          <a:ln/>
          <a:effectLst>
            <a:outerShdw sx="100000" sy="100000" kx="0" ky="0" algn="bl" rotWithShape="0" blurRad="101600" dist="38100" dir="2700000">
              <a:srgbClr val="000000">
                <a:alpha val="12000"/>
              </a:srgbClr>
            </a:outerShdw>
          </a:effectLst>
        </p:spPr>
      </p:sp>
      <p:sp>
        <p:nvSpPr>
          <p:cNvPr id="16" name="Text 14"/>
          <p:cNvSpPr/>
          <p:nvPr/>
        </p:nvSpPr>
        <p:spPr>
          <a:xfrm>
            <a:off x="594360" y="378561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Mimic</a:t>
            </a:r>
            <a:endParaRPr lang="en-US" sz="1300" dirty="0"/>
          </a:p>
        </p:txBody>
      </p:sp>
      <p:sp>
        <p:nvSpPr>
          <p:cNvPr id="17" name="Text 15"/>
          <p:cNvSpPr/>
          <p:nvPr/>
        </p:nvSpPr>
        <p:spPr>
          <a:xfrm>
            <a:off x="3246120" y="378561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Writer's Workshop — Week 21</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WRITING STAGE</a:t>
            </a:r>
            <a:endParaRPr lang="en-US" sz="1100" dirty="0"/>
          </a:p>
        </p:txBody>
      </p:sp>
      <p:sp>
        <p:nvSpPr>
          <p:cNvPr id="5" name="Shape 3"/>
          <p:cNvSpPr/>
          <p:nvPr/>
        </p:nvSpPr>
        <p:spPr>
          <a:xfrm>
            <a:off x="365760" y="1042416"/>
            <a:ext cx="8412480" cy="658368"/>
          </a:xfrm>
          <a:prstGeom prst="roundRect">
            <a:avLst>
              <a:gd name="adj" fmla="val 13889"/>
            </a:avLst>
          </a:prstGeom>
          <a:solidFill>
            <a:srgbClr val="FFF8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33856"/>
            <a:ext cx="7863840" cy="475488"/>
          </a:xfrm>
          <a:prstGeom prst="rect">
            <a:avLst/>
          </a:prstGeom>
          <a:noFill/>
          <a:ln/>
        </p:spPr>
        <p:txBody>
          <a:bodyPr wrap="square" lIns="0" tIns="0" rIns="0" bIns="0" rtlCol="0" anchor="ctr"/>
          <a:lstStyle/>
          <a:p>
            <a:pPr indent="0" marL="0">
              <a:buNone/>
            </a:pPr>
            <a:r>
              <a:rPr lang="en-US" sz="2200" b="1" dirty="0">
                <a:solidFill>
                  <a:srgbClr val="B8860B"/>
                </a:solidFill>
                <a:latin typeface="Calibri" pitchFamily="34" charset="0"/>
                <a:ea typeface="Calibri" pitchFamily="34" charset="-122"/>
                <a:cs typeface="Calibri" pitchFamily="34" charset="-120"/>
              </a:rPr>
              <a:t>♻️ Revise &amp; Publish</a:t>
            </a:r>
            <a:endParaRPr lang="en-US" sz="2200" dirty="0"/>
          </a:p>
        </p:txBody>
      </p:sp>
      <p:sp>
        <p:nvSpPr>
          <p:cNvPr id="7" name="Text 5"/>
          <p:cNvSpPr/>
          <p:nvPr/>
        </p:nvSpPr>
        <p:spPr>
          <a:xfrm>
            <a:off x="365760" y="182880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TODAY'S FOCUS</a:t>
            </a:r>
            <a:endParaRPr lang="en-US" sz="1100" dirty="0"/>
          </a:p>
        </p:txBody>
      </p:sp>
      <p:sp>
        <p:nvSpPr>
          <p:cNvPr id="8" name="Text 6"/>
          <p:cNvSpPr/>
          <p:nvPr/>
        </p:nvSpPr>
        <p:spPr>
          <a:xfrm>
            <a:off x="457200" y="2084832"/>
            <a:ext cx="8229600" cy="59436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Revise for strong verbs and clear transitions. Then publish.</a:t>
            </a:r>
            <a:endParaRPr lang="en-US" sz="1500" dirty="0"/>
          </a:p>
        </p:txBody>
      </p:sp>
      <p:sp>
        <p:nvSpPr>
          <p:cNvPr id="9" name="Text 7"/>
          <p:cNvSpPr/>
          <p:nvPr/>
        </p:nvSpPr>
        <p:spPr>
          <a:xfrm>
            <a:off x="365760" y="279806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SENTENCE FRAMES</a:t>
            </a:r>
            <a:endParaRPr lang="en-US" sz="1100" dirty="0"/>
          </a:p>
        </p:txBody>
      </p:sp>
      <p:sp>
        <p:nvSpPr>
          <p:cNvPr id="10" name="Text 8"/>
          <p:cNvSpPr/>
          <p:nvPr/>
        </p:nvSpPr>
        <p:spPr>
          <a:xfrm>
            <a:off x="502920" y="3054096"/>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"I revised ___ by changing ___ to ___ because it is stronger."</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2026-07-11T02:16:32Z</dcterms:created>
  <dcterms:modified xsi:type="dcterms:W3CDTF">2026-07-11T02:16:32Z</dcterms:modified>
</cp:coreProperties>
</file>