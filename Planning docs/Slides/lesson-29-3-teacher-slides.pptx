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29 Day 3. The Lion, the Witch and the Wardrobe.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what the person does, not just that they are there?.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29 · Day 3</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4A90D9"/>
                </a:solidFill>
                <a:latin typeface="Calibri" pitchFamily="34" charset="0"/>
                <a:ea typeface="Calibri" pitchFamily="34" charset="-122"/>
                <a:cs typeface="Calibri" pitchFamily="34" charset="-120"/>
              </a:rPr>
              <a:t>The Lion, the Witch and the Wardrobe — Lesson 29.3</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Lucy and Susan stay with Aslan even when things are sad and scary. Write about someone in your life who stays with you during hard times. What do they do that helps?</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Lucy and Susan stay with Aslan even when things are sad and scary. Write about someone in your life who stays with you during hard times. What do they do that helps?</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what the person does, not just that they are there?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Explain theme using details from across the story.</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As you read today, ask yourself: How does the Deeper Magic in Ch. 15 change your understanding of everything that happened before?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Explain the Deeper Magic in your own words. What is the rule, and why did the Witch not know about it?</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in a fantasy story slow down and pay attention to how the author builds the world . Details of setting, character, and pattern all work together to create meaning.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 said Aslan, "that dead."</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stone table is broken" said lucy "and aslan is alive"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4A90D9"/>
            </a:solidFill>
            <a:prstDash val="solid"/>
          </a:ln>
        </p:spPr>
      </p:sp>
      <p:sp>
        <p:nvSpPr>
          <p:cNvPr id="4" name="Shape 2"/>
          <p:cNvSpPr/>
          <p:nvPr/>
        </p:nvSpPr>
        <p:spPr>
          <a:xfrm>
            <a:off x="6492240" y="173736"/>
            <a:ext cx="2286000" cy="502920"/>
          </a:xfrm>
          <a:prstGeom prst="roundRect">
            <a:avLst>
              <a:gd name="adj" fmla="val 21818"/>
            </a:avLst>
          </a:prstGeom>
          <a:solidFill>
            <a:srgbClr val="4A90D9"/>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stone table is broken" said lucy "and aslan is alive"</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Capital T for The (first word of speech); Stone Table = proper noun (capitals); comma inside the quotation mark after broken; dialogue tag said Lucy with comma; second speech continues lowercase and; Aslan is a proper noun; exclamation inside the final quotation mark.</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Root/base: ject means throw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5" name="Text 3"/>
          <p:cNvSpPr/>
          <p:nvPr/>
        </p:nvSpPr>
        <p:spPr>
          <a:xfrm>
            <a:off x="640080" y="1325880"/>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Apply: Build words using ject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Reading: Ch. 13–15</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As you read today, ask yourself: How does the Deeper Magic in Ch. 15 change your understanding of everything that happened before?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Explain the Deeper Magic in your own words. What is the rule, and why did the Witch not know about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“"It means," said Aslan, "that though the Witch knew the Deep Magic, there is a magic deeper still which she did not know."”</a:t>
            </a:r>
            <a:endParaRPr lang="en-US" sz="1800" dirty="0"/>
          </a:p>
        </p:txBody>
      </p:sp>
      <p:sp>
        <p:nvSpPr>
          <p:cNvPr id="6" name="Text 4"/>
          <p:cNvSpPr/>
          <p:nvPr/>
        </p:nvSpPr>
        <p:spPr>
          <a:xfrm>
            <a:off x="640080" y="1645920"/>
            <a:ext cx="7863840" cy="320040"/>
          </a:xfrm>
          <a:prstGeom prst="rect">
            <a:avLst/>
          </a:prstGeom>
          <a:noFill/>
          <a:ln/>
        </p:spPr>
        <p:txBody>
          <a:bodyPr wrap="square" lIns="0" tIns="0" rIns="0" bIns="0" rtlCol="0" anchor="ctr"/>
          <a:lstStyle/>
          <a:p>
            <a:pPr indent="0" marL="0">
              <a:buNone/>
            </a:pPr>
            <a:r>
              <a:rPr lang="en-US" sz="1300" i="1" dirty="0">
                <a:solidFill>
                  <a:srgbClr val="8B6FC0"/>
                </a:solidFill>
                <a:latin typeface="Calibri" pitchFamily="34" charset="0"/>
                <a:ea typeface="Calibri" pitchFamily="34" charset="-122"/>
                <a:cs typeface="Calibri" pitchFamily="34" charset="-120"/>
              </a:rPr>
              <a:t>📌 Craft focus: split dialogue — speech interrupted by a tag for emphasis</a:t>
            </a:r>
            <a:endParaRPr lang="en-US" sz="1300" dirty="0"/>
          </a:p>
        </p:txBody>
      </p:sp>
      <p:sp>
        <p:nvSpPr>
          <p:cNvPr id="7" name="Shape 5"/>
          <p:cNvSpPr/>
          <p:nvPr/>
        </p:nvSpPr>
        <p:spPr>
          <a:xfrm>
            <a:off x="457200" y="205740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8" name="Text 6"/>
          <p:cNvSpPr/>
          <p:nvPr/>
        </p:nvSpPr>
        <p:spPr>
          <a:xfrm>
            <a:off x="640080" y="210312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Aslan reveals the Deeper Magic that the Witch didn't know about. Why do you think Lewis hid this from the reader until now? How does this moment change everything that happened before?</a:t>
            </a:r>
            <a:endParaRPr lang="en-US" sz="1400" dirty="0"/>
          </a:p>
        </p:txBody>
      </p:sp>
      <p:sp>
        <p:nvSpPr>
          <p:cNvPr id="9" name="Shape 7"/>
          <p:cNvSpPr/>
          <p:nvPr/>
        </p:nvSpPr>
        <p:spPr>
          <a:xfrm>
            <a:off x="457200" y="271576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76148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Lewis interrupts Aslan's speech with  "said Aslan"  right in the middle. Try reading it uninterrupted:  "There is a magic deeper still which she did not know."  Now add the interruption back. The pause creates a kind of drumroll. Why is that more powerful for this particular reveal?</a:t>
            </a:r>
            <a:endParaRPr lang="en-US" sz="1400" dirty="0"/>
          </a:p>
        </p:txBody>
      </p:sp>
      <p:sp>
        <p:nvSpPr>
          <p:cNvPr id="11" name="Shape 9"/>
          <p:cNvSpPr/>
          <p:nvPr/>
        </p:nvSpPr>
        <p:spPr>
          <a:xfrm>
            <a:off x="457200" y="337413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41985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sentence using the same pattern as the author.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Writer’s Workshop: Week 29 · REVISE Theme Response</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