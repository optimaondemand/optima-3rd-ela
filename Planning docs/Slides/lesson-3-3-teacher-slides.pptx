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3.3. Reading: Chapter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prompt aloud. Give students a moment to think before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minutes of sustained writing. Stamina over polish. Do not correct spelling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fix only. Editing is conventions; revision is ideas. Name which one you are asking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or three volunteers. Praise something specific in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lens: Good readers pay attention to how events affect characters . When something important happens, it changes what a character feels, thinks, or decides to do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Corrected: Corrected: 
Look for: “It’s working ! It’s working !” shouted Arthur as he kept pumping air into his brother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Corrected: Corrected: 
Look for: “It’s working ! It’s working !” shouted Arthur as he kept pumping air into his brother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 the word into base + word part. Ask what the part adds to the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word appears in the chapters read this week, in the author’s own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fell, slid, laughed, hurried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fell, slid, laughed, hurried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silent-e: spoke, shame, brave, shake | closed: pump, held, left, kept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silent-e: spoke, shame, brave, shake | closed: pump, held, left, kept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chapters, then return to the pause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Writer’s Workshop stage for the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C42"/>
        </a:solidFill>
      </p:bgPr>
    </p:bg>
    <p:spTree>
      <p:nvGrpSpPr>
        <p:cNvPr id="1" name=""/>
        <p:cNvGrpSpPr/>
        <p:nvPr/>
      </p:nvGrpSpPr>
      <p:grpSpPr>
        <a:xfrm>
          <a:off x="0" y="0"/>
          <a:ext cx="0" cy="0"/>
          <a:chOff x="0" y="0"/>
          <a:chExt cx="0" cy="0"/>
        </a:xfrm>
      </p:grpSpPr>
      <p:sp>
        <p:nvSpPr>
          <p:cNvPr id="2" name="Text 0"/>
          <p:cNvSpPr/>
          <p:nvPr/>
        </p:nvSpPr>
        <p:spPr>
          <a:xfrm>
            <a:off x="0" y="822960"/>
            <a:ext cx="9144000" cy="822960"/>
          </a:xfrm>
          <a:prstGeom prst="rect">
            <a:avLst/>
          </a:prstGeom>
          <a:noFill/>
          <a:ln/>
        </p:spPr>
        <p:txBody>
          <a:bodyPr wrap="square" lIns="0" tIns="0" rIns="0" bIns="0" rtlCol="0" anchor="ctr"/>
          <a:lstStyle/>
          <a:p>
            <a:pPr algn="ctr" indent="0" marL="0">
              <a:buNone/>
            </a:pPr>
            <a:r>
              <a:rPr lang="en-US" sz="5200" dirty="0">
                <a:solidFill>
                  <a:srgbClr val="000000"/>
                </a:solidFill>
              </a:rPr>
              <a:t>⭐</a:t>
            </a:r>
            <a:endParaRPr lang="en-US" sz="5200" dirty="0"/>
          </a:p>
        </p:txBody>
      </p:sp>
      <p:sp>
        <p:nvSpPr>
          <p:cNvPr id="3" name="Text 1"/>
          <p:cNvSpPr/>
          <p:nvPr/>
        </p:nvSpPr>
        <p:spPr>
          <a:xfrm>
            <a:off x="457200" y="1691640"/>
            <a:ext cx="8229600" cy="566928"/>
          </a:xfrm>
          <a:prstGeom prst="rect">
            <a:avLst/>
          </a:prstGeom>
          <a:noFill/>
          <a:ln/>
        </p:spPr>
        <p:txBody>
          <a:bodyPr wrap="square" lIns="0" tIns="0" rIns="0" bIns="0" rtlCol="0" anchor="ctr"/>
          <a:lstStyle/>
          <a:p>
            <a:pPr algn="ctr" indent="0" marL="0">
              <a:buNone/>
            </a:pPr>
            <a:r>
              <a:rPr lang="en-US" sz="3400" b="1" dirty="0">
                <a:solidFill>
                  <a:srgbClr val="FFFFFF"/>
                </a:solidFill>
                <a:latin typeface="Calibri" pitchFamily="34" charset="0"/>
                <a:ea typeface="Calibri" pitchFamily="34" charset="-122"/>
                <a:cs typeface="Calibri" pitchFamily="34" charset="-120"/>
              </a:rPr>
              <a:t>Flat Stanley</a:t>
            </a:r>
            <a:endParaRPr lang="en-US" sz="3400" dirty="0"/>
          </a:p>
        </p:txBody>
      </p:sp>
      <p:sp>
        <p:nvSpPr>
          <p:cNvPr id="4" name="Text 2"/>
          <p:cNvSpPr/>
          <p:nvPr/>
        </p:nvSpPr>
        <p:spPr>
          <a:xfrm>
            <a:off x="457200" y="2331720"/>
            <a:ext cx="8229600" cy="411480"/>
          </a:xfrm>
          <a:prstGeom prst="rect">
            <a:avLst/>
          </a:prstGeom>
          <a:noFill/>
          <a:ln/>
        </p:spPr>
        <p:txBody>
          <a:bodyPr wrap="square" lIns="0" tIns="0" rIns="0" bIns="0" rtlCol="0" anchor="ctr"/>
          <a:lstStyle/>
          <a:p>
            <a:pPr algn="ctr" indent="0" marL="0">
              <a:buNone/>
            </a:pPr>
            <a:r>
              <a:rPr lang="en-US" sz="2000" dirty="0">
                <a:solidFill>
                  <a:srgbClr val="55C8E8"/>
                </a:solidFill>
                <a:latin typeface="Calibri" pitchFamily="34" charset="0"/>
                <a:ea typeface="Calibri" pitchFamily="34" charset="-122"/>
                <a:cs typeface="Calibri" pitchFamily="34" charset="-120"/>
              </a:rPr>
              <a:t>Lesson 3.3  ·  Chapter 5</a:t>
            </a:r>
            <a:endParaRPr lang="en-US" sz="2000" dirty="0"/>
          </a:p>
        </p:txBody>
      </p:sp>
      <p:sp>
        <p:nvSpPr>
          <p:cNvPr id="5" name="Text 3"/>
          <p:cNvSpPr/>
          <p:nvPr/>
        </p:nvSpPr>
        <p:spPr>
          <a:xfrm>
            <a:off x="457200" y="2880360"/>
            <a:ext cx="8229600" cy="320040"/>
          </a:xfrm>
          <a:prstGeom prst="rect">
            <a:avLst/>
          </a:prstGeom>
          <a:noFill/>
          <a:ln/>
        </p:spPr>
        <p:txBody>
          <a:bodyPr wrap="square" lIns="0" tIns="0" rIns="0" bIns="0" rtlCol="0" anchor="ctr"/>
          <a:lstStyle/>
          <a:p>
            <a:pPr algn="ctr" indent="0" marL="0">
              <a:buNone/>
            </a:pPr>
            <a:r>
              <a:rPr lang="en-US" sz="1400" dirty="0">
                <a:solidFill>
                  <a:srgbClr val="C9BCE4"/>
                </a:solidFill>
                <a:latin typeface="Calibri" pitchFamily="34" charset="0"/>
                <a:ea typeface="Calibri" pitchFamily="34" charset="-122"/>
                <a:cs typeface="Calibri" pitchFamily="34" charset="-120"/>
              </a:rPr>
              <a:t>Grade 3 ELA  ·  Virtue: Courage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7922C"/>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10-Minute Write</a:t>
            </a:r>
            <a:endParaRPr lang="en-US" sz="2200" dirty="0"/>
          </a:p>
        </p:txBody>
      </p:sp>
      <p:sp>
        <p:nvSpPr>
          <p:cNvPr id="4" name="Text 2"/>
          <p:cNvSpPr/>
          <p:nvPr/>
        </p:nvSpPr>
        <p:spPr>
          <a:xfrm>
            <a:off x="365760" y="82296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READ THE PROMPT — 1 MINUTE</a:t>
            </a:r>
            <a:endParaRPr lang="en-US" sz="1100" dirty="0"/>
          </a:p>
        </p:txBody>
      </p:sp>
      <p:sp>
        <p:nvSpPr>
          <p:cNvPr id="5" name="Shape 3"/>
          <p:cNvSpPr/>
          <p:nvPr/>
        </p:nvSpPr>
        <p:spPr>
          <a:xfrm>
            <a:off x="365760" y="1143000"/>
            <a:ext cx="8412480" cy="1737360"/>
          </a:xfrm>
          <a:prstGeom prst="roundRect">
            <a:avLst>
              <a:gd name="adj" fmla="val 5263"/>
            </a:avLst>
          </a:prstGeom>
          <a:solidFill>
            <a:srgbClr val="FEF6E8"/>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94360" y="1271016"/>
            <a:ext cx="7955280" cy="148132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Arthur has a good idea that saves the day. Write about a good idea you had once.</a:t>
            </a:r>
            <a:endParaRPr lang="en-US" sz="1700" dirty="0"/>
          </a:p>
        </p:txBody>
      </p:sp>
      <p:sp>
        <p:nvSpPr>
          <p:cNvPr id="7" name="Text 5"/>
          <p:cNvSpPr/>
          <p:nvPr/>
        </p:nvSpPr>
        <p:spPr>
          <a:xfrm>
            <a:off x="365760" y="3063240"/>
            <a:ext cx="8412480" cy="365760"/>
          </a:xfrm>
          <a:prstGeom prst="rect">
            <a:avLst/>
          </a:prstGeom>
          <a:noFill/>
          <a:ln/>
        </p:spPr>
        <p:txBody>
          <a:bodyPr wrap="square" lIns="0" tIns="0" rIns="0" bIns="0" rtlCol="0" anchor="ctr"/>
          <a:lstStyle/>
          <a:p>
            <a:pPr indent="0" marL="0">
              <a:buNone/>
            </a:pPr>
            <a:r>
              <a:rPr lang="en-US" sz="1600" i="1" dirty="0">
                <a:solidFill>
                  <a:srgbClr val="64748B"/>
                </a:solidFill>
                <a:latin typeface="Calibri" pitchFamily="34" charset="0"/>
                <a:ea typeface="Calibri" pitchFamily="34" charset="-122"/>
                <a:cs typeface="Calibri" pitchFamily="34" charset="-120"/>
              </a:rPr>
              <a:t>Think first. You will have five minutes to write.</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EF6E8"/>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7922C"/>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Writing Time</a:t>
            </a:r>
            <a:endParaRPr lang="en-US" sz="2200" dirty="0"/>
          </a:p>
        </p:txBody>
      </p:sp>
      <p:sp>
        <p:nvSpPr>
          <p:cNvPr id="4" name="Text 2"/>
          <p:cNvSpPr/>
          <p:nvPr/>
        </p:nvSpPr>
        <p:spPr>
          <a:xfrm>
            <a:off x="365760" y="868680"/>
            <a:ext cx="8412480" cy="502920"/>
          </a:xfrm>
          <a:prstGeom prst="rect">
            <a:avLst/>
          </a:prstGeom>
          <a:noFill/>
          <a:ln/>
        </p:spPr>
        <p:txBody>
          <a:bodyPr wrap="square" lIns="0" tIns="0" rIns="0" bIns="0" rtlCol="0" anchor="ctr"/>
          <a:lstStyle/>
          <a:p>
            <a:pPr indent="0" marL="0">
              <a:buNone/>
            </a:pPr>
            <a:r>
              <a:rPr lang="en-US" sz="2600" b="1" dirty="0">
                <a:solidFill>
                  <a:srgbClr val="0E1C42"/>
                </a:solidFill>
                <a:latin typeface="Calibri" pitchFamily="34" charset="0"/>
                <a:ea typeface="Calibri" pitchFamily="34" charset="-122"/>
                <a:cs typeface="Calibri" pitchFamily="34" charset="-120"/>
              </a:rPr>
              <a:t>5 minutes — keep your pencil moving!</a:t>
            </a:r>
            <a:endParaRPr lang="en-US" sz="2600" dirty="0"/>
          </a:p>
        </p:txBody>
      </p:sp>
      <p:sp>
        <p:nvSpPr>
          <p:cNvPr id="5" name="Text 3"/>
          <p:cNvSpPr/>
          <p:nvPr/>
        </p:nvSpPr>
        <p:spPr>
          <a:xfrm>
            <a:off x="365760" y="146304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YOUR PROMPT</a:t>
            </a:r>
            <a:endParaRPr lang="en-US" sz="1100" dirty="0"/>
          </a:p>
        </p:txBody>
      </p:sp>
      <p:sp>
        <p:nvSpPr>
          <p:cNvPr id="6" name="Shape 4"/>
          <p:cNvSpPr/>
          <p:nvPr/>
        </p:nvSpPr>
        <p:spPr>
          <a:xfrm>
            <a:off x="365760" y="1737360"/>
            <a:ext cx="8412480" cy="1417320"/>
          </a:xfrm>
          <a:prstGeom prst="roundRect">
            <a:avLst>
              <a:gd name="adj" fmla="val 6452"/>
            </a:avLst>
          </a:prstGeom>
          <a:solidFill>
            <a:srgbClr val="FFFFFF"/>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65376"/>
            <a:ext cx="7955280" cy="116128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Arthur has a good idea that saves the day. Write about a good idea you had once.</a:t>
            </a:r>
            <a:endParaRPr lang="en-US" sz="1700" dirty="0"/>
          </a:p>
        </p:txBody>
      </p:sp>
      <p:sp>
        <p:nvSpPr>
          <p:cNvPr id="8" name="Text 6"/>
          <p:cNvSpPr/>
          <p:nvPr/>
        </p:nvSpPr>
        <p:spPr>
          <a:xfrm>
            <a:off x="365760" y="3291840"/>
            <a:ext cx="8412480" cy="365760"/>
          </a:xfrm>
          <a:prstGeom prst="rect">
            <a:avLst/>
          </a:prstGeom>
          <a:noFill/>
          <a:ln/>
        </p:spPr>
        <p:txBody>
          <a:bodyPr wrap="square" lIns="0" tIns="0" rIns="0" bIns="0" rtlCol="0" anchor="ctr"/>
          <a:lstStyle/>
          <a:p>
            <a:pPr indent="0" marL="0">
              <a:buNone/>
            </a:pPr>
            <a:r>
              <a:rPr lang="en-US" sz="1500" i="1" dirty="0">
                <a:solidFill>
                  <a:srgbClr val="64748B"/>
                </a:solidFill>
                <a:latin typeface="Calibri" pitchFamily="34" charset="0"/>
                <a:ea typeface="Calibri" pitchFamily="34" charset="-122"/>
                <a:cs typeface="Calibri" pitchFamily="34" charset="-120"/>
              </a:rPr>
              <a:t>Do not stop to erase. If you get stuck, write the last word again and keep going.</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8F8E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34B76F"/>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Edit &amp; Revise</a:t>
            </a:r>
            <a:endParaRPr lang="en-US" sz="2200" dirty="0"/>
          </a:p>
        </p:txBody>
      </p:sp>
      <p:sp>
        <p:nvSpPr>
          <p:cNvPr id="4" name="Text 2"/>
          <p:cNvSpPr/>
          <p:nvPr/>
        </p:nvSpPr>
        <p:spPr>
          <a:xfrm>
            <a:off x="365760" y="868680"/>
            <a:ext cx="8412480" cy="457200"/>
          </a:xfrm>
          <a:prstGeom prst="rect">
            <a:avLst/>
          </a:prstGeom>
          <a:noFill/>
          <a:ln/>
        </p:spPr>
        <p:txBody>
          <a:bodyPr wrap="square" lIns="0" tIns="0" rIns="0" bIns="0" rtlCol="0" anchor="ctr"/>
          <a:lstStyle/>
          <a:p>
            <a:pPr indent="0" marL="0">
              <a:buNone/>
            </a:pPr>
            <a:r>
              <a:rPr lang="en-US" sz="2400" b="1" dirty="0">
                <a:solidFill>
                  <a:srgbClr val="0E1C42"/>
                </a:solidFill>
                <a:latin typeface="Calibri" pitchFamily="34" charset="0"/>
                <a:ea typeface="Calibri" pitchFamily="34" charset="-122"/>
                <a:cs typeface="Calibri" pitchFamily="34" charset="-120"/>
              </a:rPr>
              <a:t>1 minute — pick ONE thing to fix.</a:t>
            </a:r>
            <a:endParaRPr lang="en-US" sz="2400" dirty="0"/>
          </a:p>
        </p:txBody>
      </p:sp>
      <p:sp>
        <p:nvSpPr>
          <p:cNvPr id="5" name="Text 3"/>
          <p:cNvSpPr/>
          <p:nvPr/>
        </p:nvSpPr>
        <p:spPr>
          <a:xfrm>
            <a:off x="365760" y="1417320"/>
            <a:ext cx="8229600" cy="237744"/>
          </a:xfrm>
          <a:prstGeom prst="rect">
            <a:avLst/>
          </a:prstGeom>
          <a:noFill/>
          <a:ln/>
        </p:spPr>
        <p:txBody>
          <a:bodyPr wrap="square" lIns="0" tIns="0" rIns="0" bIns="0" rtlCol="0" anchor="ctr"/>
          <a:lstStyle/>
          <a:p>
            <a:pPr indent="0" marL="0">
              <a:buNone/>
            </a:pPr>
            <a:r>
              <a:rPr lang="en-US" sz="1100" b="1" spc="100" kern="0" dirty="0">
                <a:solidFill>
                  <a:srgbClr val="34B76F"/>
                </a:solidFill>
                <a:latin typeface="Calibri" pitchFamily="34" charset="0"/>
                <a:ea typeface="Calibri" pitchFamily="34" charset="-122"/>
                <a:cs typeface="Calibri" pitchFamily="34" charset="-120"/>
              </a:rPr>
              <a:t>TODAY'S EDIT FOCUS</a:t>
            </a:r>
            <a:endParaRPr lang="en-US" sz="1100" dirty="0"/>
          </a:p>
        </p:txBody>
      </p:sp>
      <p:sp>
        <p:nvSpPr>
          <p:cNvPr id="6" name="Shape 4"/>
          <p:cNvSpPr/>
          <p:nvPr/>
        </p:nvSpPr>
        <p:spPr>
          <a:xfrm>
            <a:off x="365760" y="1691640"/>
            <a:ext cx="841248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19656"/>
            <a:ext cx="7955280" cy="52120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Did I end each sentence with the right punctuation mark?</a:t>
            </a:r>
            <a:endParaRPr lang="en-US" sz="1700" dirty="0"/>
          </a:p>
        </p:txBody>
      </p:sp>
      <p:sp>
        <p:nvSpPr>
          <p:cNvPr id="8" name="Text 6"/>
          <p:cNvSpPr/>
          <p:nvPr/>
        </p:nvSpPr>
        <p:spPr>
          <a:xfrm>
            <a:off x="365760" y="2651760"/>
            <a:ext cx="8412480" cy="365760"/>
          </a:xfrm>
          <a:prstGeom prst="rect">
            <a:avLst/>
          </a:prstGeom>
          <a:noFill/>
          <a:ln/>
        </p:spPr>
        <p:txBody>
          <a:bodyPr wrap="square" lIns="0" tIns="0" rIns="0" bIns="0"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Quick check:  </a:t>
            </a:r>
            <a:pPr indent="0" marL="0">
              <a:buNone/>
            </a:pPr>
            <a:r>
              <a:rPr lang="en-US" sz="1500" dirty="0">
                <a:solidFill>
                  <a:srgbClr val="1E293B"/>
                </a:solidFill>
                <a:latin typeface="Calibri" pitchFamily="34" charset="0"/>
                <a:ea typeface="Calibri" pitchFamily="34" charset="-122"/>
                <a:cs typeface="Calibri" pitchFamily="34" charset="-120"/>
              </a:rPr>
              <a:t>capitals  ·  end punctuation  ·  circle a word you are unsure of  ·  read it aloud</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5C8E8"/>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Share Time</a:t>
            </a:r>
            <a:endParaRPr lang="en-US" sz="2200" dirty="0"/>
          </a:p>
        </p:txBody>
      </p:sp>
      <p:sp>
        <p:nvSpPr>
          <p:cNvPr id="4" name="Text 2"/>
          <p:cNvSpPr/>
          <p:nvPr/>
        </p:nvSpPr>
        <p:spPr>
          <a:xfrm>
            <a:off x="365760" y="1005840"/>
            <a:ext cx="8412480" cy="548640"/>
          </a:xfrm>
          <a:prstGeom prst="rect">
            <a:avLst/>
          </a:prstGeom>
          <a:noFill/>
          <a:ln/>
        </p:spPr>
        <p:txBody>
          <a:bodyPr wrap="square" lIns="0" tIns="0" rIns="0" bIns="0" rtlCol="0" anchor="ctr"/>
          <a:lstStyle/>
          <a:p>
            <a:pPr indent="0" marL="0">
              <a:buNone/>
            </a:pPr>
            <a:r>
              <a:rPr lang="en-US" sz="2600" b="1" dirty="0">
                <a:solidFill>
                  <a:srgbClr val="0E1C42"/>
                </a:solidFill>
                <a:latin typeface="Calibri" pitchFamily="34" charset="0"/>
                <a:ea typeface="Calibri" pitchFamily="34" charset="-122"/>
                <a:cs typeface="Calibri" pitchFamily="34" charset="-120"/>
              </a:rPr>
              <a:t>3 minutes — let's hear your writing!</a:t>
            </a:r>
            <a:endParaRPr lang="en-US" sz="2600" dirty="0"/>
          </a:p>
        </p:txBody>
      </p:sp>
      <p:sp>
        <p:nvSpPr>
          <p:cNvPr id="5" name="Text 3"/>
          <p:cNvSpPr/>
          <p:nvPr/>
        </p:nvSpPr>
        <p:spPr>
          <a:xfrm>
            <a:off x="365760" y="1691640"/>
            <a:ext cx="8412480" cy="457200"/>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Raise your hand  ·  paste it in the chat  ·  or hold your paper up to the camera</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5C8E8"/>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Today</a:t>
            </a:r>
            <a:endParaRPr lang="en-US" sz="2200" dirty="0"/>
          </a:p>
        </p:txBody>
      </p:sp>
      <p:sp>
        <p:nvSpPr>
          <p:cNvPr id="4" name="Text 2"/>
          <p:cNvSpPr/>
          <p:nvPr/>
        </p:nvSpPr>
        <p:spPr>
          <a:xfrm>
            <a:off x="365760" y="777240"/>
            <a:ext cx="8229600" cy="237744"/>
          </a:xfrm>
          <a:prstGeom prst="rect">
            <a:avLst/>
          </a:prstGeom>
          <a:noFill/>
          <a:ln/>
        </p:spPr>
        <p:txBody>
          <a:bodyPr wrap="square" lIns="0" tIns="0" rIns="0" bIns="0" rtlCol="0" anchor="ctr"/>
          <a:lstStyle/>
          <a:p>
            <a:pPr indent="0" marL="0">
              <a:buNone/>
            </a:pPr>
            <a:r>
              <a:rPr lang="en-US" sz="1100" b="1" spc="100" kern="0" dirty="0">
                <a:solidFill>
                  <a:srgbClr val="8B6FC0"/>
                </a:solidFill>
                <a:latin typeface="Calibri" pitchFamily="34" charset="0"/>
                <a:ea typeface="Calibri" pitchFamily="34" charset="-122"/>
                <a:cs typeface="Calibri" pitchFamily="34" charset="-120"/>
              </a:rPr>
              <a:t>READING</a:t>
            </a:r>
            <a:endParaRPr lang="en-US" sz="1100" dirty="0"/>
          </a:p>
        </p:txBody>
      </p:sp>
      <p:sp>
        <p:nvSpPr>
          <p:cNvPr id="5" name="Text 3"/>
          <p:cNvSpPr/>
          <p:nvPr/>
        </p:nvSpPr>
        <p:spPr>
          <a:xfrm>
            <a:off x="365760" y="1014984"/>
            <a:ext cx="8412480" cy="365760"/>
          </a:xfrm>
          <a:prstGeom prst="rect">
            <a:avLst/>
          </a:prstGeom>
          <a:noFill/>
          <a:ln/>
        </p:spPr>
        <p:txBody>
          <a:bodyPr wrap="square" lIns="0" tIns="0" rIns="0" bIns="0" rtlCol="0" anchor="ctr"/>
          <a:lstStyle/>
          <a:p>
            <a:pPr indent="0" marL="0">
              <a:buNone/>
            </a:pPr>
            <a:r>
              <a:rPr lang="en-US" sz="2000" b="1" dirty="0">
                <a:solidFill>
                  <a:srgbClr val="0E1C42"/>
                </a:solidFill>
                <a:latin typeface="Calibri" pitchFamily="34" charset="0"/>
                <a:ea typeface="Calibri" pitchFamily="34" charset="-122"/>
                <a:cs typeface="Calibri" pitchFamily="34" charset="-120"/>
              </a:rPr>
              <a:t>Chapter 5</a:t>
            </a:r>
            <a:endParaRPr lang="en-US" sz="2000" dirty="0"/>
          </a:p>
        </p:txBody>
      </p:sp>
      <p:sp>
        <p:nvSpPr>
          <p:cNvPr id="6" name="Text 4"/>
          <p:cNvSpPr/>
          <p:nvPr/>
        </p:nvSpPr>
        <p:spPr>
          <a:xfrm>
            <a:off x="365760" y="150876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BIG QUESTION</a:t>
            </a:r>
            <a:endParaRPr lang="en-US" sz="1100" dirty="0"/>
          </a:p>
        </p:txBody>
      </p:sp>
      <p:sp>
        <p:nvSpPr>
          <p:cNvPr id="7" name="Shape 5"/>
          <p:cNvSpPr/>
          <p:nvPr/>
        </p:nvSpPr>
        <p:spPr>
          <a:xfrm>
            <a:off x="365760" y="1746504"/>
            <a:ext cx="8412480" cy="731520"/>
          </a:xfrm>
          <a:prstGeom prst="roundRect">
            <a:avLst>
              <a:gd name="adj" fmla="val 12500"/>
            </a:avLst>
          </a:prstGeom>
          <a:solidFill>
            <a:srgbClr val="FEF6E8"/>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94360" y="1874520"/>
            <a:ext cx="7955280" cy="47548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Stop when Arthur kneels by Stanley’s bed in the dark and Stanley says, “Go away.” Stanley has been cheerful since the first page. Name the events that changed him, and say which one you think mattered most .</a:t>
            </a:r>
            <a:endParaRPr lang="en-US" sz="1700" dirty="0"/>
          </a:p>
        </p:txBody>
      </p:sp>
      <p:sp>
        <p:nvSpPr>
          <p:cNvPr id="9" name="Text 7"/>
          <p:cNvSpPr/>
          <p:nvPr/>
        </p:nvSpPr>
        <p:spPr>
          <a:xfrm>
            <a:off x="365760" y="2606040"/>
            <a:ext cx="8229600" cy="237744"/>
          </a:xfrm>
          <a:prstGeom prst="rect">
            <a:avLst/>
          </a:prstGeom>
          <a:noFill/>
          <a:ln/>
        </p:spPr>
        <p:txBody>
          <a:bodyPr wrap="square" lIns="0" tIns="0" rIns="0" bIns="0"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READING LENS</a:t>
            </a:r>
            <a:endParaRPr lang="en-US" sz="1100" dirty="0"/>
          </a:p>
        </p:txBody>
      </p:sp>
      <p:sp>
        <p:nvSpPr>
          <p:cNvPr id="10" name="Text 8"/>
          <p:cNvSpPr/>
          <p:nvPr/>
        </p:nvSpPr>
        <p:spPr>
          <a:xfrm>
            <a:off x="365760" y="2843784"/>
            <a:ext cx="8412480" cy="91440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Good readers pay attention to how events affect characters . When something important happens, it changes what a character feels, thinks, or decides to do next.</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5C8E8"/>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Daily Oral Language</a:t>
            </a:r>
            <a:endParaRPr lang="en-US" sz="2200" dirty="0"/>
          </a:p>
        </p:txBody>
      </p:sp>
      <p:sp>
        <p:nvSpPr>
          <p:cNvPr id="4" name="Text 2"/>
          <p:cNvSpPr/>
          <p:nvPr/>
        </p:nvSpPr>
        <p:spPr>
          <a:xfrm>
            <a:off x="365760" y="749808"/>
            <a:ext cx="8229600" cy="237744"/>
          </a:xfrm>
          <a:prstGeom prst="rect">
            <a:avLst/>
          </a:prstGeom>
          <a:noFill/>
          <a:ln/>
        </p:spPr>
        <p:txBody>
          <a:bodyPr wrap="square" lIns="0" tIns="0" rIns="0" bIns="0"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FIX THESE SENTENCES</a:t>
            </a:r>
            <a:endParaRPr lang="en-US" sz="1100" dirty="0"/>
          </a:p>
        </p:txBody>
      </p:sp>
      <p:sp>
        <p:nvSpPr>
          <p:cNvPr id="5" name="Shape 3"/>
          <p:cNvSpPr/>
          <p:nvPr/>
        </p:nvSpPr>
        <p:spPr>
          <a:xfrm>
            <a:off x="365760" y="1024128"/>
            <a:ext cx="8412480" cy="777240"/>
          </a:xfrm>
          <a:prstGeom prst="roundRect">
            <a:avLst>
              <a:gd name="adj" fmla="val 11765"/>
            </a:avLst>
          </a:prstGeom>
          <a:solidFill>
            <a:srgbClr val="FFFFFF"/>
          </a:solidFill>
          <a:ln w="19050">
            <a:solidFill>
              <a:srgbClr val="55C8E8"/>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94360" y="1152144"/>
            <a:ext cx="7955280" cy="52120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“Oh, Stanley,” Arthur said. He dried his tears. “Please tell me what’s wrong.”</a:t>
            </a:r>
            <a:endParaRPr lang="en-US" sz="1700" dirty="0"/>
          </a:p>
        </p:txBody>
      </p:sp>
      <p:sp>
        <p:nvSpPr>
          <p:cNvPr id="7" name="Shape 5"/>
          <p:cNvSpPr/>
          <p:nvPr/>
        </p:nvSpPr>
        <p:spPr>
          <a:xfrm>
            <a:off x="365760" y="1874520"/>
            <a:ext cx="8412480" cy="777240"/>
          </a:xfrm>
          <a:prstGeom prst="roundRect">
            <a:avLst>
              <a:gd name="adj" fmla="val 11765"/>
            </a:avLst>
          </a:prstGeom>
          <a:solidFill>
            <a:srgbClr val="FFFFFF"/>
          </a:solidFill>
          <a:ln w="19050">
            <a:solidFill>
              <a:srgbClr val="55C8E8"/>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94360" y="2002536"/>
            <a:ext cx="7955280" cy="52120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its working its working shouted arthur as he kept pumping air into his brother</a:t>
            </a:r>
            <a:endParaRPr lang="en-US" sz="1700" dirty="0"/>
          </a:p>
        </p:txBody>
      </p:sp>
      <p:sp>
        <p:nvSpPr>
          <p:cNvPr id="9" name="Text 7"/>
          <p:cNvSpPr/>
          <p:nvPr/>
        </p:nvSpPr>
        <p:spPr>
          <a:xfrm>
            <a:off x="365760" y="2788920"/>
            <a:ext cx="8412480" cy="365760"/>
          </a:xfrm>
          <a:prstGeom prst="rect">
            <a:avLst/>
          </a:prstGeom>
          <a:noFill/>
          <a:ln/>
        </p:spPr>
        <p:txBody>
          <a:bodyPr wrap="square" lIns="0" tIns="0" rIns="0" bIns="0" rtlCol="0" anchor="ctr"/>
          <a:lstStyle/>
          <a:p>
            <a:pPr indent="0" marL="0">
              <a:buNone/>
            </a:pPr>
            <a:r>
              <a:rPr lang="en-US" sz="1600" b="1" dirty="0">
                <a:solidFill>
                  <a:srgbClr val="0E1C42"/>
                </a:solidFill>
                <a:latin typeface="Calibri" pitchFamily="34" charset="0"/>
                <a:ea typeface="Calibri" pitchFamily="34" charset="-122"/>
                <a:cs typeface="Calibri" pitchFamily="34" charset="-120"/>
              </a:rPr>
              <a:t>Rewrite both sentences correctly in your notebook.</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5C8E8"/>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Daily Oral Language</a:t>
            </a:r>
            <a:endParaRPr lang="en-US" sz="2200" dirty="0"/>
          </a:p>
        </p:txBody>
      </p:sp>
      <p:sp>
        <p:nvSpPr>
          <p:cNvPr id="4" name="Text 2"/>
          <p:cNvSpPr/>
          <p:nvPr/>
        </p:nvSpPr>
        <p:spPr>
          <a:xfrm>
            <a:off x="365760" y="749808"/>
            <a:ext cx="8229600" cy="237744"/>
          </a:xfrm>
          <a:prstGeom prst="rect">
            <a:avLst/>
          </a:prstGeom>
          <a:noFill/>
          <a:ln/>
        </p:spPr>
        <p:txBody>
          <a:bodyPr wrap="square" lIns="0" tIns="0" rIns="0" bIns="0"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FIX THESE SENTENCES</a:t>
            </a:r>
            <a:endParaRPr lang="en-US" sz="1100" dirty="0"/>
          </a:p>
        </p:txBody>
      </p:sp>
      <p:sp>
        <p:nvSpPr>
          <p:cNvPr id="5" name="Shape 3"/>
          <p:cNvSpPr/>
          <p:nvPr/>
        </p:nvSpPr>
        <p:spPr>
          <a:xfrm>
            <a:off x="365760" y="1024128"/>
            <a:ext cx="8412480" cy="777240"/>
          </a:xfrm>
          <a:prstGeom prst="roundRect">
            <a:avLst>
              <a:gd name="adj" fmla="val 11765"/>
            </a:avLst>
          </a:prstGeom>
          <a:solidFill>
            <a:srgbClr val="FFFFFF"/>
          </a:solidFill>
          <a:ln w="19050">
            <a:solidFill>
              <a:srgbClr val="55C8E8"/>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94360" y="1152144"/>
            <a:ext cx="7955280" cy="52120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“Oh, Stanley,” Arthur said. He dried his tears. “Please tell me what’s wrong.”</a:t>
            </a:r>
            <a:endParaRPr lang="en-US" sz="1700" dirty="0"/>
          </a:p>
        </p:txBody>
      </p:sp>
      <p:sp>
        <p:nvSpPr>
          <p:cNvPr id="7" name="Shape 5"/>
          <p:cNvSpPr/>
          <p:nvPr/>
        </p:nvSpPr>
        <p:spPr>
          <a:xfrm>
            <a:off x="365760" y="1874520"/>
            <a:ext cx="8412480" cy="777240"/>
          </a:xfrm>
          <a:prstGeom prst="roundRect">
            <a:avLst>
              <a:gd name="adj" fmla="val 11765"/>
            </a:avLst>
          </a:prstGeom>
          <a:solidFill>
            <a:srgbClr val="FFFFFF"/>
          </a:solidFill>
          <a:ln w="19050">
            <a:solidFill>
              <a:srgbClr val="55C8E8"/>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94360" y="2002536"/>
            <a:ext cx="7955280" cy="52120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its working its working shouted arthur as he kept pumping air into his brother</a:t>
            </a:r>
            <a:endParaRPr lang="en-US" sz="1700" dirty="0"/>
          </a:p>
        </p:txBody>
      </p:sp>
      <p:sp>
        <p:nvSpPr>
          <p:cNvPr id="9" name="Shape 7"/>
          <p:cNvSpPr/>
          <p:nvPr/>
        </p:nvSpPr>
        <p:spPr>
          <a:xfrm>
            <a:off x="365760" y="2743200"/>
            <a:ext cx="8412480" cy="1417320"/>
          </a:xfrm>
          <a:prstGeom prst="roundRect">
            <a:avLst>
              <a:gd name="adj" fmla="val 6452"/>
            </a:avLst>
          </a:prstGeom>
          <a:solidFill>
            <a:srgbClr val="E8F8EF"/>
          </a:solidFill>
          <a:ln/>
          <a:effectLst>
            <a:outerShdw sx="100000" sy="100000" kx="0" ky="0" algn="bl" rotWithShape="0" blurRad="101600" dist="38100" dir="2700000">
              <a:srgbClr val="000000">
                <a:alpha val="12000"/>
              </a:srgbClr>
            </a:outerShdw>
          </a:effectLst>
        </p:spPr>
      </p:sp>
      <p:sp>
        <p:nvSpPr>
          <p:cNvPr id="10" name="Text 8"/>
          <p:cNvSpPr/>
          <p:nvPr/>
        </p:nvSpPr>
        <p:spPr>
          <a:xfrm>
            <a:off x="566928" y="2816352"/>
            <a:ext cx="8229600" cy="237744"/>
          </a:xfrm>
          <a:prstGeom prst="rect">
            <a:avLst/>
          </a:prstGeom>
          <a:noFill/>
          <a:ln/>
        </p:spPr>
        <p:txBody>
          <a:bodyPr wrap="square" lIns="0" tIns="0" rIns="0" bIns="0" rtlCol="0" anchor="ctr"/>
          <a:lstStyle/>
          <a:p>
            <a:pPr indent="0" marL="0">
              <a:buNone/>
            </a:pPr>
            <a:r>
              <a:rPr lang="en-US" sz="1100" b="1" spc="100" kern="0" dirty="0">
                <a:solidFill>
                  <a:srgbClr val="34B76F"/>
                </a:solidFill>
                <a:latin typeface="Calibri" pitchFamily="34" charset="0"/>
                <a:ea typeface="Calibri" pitchFamily="34" charset="-122"/>
                <a:cs typeface="Calibri" pitchFamily="34" charset="-120"/>
              </a:rPr>
              <a:t>✅  CORRECTED</a:t>
            </a:r>
            <a:endParaRPr lang="en-US" sz="1100" dirty="0"/>
          </a:p>
        </p:txBody>
      </p:sp>
      <p:sp>
        <p:nvSpPr>
          <p:cNvPr id="11" name="Text 9"/>
          <p:cNvSpPr/>
          <p:nvPr/>
        </p:nvSpPr>
        <p:spPr>
          <a:xfrm>
            <a:off x="566928" y="3072384"/>
            <a:ext cx="8010144" cy="685800"/>
          </a:xfrm>
          <a:prstGeom prst="rect">
            <a:avLst/>
          </a:prstGeom>
          <a:noFill/>
          <a:ln/>
        </p:spPr>
        <p:txBody>
          <a:bodyPr wrap="square" lIns="0" tIns="0" rIns="0" bIns="0" rtlCol="0" anchor="ctr"/>
          <a:lstStyle/>
          <a:p>
            <a:pPr indent="0" marL="0">
              <a:buNone/>
            </a:pPr>
            <a:r>
              <a:rPr lang="en-US" sz="1400" i="1" dirty="0">
                <a:solidFill>
                  <a:srgbClr val="1E293B"/>
                </a:solidFill>
                <a:latin typeface="Calibri" pitchFamily="34" charset="0"/>
                <a:ea typeface="Calibri" pitchFamily="34" charset="-122"/>
                <a:cs typeface="Calibri" pitchFamily="34" charset="-120"/>
              </a:rPr>
              <a:t>Corrected:</a:t>
            </a:r>
            <a:endParaRPr lang="en-US" sz="1400" dirty="0"/>
          </a:p>
          <a:p>
            <a:pPr indent="0" marL="0">
              <a:buNone/>
            </a:pPr>
            <a:endParaRPr lang="en-US" sz="1400" dirty="0"/>
          </a:p>
        </p:txBody>
      </p:sp>
      <p:sp>
        <p:nvSpPr>
          <p:cNvPr id="12" name="Text 10"/>
          <p:cNvSpPr/>
          <p:nvPr/>
        </p:nvSpPr>
        <p:spPr>
          <a:xfrm>
            <a:off x="566928" y="3767328"/>
            <a:ext cx="8010144" cy="32004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“It’s working ! It’s working !” shouted Arthur as he kept pumping air into his brother .</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5C8E8"/>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Morphology</a:t>
            </a:r>
            <a:endParaRPr lang="en-US" sz="2200" dirty="0"/>
          </a:p>
        </p:txBody>
      </p:sp>
      <p:sp>
        <p:nvSpPr>
          <p:cNvPr id="4" name="Text 2"/>
          <p:cNvSpPr/>
          <p:nvPr/>
        </p:nvSpPr>
        <p:spPr>
          <a:xfrm>
            <a:off x="365760" y="804672"/>
            <a:ext cx="8229600" cy="237744"/>
          </a:xfrm>
          <a:prstGeom prst="rect">
            <a:avLst/>
          </a:prstGeom>
          <a:noFill/>
          <a:ln/>
        </p:spPr>
        <p:txBody>
          <a:bodyPr wrap="square" lIns="0" tIns="0" rIns="0" bIns="0" rtlCol="0" anchor="ctr"/>
          <a:lstStyle/>
          <a:p>
            <a:pPr indent="0" marL="0">
              <a:buNone/>
            </a:pPr>
            <a:r>
              <a:rPr lang="en-US" sz="1100" b="1" spc="100" kern="0" dirty="0">
                <a:solidFill>
                  <a:srgbClr val="8B6FC0"/>
                </a:solidFill>
                <a:latin typeface="Calibri" pitchFamily="34" charset="0"/>
                <a:ea typeface="Calibri" pitchFamily="34" charset="-122"/>
                <a:cs typeface="Calibri" pitchFamily="34" charset="-120"/>
              </a:rPr>
              <a:t>PREFIX UN- MEANS NOT</a:t>
            </a:r>
            <a:endParaRPr lang="en-US" sz="1100" dirty="0"/>
          </a:p>
        </p:txBody>
      </p:sp>
      <p:sp>
        <p:nvSpPr>
          <p:cNvPr id="5" name="Shape 3"/>
          <p:cNvSpPr/>
          <p:nvPr/>
        </p:nvSpPr>
        <p:spPr>
          <a:xfrm>
            <a:off x="365760" y="1097280"/>
            <a:ext cx="8412480" cy="621792"/>
          </a:xfrm>
          <a:prstGeom prst="roundRect">
            <a:avLst>
              <a:gd name="adj" fmla="val 14706"/>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16152"/>
            <a:ext cx="7863840" cy="38404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  un- + happy = unhappy — not happy — just like Stanley at the start of Chapter 5</a:t>
            </a:r>
            <a:endParaRPr lang="en-US" sz="1500" dirty="0"/>
          </a:p>
        </p:txBody>
      </p:sp>
      <p:sp>
        <p:nvSpPr>
          <p:cNvPr id="7" name="Shape 5"/>
          <p:cNvSpPr/>
          <p:nvPr/>
        </p:nvSpPr>
        <p:spPr>
          <a:xfrm>
            <a:off x="365760" y="1792224"/>
            <a:ext cx="8412480" cy="621792"/>
          </a:xfrm>
          <a:prstGeom prst="roundRect">
            <a:avLst>
              <a:gd name="adj" fmla="val 14706"/>
            </a:avLst>
          </a:prstGeom>
          <a:solidFill>
            <a:srgbClr val="F8F4F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911096"/>
            <a:ext cx="7863840" cy="38404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  un- + wrap = unwrap — to take the wrapping off</a:t>
            </a:r>
            <a:endParaRPr lang="en-US" sz="1500" dirty="0"/>
          </a:p>
        </p:txBody>
      </p:sp>
      <p:sp>
        <p:nvSpPr>
          <p:cNvPr id="9" name="Shape 7"/>
          <p:cNvSpPr/>
          <p:nvPr/>
        </p:nvSpPr>
        <p:spPr>
          <a:xfrm>
            <a:off x="365760" y="2487168"/>
            <a:ext cx="8412480" cy="621792"/>
          </a:xfrm>
          <a:prstGeom prst="roundRect">
            <a:avLst>
              <a:gd name="adj" fmla="val 14706"/>
            </a:avLst>
          </a:prstGeom>
          <a:solidFill>
            <a:srgbClr val="F0E8FF"/>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606040"/>
            <a:ext cx="7863840" cy="38404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  Practice: Find the Base Word!</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5C8E8"/>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Vocabulary</a:t>
            </a:r>
            <a:endParaRPr lang="en-US" sz="2200" dirty="0"/>
          </a:p>
        </p:txBody>
      </p:sp>
      <p:sp>
        <p:nvSpPr>
          <p:cNvPr id="4" name="Text 2"/>
          <p:cNvSpPr/>
          <p:nvPr/>
        </p:nvSpPr>
        <p:spPr>
          <a:xfrm>
            <a:off x="365760" y="804672"/>
            <a:ext cx="8229600" cy="237744"/>
          </a:xfrm>
          <a:prstGeom prst="rect">
            <a:avLst/>
          </a:prstGeom>
          <a:noFill/>
          <a:ln/>
        </p:spPr>
        <p:txBody>
          <a:bodyPr wrap="square" lIns="0" tIns="0" rIns="0" bIns="0"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WORDS IN CONTEXT</a:t>
            </a:r>
            <a:endParaRPr lang="en-US" sz="1100" dirty="0"/>
          </a:p>
        </p:txBody>
      </p:sp>
      <p:sp>
        <p:nvSpPr>
          <p:cNvPr id="5" name="Shape 3"/>
          <p:cNvSpPr/>
          <p:nvPr/>
        </p:nvSpPr>
        <p:spPr>
          <a:xfrm>
            <a:off x="365760" y="1097280"/>
            <a:ext cx="8412480" cy="658368"/>
          </a:xfrm>
          <a:prstGeom prst="roundRect">
            <a:avLst>
              <a:gd name="adj" fmla="val 13889"/>
            </a:avLst>
          </a:prstGeom>
          <a:solidFill>
            <a:srgbClr val="E5F7FC"/>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25296"/>
            <a:ext cx="7863840" cy="420624"/>
          </a:xfrm>
          <a:prstGeom prst="rect">
            <a:avLst/>
          </a:prstGeom>
          <a:noFill/>
          <a:ln/>
        </p:spPr>
        <p:txBody>
          <a:bodyPr wrap="square" lIns="0" tIns="0" rIns="0" bIns="0" rtlCol="0" anchor="ctr"/>
          <a:lstStyle/>
          <a:p>
            <a:pPr indent="0" marL="0">
              <a:buNone/>
            </a:pPr>
            <a:r>
              <a:rPr lang="en-US" sz="1700" b="1" dirty="0">
                <a:solidFill>
                  <a:srgbClr val="0E1C42"/>
                </a:solidFill>
                <a:latin typeface="Calibri" pitchFamily="34" charset="0"/>
                <a:ea typeface="Calibri" pitchFamily="34" charset="-122"/>
                <a:cs typeface="Calibri" pitchFamily="34" charset="-120"/>
              </a:rPr>
              <a:t>gloomy  </a:t>
            </a:r>
            <a:pPr indent="0" marL="0">
              <a:buNone/>
            </a:pPr>
            <a:endParaRPr lang="en-US" sz="1700" dirty="0"/>
          </a:p>
        </p:txBody>
      </p:sp>
      <p:sp>
        <p:nvSpPr>
          <p:cNvPr id="7" name="Shape 5"/>
          <p:cNvSpPr/>
          <p:nvPr/>
        </p:nvSpPr>
        <p:spPr>
          <a:xfrm>
            <a:off x="365760" y="182880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956816"/>
            <a:ext cx="7863840" cy="420624"/>
          </a:xfrm>
          <a:prstGeom prst="rect">
            <a:avLst/>
          </a:prstGeom>
          <a:noFill/>
          <a:ln/>
        </p:spPr>
        <p:txBody>
          <a:bodyPr wrap="square" lIns="0" tIns="0" rIns="0" bIns="0" rtlCol="0" anchor="ctr"/>
          <a:lstStyle/>
          <a:p>
            <a:pPr indent="0" marL="0">
              <a:buNone/>
            </a:pPr>
            <a:r>
              <a:rPr lang="en-US" sz="1700" b="1" dirty="0">
                <a:solidFill>
                  <a:srgbClr val="0E1C42"/>
                </a:solidFill>
                <a:latin typeface="Calibri" pitchFamily="34" charset="0"/>
                <a:ea typeface="Calibri" pitchFamily="34" charset="-122"/>
                <a:cs typeface="Calibri" pitchFamily="34" charset="-120"/>
              </a:rPr>
              <a:t>brave  </a:t>
            </a:r>
            <a:pPr indent="0" marL="0">
              <a:buNone/>
            </a:pPr>
            <a:endParaRPr lang="en-US" sz="1700" dirty="0"/>
          </a:p>
        </p:txBody>
      </p:sp>
      <p:sp>
        <p:nvSpPr>
          <p:cNvPr id="9" name="Shape 7"/>
          <p:cNvSpPr/>
          <p:nvPr/>
        </p:nvSpPr>
        <p:spPr>
          <a:xfrm>
            <a:off x="365760" y="2560320"/>
            <a:ext cx="8412480" cy="658368"/>
          </a:xfrm>
          <a:prstGeom prst="roundRect">
            <a:avLst>
              <a:gd name="adj" fmla="val 13889"/>
            </a:avLst>
          </a:prstGeom>
          <a:solidFill>
            <a:srgbClr val="E5F7FC"/>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688336"/>
            <a:ext cx="7863840" cy="420624"/>
          </a:xfrm>
          <a:prstGeom prst="rect">
            <a:avLst/>
          </a:prstGeom>
          <a:noFill/>
          <a:ln/>
        </p:spPr>
        <p:txBody>
          <a:bodyPr wrap="square" lIns="0" tIns="0" rIns="0" bIns="0" rtlCol="0" anchor="ctr"/>
          <a:lstStyle/>
          <a:p>
            <a:pPr indent="0" marL="0">
              <a:buNone/>
            </a:pPr>
            <a:r>
              <a:rPr lang="en-US" sz="1700" b="1" dirty="0">
                <a:solidFill>
                  <a:srgbClr val="0E1C42"/>
                </a:solidFill>
                <a:latin typeface="Calibri" pitchFamily="34" charset="0"/>
                <a:ea typeface="Calibri" pitchFamily="34" charset="-122"/>
                <a:cs typeface="Calibri" pitchFamily="34" charset="-120"/>
              </a:rPr>
              <a:t>pump  </a:t>
            </a:r>
            <a:pPr indent="0" marL="0">
              <a:buNone/>
            </a:pPr>
            <a:endParaRPr lang="en-US" sz="1700" dirty="0"/>
          </a:p>
        </p:txBody>
      </p:sp>
      <p:sp>
        <p:nvSpPr>
          <p:cNvPr id="11" name="Shape 9"/>
          <p:cNvSpPr/>
          <p:nvPr/>
        </p:nvSpPr>
        <p:spPr>
          <a:xfrm>
            <a:off x="365760" y="329184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3419856"/>
            <a:ext cx="7863840" cy="420624"/>
          </a:xfrm>
          <a:prstGeom prst="rect">
            <a:avLst/>
          </a:prstGeom>
          <a:noFill/>
          <a:ln/>
        </p:spPr>
        <p:txBody>
          <a:bodyPr wrap="square" lIns="0" tIns="0" rIns="0" bIns="0" rtlCol="0" anchor="ctr"/>
          <a:lstStyle/>
          <a:p>
            <a:pPr indent="0" marL="0">
              <a:buNone/>
            </a:pPr>
            <a:r>
              <a:rPr lang="en-US" sz="1700" b="1" dirty="0">
                <a:solidFill>
                  <a:srgbClr val="0E1C42"/>
                </a:solidFill>
                <a:latin typeface="Calibri" pitchFamily="34" charset="0"/>
                <a:ea typeface="Calibri" pitchFamily="34" charset="-122"/>
                <a:cs typeface="Calibri" pitchFamily="34" charset="-120"/>
              </a:rPr>
              <a:t>celebrate  </a:t>
            </a:r>
            <a:pPr indent="0" marL="0">
              <a:buNone/>
            </a:pP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7922C"/>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Grammar</a:t>
            </a:r>
            <a:endParaRPr lang="en-US" sz="2200" dirty="0"/>
          </a:p>
        </p:txBody>
      </p:sp>
      <p:sp>
        <p:nvSpPr>
          <p:cNvPr id="4" name="Text 2"/>
          <p:cNvSpPr/>
          <p:nvPr/>
        </p:nvSpPr>
        <p:spPr>
          <a:xfrm>
            <a:off x="365760" y="77724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SUBJECT AND PREDICATE</a:t>
            </a:r>
            <a:endParaRPr lang="en-US" sz="1100" dirty="0"/>
          </a:p>
        </p:txBody>
      </p:sp>
      <p:sp>
        <p:nvSpPr>
          <p:cNvPr id="5" name="Shape 3"/>
          <p:cNvSpPr/>
          <p:nvPr/>
        </p:nvSpPr>
        <p:spPr>
          <a:xfrm>
            <a:off x="365760" y="1078992"/>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2529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The board fell during the night.</a:t>
            </a:r>
            <a:endParaRPr lang="en-US" sz="1600" dirty="0"/>
          </a:p>
        </p:txBody>
      </p:sp>
      <p:sp>
        <p:nvSpPr>
          <p:cNvPr id="7" name="Shape 5"/>
          <p:cNvSpPr/>
          <p:nvPr/>
        </p:nvSpPr>
        <p:spPr>
          <a:xfrm>
            <a:off x="365760" y="1810512"/>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95681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Stanley slid under the door.</a:t>
            </a:r>
            <a:endParaRPr lang="en-US" sz="1600" dirty="0"/>
          </a:p>
        </p:txBody>
      </p:sp>
      <p:sp>
        <p:nvSpPr>
          <p:cNvPr id="9" name="Shape 7"/>
          <p:cNvSpPr/>
          <p:nvPr/>
        </p:nvSpPr>
        <p:spPr>
          <a:xfrm>
            <a:off x="365760" y="2542032"/>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68833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The two brothers laughed together.</a:t>
            </a:r>
            <a:endParaRPr lang="en-US" sz="1600" dirty="0"/>
          </a:p>
        </p:txBody>
      </p:sp>
      <p:sp>
        <p:nvSpPr>
          <p:cNvPr id="11" name="Shape 9"/>
          <p:cNvSpPr/>
          <p:nvPr/>
        </p:nvSpPr>
        <p:spPr>
          <a:xfrm>
            <a:off x="365760" y="3273552"/>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341985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Mrs. Lambchop hurried into the room.</a:t>
            </a:r>
            <a:endParaRPr lang="en-US" sz="1600" dirty="0"/>
          </a:p>
        </p:txBody>
      </p:sp>
      <p:sp>
        <p:nvSpPr>
          <p:cNvPr id="13" name="Text 11"/>
          <p:cNvSpPr/>
          <p:nvPr/>
        </p:nvSpPr>
        <p:spPr>
          <a:xfrm>
            <a:off x="365760" y="4050792"/>
            <a:ext cx="8412480" cy="365760"/>
          </a:xfrm>
          <a:prstGeom prst="rect">
            <a:avLst/>
          </a:prstGeom>
          <a:noFill/>
          <a:ln/>
        </p:spPr>
        <p:txBody>
          <a:bodyPr wrap="square" lIns="0" tIns="0" rIns="0" bIns="0" rtlCol="0" anchor="ctr"/>
          <a:lstStyle/>
          <a:p>
            <a:pPr indent="0" marL="0">
              <a:buNone/>
            </a:pPr>
            <a:r>
              <a:rPr lang="en-US" sz="1500" i="1" dirty="0">
                <a:solidFill>
                  <a:srgbClr val="64748B"/>
                </a:solidFill>
                <a:latin typeface="Calibri" pitchFamily="34" charset="0"/>
                <a:ea typeface="Calibri" pitchFamily="34" charset="-122"/>
                <a:cs typeface="Calibri" pitchFamily="34" charset="-120"/>
              </a:rPr>
              <a:t>Your turn. Tap the first word of the predicate — where the sentence starts telling what happened. Tap to check — green means you got it.</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7922C"/>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Grammar</a:t>
            </a:r>
            <a:endParaRPr lang="en-US" sz="2200" dirty="0"/>
          </a:p>
        </p:txBody>
      </p:sp>
      <p:sp>
        <p:nvSpPr>
          <p:cNvPr id="4" name="Text 2"/>
          <p:cNvSpPr/>
          <p:nvPr/>
        </p:nvSpPr>
        <p:spPr>
          <a:xfrm>
            <a:off x="365760" y="77724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SUBJECT AND PREDICATE</a:t>
            </a:r>
            <a:endParaRPr lang="en-US" sz="1100" dirty="0"/>
          </a:p>
        </p:txBody>
      </p:sp>
      <p:sp>
        <p:nvSpPr>
          <p:cNvPr id="5" name="Shape 3"/>
          <p:cNvSpPr/>
          <p:nvPr/>
        </p:nvSpPr>
        <p:spPr>
          <a:xfrm>
            <a:off x="365760" y="1078992"/>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2529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The board </a:t>
            </a:r>
            <a:pPr indent="0" marL="0">
              <a:buNone/>
            </a:pPr>
            <a:r>
              <a:rPr lang="en-US" sz="1600" b="1" dirty="0">
                <a:solidFill>
                  <a:srgbClr val="34B76F"/>
                </a:solidFill>
                <a:latin typeface="Calibri" pitchFamily="34" charset="0"/>
                <a:ea typeface="Calibri" pitchFamily="34" charset="-122"/>
                <a:cs typeface="Calibri" pitchFamily="34" charset="-120"/>
              </a:rPr>
              <a:t>fell</a:t>
            </a:r>
            <a:pPr indent="0" marL="0">
              <a:buNone/>
            </a:pPr>
            <a:r>
              <a:rPr lang="en-US" sz="1600" dirty="0">
                <a:solidFill>
                  <a:srgbClr val="1E293B"/>
                </a:solidFill>
                <a:latin typeface="Calibri" pitchFamily="34" charset="0"/>
                <a:ea typeface="Calibri" pitchFamily="34" charset="-122"/>
                <a:cs typeface="Calibri" pitchFamily="34" charset="-120"/>
              </a:rPr>
              <a:t> during the night.</a:t>
            </a:r>
            <a:endParaRPr lang="en-US" sz="1600" dirty="0"/>
          </a:p>
        </p:txBody>
      </p:sp>
      <p:sp>
        <p:nvSpPr>
          <p:cNvPr id="7" name="Shape 5"/>
          <p:cNvSpPr/>
          <p:nvPr/>
        </p:nvSpPr>
        <p:spPr>
          <a:xfrm>
            <a:off x="365760" y="1810512"/>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95681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Stanley </a:t>
            </a:r>
            <a:pPr indent="0" marL="0">
              <a:buNone/>
            </a:pPr>
            <a:r>
              <a:rPr lang="en-US" sz="1600" b="1" dirty="0">
                <a:solidFill>
                  <a:srgbClr val="34B76F"/>
                </a:solidFill>
                <a:latin typeface="Calibri" pitchFamily="34" charset="0"/>
                <a:ea typeface="Calibri" pitchFamily="34" charset="-122"/>
                <a:cs typeface="Calibri" pitchFamily="34" charset="-120"/>
              </a:rPr>
              <a:t>slid</a:t>
            </a:r>
            <a:pPr indent="0" marL="0">
              <a:buNone/>
            </a:pPr>
            <a:r>
              <a:rPr lang="en-US" sz="1600" dirty="0">
                <a:solidFill>
                  <a:srgbClr val="1E293B"/>
                </a:solidFill>
                <a:latin typeface="Calibri" pitchFamily="34" charset="0"/>
                <a:ea typeface="Calibri" pitchFamily="34" charset="-122"/>
                <a:cs typeface="Calibri" pitchFamily="34" charset="-120"/>
              </a:rPr>
              <a:t> under the door.</a:t>
            </a:r>
            <a:endParaRPr lang="en-US" sz="1600" dirty="0"/>
          </a:p>
        </p:txBody>
      </p:sp>
      <p:sp>
        <p:nvSpPr>
          <p:cNvPr id="9" name="Shape 7"/>
          <p:cNvSpPr/>
          <p:nvPr/>
        </p:nvSpPr>
        <p:spPr>
          <a:xfrm>
            <a:off x="365760" y="2542032"/>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68833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The two brothers </a:t>
            </a:r>
            <a:pPr indent="0" marL="0">
              <a:buNone/>
            </a:pPr>
            <a:r>
              <a:rPr lang="en-US" sz="1600" b="1" dirty="0">
                <a:solidFill>
                  <a:srgbClr val="34B76F"/>
                </a:solidFill>
                <a:latin typeface="Calibri" pitchFamily="34" charset="0"/>
                <a:ea typeface="Calibri" pitchFamily="34" charset="-122"/>
                <a:cs typeface="Calibri" pitchFamily="34" charset="-120"/>
              </a:rPr>
              <a:t>laughed</a:t>
            </a:r>
            <a:pPr indent="0" marL="0">
              <a:buNone/>
            </a:pPr>
            <a:r>
              <a:rPr lang="en-US" sz="1600" dirty="0">
                <a:solidFill>
                  <a:srgbClr val="1E293B"/>
                </a:solidFill>
                <a:latin typeface="Calibri" pitchFamily="34" charset="0"/>
                <a:ea typeface="Calibri" pitchFamily="34" charset="-122"/>
                <a:cs typeface="Calibri" pitchFamily="34" charset="-120"/>
              </a:rPr>
              <a:t> together.</a:t>
            </a:r>
            <a:endParaRPr lang="en-US" sz="1600" dirty="0"/>
          </a:p>
        </p:txBody>
      </p:sp>
      <p:sp>
        <p:nvSpPr>
          <p:cNvPr id="11" name="Shape 9"/>
          <p:cNvSpPr/>
          <p:nvPr/>
        </p:nvSpPr>
        <p:spPr>
          <a:xfrm>
            <a:off x="365760" y="3273552"/>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341985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Mrs. Lambchop </a:t>
            </a:r>
            <a:pPr indent="0" marL="0">
              <a:buNone/>
            </a:pPr>
            <a:r>
              <a:rPr lang="en-US" sz="1600" b="1" dirty="0">
                <a:solidFill>
                  <a:srgbClr val="34B76F"/>
                </a:solidFill>
                <a:latin typeface="Calibri" pitchFamily="34" charset="0"/>
                <a:ea typeface="Calibri" pitchFamily="34" charset="-122"/>
                <a:cs typeface="Calibri" pitchFamily="34" charset="-120"/>
              </a:rPr>
              <a:t>hurried</a:t>
            </a:r>
            <a:pPr indent="0" marL="0">
              <a:buNone/>
            </a:pPr>
            <a:r>
              <a:rPr lang="en-US" sz="1600" dirty="0">
                <a:solidFill>
                  <a:srgbClr val="1E293B"/>
                </a:solidFill>
                <a:latin typeface="Calibri" pitchFamily="34" charset="0"/>
                <a:ea typeface="Calibri" pitchFamily="34" charset="-122"/>
                <a:cs typeface="Calibri" pitchFamily="34" charset="-120"/>
              </a:rPr>
              <a:t> into the room.</a:t>
            </a:r>
            <a:endParaRPr lang="en-US" sz="1600" dirty="0"/>
          </a:p>
        </p:txBody>
      </p:sp>
      <p:sp>
        <p:nvSpPr>
          <p:cNvPr id="13" name="Text 11"/>
          <p:cNvSpPr/>
          <p:nvPr/>
        </p:nvSpPr>
        <p:spPr>
          <a:xfrm>
            <a:off x="365760" y="4050792"/>
            <a:ext cx="8412480" cy="365760"/>
          </a:xfrm>
          <a:prstGeom prst="rect">
            <a:avLst/>
          </a:prstGeom>
          <a:noFill/>
          <a:ln/>
        </p:spPr>
        <p:txBody>
          <a:bodyPr wrap="square" lIns="0" tIns="0" rIns="0" bIns="0" rtlCol="0" anchor="ctr"/>
          <a:lstStyle/>
          <a:p>
            <a:pPr indent="0" marL="0">
              <a:buNone/>
            </a:pPr>
            <a:r>
              <a:rPr lang="en-US" sz="1500" b="1" dirty="0">
                <a:solidFill>
                  <a:srgbClr val="34B76F"/>
                </a:solidFill>
                <a:latin typeface="Calibri" pitchFamily="34" charset="0"/>
                <a:ea typeface="Calibri" pitchFamily="34" charset="-122"/>
                <a:cs typeface="Calibri" pitchFamily="34" charset="-120"/>
              </a:rPr>
              <a:t>✅  Answers revealed</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E1C42"/>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Spelling</a:t>
            </a:r>
            <a:endParaRPr lang="en-US" sz="2200" dirty="0"/>
          </a:p>
        </p:txBody>
      </p:sp>
      <p:sp>
        <p:nvSpPr>
          <p:cNvPr id="4" name="Text 2"/>
          <p:cNvSpPr/>
          <p:nvPr/>
        </p:nvSpPr>
        <p:spPr>
          <a:xfrm>
            <a:off x="365760" y="777240"/>
            <a:ext cx="8229600" cy="237744"/>
          </a:xfrm>
          <a:prstGeom prst="rect">
            <a:avLst/>
          </a:prstGeom>
          <a:noFill/>
          <a:ln/>
        </p:spPr>
        <p:txBody>
          <a:bodyPr wrap="square" lIns="0" tIns="0" rIns="0" bIns="0" rtlCol="0" anchor="ctr"/>
          <a:lstStyle/>
          <a:p>
            <a:pPr indent="0" marL="0">
              <a:buNone/>
            </a:pPr>
            <a:r>
              <a:rPr lang="en-US" sz="1100" b="1" spc="100" kern="0" dirty="0">
                <a:solidFill>
                  <a:srgbClr val="0E1C42"/>
                </a:solidFill>
                <a:latin typeface="Calibri" pitchFamily="34" charset="0"/>
                <a:ea typeface="Calibri" pitchFamily="34" charset="-122"/>
                <a:cs typeface="Calibri" pitchFamily="34" charset="-120"/>
              </a:rPr>
              <a:t>LONG VOWELS AND SILENT-E REVIEW</a:t>
            </a:r>
            <a:endParaRPr lang="en-US" sz="1100" dirty="0"/>
          </a:p>
        </p:txBody>
      </p:sp>
      <p:sp>
        <p:nvSpPr>
          <p:cNvPr id="5" name="Text 3"/>
          <p:cNvSpPr/>
          <p:nvPr/>
        </p:nvSpPr>
        <p:spPr>
          <a:xfrm>
            <a:off x="365760" y="1078992"/>
            <a:ext cx="8229600" cy="237744"/>
          </a:xfrm>
          <a:prstGeom prst="rect">
            <a:avLst/>
          </a:prstGeom>
          <a:noFill/>
          <a:ln/>
        </p:spPr>
        <p:txBody>
          <a:bodyPr wrap="square" lIns="0" tIns="0" rIns="0" bIns="0" rtlCol="0" anchor="ctr"/>
          <a:lstStyle/>
          <a:p>
            <a:pPr indent="0" marL="0">
              <a:buNone/>
            </a:pPr>
            <a:r>
              <a:rPr lang="en-US" sz="1100" b="1" spc="100" kern="0" dirty="0">
                <a:solidFill>
                  <a:srgbClr val="64748B"/>
                </a:solidFill>
                <a:latin typeface="Calibri" pitchFamily="34" charset="0"/>
                <a:ea typeface="Calibri" pitchFamily="34" charset="-122"/>
                <a:cs typeface="Calibri" pitchFamily="34" charset="-120"/>
              </a:rPr>
              <a:t>WORD BANK</a:t>
            </a:r>
            <a:endParaRPr lang="en-US" sz="1100" dirty="0"/>
          </a:p>
        </p:txBody>
      </p:sp>
      <p:sp>
        <p:nvSpPr>
          <p:cNvPr id="6" name="Shape 4"/>
          <p:cNvSpPr/>
          <p:nvPr/>
        </p:nvSpPr>
        <p:spPr>
          <a:xfrm>
            <a:off x="365760" y="1353312"/>
            <a:ext cx="8412480" cy="1005840"/>
          </a:xfrm>
          <a:prstGeom prst="roundRect">
            <a:avLst>
              <a:gd name="adj" fmla="val 9091"/>
            </a:avLst>
          </a:prstGeom>
          <a:solidFill>
            <a:srgbClr val="FFFFFF"/>
          </a:solidFill>
          <a:ln w="19050">
            <a:solidFill>
              <a:srgbClr val="0E1C42"/>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481328"/>
            <a:ext cx="7955280" cy="749808"/>
          </a:xfrm>
          <a:prstGeom prst="rect">
            <a:avLst/>
          </a:prstGeom>
          <a:noFill/>
          <a:ln/>
        </p:spPr>
        <p:txBody>
          <a:bodyPr wrap="square" lIns="0" tIns="0" rIns="0" bIns="0" rtlCol="0" anchor="ctr"/>
          <a:lstStyle/>
          <a:p>
            <a:pPr indent="0" marL="0">
              <a:buNone/>
            </a:pPr>
            <a:r>
              <a:rPr lang="en-US" sz="1700" dirty="0">
                <a:solidFill>
                  <a:srgbClr val="0E1C42"/>
                </a:solidFill>
                <a:latin typeface="Calibri" pitchFamily="34" charset="0"/>
                <a:ea typeface="Calibri" pitchFamily="34" charset="-122"/>
                <a:cs typeface="Calibri" pitchFamily="34" charset="-120"/>
              </a:rPr>
              <a:t>spoke   ·   shame   ·   brave   ·   shake   ·   pump   ·   held   ·   left   ·   kept</a:t>
            </a:r>
            <a:endParaRPr lang="en-US" sz="1700" dirty="0"/>
          </a:p>
        </p:txBody>
      </p:sp>
      <p:sp>
        <p:nvSpPr>
          <p:cNvPr id="8" name="Text 6"/>
          <p:cNvSpPr/>
          <p:nvPr/>
        </p:nvSpPr>
        <p:spPr>
          <a:xfrm>
            <a:off x="365760" y="2514600"/>
            <a:ext cx="8412480" cy="457200"/>
          </a:xfrm>
          <a:prstGeom prst="rect">
            <a:avLst/>
          </a:prstGeom>
          <a:noFill/>
          <a:ln/>
        </p:spPr>
        <p:txBody>
          <a:bodyPr wrap="square" lIns="0" tIns="0" rIns="0" bIns="0" rtlCol="0" anchor="ctr"/>
          <a:lstStyle/>
          <a:p>
            <a:pPr indent="0" marL="0">
              <a:buNone/>
            </a:pPr>
            <a:r>
              <a:rPr lang="en-US" sz="1500" i="1" dirty="0">
                <a:solidFill>
                  <a:srgbClr val="64748B"/>
                </a:solidFill>
                <a:latin typeface="Calibri" pitchFamily="34" charset="0"/>
                <a:ea typeface="Calibri" pitchFamily="34" charset="-122"/>
                <a:cs typeface="Calibri" pitchFamily="34" charset="-120"/>
              </a:rPr>
              <a:t>Which column does each word belong in?  Columns: silent-e  |  closed</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E1C42"/>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Spelling</a:t>
            </a:r>
            <a:endParaRPr lang="en-US" sz="2200" dirty="0"/>
          </a:p>
        </p:txBody>
      </p:sp>
      <p:sp>
        <p:nvSpPr>
          <p:cNvPr id="4" name="Text 2"/>
          <p:cNvSpPr/>
          <p:nvPr/>
        </p:nvSpPr>
        <p:spPr>
          <a:xfrm>
            <a:off x="365760" y="777240"/>
            <a:ext cx="8229600" cy="237744"/>
          </a:xfrm>
          <a:prstGeom prst="rect">
            <a:avLst/>
          </a:prstGeom>
          <a:noFill/>
          <a:ln/>
        </p:spPr>
        <p:txBody>
          <a:bodyPr wrap="square" lIns="0" tIns="0" rIns="0" bIns="0" rtlCol="0" anchor="ctr"/>
          <a:lstStyle/>
          <a:p>
            <a:pPr indent="0" marL="0">
              <a:buNone/>
            </a:pPr>
            <a:r>
              <a:rPr lang="en-US" sz="1100" b="1" spc="100" kern="0" dirty="0">
                <a:solidFill>
                  <a:srgbClr val="0E1C42"/>
                </a:solidFill>
                <a:latin typeface="Calibri" pitchFamily="34" charset="0"/>
                <a:ea typeface="Calibri" pitchFamily="34" charset="-122"/>
                <a:cs typeface="Calibri" pitchFamily="34" charset="-120"/>
              </a:rPr>
              <a:t>LONG VOWELS AND SILENT-E REVIEW</a:t>
            </a:r>
            <a:endParaRPr lang="en-US" sz="1100" dirty="0"/>
          </a:p>
        </p:txBody>
      </p:sp>
      <p:sp>
        <p:nvSpPr>
          <p:cNvPr id="5" name="Shape 3"/>
          <p:cNvSpPr/>
          <p:nvPr/>
        </p:nvSpPr>
        <p:spPr>
          <a:xfrm>
            <a:off x="411480" y="1078992"/>
            <a:ext cx="4114800" cy="457200"/>
          </a:xfrm>
          <a:prstGeom prst="roundRect">
            <a:avLst>
              <a:gd name="adj" fmla="val 16000"/>
            </a:avLst>
          </a:prstGeom>
          <a:solidFill>
            <a:srgbClr val="0E1C42"/>
          </a:solidFill>
          <a:ln/>
        </p:spPr>
      </p:sp>
      <p:sp>
        <p:nvSpPr>
          <p:cNvPr id="6" name="Text 4"/>
          <p:cNvSpPr/>
          <p:nvPr/>
        </p:nvSpPr>
        <p:spPr>
          <a:xfrm>
            <a:off x="457200" y="1133856"/>
            <a:ext cx="402336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silent-e</a:t>
            </a:r>
            <a:endParaRPr lang="en-US" sz="1300" dirty="0"/>
          </a:p>
        </p:txBody>
      </p:sp>
      <p:sp>
        <p:nvSpPr>
          <p:cNvPr id="7" name="Shape 5"/>
          <p:cNvSpPr/>
          <p:nvPr/>
        </p:nvSpPr>
        <p:spPr>
          <a:xfrm>
            <a:off x="411480" y="1591056"/>
            <a:ext cx="4114800" cy="2103120"/>
          </a:xfrm>
          <a:prstGeom prst="roundRect">
            <a:avLst>
              <a:gd name="adj" fmla="val 4348"/>
            </a:avLst>
          </a:prstGeom>
          <a:solidFill>
            <a:srgbClr val="FFFFFF"/>
          </a:solidFill>
          <a:ln/>
          <a:effectLst>
            <a:outerShdw sx="100000" sy="100000" kx="0" ky="0" algn="bl" rotWithShape="0" blurRad="101600" dist="38100" dir="2700000">
              <a:srgbClr val="000000">
                <a:alpha val="12000"/>
              </a:srgbClr>
            </a:outerShdw>
          </a:effectLst>
        </p:spPr>
      </p:sp>
      <p:sp>
        <p:nvSpPr>
          <p:cNvPr id="8" name="Text 6"/>
          <p:cNvSpPr/>
          <p:nvPr/>
        </p:nvSpPr>
        <p:spPr>
          <a:xfrm>
            <a:off x="502920" y="1700784"/>
            <a:ext cx="3931920" cy="1883664"/>
          </a:xfrm>
          <a:prstGeom prst="rect">
            <a:avLst/>
          </a:prstGeom>
          <a:noFill/>
          <a:ln/>
        </p:spPr>
        <p:txBody>
          <a:bodyPr wrap="square" lIns="0" tIns="0" rIns="0" bIns="0" rtlCol="0" anchor="ctr"/>
          <a:lstStyle/>
          <a:p>
            <a:pPr algn="ctr" indent="0" marL="0">
              <a:buNone/>
            </a:pPr>
            <a:r>
              <a:rPr lang="en-US" sz="1400" dirty="0">
                <a:solidFill>
                  <a:srgbClr val="1E293B"/>
                </a:solidFill>
                <a:latin typeface="Calibri" pitchFamily="34" charset="0"/>
                <a:ea typeface="Calibri" pitchFamily="34" charset="-122"/>
                <a:cs typeface="Calibri" pitchFamily="34" charset="-120"/>
              </a:rPr>
              <a:t>spoke</a:t>
            </a:r>
            <a:endParaRPr lang="en-US" sz="1400" dirty="0"/>
          </a:p>
          <a:p>
            <a:pPr algn="ctr" indent="0" marL="0">
              <a:buNone/>
            </a:pPr>
            <a:r>
              <a:rPr lang="en-US" sz="1400" dirty="0">
                <a:solidFill>
                  <a:srgbClr val="1E293B"/>
                </a:solidFill>
                <a:latin typeface="Calibri" pitchFamily="34" charset="0"/>
                <a:ea typeface="Calibri" pitchFamily="34" charset="-122"/>
                <a:cs typeface="Calibri" pitchFamily="34" charset="-120"/>
              </a:rPr>
              <a:t>shame</a:t>
            </a:r>
            <a:endParaRPr lang="en-US" sz="1400" dirty="0"/>
          </a:p>
          <a:p>
            <a:pPr algn="ctr" indent="0" marL="0">
              <a:buNone/>
            </a:pPr>
            <a:r>
              <a:rPr lang="en-US" sz="1400" dirty="0">
                <a:solidFill>
                  <a:srgbClr val="1E293B"/>
                </a:solidFill>
                <a:latin typeface="Calibri" pitchFamily="34" charset="0"/>
                <a:ea typeface="Calibri" pitchFamily="34" charset="-122"/>
                <a:cs typeface="Calibri" pitchFamily="34" charset="-120"/>
              </a:rPr>
              <a:t>brave</a:t>
            </a:r>
            <a:endParaRPr lang="en-US" sz="1400" dirty="0"/>
          </a:p>
          <a:p>
            <a:pPr algn="ctr" indent="0" marL="0">
              <a:buNone/>
            </a:pPr>
            <a:r>
              <a:rPr lang="en-US" sz="1400" dirty="0">
                <a:solidFill>
                  <a:srgbClr val="1E293B"/>
                </a:solidFill>
                <a:latin typeface="Calibri" pitchFamily="34" charset="0"/>
                <a:ea typeface="Calibri" pitchFamily="34" charset="-122"/>
                <a:cs typeface="Calibri" pitchFamily="34" charset="-120"/>
              </a:rPr>
              <a:t>shake</a:t>
            </a:r>
            <a:endParaRPr lang="en-US" sz="1400" dirty="0"/>
          </a:p>
        </p:txBody>
      </p:sp>
      <p:sp>
        <p:nvSpPr>
          <p:cNvPr id="9" name="Shape 7"/>
          <p:cNvSpPr/>
          <p:nvPr/>
        </p:nvSpPr>
        <p:spPr>
          <a:xfrm>
            <a:off x="4617720" y="1078992"/>
            <a:ext cx="4114800" cy="457200"/>
          </a:xfrm>
          <a:prstGeom prst="roundRect">
            <a:avLst>
              <a:gd name="adj" fmla="val 16000"/>
            </a:avLst>
          </a:prstGeom>
          <a:solidFill>
            <a:srgbClr val="0E1C42"/>
          </a:solidFill>
          <a:ln/>
        </p:spPr>
      </p:sp>
      <p:sp>
        <p:nvSpPr>
          <p:cNvPr id="10" name="Text 8"/>
          <p:cNvSpPr/>
          <p:nvPr/>
        </p:nvSpPr>
        <p:spPr>
          <a:xfrm>
            <a:off x="4663440" y="1133856"/>
            <a:ext cx="402336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closed</a:t>
            </a:r>
            <a:endParaRPr lang="en-US" sz="1300" dirty="0"/>
          </a:p>
        </p:txBody>
      </p:sp>
      <p:sp>
        <p:nvSpPr>
          <p:cNvPr id="11" name="Shape 9"/>
          <p:cNvSpPr/>
          <p:nvPr/>
        </p:nvSpPr>
        <p:spPr>
          <a:xfrm>
            <a:off x="4617720" y="1591056"/>
            <a:ext cx="4114800" cy="2103120"/>
          </a:xfrm>
          <a:prstGeom prst="roundRect">
            <a:avLst>
              <a:gd name="adj" fmla="val 4348"/>
            </a:avLst>
          </a:prstGeom>
          <a:solidFill>
            <a:srgbClr val="FFFFFF"/>
          </a:solidFill>
          <a:ln/>
          <a:effectLst>
            <a:outerShdw sx="100000" sy="100000" kx="0" ky="0" algn="bl" rotWithShape="0" blurRad="101600" dist="38100" dir="2700000">
              <a:srgbClr val="000000">
                <a:alpha val="12000"/>
              </a:srgbClr>
            </a:outerShdw>
          </a:effectLst>
        </p:spPr>
      </p:sp>
      <p:sp>
        <p:nvSpPr>
          <p:cNvPr id="12" name="Text 10"/>
          <p:cNvSpPr/>
          <p:nvPr/>
        </p:nvSpPr>
        <p:spPr>
          <a:xfrm>
            <a:off x="4709160" y="1700784"/>
            <a:ext cx="3931920" cy="1883664"/>
          </a:xfrm>
          <a:prstGeom prst="rect">
            <a:avLst/>
          </a:prstGeom>
          <a:noFill/>
          <a:ln/>
        </p:spPr>
        <p:txBody>
          <a:bodyPr wrap="square" lIns="0" tIns="0" rIns="0" bIns="0" rtlCol="0" anchor="ctr"/>
          <a:lstStyle/>
          <a:p>
            <a:pPr algn="ctr" indent="0" marL="0">
              <a:buNone/>
            </a:pPr>
            <a:r>
              <a:rPr lang="en-US" sz="1400" dirty="0">
                <a:solidFill>
                  <a:srgbClr val="1E293B"/>
                </a:solidFill>
                <a:latin typeface="Calibri" pitchFamily="34" charset="0"/>
                <a:ea typeface="Calibri" pitchFamily="34" charset="-122"/>
                <a:cs typeface="Calibri" pitchFamily="34" charset="-120"/>
              </a:rPr>
              <a:t>pump</a:t>
            </a:r>
            <a:endParaRPr lang="en-US" sz="1400" dirty="0"/>
          </a:p>
          <a:p>
            <a:pPr algn="ctr" indent="0" marL="0">
              <a:buNone/>
            </a:pPr>
            <a:r>
              <a:rPr lang="en-US" sz="1400" dirty="0">
                <a:solidFill>
                  <a:srgbClr val="1E293B"/>
                </a:solidFill>
                <a:latin typeface="Calibri" pitchFamily="34" charset="0"/>
                <a:ea typeface="Calibri" pitchFamily="34" charset="-122"/>
                <a:cs typeface="Calibri" pitchFamily="34" charset="-120"/>
              </a:rPr>
              <a:t>held</a:t>
            </a:r>
            <a:endParaRPr lang="en-US" sz="1400" dirty="0"/>
          </a:p>
          <a:p>
            <a:pPr algn="ctr" indent="0" marL="0">
              <a:buNone/>
            </a:pPr>
            <a:r>
              <a:rPr lang="en-US" sz="1400" dirty="0">
                <a:solidFill>
                  <a:srgbClr val="1E293B"/>
                </a:solidFill>
                <a:latin typeface="Calibri" pitchFamily="34" charset="0"/>
                <a:ea typeface="Calibri" pitchFamily="34" charset="-122"/>
                <a:cs typeface="Calibri" pitchFamily="34" charset="-120"/>
              </a:rPr>
              <a:t>left</a:t>
            </a:r>
            <a:endParaRPr lang="en-US" sz="1400" dirty="0"/>
          </a:p>
          <a:p>
            <a:pPr algn="ctr" indent="0" marL="0">
              <a:buNone/>
            </a:pPr>
            <a:r>
              <a:rPr lang="en-US" sz="1400" dirty="0">
                <a:solidFill>
                  <a:srgbClr val="1E293B"/>
                </a:solidFill>
                <a:latin typeface="Calibri" pitchFamily="34" charset="0"/>
                <a:ea typeface="Calibri" pitchFamily="34" charset="-122"/>
                <a:cs typeface="Calibri" pitchFamily="34" charset="-120"/>
              </a:rPr>
              <a:t>kept</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5C8E8"/>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Read</a:t>
            </a:r>
            <a:endParaRPr lang="en-US" sz="2200" dirty="0"/>
          </a:p>
        </p:txBody>
      </p:sp>
      <p:sp>
        <p:nvSpPr>
          <p:cNvPr id="4" name="Text 2"/>
          <p:cNvSpPr/>
          <p:nvPr/>
        </p:nvSpPr>
        <p:spPr>
          <a:xfrm>
            <a:off x="365760" y="868680"/>
            <a:ext cx="8412480" cy="502920"/>
          </a:xfrm>
          <a:prstGeom prst="rect">
            <a:avLst/>
          </a:prstGeom>
          <a:noFill/>
          <a:ln/>
        </p:spPr>
        <p:txBody>
          <a:bodyPr wrap="square" lIns="0" tIns="0" rIns="0" bIns="0" rtlCol="0" anchor="ctr"/>
          <a:lstStyle/>
          <a:p>
            <a:pPr indent="0" marL="0">
              <a:buNone/>
            </a:pPr>
            <a:r>
              <a:rPr lang="en-US" sz="2600" b="1" dirty="0">
                <a:solidFill>
                  <a:srgbClr val="0E1C42"/>
                </a:solidFill>
                <a:latin typeface="Calibri" pitchFamily="34" charset="0"/>
                <a:ea typeface="Calibri" pitchFamily="34" charset="-122"/>
                <a:cs typeface="Calibri" pitchFamily="34" charset="-120"/>
              </a:rPr>
              <a:t>Chapter 5</a:t>
            </a:r>
            <a:endParaRPr lang="en-US" sz="2600" dirty="0"/>
          </a:p>
        </p:txBody>
      </p:sp>
      <p:sp>
        <p:nvSpPr>
          <p:cNvPr id="5" name="Text 3"/>
          <p:cNvSpPr/>
          <p:nvPr/>
        </p:nvSpPr>
        <p:spPr>
          <a:xfrm>
            <a:off x="365760" y="1463040"/>
            <a:ext cx="8229600" cy="237744"/>
          </a:xfrm>
          <a:prstGeom prst="rect">
            <a:avLst/>
          </a:prstGeom>
          <a:noFill/>
          <a:ln/>
        </p:spPr>
        <p:txBody>
          <a:bodyPr wrap="square" lIns="0" tIns="0" rIns="0" bIns="0" rtlCol="0" anchor="ctr"/>
          <a:lstStyle/>
          <a:p>
            <a:pPr indent="0" marL="0">
              <a:buNone/>
            </a:pPr>
            <a:r>
              <a:rPr lang="en-US" sz="1100" b="1" spc="100" kern="0" dirty="0">
                <a:solidFill>
                  <a:srgbClr val="8B6FC0"/>
                </a:solidFill>
                <a:latin typeface="Calibri" pitchFamily="34" charset="0"/>
                <a:ea typeface="Calibri" pitchFamily="34" charset="-122"/>
                <a:cs typeface="Calibri" pitchFamily="34" charset="-120"/>
              </a:rPr>
              <a:t>COPYWORK — FROM THE NOVEL</a:t>
            </a:r>
            <a:endParaRPr lang="en-US" sz="1100" dirty="0"/>
          </a:p>
        </p:txBody>
      </p:sp>
      <p:sp>
        <p:nvSpPr>
          <p:cNvPr id="6" name="Shape 4"/>
          <p:cNvSpPr/>
          <p:nvPr/>
        </p:nvSpPr>
        <p:spPr>
          <a:xfrm>
            <a:off x="365760" y="1719072"/>
            <a:ext cx="8412480" cy="1143000"/>
          </a:xfrm>
          <a:prstGeom prst="roundRect">
            <a:avLst>
              <a:gd name="adj" fmla="val 8000"/>
            </a:avLst>
          </a:prstGeom>
          <a:solidFill>
            <a:srgbClr val="F0E8FF"/>
          </a:solidFill>
          <a:ln w="19050">
            <a:solidFill>
              <a:srgbClr val="8B6FC0"/>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47088"/>
            <a:ext cx="7955280" cy="88696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““Thank you, Arthur,” Stanley said. “Thank you very much.””</a:t>
            </a:r>
            <a:endParaRPr lang="en-US" sz="1700" dirty="0"/>
          </a:p>
        </p:txBody>
      </p:sp>
      <p:sp>
        <p:nvSpPr>
          <p:cNvPr id="8" name="Text 6"/>
          <p:cNvSpPr/>
          <p:nvPr/>
        </p:nvSpPr>
        <p:spPr>
          <a:xfrm>
            <a:off x="365760" y="301752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PAUSE &amp; THINK</a:t>
            </a:r>
            <a:endParaRPr lang="en-US" sz="1100" dirty="0"/>
          </a:p>
        </p:txBody>
      </p:sp>
      <p:sp>
        <p:nvSpPr>
          <p:cNvPr id="9" name="Text 7"/>
          <p:cNvSpPr/>
          <p:nvPr/>
        </p:nvSpPr>
        <p:spPr>
          <a:xfrm>
            <a:off x="365760" y="3273552"/>
            <a:ext cx="8412480" cy="91440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  Stop when Arthur kneels by Stanley’s bed in the dark and Stanley says, “Go away.” Stanley has been cheerful since the first page. Name the events that changed him, and say which one you think mattered most .</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34B76F"/>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Writer’s Workshop</a:t>
            </a:r>
            <a:endParaRPr lang="en-US" sz="2200" dirty="0"/>
          </a:p>
        </p:txBody>
      </p:sp>
      <p:sp>
        <p:nvSpPr>
          <p:cNvPr id="4" name="Text 2"/>
          <p:cNvSpPr/>
          <p:nvPr/>
        </p:nvSpPr>
        <p:spPr>
          <a:xfrm>
            <a:off x="365760" y="822960"/>
            <a:ext cx="8229600" cy="237744"/>
          </a:xfrm>
          <a:prstGeom prst="rect">
            <a:avLst/>
          </a:prstGeom>
          <a:noFill/>
          <a:ln/>
        </p:spPr>
        <p:txBody>
          <a:bodyPr wrap="square" lIns="0" tIns="0" rIns="0" bIns="0" rtlCol="0" anchor="ctr"/>
          <a:lstStyle/>
          <a:p>
            <a:pPr indent="0" marL="0">
              <a:buNone/>
            </a:pPr>
            <a:r>
              <a:rPr lang="en-US" sz="1100" b="1" spc="100" kern="0" dirty="0">
                <a:solidFill>
                  <a:srgbClr val="34B76F"/>
                </a:solidFill>
                <a:latin typeface="Calibri" pitchFamily="34" charset="0"/>
                <a:ea typeface="Calibri" pitchFamily="34" charset="-122"/>
                <a:cs typeface="Calibri" pitchFamily="34" charset="-120"/>
              </a:rPr>
              <a:t>THIS WEEK’S STAGE</a:t>
            </a:r>
            <a:endParaRPr lang="en-US" sz="1100" dirty="0"/>
          </a:p>
        </p:txBody>
      </p:sp>
      <p:sp>
        <p:nvSpPr>
          <p:cNvPr id="5" name="Text 3"/>
          <p:cNvSpPr/>
          <p:nvPr/>
        </p:nvSpPr>
        <p:spPr>
          <a:xfrm>
            <a:off x="365760" y="1078992"/>
            <a:ext cx="8412480" cy="548640"/>
          </a:xfrm>
          <a:prstGeom prst="rect">
            <a:avLst/>
          </a:prstGeom>
          <a:noFill/>
          <a:ln/>
        </p:spPr>
        <p:txBody>
          <a:bodyPr wrap="square" lIns="0" tIns="0" rIns="0" bIns="0" rtlCol="0" anchor="ctr"/>
          <a:lstStyle/>
          <a:p>
            <a:pPr indent="0" marL="0">
              <a:buNone/>
            </a:pPr>
            <a:r>
              <a:rPr lang="en-US" sz="3000" b="1" dirty="0">
                <a:solidFill>
                  <a:srgbClr val="0E1C42"/>
                </a:solidFill>
                <a:latin typeface="Calibri" pitchFamily="34" charset="0"/>
                <a:ea typeface="Calibri" pitchFamily="34" charset="-122"/>
                <a:cs typeface="Calibri" pitchFamily="34" charset="-120"/>
              </a:rPr>
              <a:t>ADD CRAFT</a:t>
            </a:r>
            <a:endParaRPr lang="en-US" sz="3000" dirty="0"/>
          </a:p>
        </p:txBody>
      </p:sp>
      <p:sp>
        <p:nvSpPr>
          <p:cNvPr id="6" name="Text 4"/>
          <p:cNvSpPr/>
          <p:nvPr/>
        </p:nvSpPr>
        <p:spPr>
          <a:xfrm>
            <a:off x="365760" y="1691640"/>
            <a:ext cx="8412480" cy="457200"/>
          </a:xfrm>
          <a:prstGeom prst="rect">
            <a:avLst/>
          </a:prstGeom>
          <a:noFill/>
          <a:ln/>
        </p:spPr>
        <p:txBody>
          <a:bodyPr wrap="square" lIns="0" tIns="0" rIns="0" bIns="0" rtlCol="0" anchor="ctr"/>
          <a:lstStyle/>
          <a:p>
            <a:pPr indent="0" marL="0">
              <a:buNone/>
            </a:pPr>
            <a:r>
              <a:rPr lang="en-US" sz="1800" dirty="0">
                <a:solidFill>
                  <a:srgbClr val="1E293B"/>
                </a:solidFill>
                <a:latin typeface="Calibri" pitchFamily="34" charset="0"/>
                <a:ea typeface="Calibri" pitchFamily="34" charset="-122"/>
                <a:cs typeface="Calibri" pitchFamily="34" charset="-120"/>
              </a:rPr>
              <a:t>Add craft: strong verbs</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Optima Academy Online</dc:creator>
  <cp:lastModifiedBy>Optima Academy Online</cp:lastModifiedBy>
  <cp:revision>1</cp:revision>
  <dcterms:created xsi:type="dcterms:W3CDTF">2026-09-08T13:30:00Z</dcterms:created>
  <dcterms:modified xsi:type="dcterms:W3CDTF">2026-09-08T13:30:00Z</dcterms:modified>
</cp:coreProperties>
</file>