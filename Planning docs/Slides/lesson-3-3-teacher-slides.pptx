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W3D3: Reading: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Recap: We read Chapter 4: Stanley disguises himself as a painting and catches the sneaky museum art thieves! He's a hero.
Today: Read Chapter 5: Arthur finds a way to make Stanley round again.
Big Q: Arthur cries when Stanley says he's unhappy. What does that moment tell us about their friendship?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DOL Model: “Oh, Stanley,” Arthur said. He dried his tears. “Please tell me what’s wrong.”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Fix: its working its working shouted arthur as he kept pumping air into his brother
Answer: “It’s working! It’s working!” shouted Arthur as he kept pumping air into his brother.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Fix: its working its working shouted arthur as he kept pumping air into his brother
Answer: “It’s working! It’s working!” shouted Arthur as he kept pumping air into his brother.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Copywork: “Thank you, Arthur,” Stanley said. “Thank you very much.”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RWM: He took hold of Stanley's hand. The two brothers sat together in the darkness, being friends.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Morphology W3D3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Vocabulary W3D3: gloomy, brave, pump, celebrate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Grammar W3D3
Arthur found the bicycle pump. → Arthur / found the bicycle pump
Stanley spread his arms. → Stanley / spread his arms
Mrs. Lambchop made hot chocolate. → Mrs. Lambchop / made hot chocolate
The brothers shook hands. → The brothers / shook hands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Grammar W3D3
Arthur found the bicycle pump. → Arthur / found the bicycle pump
Stanley spread his arms. → Stanley / spread his arms
Mrs. Lambchop made hot chocolate. → Mrs. Lambchop / made hot chocolate
The brothers shook hands. → The brothers / shook hands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Spelling W3D3
{"silent-e":["spoke","shame","brave","shake"],"closed":["pump","held","left","kept"]}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Spelling W3D3
{"silent-e":["spoke","shame","brave","shake"],"closed":["pump","held","left","kept"]}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Reading: Reading:
WGRD: Arthur cries and asks Stanley to tell him what’s wrong. What does this scene tell you about Arthur as a brother?
Pause: Arthur cries and asks Stanley to tell him what’s wrong. What does this scene tell you about Arthur as a brother?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Comprehension:
Q1: Why is Stanley unhappy at the beginning of Chapter 5? Give two reasons from the text.
Q2: How does Arthur’s idea show that he cares about Stanley? Use details from the story.
Q3: At the end, the whole family celebrates. What do you think the Lambchops learned from Stanley being flat?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Writing W3D3: ADD CRAFT
Today: ADD CRAFT. Reread your draft. Find three ordinary verbs and replace them with stronger, more specific verbs. Circle the ones you changed.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C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69080"/>
            <a:ext cx="9144000" cy="1097280"/>
          </a:xfrm>
          <a:prstGeom prst="rect">
            <a:avLst/>
          </a:prstGeom>
          <a:solidFill>
            <a:srgbClr val="55C8E8">
              <a:alpha val="1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94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 ·  DAY 3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Reading: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Stanley  ·  Jeff Brown  ·  3rd Grade ELA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 ·  Virtue: Courage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Recap + Today's Focus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412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YESTERDAY WE...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115568"/>
            <a:ext cx="8412480" cy="713232"/>
          </a:xfrm>
          <a:prstGeom prst="roundRect">
            <a:avLst>
              <a:gd name="adj" fmla="val 12821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18872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read Chapter 4: Stanley disguises himself as a painting and catches the sneaky museum art thieves! He's a hero.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65760" y="1956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5760" y="2231136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E5F7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86000"/>
            <a:ext cx="7863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Chapter 5: Arthur finds a way to make Stanley round again.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65760" y="29809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 — CHAT ABOUT THIS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65760" y="3255264"/>
            <a:ext cx="8412480" cy="841248"/>
          </a:xfrm>
          <a:prstGeom prst="roundRect">
            <a:avLst>
              <a:gd name="adj" fmla="val 10870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94360" y="3328416"/>
            <a:ext cx="7863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Arthur cries when Stanley says he's unhappy. What does that moment tell us about their friendship?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Oral Language — Model Sentence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WHAT'S DONE RIGHT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70432"/>
            <a:ext cx="78638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“Oh, Stanley,” Arthur said. He dried his tears. “Please tell me what’s wrong.”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65760" y="22128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NOTICE: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2487168"/>
            <a:ext cx="8229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Notice: Three sentences — dialogue, narration, dialogue. Each starts with a capital letter. The apostrophe in what’s shows a contraction.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Oral Language — Fix It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FIXING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97280"/>
            <a:ext cx="841248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170432"/>
            <a:ext cx="7863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working its working shouted arthur as he kept pumping air into his brother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21214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corrected sentence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Oral Language — Fix It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FIXING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97280"/>
            <a:ext cx="841248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170432"/>
            <a:ext cx="7863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working its working shouted arthur as he kept pumping air into his brother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21214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corrected sentence in your notebook.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94360" y="27889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5760" y="3063240"/>
            <a:ext cx="8412480" cy="960120"/>
          </a:xfrm>
          <a:prstGeom prst="roundRect">
            <a:avLst>
              <a:gd name="adj" fmla="val 952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136392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“It’s working! It’s working!” shouted Arthur as he kept pumping air into his brother.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 — From the Novel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762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THIS CAREFULLY INTO YOUR JOURNAL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1554480"/>
          </a:xfrm>
          <a:prstGeom prst="roundRect">
            <a:avLst>
              <a:gd name="adj" fmla="val 5882"/>
            </a:avLst>
          </a:prstGeom>
          <a:solidFill>
            <a:srgbClr val="FFF0F4"/>
          </a:solidFill>
          <a:ln w="12700">
            <a:solidFill>
              <a:srgbClr val="C7627E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70432"/>
            <a:ext cx="786384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“Thank you, Arthur,” Stanley said. “Thank you very much.”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457200" y="27889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 the comma after the name in dialogue, and how the period goes inside the closing quotation mark.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Read, Write, Mentor — Imitate This Sentence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 SENTENCE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960120"/>
          </a:xfrm>
          <a:prstGeom prst="roundRect">
            <a:avLst>
              <a:gd name="adj" fmla="val 9524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70432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"He took hold of Stanley's hand. The two brothers sat together in the darkness, being friends."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craft move did the author use? Now try writing your own sentence that imitates the structure.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Morphology — Apply — Find the Base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EACH WORD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749808"/>
          </a:xfrm>
          <a:prstGeom prst="roundRect">
            <a:avLst>
              <a:gd name="adj" fmla="val 12195"/>
            </a:avLst>
          </a:prstGeom>
          <a:solidFill>
            <a:srgbClr val="F8FAFC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07008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base word in unhappy is 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65760" y="2057400"/>
            <a:ext cx="8412480" cy="749808"/>
          </a:xfrm>
          <a:prstGeom prst="roundRect">
            <a:avLst>
              <a:gd name="adj" fmla="val 12195"/>
            </a:avLst>
          </a:prstGeom>
          <a:solidFill>
            <a:srgbClr val="F8FAFC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167128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base word in unfair is 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365760" y="3017520"/>
            <a:ext cx="8412480" cy="749808"/>
          </a:xfrm>
          <a:prstGeom prst="roundRect">
            <a:avLst>
              <a:gd name="adj" fmla="val 12195"/>
            </a:avLst>
          </a:prstGeom>
          <a:solidFill>
            <a:srgbClr val="F8FAFC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3127248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base word in pumping is 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65760" y="3977640"/>
            <a:ext cx="8412480" cy="749808"/>
          </a:xfrm>
          <a:prstGeom prst="roundRect">
            <a:avLst>
              <a:gd name="adj" fmla="val 12195"/>
            </a:avLst>
          </a:prstGeom>
          <a:solidFill>
            <a:srgbClr val="F8FAFC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4087368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base word in celebrated is 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 — Context Clues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CLUES — Use the sentence to figure out the meaning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1024128"/>
          </a:xfrm>
          <a:prstGeom prst="roundRect">
            <a:avLst>
              <a:gd name="adj" fmla="val 8929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115214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7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gloomy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1536192"/>
            <a:ext cx="7680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Sad and dark, without hope.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65760" y="2267712"/>
            <a:ext cx="8412480" cy="1024128"/>
          </a:xfrm>
          <a:prstGeom prst="roundRect">
            <a:avLst>
              <a:gd name="adj" fmla="val 8929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48640" y="23408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7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2724912"/>
            <a:ext cx="7680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face something scary or hard.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3456432"/>
            <a:ext cx="8412480" cy="1024128"/>
          </a:xfrm>
          <a:prstGeom prst="roundRect">
            <a:avLst>
              <a:gd name="adj" fmla="val 8929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352958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7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48640" y="3913632"/>
            <a:ext cx="7680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tool that pushes air into something.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65760" y="4645152"/>
            <a:ext cx="8412480" cy="1024128"/>
          </a:xfrm>
          <a:prstGeom prst="roundRect">
            <a:avLst>
              <a:gd name="adj" fmla="val 8929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48640" y="471830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7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celebrate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48640" y="5102352"/>
            <a:ext cx="7680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something special because of good news.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Grammar — Subject and predicate (Apply)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EACH ONE: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78992"/>
            <a:ext cx="841248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170432"/>
            <a:ext cx="7955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Arthur found the bicycle pump.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066544"/>
            <a:ext cx="841248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157984"/>
            <a:ext cx="7955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 spread his arms.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054096"/>
            <a:ext cx="841248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145536"/>
            <a:ext cx="7955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Mrs. Lambchop made hot chocolate.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365760" y="4041648"/>
            <a:ext cx="841248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94360" y="4133088"/>
            <a:ext cx="7955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brothers shook hands.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Grammar — Subject and predicate (Apply)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EACH ONE: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78992"/>
            <a:ext cx="621792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170432"/>
            <a:ext cx="5760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Arthur found the bicycle pump.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720840" y="1078992"/>
            <a:ext cx="2057400" cy="804672"/>
          </a:xfrm>
          <a:prstGeom prst="roundRect">
            <a:avLst>
              <a:gd name="adj" fmla="val 1136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720840" y="1078992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Arthur / found the bicycle pump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2066544"/>
            <a:ext cx="621792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2157984"/>
            <a:ext cx="5760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 spread his arms.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720840" y="2066544"/>
            <a:ext cx="2057400" cy="804672"/>
          </a:xfrm>
          <a:prstGeom prst="roundRect">
            <a:avLst>
              <a:gd name="adj" fmla="val 1136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720840" y="2066544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 / spread his arms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3054096"/>
            <a:ext cx="621792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94360" y="3145536"/>
            <a:ext cx="5760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Mrs. Lambchop made hot chocolate.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6720840" y="3054096"/>
            <a:ext cx="2057400" cy="804672"/>
          </a:xfrm>
          <a:prstGeom prst="roundRect">
            <a:avLst>
              <a:gd name="adj" fmla="val 1136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720840" y="3054096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Mrs. Lambchop / made hot chocolate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4041648"/>
            <a:ext cx="621792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94360" y="4133088"/>
            <a:ext cx="5760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brothers shook hands.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720840" y="4041648"/>
            <a:ext cx="2057400" cy="804672"/>
          </a:xfrm>
          <a:prstGeom prst="roundRect">
            <a:avLst>
              <a:gd name="adj" fmla="val 1136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720840" y="4041648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brothers / shook hands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Spelling — Sort the Words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EACH WORD INTO THE RIGHT COLUMN: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6576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spoke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246888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46888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57200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67512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67512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shake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36576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246888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246888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457200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57200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67512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67512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kept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Spelling — Sort the Words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EACH WORD INTO THE RIGHT COLUMN: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6576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spoke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246888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46888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57200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67512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67512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shake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36576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246888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246888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457200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57200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67512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67512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kept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365760" y="249631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silent-e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760" y="2788920"/>
            <a:ext cx="4069080" cy="960120"/>
          </a:xfrm>
          <a:prstGeom prst="roundRect">
            <a:avLst>
              <a:gd name="adj" fmla="val 952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57200" y="2788920"/>
            <a:ext cx="3886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spoke  shame  brave  shake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572000" y="249631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572000" y="2788920"/>
            <a:ext cx="4069080" cy="960120"/>
          </a:xfrm>
          <a:prstGeom prst="roundRect">
            <a:avLst>
              <a:gd name="adj" fmla="val 9524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663440" y="2788920"/>
            <a:ext cx="3886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  held  left  kept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— Reading: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GOOD READERS DO — Keep this in mind as you read: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914400"/>
          </a:xfrm>
          <a:prstGeom prst="roundRect">
            <a:avLst>
              <a:gd name="adj" fmla="val 10000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70432"/>
            <a:ext cx="7863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Arthur cries and asks Stanley to tell him what’s wrong. What does this scene tell you about Arthur as a brother?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" y="21488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" y="2423160"/>
            <a:ext cx="8412480" cy="960120"/>
          </a:xfrm>
          <a:prstGeom prst="roundRect">
            <a:avLst>
              <a:gd name="adj" fmla="val 9524"/>
            </a:avLst>
          </a:prstGeom>
          <a:solidFill>
            <a:srgbClr val="E5F7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2496312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Arthur cries and asks Stanley to tell him what’s wrong. What does this scene tell you about Arthur as a brother?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Comprehension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IN COMPLETE SENTENCES — USE TEXT EVIDENCE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1325880"/>
          </a:xfrm>
          <a:prstGeom prst="roundRect">
            <a:avLst>
              <a:gd name="adj" fmla="val 6897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18872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55C8E8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02920" y="1188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" y="1170432"/>
            <a:ext cx="7498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is Stanley unhappy at the beginning of Chapter 5? Give two reasons from the text.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1325880"/>
          </a:xfrm>
          <a:prstGeom prst="roundRect">
            <a:avLst>
              <a:gd name="adj" fmla="val 6897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02920" y="267004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55C8E8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97280" y="2651760"/>
            <a:ext cx="7498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Arthur’s idea show that he cares about Stanley? Use details from the story.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365760" y="4041648"/>
            <a:ext cx="8412480" cy="1325880"/>
          </a:xfrm>
          <a:prstGeom prst="roundRect">
            <a:avLst>
              <a:gd name="adj" fmla="val 6897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02920" y="41513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55C8E8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02920" y="4151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097280" y="4133088"/>
            <a:ext cx="7498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end, the whole family celebrates. What do you think the Lambchops learned from Stanley being flat?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Writer's Workshop — ADD CRAFT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822960"/>
            <a:ext cx="1316736" cy="347472"/>
          </a:xfrm>
          <a:prstGeom prst="roundRect">
            <a:avLst>
              <a:gd name="adj" fmla="val 26316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65760" y="822960"/>
            <a:ext cx="1316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Seed Ideas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810512" y="822960"/>
            <a:ext cx="1316736" cy="347472"/>
          </a:xfrm>
          <a:prstGeom prst="roundRect">
            <a:avLst>
              <a:gd name="adj" fmla="val 26316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810512" y="822960"/>
            <a:ext cx="1316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Plan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55264" y="822960"/>
            <a:ext cx="1316736" cy="347472"/>
          </a:xfrm>
          <a:prstGeom prst="roundRect">
            <a:avLst>
              <a:gd name="adj" fmla="val 26316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255264" y="822960"/>
            <a:ext cx="1316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Draft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700016" y="822960"/>
            <a:ext cx="1060704" cy="347472"/>
          </a:xfrm>
          <a:prstGeom prst="roundRect">
            <a:avLst>
              <a:gd name="adj" fmla="val 26316"/>
            </a:avLst>
          </a:prstGeom>
          <a:solidFill>
            <a:srgbClr val="C7922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0016" y="822960"/>
            <a:ext cx="1060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Add Craft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888736" y="822960"/>
            <a:ext cx="1371600" cy="347472"/>
          </a:xfrm>
          <a:prstGeom prst="roundRect">
            <a:avLst>
              <a:gd name="adj" fmla="val 26316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888736" y="82296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Revise &amp; Edit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406640" y="822960"/>
            <a:ext cx="1371600" cy="347472"/>
          </a:xfrm>
          <a:prstGeom prst="roundRect">
            <a:avLst>
              <a:gd name="adj" fmla="val 26316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406640" y="82296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Publish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65760" y="128016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94360" y="1316736"/>
            <a:ext cx="7863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craft: strong verbs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65760" y="208483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WRITING TASK — IN YOUR JOURNAL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65760" y="2359152"/>
            <a:ext cx="8412480" cy="1097280"/>
          </a:xfrm>
          <a:prstGeom prst="roundRect">
            <a:avLst>
              <a:gd name="adj" fmla="val 8333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94360" y="2450592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ADD CRAFT. Reread your draft. Find three ordinary verbs and replace them with stronger, more specific verbs. Circle the ones you changed.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2026-07-10T22:22:36Z</dcterms:created>
  <dcterms:modified xsi:type="dcterms:W3CDTF">2026-07-10T22:22:36Z</dcterms:modified>
</cp:coreProperties>
</file>