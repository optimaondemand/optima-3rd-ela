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22 Day 3. The Whipping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connect the humor to getting through the hard thing, not just describe the funny moment?.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B4513"/>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22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D2691E"/>
                </a:solidFill>
                <a:latin typeface="Calibri" pitchFamily="34" charset="0"/>
                <a:ea typeface="Calibri" pitchFamily="34" charset="-122"/>
                <a:cs typeface="Calibri" pitchFamily="34" charset="-120"/>
              </a:rPr>
              <a:t>The Whipping Boy — Lesson 22.3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Sid Fleischman, the author, uses humor even when serious things are happening. Why do you think authors use humor in serious stories? Write about a time when laughing helped you get through something hard.</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Sid Fleischman, the author, uses humor even when serious things are happening. Why do you think authors use humor in serious stories? Write about a time when laughing helped you get through something hard.</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connect the humor to getting through the hard thing, not just describe the funny moment?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Good readers listen for the character's voice. Today we perform a scene aloud and think about how each character sounds, feels, and moves.</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listen for the character's voice. Today we perform a scene aloud and think about how each character sounds, feels, and moves.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"Steady on your legs!" Jemmy asked.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hold on tight the prince called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hold on tight the prince called</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CORRECTED</a:t>
            </a:r>
            <a:endParaRPr lang="en-US" sz="1100" dirty="0"/>
          </a:p>
        </p:txBody>
      </p:sp>
      <p:sp>
        <p:nvSpPr>
          <p:cNvPr id="9" name="Shape 7"/>
          <p:cNvSpPr/>
          <p:nvPr/>
        </p:nvSpPr>
        <p:spPr>
          <a:xfrm>
            <a:off x="457200" y="2057400"/>
            <a:ext cx="8229600" cy="640080"/>
          </a:xfrm>
          <a:prstGeom prst="roundRect">
            <a:avLst>
              <a:gd name="adj" fmla="val 14286"/>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167128"/>
            <a:ext cx="7863840" cy="411480"/>
          </a:xfrm>
          <a:prstGeom prst="rect">
            <a:avLst/>
          </a:prstGeom>
          <a:noFill/>
          <a:ln/>
        </p:spPr>
        <p:txBody>
          <a:bodyPr wrap="square" lIns="0" tIns="0" rIns="0" bIns="0" rtlCol="0" anchor="ctr"/>
          <a:lstStyle/>
          <a:p>
            <a:pPr indent="0" marL="0">
              <a:buNone/>
            </a:pPr>
            <a:r>
              <a:rPr lang="en-US" sz="1800" i="1" dirty="0">
                <a:solidFill>
                  <a:srgbClr val="34B76F"/>
                </a:solidFill>
                <a:latin typeface="Calibri" pitchFamily="34" charset="0"/>
                <a:ea typeface="Calibri" pitchFamily="34" charset="-122"/>
                <a:cs typeface="Calibri" pitchFamily="34" charset="-120"/>
              </a:rPr>
              <a:t>"Hold on tight!" the prince called.</a:t>
            </a:r>
            <a:endParaRPr lang="en-US" sz="1800" dirty="0"/>
          </a:p>
        </p:txBody>
      </p:sp>
      <p:sp>
        <p:nvSpPr>
          <p:cNvPr id="11" name="Text 9"/>
          <p:cNvSpPr/>
          <p:nvPr/>
        </p:nvSpPr>
        <p:spPr>
          <a:xfrm>
            <a:off x="457200" y="28346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2" name="Text 10"/>
          <p:cNvSpPr/>
          <p:nvPr/>
        </p:nvSpPr>
        <p:spPr>
          <a:xfrm>
            <a:off x="640080" y="310896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Opening quotation mark; capital H on Hold; exclamation mark inside the closing quote; lowercase the;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Root spect — in the story (Day 3: Apply to text)</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expected</a:t>
            </a:r>
            <a:pPr indent="0" marL="0">
              <a:buNone/>
            </a:pPr>
            <a:r>
              <a:rPr lang="en-US" sz="1400" dirty="0">
                <a:solidFill>
                  <a:srgbClr val="64748B"/>
                </a:solidFill>
                <a:latin typeface="Calibri" pitchFamily="34" charset="0"/>
                <a:ea typeface="Calibri" pitchFamily="34" charset="-122"/>
                <a:cs typeface="Calibri" pitchFamily="34" charset="-120"/>
              </a:rPr>
              <a:t>  ·  — not planned for; surprising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acle</a:t>
            </a:r>
            <a:pPr indent="0" marL="0">
              <a:buNone/>
            </a:pPr>
            <a:r>
              <a:rPr lang="en-US" sz="1400" dirty="0">
                <a:solidFill>
                  <a:srgbClr val="64748B"/>
                </a:solidFill>
                <a:latin typeface="Calibri" pitchFamily="34" charset="0"/>
                <a:ea typeface="Calibri" pitchFamily="34" charset="-122"/>
                <a:cs typeface="Calibri" pitchFamily="34" charset="-120"/>
              </a:rPr>
              <a:t>  ·  — a dramatic or striking scene worth watching</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spect</a:t>
            </a:r>
            <a:pPr indent="0" marL="0">
              <a:buNone/>
            </a:pPr>
            <a:r>
              <a:rPr lang="en-US" sz="1400" dirty="0">
                <a:solidFill>
                  <a:srgbClr val="64748B"/>
                </a:solidFill>
                <a:latin typeface="Calibri" pitchFamily="34" charset="0"/>
                <a:ea typeface="Calibri" pitchFamily="34" charset="-122"/>
                <a:cs typeface="Calibri" pitchFamily="34" charset="-120"/>
              </a:rPr>
              <a:t>  ·  — to look at closely</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pect</a:t>
            </a:r>
            <a:pPr indent="0" marL="0">
              <a:buNone/>
            </a:pPr>
            <a:r>
              <a:rPr lang="en-US" sz="1400" dirty="0">
                <a:solidFill>
                  <a:srgbClr val="64748B"/>
                </a:solidFill>
                <a:latin typeface="Calibri" pitchFamily="34" charset="0"/>
                <a:ea typeface="Calibri" pitchFamily="34" charset="-122"/>
                <a:cs typeface="Calibri" pitchFamily="34" charset="-120"/>
              </a:rPr>
              <a:t>  ·  — to think something is going to happen</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expression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Showing feelings through voice, face, or body.</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dialogue</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The words spoken by characters in a story.</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fluency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Reading smoothly, at the right pace, with expression.</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prosody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The rhythm, stress, and expression in spoken language.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(Day 3: Use in own writing)</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stood at the edge of the sewer.</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She put the rope back on Petunia's neck.</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They could barely see in the dark.</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outlaws chased them through the sewer.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(Day 3: Use in own writing) — Answers</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stood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edge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of</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sewer.</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put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rope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back</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Petunia's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neck.</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could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barely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see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outlaws</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chased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them</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through</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sewer.</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Multisyllabic Decoding (Day 3: Fluency — say it smoothly)</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impossible     remarkable     discovery     unexpected     protection     celebration</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Accent on 1st or 2nd syllable</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Accent on 3rd syllable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Multisyllabic Decoding (Day 3: Fluency — say it smoothly) — Sorted</a:t>
            </a:r>
            <a:endParaRPr lang="en-US" sz="2800" dirty="0"/>
          </a:p>
        </p:txBody>
      </p:sp>
      <p:sp>
        <p:nvSpPr>
          <p:cNvPr id="3" name="Shape 1"/>
          <p:cNvSpPr/>
          <p:nvPr/>
        </p:nvSpPr>
        <p:spPr>
          <a:xfrm>
            <a:off x="365760" y="749808"/>
            <a:ext cx="8412480" cy="0"/>
          </a:xfrm>
          <a:prstGeom prst="line">
            <a:avLst/>
          </a:prstGeom>
          <a:noFill/>
          <a:ln w="19050">
            <a:solidFill>
              <a:srgbClr val="D2691E"/>
            </a:solidFill>
            <a:prstDash val="solid"/>
          </a:ln>
        </p:spPr>
      </p:sp>
      <p:sp>
        <p:nvSpPr>
          <p:cNvPr id="4" name="Shape 2"/>
          <p:cNvSpPr/>
          <p:nvPr/>
        </p:nvSpPr>
        <p:spPr>
          <a:xfrm>
            <a:off x="6492240" y="173736"/>
            <a:ext cx="2286000" cy="502920"/>
          </a:xfrm>
          <a:prstGeom prst="roundRect">
            <a:avLst>
              <a:gd name="adj" fmla="val 21818"/>
            </a:avLst>
          </a:prstGeom>
          <a:solidFill>
            <a:srgbClr val="D2691E"/>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Accent on 1st or 2nd syllable</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impossible</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remarkable</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discovery</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unexpected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Accent on 3rd syllable</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protection</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celebration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Look at the letters around the dot in each word. Count: vowel, consonant, consonant, vowel. That's the VCCV pattern .</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Where does the dot fall — before, between, or after the two consonants?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“He did not know, and could not know, that something in him had changed forever.”</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interrupting phrase; narrator's knowledge vs. character's</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narrator tells us something Jemmy doesn't know yet. What do you think has changed in him? Is it possible to change in a big way and not realize it yourself?</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author adds  "and could not know"  right inside the sentence — an interruption. This is the narrator telling us something the character can't see. What does it feel like when the narrator knows more than the character? How does it make you feel toward Jemmy?</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22 · Compare &amp; Present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