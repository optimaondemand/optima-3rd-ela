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We named the theme and wrote about what Fleischman wants readers to understand.
TODAY: Performance — Bring a scene to life with fluency and expression.
BIG Q: Which scene best shows who these characters really are? Can you bring it to life with your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"hold on tight the prince called"
Corrected: ""Hold on tight!" the prince called."
Errors: Opening quotation mark; capital H on Hold; exclamation mark inside the closing quote; lowercase the;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"hold on tight the prince called"
Corrected: ""Hold on tight!" the prince called."
Errors: Opening quotation mark; capital H on Hold; exclamation mark inside the closing quote; lowercase the;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unexpected — not planned for; surprising | spectacle — a dramatic or striking scene worth watching | inspect — to look at closely | expect — to think something is going to happen | To read a script well, you need to showexpression — with your voice and your face. | In Reader&amp;rsquo;s Theater, thedialogue — between characters must sound natural and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expression: Showing feelings through voice, face, or body. | dialogue: The words spoken by characters in a story. | fluency: Reading smoothly, at the right pace, with expression. | prosody: The rhythm, stress, and expression in spoken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"He stood [at the edge of the sewer]." → at the edge of the sewer | "Jemmy looked [beyond the castle walls]." → beyond the castle walls | "The bear danced [before the crowd]." → before the crowd | "They parted [at the crossroads]." → at the crossroads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"He stood [at the edge of the sewer]." → at the edge of the sewer | "Jemmy looked [beyond the castle walls]." → beyond the castle walls | "The bear danced [before the crowd]." → before the crowd | "They parted [at the crossroads]." → at the crossroads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Accent on 1st or 2nd syllable: impossible, remarkable, discovery, unexpected | Accent on 3rd syllable: protection, celebration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Accent on 1st or 2nd syllable: impossible, remarkable, discovery, unexpected | Accent on 3rd syllable: protection, celebration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When The Whipping Boy sees Jeremy tangled in string and the cat coming, she could have run. She stays and unties him instead. Later, Nicodemus and the rats agree to move her cinderblock house — a dangerous, hours-long job — because she asked for help.
Which scene would you most want to perform — and why?
How should each character sound in that scene? Think about expression, speed,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"He did not know, and could not know, that something in him had changed forever."
Craft: interrupting phrase; narrator's knowledge vs. character's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Compare &amp; Present
Focus: Compare Jemmy and Prince Brat. How did each change? What does Fleischman want us to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22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22  ·  Virtue: Gratitude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We named the theme and wrote about what Fleischman wants readers to understand.</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Performance — Bring a scene to life with fluency and expression.</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Which scene best shows who these characters really are? Can you bring it to life with your voice?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listen for the character's voice. Today we perform a scene aloud and think about how each character sounds,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"Steady on your legs!" Jemmy asked.</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hold on tight the prince called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H on Hold; exclamation mark inside the closing quote; lowercase the;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hold on tight the prince called</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H on Hold; exclamation mark inside the closing quote; lowercase the;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"Hold on tight!" the prince called.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Review</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unexpected — not planned for; surprising</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spectacle — a dramatic or striking scene worth watching</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inspect — to look at closely</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expect — to think something is going to happen</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expression   ·   dialogue   ·   fluency   ·   prosody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expression</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Showing feelings through voice, face, or body.</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dialogue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words spoken by characters in a story.</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fluency</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Reading smoothly, at the right pace, with expression.</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prosody</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rhythm, stress, and expression in spoken language.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stood _____.</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looked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bear danced _____.</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parted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stood </a:t>
            </a:r>
            <a:pPr indent="0" marL="0">
              <a:buNone/>
            </a:pPr>
            <a:r>
              <a:rPr lang="en-US" sz="1500" b="1" u="sng" dirty="0">
                <a:solidFill>
                  <a:srgbClr val="34B76F"/>
                </a:solidFill>
                <a:latin typeface="Calibri" pitchFamily="34" charset="0"/>
                <a:ea typeface="Calibri" pitchFamily="34" charset="-122"/>
                <a:cs typeface="Calibri" pitchFamily="34" charset="-120"/>
              </a:rPr>
              <a:t>at the edge of the sewer</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looked </a:t>
            </a:r>
            <a:pPr indent="0" marL="0">
              <a:buNone/>
            </a:pPr>
            <a:r>
              <a:rPr lang="en-US" sz="1500" b="1" u="sng" dirty="0">
                <a:solidFill>
                  <a:srgbClr val="34B76F"/>
                </a:solidFill>
                <a:latin typeface="Calibri" pitchFamily="34" charset="0"/>
                <a:ea typeface="Calibri" pitchFamily="34" charset="-122"/>
                <a:cs typeface="Calibri" pitchFamily="34" charset="-120"/>
              </a:rPr>
              <a:t>beyond the castle walls</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bear danced </a:t>
            </a:r>
            <a:pPr indent="0" marL="0">
              <a:buNone/>
            </a:pPr>
            <a:r>
              <a:rPr lang="en-US" sz="1500" b="1" u="sng" dirty="0">
                <a:solidFill>
                  <a:srgbClr val="34B76F"/>
                </a:solidFill>
                <a:latin typeface="Calibri" pitchFamily="34" charset="0"/>
                <a:ea typeface="Calibri" pitchFamily="34" charset="-122"/>
                <a:cs typeface="Calibri" pitchFamily="34" charset="-120"/>
              </a:rPr>
              <a:t>before the crowd</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parted </a:t>
            </a:r>
            <a:pPr indent="0" marL="0">
              <a:buNone/>
            </a:pPr>
            <a:r>
              <a:rPr lang="en-US" sz="1500" b="1" u="sng" dirty="0">
                <a:solidFill>
                  <a:srgbClr val="34B76F"/>
                </a:solidFill>
                <a:latin typeface="Calibri" pitchFamily="34" charset="0"/>
                <a:ea typeface="Calibri" pitchFamily="34" charset="-122"/>
                <a:cs typeface="Calibri" pitchFamily="34" charset="-120"/>
              </a:rPr>
              <a:t>at the crossroads</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3: Fluency — say it smoothly)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impossible   ·   remarkable   ·   discovery   ·   unexpected   ·   protection   ·   celebration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Accent on 1st or 2nd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Accent on 3rd syllable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3: Fluency — say it smoothly)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773936"/>
          </a:xfrm>
          <a:prstGeom prst="roundRect">
            <a:avLst>
              <a:gd name="adj" fmla="val 515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Accent on 1st or 2nd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impossible</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remarkable</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discovery</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unexpected</a:t>
            </a:r>
            <a:endParaRPr lang="en-US" sz="1400" dirty="0"/>
          </a:p>
        </p:txBody>
      </p:sp>
      <p:sp>
        <p:nvSpPr>
          <p:cNvPr id="13" name="Shape 11"/>
          <p:cNvSpPr/>
          <p:nvPr/>
        </p:nvSpPr>
        <p:spPr>
          <a:xfrm>
            <a:off x="4709160" y="1024128"/>
            <a:ext cx="4114800" cy="1078992"/>
          </a:xfrm>
          <a:prstGeom prst="roundRect">
            <a:avLst>
              <a:gd name="adj" fmla="val 847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Accent on 3rd syllable</a:t>
            </a:r>
            <a:endParaRPr lang="en-US" sz="1200" dirty="0"/>
          </a:p>
        </p:txBody>
      </p:sp>
      <p:sp>
        <p:nvSpPr>
          <p:cNvPr id="15" name="Text 13"/>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protection</a:t>
            </a:r>
            <a:endParaRPr lang="en-US" sz="1400" dirty="0"/>
          </a:p>
        </p:txBody>
      </p:sp>
      <p:sp>
        <p:nvSpPr>
          <p:cNvPr id="16" name="Text 14"/>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celebration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Today's Chapters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Which scene would you most want to perform — and why?</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How should each character sound in that scene? Think about expression, speed, and volume.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"He did not know, and could not know, that something in him had changed forever."</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interrupting phrase; narrator's knowledge vs. character's</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Compare &amp; Present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Compare Jemmy and Prince Brat. How did each change? What does Fleischman want us to understand?</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"At the beginning, ___ is ___. By the end, ___ is ___. Fleischman teaches us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