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Lesson 20.3. Reading: Ch. 15.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prompt aloud. Give students a moment to think before writing.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Five minutes of sustained writing. Stamina over polish. Do not correct spelling now.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fix only. Editing is conventions; revision is ideas. Name which one you are asking for.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or three volunteers. Praise something specific in each.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Reading lens: Good readers infer character traits from small details. Watch Jemmy and the prince working together on the riverbank — what can you infer about each of them from their actions?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Tap through each highlighted word in the lesson and name what it does right before moving to the fix-it.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Corrected: Corrected: She whistled a sharp note and pointed toward the road. 
Look for: Capital S on She; period at the end. Two verbs joined by and — no comma needed for a compound predicate.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Corrected: Corrected: She whistled a sharp note and pointed toward the road. 
Look for: Capital S on She; period at the end. Two verbs joined by and — no comma needed for a compound predicate.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Break the word into base + word part. Ask what the part adds to the meaning.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word appears in the chapters read this week, in the author’s own sentence.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into, under, inside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into, under, inside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ar or or: started, corner, carpet | er, ir, or ur: person, birthday, nurse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ar or or: started, corner, carpet | er, ir, or ur: person, birthday, nurse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chapters, then return to the pause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A0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82296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dirty="0">
                <a:solidFill>
                  <a:srgbClr val="000000"/>
                </a:solidFill>
              </a:rPr>
              <a:t>👑</a:t>
            </a:r>
            <a:endParaRPr lang="en-US" sz="5200" dirty="0"/>
          </a:p>
        </p:txBody>
      </p:sp>
      <p:sp>
        <p:nvSpPr>
          <p:cNvPr id="3" name="Text 1"/>
          <p:cNvSpPr/>
          <p:nvPr/>
        </p:nvSpPr>
        <p:spPr>
          <a:xfrm>
            <a:off x="457200" y="169164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Whipping Boy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57200" y="233172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20.3  ·  Ch. 15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2880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9BC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3 ELA  ·  Virtue: Perseverance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 10-Minute Write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PROMPT — 1 MINUTE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143000"/>
            <a:ext cx="8412480" cy="1737360"/>
          </a:xfrm>
          <a:prstGeom prst="roundRect">
            <a:avLst>
              <a:gd name="adj" fmla="val 5263"/>
            </a:avLst>
          </a:prstGeom>
          <a:solidFill>
            <a:srgbClr val="FEF6E8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71016"/>
            <a:ext cx="795528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Betsy and her dancing bear help the boys. Write about a stranger who was kind to you.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365760" y="30632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first. You will have five minutes to write.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EF6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 Writing Time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minutes — keep your pencil moving!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463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737360"/>
            <a:ext cx="841248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65376"/>
            <a:ext cx="7955280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Betsy and her dancing bear help the boys. Write about a stranger who was kind to you.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32918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stop to erase. If you get stuck, write the last word again and keep going.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8F8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34B76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🔍  Edit &amp; Revise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minute — pick ONE thing to fix.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65760" y="141732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EDIT FOCUS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691640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19656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I put quotation marks around the words a person said?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26517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check: 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capitals  ·  end punctuation  ·  circle a word you are unsure of  ·  read it aloud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🗣️  Share Time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100584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minutes — let's hear your writing!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69164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Raise your hand  ·  paste it in the chat  ·  or hold your paper up to the camera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 Today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1014984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Ch. 15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365760" y="15087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QUESTION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65760" y="1746504"/>
            <a:ext cx="8412480" cy="731520"/>
          </a:xfrm>
          <a:prstGeom prst="roundRect">
            <a:avLst>
              <a:gd name="adj" fmla="val 12500"/>
            </a:avLst>
          </a:prstGeom>
          <a:solidFill>
            <a:srgbClr val="FEF6E8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874520"/>
            <a:ext cx="7955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readers infer character traits from small details. Watch Jemmy and the prince working together on the riverbank — what can you infer about each of them from their actions?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365760" y="2606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LENS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65760" y="2843784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readers infer character traits from small details. Watch Jemmy and the prince working together on the riverbank — what can you infer about each of them from their actions?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 MODEL — STUDY WHAT IS RIGHT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822960"/>
          </a:xfrm>
          <a:prstGeom prst="roundRect">
            <a:avLst>
              <a:gd name="adj" fmla="val 11111"/>
            </a:avLst>
          </a:prstGeom>
          <a:solidFill>
            <a:srgbClr val="E5F7FC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07008"/>
            <a:ext cx="7955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 spotted a barrel stave and pounced upon it.</a:t>
            </a:r>
            <a:endParaRPr lang="en-US" sz="1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FIX THIS ONE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24128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52144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whistled a sharp note and pointed toward the road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365760" y="278892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Rewrite the sentence correctly in your notebook.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FIX THIS ONE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24128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52144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whistled a sharp note and pointed toward the road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2743200"/>
            <a:ext cx="8412480" cy="1417320"/>
          </a:xfrm>
          <a:prstGeom prst="roundRect">
            <a:avLst>
              <a:gd name="adj" fmla="val 6452"/>
            </a:avLst>
          </a:prstGeom>
          <a:solidFill>
            <a:srgbClr val="E8F8E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66928" y="281635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CORRECTED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66928" y="3072384"/>
            <a:ext cx="80101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Corrected: She whistled a sharp note and pointed toward the road.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66928" y="3767328"/>
            <a:ext cx="80101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 S on She; period at the end. Two verbs joined by and — no comma needed for a compound predicate.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Morphology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SUFFIX -EST (DAY 3: USE)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16152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lowest — most low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365760" y="1792224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8F4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11096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tallest — most tall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365760" y="2487168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06040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strangest — most strange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365760" y="3182112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8F4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3009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nearest — most near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🔤  Vocabulary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VOCABULARY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5F7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mudlarking  </a:t>
            </a:r>
            <a:pPr indent="0" marL="0">
              <a:buNone/>
            </a:pP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182880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embankment  </a:t>
            </a:r>
            <a:pPr indent="0" marL="0">
              <a:buNone/>
            </a:pP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365760" y="256032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5F7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battered  </a:t>
            </a:r>
            <a:pPr indent="0" marL="0">
              <a:buNone/>
            </a:pP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365760" y="329184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driftwood  </a:t>
            </a:r>
            <a:pPr indent="0" marL="0">
              <a:buNone/>
            </a:pPr>
            <a:endParaRPr lang="en-US" sz="17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Grammar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PREPOSITIONS (DAY 3: USE IN SENTENCES)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Jemmy searched the riverbank.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181051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Prince Brat reached into the mud for a chair leg.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65760" y="254203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Jemmy shoved barrel staves under the wheels.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365760" y="327355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rode together inside the potato coach.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65760" y="4050792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Tap the word that fits the rule.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Grammar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PREPOSITIONS (DAY 3: USE IN SENTENCES)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Jemmy searched the riverbank.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181051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Prince Brat reached </a:t>
            </a:r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into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mud for a chair leg.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65760" y="254203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Jemmy shoved barrel staves </a:t>
            </a:r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wheels.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365760" y="327355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rode together </a:t>
            </a:r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inside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potato coach.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65760" y="4050792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Answers revealed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E1C4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 Spelling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R-CONTROLLED SYLLABLES (DAY 3: APPLY)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107899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BANK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353312"/>
            <a:ext cx="8412480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9050">
            <a:solidFill>
              <a:srgbClr val="0E1C42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481328"/>
            <a:ext cx="79552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started   ·   corner   ·   carpet   ·   person   ·   birthday   ·   nurse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251460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column does each word belong in?  Columns: ar or or  |  er, ir, or ur</a:t>
            </a:r>
            <a:endParaRPr lang="en-US" sz="15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E1C4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 Spelling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R-CONTROLLED SYLLABLES (DAY 3: APPLY)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11480" y="1078992"/>
            <a:ext cx="4114800" cy="457200"/>
          </a:xfrm>
          <a:prstGeom prst="roundRect">
            <a:avLst>
              <a:gd name="adj" fmla="val 16000"/>
            </a:avLst>
          </a:prstGeom>
          <a:solidFill>
            <a:srgbClr val="0E1C42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13385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 or or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11480" y="1591056"/>
            <a:ext cx="411480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02920" y="1700784"/>
            <a:ext cx="3931920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started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corner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carpet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617720" y="1078992"/>
            <a:ext cx="4114800" cy="457200"/>
          </a:xfrm>
          <a:prstGeom prst="roundRect">
            <a:avLst>
              <a:gd name="adj" fmla="val 16000"/>
            </a:avLst>
          </a:prstGeom>
          <a:solidFill>
            <a:srgbClr val="0E1C42"/>
          </a:solidFill>
          <a:ln/>
        </p:spPr>
      </p:sp>
      <p:sp>
        <p:nvSpPr>
          <p:cNvPr id="10" name="Text 8"/>
          <p:cNvSpPr/>
          <p:nvPr/>
        </p:nvSpPr>
        <p:spPr>
          <a:xfrm>
            <a:off x="4663440" y="113385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er, ir, or ur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617720" y="1591056"/>
            <a:ext cx="411480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709160" y="1700784"/>
            <a:ext cx="3931920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birthday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nurse</a:t>
            </a:r>
            <a:endParaRPr lang="en-US" sz="1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📕  Read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Ch. 15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463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PAUSE &amp; THINK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1719072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On the mud flat, the prince eventually helps Jemmy collect scraps. What does this tell you about how he is changing?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Jemmy has a free ride to the city — then asks Captain Nips to stop for the prince. Why does Jemmy do this?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Optima Academy Online</dc:creator>
  <cp:lastModifiedBy>Optima Academy Online</cp:lastModifiedBy>
  <cp:revision>1</cp:revision>
  <dcterms:created xsi:type="dcterms:W3CDTF">2026-09-08T13:30:00Z</dcterms:created>
  <dcterms:modified xsi:type="dcterms:W3CDTF">2026-09-08T13:30:00Z</dcterms:modified>
</cp:coreProperties>
</file>