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Ch. 13–14: The chase is on. Jemmy keeps crossing paths with the prince in the forest.
TODAY: Ch. 15: Jemmy's survival skills are tested. A new figure appears.
BIG Q: Jemmy knows how to survive on the streets. Does this make him better off or worse off than the prince?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sentence aloud together. Ask: What capitalization rules do you see? What punctuation? Any dialogue formatting?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"she whistled a sharp note and pointed toward the road"
Corrected: "She whistled a sharp note and pointed toward the road."
Errors: Capital S on She; period at the end. Two verbs joined by and — no comma needed for a compound predicate.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"she whistled a sharp note and pointed toward the road"
Corrected: "She whistled a sharp note and pointed toward the road."
Errors: Capital S on She; period at the end. Two verbs joined by and — no comma needed for a compound predicate.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lowest — most low | tallest — most tall | strangest — most strange | nearest — most near | Jemmy had spent yearsmudlarking — along the river, searching the mud for anything he could sell. | The boys crept down the steep riverembankment — in the dark, trying not to slip.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 mudlarking: Searching through river mud for useful objects to sell. | embankment: A raised bank of earth or stone beside a river. | battered: Beaten and damaged from long use; worn out. | driftwood: Pieces of wood washed up by the river, collected for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"Jemmy searched [along] the riverbank." → along | "Betsy and Petunia traveled [through] the forest." → through | "The prince crawled [beneath] the branches." → beneath | "They hid [between] the tall reeds." → between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"Jemmy searched [along] the riverbank." → along | "Betsy and Petunia traveled [through] the forest." → through | "The prince crawled [beneath] the branches." → beneath | "They hid [between] the tall reeds." → between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ar or or: started, corner, carpet | er, ir, or ur: person, birthday, nurse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ar or or: started, corner, carpet | er, ir, or ur: person, birthday, nurse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Ch. 15
When The Whipping Boy sees Jeremy tangled in string and the cat coming, she could have run. She stays and unties him instead. Later, Nicodemus and the rats agree to move her cinderblock house — a dangerous, hours-long job — because she asked for help.
On the mud flat, the prince eventually helps Jemmy collect scraps. What does this tell you about how he is changing?
Jemmy has a free ride to the city — then asks Captain Nips to stop for the prince. Why does Jemmy do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sentence: "The mud sucked at their feet and the air was cold and the tide was coming in — and none of it mattered."
Craft: and... and... and chain that reverses with none of it mattered
Reader: What does this moment reveal?
Writer: What technique did the author use and why?
Mimic: Write your own using the same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stage: ✍️ Draft
Focus: Opinion: draft your full paragraph — claim + reasons + closing.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0A4A"/>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B8860B">
              <a:alpha val="20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B8860B"/>
                </a:solidFill>
                <a:latin typeface="Calibri" pitchFamily="34" charset="0"/>
                <a:ea typeface="Calibri" pitchFamily="34" charset="-122"/>
                <a:cs typeface="Calibri" pitchFamily="34" charset="-120"/>
              </a:rPr>
              <a:t>WEEK 20  ·  DAY 3</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600" b="1" dirty="0">
                <a:solidFill>
                  <a:srgbClr val="FFFFFF"/>
                </a:solidFill>
                <a:latin typeface="Calibri" pitchFamily="34" charset="0"/>
                <a:ea typeface="Calibri" pitchFamily="34" charset="-122"/>
                <a:cs typeface="Calibri" pitchFamily="34" charset="-120"/>
              </a:rPr>
              <a:t>Ch. 15</a:t>
            </a:r>
            <a:endParaRPr lang="en-US" sz="3600" dirty="0"/>
          </a:p>
          <a:p>
            <a:pPr algn="l" indent="0" marL="0">
              <a:buNone/>
            </a:pPr>
            <a:r>
              <a:rPr lang="en-US" sz="3600" b="1" dirty="0">
                <a:solidFill>
                  <a:srgbClr val="FFFFFF"/>
                </a:solidFill>
                <a:latin typeface="Calibri" pitchFamily="34" charset="0"/>
                <a:ea typeface="Calibri" pitchFamily="34" charset="-122"/>
                <a:cs typeface="Calibri" pitchFamily="34" charset="-120"/>
              </a:rPr>
              <a:t>Of the Hot-Potato Man and other matters</a:t>
            </a:r>
            <a:endParaRPr lang="en-US" sz="3600" dirty="0"/>
          </a:p>
        </p:txBody>
      </p:sp>
      <p:sp>
        <p:nvSpPr>
          <p:cNvPr id="5" name="Text 3"/>
          <p:cNvSpPr/>
          <p:nvPr/>
        </p:nvSpPr>
        <p:spPr>
          <a:xfrm>
            <a:off x="457200" y="2834640"/>
            <a:ext cx="8229600" cy="457200"/>
          </a:xfrm>
          <a:prstGeom prst="rect">
            <a:avLst/>
          </a:prstGeom>
          <a:noFill/>
          <a:ln/>
        </p:spPr>
        <p:txBody>
          <a:bodyPr wrap="square" lIns="0" tIns="0" rIns="0" bIns="0" rtlCol="0" anchor="ctr"/>
          <a:lstStyle/>
          <a:p>
            <a:pPr algn="l" indent="0" marL="0">
              <a:buNone/>
            </a:pPr>
            <a:r>
              <a:rPr lang="en-US" sz="1800" dirty="0">
                <a:solidFill>
                  <a:srgbClr val="B8860B"/>
                </a:solidFill>
                <a:latin typeface="Calibri" pitchFamily="34" charset="0"/>
                <a:ea typeface="Calibri" pitchFamily="34" charset="-122"/>
                <a:cs typeface="Calibri" pitchFamily="34" charset="-120"/>
              </a:rPr>
              <a:t>The Whipping Boy  ·  Sid Fleischman</a:t>
            </a:r>
            <a:endParaRPr lang="en-US" sz="1800" dirty="0"/>
          </a:p>
        </p:txBody>
      </p:sp>
      <p:sp>
        <p:nvSpPr>
          <p:cNvPr id="6" name="Text 4"/>
          <p:cNvSpPr/>
          <p:nvPr/>
        </p:nvSpPr>
        <p:spPr>
          <a:xfrm>
            <a:off x="457200" y="448056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Week 20  ·  Virtue: Perseverance  ·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Recap + Today's Focus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YESTERDAY</a:t>
            </a:r>
            <a:endParaRPr lang="en-US" sz="1100" dirty="0"/>
          </a:p>
        </p:txBody>
      </p:sp>
      <p:sp>
        <p:nvSpPr>
          <p:cNvPr id="7" name="Shape 5"/>
          <p:cNvSpPr/>
          <p:nvPr/>
        </p:nvSpPr>
        <p:spPr>
          <a:xfrm>
            <a:off x="365760" y="1078992"/>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Ch. 13–14: The chase is on. Jemmy keeps crossing paths with the prince in the forest.</a:t>
            </a:r>
            <a:endParaRPr lang="en-US" sz="1400" dirty="0"/>
          </a:p>
        </p:txBody>
      </p:sp>
      <p:sp>
        <p:nvSpPr>
          <p:cNvPr id="9" name="Text 7"/>
          <p:cNvSpPr/>
          <p:nvPr/>
        </p:nvSpPr>
        <p:spPr>
          <a:xfrm>
            <a:off x="365760" y="199339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TODAY</a:t>
            </a:r>
            <a:endParaRPr lang="en-US" sz="1100" dirty="0"/>
          </a:p>
        </p:txBody>
      </p:sp>
      <p:sp>
        <p:nvSpPr>
          <p:cNvPr id="10" name="Shape 8"/>
          <p:cNvSpPr/>
          <p:nvPr/>
        </p:nvSpPr>
        <p:spPr>
          <a:xfrm>
            <a:off x="365760" y="2249424"/>
            <a:ext cx="8412480" cy="713232"/>
          </a:xfrm>
          <a:prstGeom prst="roundRect">
            <a:avLst>
              <a:gd name="adj" fmla="val 12821"/>
            </a:avLst>
          </a:prstGeom>
          <a:solidFill>
            <a:srgbClr val="FFF8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40864"/>
            <a:ext cx="7955280" cy="530352"/>
          </a:xfrm>
          <a:prstGeom prst="rect">
            <a:avLst/>
          </a:prstGeom>
          <a:noFill/>
          <a:ln/>
        </p:spPr>
        <p:txBody>
          <a:bodyPr wrap="square" lIns="0" tIns="0" rIns="0" bIns="0" rtlCol="0" anchor="ctr"/>
          <a:lstStyle/>
          <a:p>
            <a:pPr indent="0" marL="0">
              <a:buNone/>
            </a:pPr>
            <a:r>
              <a:rPr lang="en-US" sz="1400" b="1" dirty="0">
                <a:solidFill>
                  <a:srgbClr val="2A0A4A"/>
                </a:solidFill>
                <a:latin typeface="Calibri" pitchFamily="34" charset="0"/>
                <a:ea typeface="Calibri" pitchFamily="34" charset="-122"/>
                <a:cs typeface="Calibri" pitchFamily="34" charset="-120"/>
              </a:rPr>
              <a:t>Ch. 15: Jemmy's survival skills are tested. A new figure appears.</a:t>
            </a:r>
            <a:endParaRPr lang="en-US" sz="1400" dirty="0"/>
          </a:p>
        </p:txBody>
      </p:sp>
      <p:sp>
        <p:nvSpPr>
          <p:cNvPr id="12" name="Text 10"/>
          <p:cNvSpPr/>
          <p:nvPr/>
        </p:nvSpPr>
        <p:spPr>
          <a:xfrm>
            <a:off x="365760" y="307238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BIG QUESTION</a:t>
            </a:r>
            <a:endParaRPr lang="en-US" sz="1100" dirty="0"/>
          </a:p>
        </p:txBody>
      </p:sp>
      <p:sp>
        <p:nvSpPr>
          <p:cNvPr id="13" name="Shape 11"/>
          <p:cNvSpPr/>
          <p:nvPr/>
        </p:nvSpPr>
        <p:spPr>
          <a:xfrm>
            <a:off x="365760" y="3328416"/>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419856"/>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Jemmy knows how to survive on the streets. Does this make him better off or worse off than the prince?</a:t>
            </a:r>
            <a:endParaRPr lang="en-US" sz="1300" dirty="0"/>
          </a:p>
        </p:txBody>
      </p:sp>
      <p:sp>
        <p:nvSpPr>
          <p:cNvPr id="15" name="Text 13"/>
          <p:cNvSpPr/>
          <p:nvPr/>
        </p:nvSpPr>
        <p:spPr>
          <a:xfrm>
            <a:off x="365760" y="42062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READING LENS</a:t>
            </a:r>
            <a:endParaRPr lang="en-US" sz="1100" dirty="0"/>
          </a:p>
        </p:txBody>
      </p:sp>
      <p:sp>
        <p:nvSpPr>
          <p:cNvPr id="16" name="Text 14"/>
          <p:cNvSpPr/>
          <p:nvPr/>
        </p:nvSpPr>
        <p:spPr>
          <a:xfrm>
            <a:off x="457200" y="4434840"/>
            <a:ext cx="8229600"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 Good readers infer character traits from small details. Watch Jemmy and the prince working together on the riverbank — w</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Study What's Right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FROM THE NOVEL</a:t>
            </a:r>
            <a:endParaRPr lang="en-US" sz="1100" dirty="0"/>
          </a:p>
        </p:txBody>
      </p:sp>
      <p:sp>
        <p:nvSpPr>
          <p:cNvPr id="5" name="Shape 3"/>
          <p:cNvSpPr/>
          <p:nvPr/>
        </p:nvSpPr>
        <p:spPr>
          <a:xfrm>
            <a:off x="365760" y="1078992"/>
            <a:ext cx="8412480" cy="1005840"/>
          </a:xfrm>
          <a:prstGeom prst="roundRect">
            <a:avLst>
              <a:gd name="adj" fmla="val 9091"/>
            </a:avLst>
          </a:prstGeom>
          <a:solidFill>
            <a:srgbClr val="E8F8E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77724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He spotted a barrel stave and pounced upon it.</a:t>
            </a:r>
            <a:endParaRPr lang="en-US" sz="1800" dirty="0"/>
          </a:p>
        </p:txBody>
      </p:sp>
      <p:sp>
        <p:nvSpPr>
          <p:cNvPr id="7" name="Text 5"/>
          <p:cNvSpPr/>
          <p:nvPr/>
        </p:nvSpPr>
        <p:spPr>
          <a:xfrm>
            <a:off x="365760" y="21945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WHAT TO NOTICE</a:t>
            </a:r>
            <a:endParaRPr lang="en-US" sz="1100" dirty="0"/>
          </a:p>
        </p:txBody>
      </p:sp>
      <p:sp>
        <p:nvSpPr>
          <p:cNvPr id="8" name="Text 6"/>
          <p:cNvSpPr/>
          <p:nvPr/>
        </p:nvSpPr>
        <p:spPr>
          <a:xfrm>
            <a:off x="502920" y="2423160"/>
            <a:ext cx="8229600" cy="41148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Tap or circle: capital letters, quotation marks, punctuation, proper nouns.</a:t>
            </a:r>
            <a:endParaRPr lang="en-US" sz="1500" dirty="0"/>
          </a:p>
        </p:txBody>
      </p:sp>
      <p:sp>
        <p:nvSpPr>
          <p:cNvPr id="9" name="Text 7"/>
          <p:cNvSpPr/>
          <p:nvPr/>
        </p:nvSpPr>
        <p:spPr>
          <a:xfrm>
            <a:off x="502920" y="2926080"/>
            <a:ext cx="8229600" cy="411480"/>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Copy this sentence in your journal. Circle one thing you notice.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she whistled a sharp note and pointed toward the road</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Capital S on She; period at the end. Two verbs joined by and — no comma needed for a compound predicate.</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she whistled a sharp note and pointed toward the road</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Capital S on She; period at the end. Two verbs joined by and — no comma needed for a compound predicate.</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
        <p:nvSpPr>
          <p:cNvPr id="11" name="Shape 9"/>
          <p:cNvSpPr/>
          <p:nvPr/>
        </p:nvSpPr>
        <p:spPr>
          <a:xfrm>
            <a:off x="365760" y="3063240"/>
            <a:ext cx="8412480" cy="914400"/>
          </a:xfrm>
          <a:prstGeom prst="roundRect">
            <a:avLst>
              <a:gd name="adj" fmla="val 10000"/>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127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3" name="Text 11"/>
          <p:cNvSpPr/>
          <p:nvPr/>
        </p:nvSpPr>
        <p:spPr>
          <a:xfrm>
            <a:off x="594360" y="3438144"/>
            <a:ext cx="7863840" cy="475488"/>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She whistled a sharp note and pointed toward the road.</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Morphology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WORD PART: -est</a:t>
            </a:r>
            <a:endParaRPr lang="en-US" sz="1100" dirty="0"/>
          </a:p>
        </p:txBody>
      </p:sp>
      <p:sp>
        <p:nvSpPr>
          <p:cNvPr id="5" name="Shape 3"/>
          <p:cNvSpPr/>
          <p:nvPr/>
        </p:nvSpPr>
        <p:spPr>
          <a:xfrm>
            <a:off x="365760" y="118872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9844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lowest — most low</a:t>
            </a:r>
            <a:endParaRPr lang="en-US" sz="1500" dirty="0"/>
          </a:p>
        </p:txBody>
      </p:sp>
      <p:sp>
        <p:nvSpPr>
          <p:cNvPr id="7" name="Shape 5"/>
          <p:cNvSpPr/>
          <p:nvPr/>
        </p:nvSpPr>
        <p:spPr>
          <a:xfrm>
            <a:off x="365760" y="182880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3852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tallest — most tall</a:t>
            </a:r>
            <a:endParaRPr lang="en-US" sz="1500" dirty="0"/>
          </a:p>
        </p:txBody>
      </p:sp>
      <p:sp>
        <p:nvSpPr>
          <p:cNvPr id="9" name="Shape 7"/>
          <p:cNvSpPr/>
          <p:nvPr/>
        </p:nvSpPr>
        <p:spPr>
          <a:xfrm>
            <a:off x="365760" y="246888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57860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strangest — most strange</a:t>
            </a:r>
            <a:endParaRPr lang="en-US" sz="1500" dirty="0"/>
          </a:p>
        </p:txBody>
      </p:sp>
      <p:sp>
        <p:nvSpPr>
          <p:cNvPr id="11" name="Shape 9"/>
          <p:cNvSpPr/>
          <p:nvPr/>
        </p:nvSpPr>
        <p:spPr>
          <a:xfrm>
            <a:off x="365760" y="310896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21868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nearest — most near</a:t>
            </a:r>
            <a:endParaRPr lang="en-US" sz="1500" dirty="0"/>
          </a:p>
        </p:txBody>
      </p:sp>
      <p:sp>
        <p:nvSpPr>
          <p:cNvPr id="13" name="Text 11"/>
          <p:cNvSpPr/>
          <p:nvPr/>
        </p:nvSpPr>
        <p:spPr>
          <a:xfrm>
            <a:off x="365760" y="37947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MATCH GAME WORDS</a:t>
            </a:r>
            <a:endParaRPr lang="en-US" sz="1100" dirty="0"/>
          </a:p>
        </p:txBody>
      </p:sp>
      <p:sp>
        <p:nvSpPr>
          <p:cNvPr id="14" name="Text 12"/>
          <p:cNvSpPr/>
          <p:nvPr/>
        </p:nvSpPr>
        <p:spPr>
          <a:xfrm>
            <a:off x="457200" y="4096512"/>
            <a:ext cx="8229600" cy="347472"/>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mudlarking   ·   embankment   ·   battered   ·   driftwood</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79552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4 WORDS THIS WEEK</a:t>
            </a:r>
            <a:endParaRPr lang="en-US" sz="1100" dirty="0"/>
          </a:p>
        </p:txBody>
      </p:sp>
      <p:sp>
        <p:nvSpPr>
          <p:cNvPr id="5" name="Shape 3"/>
          <p:cNvSpPr/>
          <p:nvPr/>
        </p:nvSpPr>
        <p:spPr>
          <a:xfrm>
            <a:off x="32004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45720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mudlarking</a:t>
            </a:r>
            <a:endParaRPr lang="en-US" sz="1600" dirty="0"/>
          </a:p>
        </p:txBody>
      </p:sp>
      <p:sp>
        <p:nvSpPr>
          <p:cNvPr id="7" name="Text 5"/>
          <p:cNvSpPr/>
          <p:nvPr/>
        </p:nvSpPr>
        <p:spPr>
          <a:xfrm>
            <a:off x="45720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Searching through river mud for useful objects to sell.</a:t>
            </a:r>
            <a:endParaRPr lang="en-US" sz="1200" dirty="0"/>
          </a:p>
        </p:txBody>
      </p:sp>
      <p:sp>
        <p:nvSpPr>
          <p:cNvPr id="8" name="Shape 6"/>
          <p:cNvSpPr/>
          <p:nvPr/>
        </p:nvSpPr>
        <p:spPr>
          <a:xfrm>
            <a:off x="457200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470916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embankment</a:t>
            </a:r>
            <a:endParaRPr lang="en-US" sz="1600" dirty="0"/>
          </a:p>
        </p:txBody>
      </p:sp>
      <p:sp>
        <p:nvSpPr>
          <p:cNvPr id="10" name="Text 8"/>
          <p:cNvSpPr/>
          <p:nvPr/>
        </p:nvSpPr>
        <p:spPr>
          <a:xfrm>
            <a:off x="470916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 raised bank of earth or stone beside a river.</a:t>
            </a:r>
            <a:endParaRPr lang="en-US" sz="1200" dirty="0"/>
          </a:p>
        </p:txBody>
      </p:sp>
      <p:sp>
        <p:nvSpPr>
          <p:cNvPr id="11" name="Shape 9"/>
          <p:cNvSpPr/>
          <p:nvPr/>
        </p:nvSpPr>
        <p:spPr>
          <a:xfrm>
            <a:off x="32004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battered</a:t>
            </a:r>
            <a:endParaRPr lang="en-US" sz="1600" dirty="0"/>
          </a:p>
        </p:txBody>
      </p:sp>
      <p:sp>
        <p:nvSpPr>
          <p:cNvPr id="13" name="Text 11"/>
          <p:cNvSpPr/>
          <p:nvPr/>
        </p:nvSpPr>
        <p:spPr>
          <a:xfrm>
            <a:off x="45720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Beaten and damaged from long use; worn out.</a:t>
            </a:r>
            <a:endParaRPr lang="en-US" sz="1200" dirty="0"/>
          </a:p>
        </p:txBody>
      </p:sp>
      <p:sp>
        <p:nvSpPr>
          <p:cNvPr id="14" name="Shape 12"/>
          <p:cNvSpPr/>
          <p:nvPr/>
        </p:nvSpPr>
        <p:spPr>
          <a:xfrm>
            <a:off x="457200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driftwood</a:t>
            </a:r>
            <a:endParaRPr lang="en-US" sz="1600" dirty="0"/>
          </a:p>
        </p:txBody>
      </p:sp>
      <p:sp>
        <p:nvSpPr>
          <p:cNvPr id="16" name="Text 14"/>
          <p:cNvSpPr/>
          <p:nvPr/>
        </p:nvSpPr>
        <p:spPr>
          <a:xfrm>
            <a:off x="470916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Pieces of wood washed up by the river, collected for sale.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Prepositions (Apply)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SPOT THE ANSWER</a:t>
            </a:r>
            <a:endParaRPr lang="en-US" sz="1100" dirty="0"/>
          </a:p>
        </p:txBody>
      </p:sp>
      <p:sp>
        <p:nvSpPr>
          <p:cNvPr id="7" name="Shape 5"/>
          <p:cNvSpPr/>
          <p:nvPr/>
        </p:nvSpPr>
        <p:spPr>
          <a:xfrm>
            <a:off x="365760" y="10789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searched _____ the riverbank.</a:t>
            </a:r>
            <a:endParaRPr lang="en-US" sz="1500" dirty="0"/>
          </a:p>
        </p:txBody>
      </p:sp>
      <p:sp>
        <p:nvSpPr>
          <p:cNvPr id="9" name="Shape 7"/>
          <p:cNvSpPr/>
          <p:nvPr/>
        </p:nvSpPr>
        <p:spPr>
          <a:xfrm>
            <a:off x="365760" y="17647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Betsy and Petunia traveled _____ the forest.</a:t>
            </a:r>
            <a:endParaRPr lang="en-US" sz="1500" dirty="0"/>
          </a:p>
        </p:txBody>
      </p:sp>
      <p:sp>
        <p:nvSpPr>
          <p:cNvPr id="11" name="Shape 9"/>
          <p:cNvSpPr/>
          <p:nvPr/>
        </p:nvSpPr>
        <p:spPr>
          <a:xfrm>
            <a:off x="365760" y="24505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crawled _____ the branches.</a:t>
            </a:r>
            <a:endParaRPr lang="en-US" sz="1500" dirty="0"/>
          </a:p>
        </p:txBody>
      </p:sp>
      <p:sp>
        <p:nvSpPr>
          <p:cNvPr id="13" name="Shape 11"/>
          <p:cNvSpPr/>
          <p:nvPr/>
        </p:nvSpPr>
        <p:spPr>
          <a:xfrm>
            <a:off x="365760" y="31363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They hid _____ the tall reeds.</a:t>
            </a:r>
            <a:endParaRPr lang="en-US" sz="1500" dirty="0"/>
          </a:p>
        </p:txBody>
      </p:sp>
      <p:sp>
        <p:nvSpPr>
          <p:cNvPr id="15" name="Text 13"/>
          <p:cNvSpPr/>
          <p:nvPr/>
        </p:nvSpPr>
        <p:spPr>
          <a:xfrm>
            <a:off x="457200" y="3867912"/>
            <a:ext cx="8229600" cy="347472"/>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Find the answer! Write it in your notebook.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Prepositions (Apply)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ANSWERS REVEALED</a:t>
            </a:r>
            <a:endParaRPr lang="en-US" sz="1100" dirty="0"/>
          </a:p>
        </p:txBody>
      </p:sp>
      <p:sp>
        <p:nvSpPr>
          <p:cNvPr id="7" name="Shape 5"/>
          <p:cNvSpPr/>
          <p:nvPr/>
        </p:nvSpPr>
        <p:spPr>
          <a:xfrm>
            <a:off x="365760" y="10789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searched </a:t>
            </a:r>
            <a:pPr indent="0" marL="0">
              <a:buNone/>
            </a:pPr>
            <a:r>
              <a:rPr lang="en-US" sz="1500" b="1" u="sng" dirty="0">
                <a:solidFill>
                  <a:srgbClr val="34B76F"/>
                </a:solidFill>
                <a:latin typeface="Calibri" pitchFamily="34" charset="0"/>
                <a:ea typeface="Calibri" pitchFamily="34" charset="-122"/>
                <a:cs typeface="Calibri" pitchFamily="34" charset="-120"/>
              </a:rPr>
              <a:t>along</a:t>
            </a:r>
            <a:pPr indent="0" marL="0">
              <a:buNone/>
            </a:pPr>
            <a:r>
              <a:rPr lang="en-US" sz="1500" dirty="0">
                <a:solidFill>
                  <a:srgbClr val="1E293B"/>
                </a:solidFill>
                <a:latin typeface="Calibri" pitchFamily="34" charset="0"/>
                <a:ea typeface="Calibri" pitchFamily="34" charset="-122"/>
                <a:cs typeface="Calibri" pitchFamily="34" charset="-120"/>
              </a:rPr>
              <a:t> the riverbank.</a:t>
            </a:r>
            <a:endParaRPr lang="en-US" sz="1500" dirty="0"/>
          </a:p>
        </p:txBody>
      </p:sp>
      <p:sp>
        <p:nvSpPr>
          <p:cNvPr id="9" name="Shape 7"/>
          <p:cNvSpPr/>
          <p:nvPr/>
        </p:nvSpPr>
        <p:spPr>
          <a:xfrm>
            <a:off x="365760" y="17647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Betsy and Petunia traveled </a:t>
            </a:r>
            <a:pPr indent="0" marL="0">
              <a:buNone/>
            </a:pPr>
            <a:r>
              <a:rPr lang="en-US" sz="1500" b="1" u="sng" dirty="0">
                <a:solidFill>
                  <a:srgbClr val="34B76F"/>
                </a:solidFill>
                <a:latin typeface="Calibri" pitchFamily="34" charset="0"/>
                <a:ea typeface="Calibri" pitchFamily="34" charset="-122"/>
                <a:cs typeface="Calibri" pitchFamily="34" charset="-120"/>
              </a:rPr>
              <a:t>through</a:t>
            </a:r>
            <a:pPr indent="0" marL="0">
              <a:buNone/>
            </a:pPr>
            <a:r>
              <a:rPr lang="en-US" sz="1500" dirty="0">
                <a:solidFill>
                  <a:srgbClr val="1E293B"/>
                </a:solidFill>
                <a:latin typeface="Calibri" pitchFamily="34" charset="0"/>
                <a:ea typeface="Calibri" pitchFamily="34" charset="-122"/>
                <a:cs typeface="Calibri" pitchFamily="34" charset="-120"/>
              </a:rPr>
              <a:t> the forest.</a:t>
            </a:r>
            <a:endParaRPr lang="en-US" sz="1500" dirty="0"/>
          </a:p>
        </p:txBody>
      </p:sp>
      <p:sp>
        <p:nvSpPr>
          <p:cNvPr id="11" name="Shape 9"/>
          <p:cNvSpPr/>
          <p:nvPr/>
        </p:nvSpPr>
        <p:spPr>
          <a:xfrm>
            <a:off x="365760" y="24505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crawled </a:t>
            </a:r>
            <a:pPr indent="0" marL="0">
              <a:buNone/>
            </a:pPr>
            <a:r>
              <a:rPr lang="en-US" sz="1500" b="1" u="sng" dirty="0">
                <a:solidFill>
                  <a:srgbClr val="34B76F"/>
                </a:solidFill>
                <a:latin typeface="Calibri" pitchFamily="34" charset="0"/>
                <a:ea typeface="Calibri" pitchFamily="34" charset="-122"/>
                <a:cs typeface="Calibri" pitchFamily="34" charset="-120"/>
              </a:rPr>
              <a:t>beneath</a:t>
            </a:r>
            <a:pPr indent="0" marL="0">
              <a:buNone/>
            </a:pPr>
            <a:r>
              <a:rPr lang="en-US" sz="1500" dirty="0">
                <a:solidFill>
                  <a:srgbClr val="1E293B"/>
                </a:solidFill>
                <a:latin typeface="Calibri" pitchFamily="34" charset="0"/>
                <a:ea typeface="Calibri" pitchFamily="34" charset="-122"/>
                <a:cs typeface="Calibri" pitchFamily="34" charset="-120"/>
              </a:rPr>
              <a:t> the branches.</a:t>
            </a:r>
            <a:endParaRPr lang="en-US" sz="1500" dirty="0"/>
          </a:p>
        </p:txBody>
      </p:sp>
      <p:sp>
        <p:nvSpPr>
          <p:cNvPr id="13" name="Shape 11"/>
          <p:cNvSpPr/>
          <p:nvPr/>
        </p:nvSpPr>
        <p:spPr>
          <a:xfrm>
            <a:off x="365760" y="31363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They hid </a:t>
            </a:r>
            <a:pPr indent="0" marL="0">
              <a:buNone/>
            </a:pPr>
            <a:r>
              <a:rPr lang="en-US" sz="1500" b="1" u="sng" dirty="0">
                <a:solidFill>
                  <a:srgbClr val="34B76F"/>
                </a:solidFill>
                <a:latin typeface="Calibri" pitchFamily="34" charset="0"/>
                <a:ea typeface="Calibri" pitchFamily="34" charset="-122"/>
                <a:cs typeface="Calibri" pitchFamily="34" charset="-120"/>
              </a:rPr>
              <a:t>between</a:t>
            </a:r>
            <a:pPr indent="0" marL="0">
              <a:buNone/>
            </a:pPr>
            <a:r>
              <a:rPr lang="en-US" sz="1500" dirty="0">
                <a:solidFill>
                  <a:srgbClr val="1E293B"/>
                </a:solidFill>
                <a:latin typeface="Calibri" pitchFamily="34" charset="0"/>
                <a:ea typeface="Calibri" pitchFamily="34" charset="-122"/>
                <a:cs typeface="Calibri" pitchFamily="34" charset="-120"/>
              </a:rPr>
              <a:t> the tall reeds.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r-Controlled Syllables (Day 3: Apply)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SORT THE WORDS</a:t>
            </a:r>
            <a:endParaRPr lang="en-US" sz="1100" dirty="0"/>
          </a:p>
        </p:txBody>
      </p:sp>
      <p:sp>
        <p:nvSpPr>
          <p:cNvPr id="7" name="Shape 5"/>
          <p:cNvSpPr/>
          <p:nvPr/>
        </p:nvSpPr>
        <p:spPr>
          <a:xfrm>
            <a:off x="365760" y="1024128"/>
            <a:ext cx="8412480" cy="685800"/>
          </a:xfrm>
          <a:prstGeom prst="roundRect">
            <a:avLst>
              <a:gd name="adj" fmla="val 13333"/>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078992"/>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9" name="Text 7"/>
          <p:cNvSpPr/>
          <p:nvPr/>
        </p:nvSpPr>
        <p:spPr>
          <a:xfrm>
            <a:off x="594360" y="1325880"/>
            <a:ext cx="7863840" cy="320040"/>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started   ·   corner   ·   carpet   ·   person   ·   birthday   ·   nurse</a:t>
            </a:r>
            <a:endParaRPr lang="en-US" sz="1600" dirty="0"/>
          </a:p>
        </p:txBody>
      </p:sp>
      <p:sp>
        <p:nvSpPr>
          <p:cNvPr id="10" name="Text 8"/>
          <p:cNvSpPr/>
          <p:nvPr/>
        </p:nvSpPr>
        <p:spPr>
          <a:xfrm>
            <a:off x="365760" y="187452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SORT INTO GROUPS</a:t>
            </a:r>
            <a:endParaRPr lang="en-US" sz="1100" dirty="0"/>
          </a:p>
        </p:txBody>
      </p:sp>
      <p:sp>
        <p:nvSpPr>
          <p:cNvPr id="11" name="Shape 9"/>
          <p:cNvSpPr/>
          <p:nvPr/>
        </p:nvSpPr>
        <p:spPr>
          <a:xfrm>
            <a:off x="365760" y="2176272"/>
            <a:ext cx="4114800" cy="1051560"/>
          </a:xfrm>
          <a:prstGeom prst="roundRect">
            <a:avLst>
              <a:gd name="adj" fmla="val 8696"/>
            </a:avLst>
          </a:prstGeom>
          <a:solidFill>
            <a:srgbClr val="E8F8EF"/>
          </a:solidFill>
          <a:ln w="19050">
            <a:solidFill>
              <a:srgbClr val="4A7C2E"/>
            </a:solidFill>
            <a:prstDash val="solid"/>
          </a:ln>
        </p:spPr>
      </p:sp>
      <p:sp>
        <p:nvSpPr>
          <p:cNvPr id="12" name="Text 10"/>
          <p:cNvSpPr/>
          <p:nvPr/>
        </p:nvSpPr>
        <p:spPr>
          <a:xfrm>
            <a:off x="502920" y="2249424"/>
            <a:ext cx="3840480" cy="384048"/>
          </a:xfrm>
          <a:prstGeom prst="rect">
            <a:avLst/>
          </a:prstGeom>
          <a:noFill/>
          <a:ln/>
        </p:spPr>
        <p:txBody>
          <a:bodyPr wrap="square" lIns="0" tIns="0" rIns="0" bIns="0" rtlCol="0" anchor="ctr"/>
          <a:lstStyle/>
          <a:p>
            <a:pPr indent="0" marL="0">
              <a:buNone/>
            </a:pPr>
            <a:r>
              <a:rPr lang="en-US" sz="1300" b="1" dirty="0">
                <a:solidFill>
                  <a:srgbClr val="4A7C2E"/>
                </a:solidFill>
                <a:latin typeface="Calibri" pitchFamily="34" charset="0"/>
                <a:ea typeface="Calibri" pitchFamily="34" charset="-122"/>
                <a:cs typeface="Calibri" pitchFamily="34" charset="-120"/>
              </a:rPr>
              <a:t>ar or or</a:t>
            </a:r>
            <a:endParaRPr lang="en-US" sz="1300" dirty="0"/>
          </a:p>
        </p:txBody>
      </p:sp>
      <p:sp>
        <p:nvSpPr>
          <p:cNvPr id="13" name="Shape 11"/>
          <p:cNvSpPr/>
          <p:nvPr/>
        </p:nvSpPr>
        <p:spPr>
          <a:xfrm>
            <a:off x="4709160" y="2176272"/>
            <a:ext cx="4114800" cy="1051560"/>
          </a:xfrm>
          <a:prstGeom prst="roundRect">
            <a:avLst>
              <a:gd name="adj" fmla="val 8696"/>
            </a:avLst>
          </a:prstGeom>
          <a:solidFill>
            <a:srgbClr val="F0E8FF"/>
          </a:solidFill>
          <a:ln w="19050">
            <a:solidFill>
              <a:srgbClr val="5C2D91"/>
            </a:solidFill>
            <a:prstDash val="solid"/>
          </a:ln>
        </p:spPr>
      </p:sp>
      <p:sp>
        <p:nvSpPr>
          <p:cNvPr id="14" name="Text 12"/>
          <p:cNvSpPr/>
          <p:nvPr/>
        </p:nvSpPr>
        <p:spPr>
          <a:xfrm>
            <a:off x="4846320" y="2249424"/>
            <a:ext cx="3840480" cy="384048"/>
          </a:xfrm>
          <a:prstGeom prst="rect">
            <a:avLst/>
          </a:prstGeom>
          <a:noFill/>
          <a:ln/>
        </p:spPr>
        <p:txBody>
          <a:bodyPr wrap="square" lIns="0" tIns="0" rIns="0" bIns="0" rtlCol="0" anchor="ctr"/>
          <a:lstStyle/>
          <a:p>
            <a:pPr indent="0" marL="0">
              <a:buNone/>
            </a:pPr>
            <a:r>
              <a:rPr lang="en-US" sz="1300" b="1" dirty="0">
                <a:solidFill>
                  <a:srgbClr val="5C2D91"/>
                </a:solidFill>
                <a:latin typeface="Calibri" pitchFamily="34" charset="0"/>
                <a:ea typeface="Calibri" pitchFamily="34" charset="-122"/>
                <a:cs typeface="Calibri" pitchFamily="34" charset="-120"/>
              </a:rPr>
              <a:t>er, ir, or ur</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r-Controlled Syllables (Day 3: Apply)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SORTED</a:t>
            </a:r>
            <a:endParaRPr lang="en-US" sz="1100" dirty="0"/>
          </a:p>
        </p:txBody>
      </p:sp>
      <p:sp>
        <p:nvSpPr>
          <p:cNvPr id="7" name="Shape 5"/>
          <p:cNvSpPr/>
          <p:nvPr/>
        </p:nvSpPr>
        <p:spPr>
          <a:xfrm>
            <a:off x="365760" y="1024128"/>
            <a:ext cx="4114800" cy="1426464"/>
          </a:xfrm>
          <a:prstGeom prst="roundRect">
            <a:avLst>
              <a:gd name="adj" fmla="val 6410"/>
            </a:avLst>
          </a:prstGeom>
          <a:solidFill>
            <a:srgbClr val="E8F8EF"/>
          </a:solidFill>
          <a:ln w="19050">
            <a:solidFill>
              <a:srgbClr val="4A7C2E"/>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02920" y="1097280"/>
            <a:ext cx="3840480" cy="347472"/>
          </a:xfrm>
          <a:prstGeom prst="rect">
            <a:avLst/>
          </a:prstGeom>
          <a:noFill/>
          <a:ln/>
        </p:spPr>
        <p:txBody>
          <a:bodyPr wrap="square" lIns="0" tIns="0" rIns="0" bIns="0" rtlCol="0" anchor="ctr"/>
          <a:lstStyle/>
          <a:p>
            <a:pPr indent="0" marL="0">
              <a:buNone/>
            </a:pPr>
            <a:r>
              <a:rPr lang="en-US" sz="1200" b="1" dirty="0">
                <a:solidFill>
                  <a:srgbClr val="4A7C2E"/>
                </a:solidFill>
                <a:latin typeface="Calibri" pitchFamily="34" charset="0"/>
                <a:ea typeface="Calibri" pitchFamily="34" charset="-122"/>
                <a:cs typeface="Calibri" pitchFamily="34" charset="-120"/>
              </a:rPr>
              <a:t>ar or or</a:t>
            </a:r>
            <a:endParaRPr lang="en-US" sz="1200" dirty="0"/>
          </a:p>
        </p:txBody>
      </p:sp>
      <p:sp>
        <p:nvSpPr>
          <p:cNvPr id="9" name="Text 7"/>
          <p:cNvSpPr/>
          <p:nvPr/>
        </p:nvSpPr>
        <p:spPr>
          <a:xfrm>
            <a:off x="5943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started</a:t>
            </a:r>
            <a:endParaRPr lang="en-US" sz="1400" dirty="0"/>
          </a:p>
        </p:txBody>
      </p:sp>
      <p:sp>
        <p:nvSpPr>
          <p:cNvPr id="10" name="Text 8"/>
          <p:cNvSpPr/>
          <p:nvPr/>
        </p:nvSpPr>
        <p:spPr>
          <a:xfrm>
            <a:off x="5943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corner</a:t>
            </a:r>
            <a:endParaRPr lang="en-US" sz="1400" dirty="0"/>
          </a:p>
        </p:txBody>
      </p:sp>
      <p:sp>
        <p:nvSpPr>
          <p:cNvPr id="11" name="Text 9"/>
          <p:cNvSpPr/>
          <p:nvPr/>
        </p:nvSpPr>
        <p:spPr>
          <a:xfrm>
            <a:off x="5943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carpet</a:t>
            </a:r>
            <a:endParaRPr lang="en-US" sz="1400" dirty="0"/>
          </a:p>
        </p:txBody>
      </p:sp>
      <p:sp>
        <p:nvSpPr>
          <p:cNvPr id="12" name="Shape 10"/>
          <p:cNvSpPr/>
          <p:nvPr/>
        </p:nvSpPr>
        <p:spPr>
          <a:xfrm>
            <a:off x="4709160" y="1024128"/>
            <a:ext cx="4114800" cy="1426464"/>
          </a:xfrm>
          <a:prstGeom prst="roundRect">
            <a:avLst>
              <a:gd name="adj" fmla="val 6410"/>
            </a:avLst>
          </a:prstGeom>
          <a:solidFill>
            <a:srgbClr val="F0E8FF"/>
          </a:solidFill>
          <a:ln w="19050">
            <a:solidFill>
              <a:srgbClr val="5C2D91"/>
            </a:solidFill>
            <a:prstDash val="solid"/>
          </a:ln>
          <a:effectLst>
            <a:outerShdw sx="100000" sy="100000" kx="0" ky="0" algn="bl" rotWithShape="0" blurRad="101600" dist="38100" dir="2700000">
              <a:srgbClr val="000000">
                <a:alpha val="12000"/>
              </a:srgbClr>
            </a:outerShdw>
          </a:effectLst>
        </p:spPr>
      </p:sp>
      <p:sp>
        <p:nvSpPr>
          <p:cNvPr id="13" name="Text 11"/>
          <p:cNvSpPr/>
          <p:nvPr/>
        </p:nvSpPr>
        <p:spPr>
          <a:xfrm>
            <a:off x="4846320" y="1097280"/>
            <a:ext cx="3840480" cy="347472"/>
          </a:xfrm>
          <a:prstGeom prst="rect">
            <a:avLst/>
          </a:prstGeom>
          <a:noFill/>
          <a:ln/>
        </p:spPr>
        <p:txBody>
          <a:bodyPr wrap="square" lIns="0" tIns="0" rIns="0" bIns="0" rtlCol="0" anchor="ctr"/>
          <a:lstStyle/>
          <a:p>
            <a:pPr indent="0" marL="0">
              <a:buNone/>
            </a:pPr>
            <a:r>
              <a:rPr lang="en-US" sz="1200" b="1" dirty="0">
                <a:solidFill>
                  <a:srgbClr val="5C2D91"/>
                </a:solidFill>
                <a:latin typeface="Calibri" pitchFamily="34" charset="0"/>
                <a:ea typeface="Calibri" pitchFamily="34" charset="-122"/>
                <a:cs typeface="Calibri" pitchFamily="34" charset="-120"/>
              </a:rPr>
              <a:t>er, ir, or ur</a:t>
            </a:r>
            <a:endParaRPr lang="en-US" sz="1200" dirty="0"/>
          </a:p>
        </p:txBody>
      </p:sp>
      <p:sp>
        <p:nvSpPr>
          <p:cNvPr id="14" name="Text 12"/>
          <p:cNvSpPr/>
          <p:nvPr/>
        </p:nvSpPr>
        <p:spPr>
          <a:xfrm>
            <a:off x="49377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person</a:t>
            </a:r>
            <a:endParaRPr lang="en-US" sz="1400" dirty="0"/>
          </a:p>
        </p:txBody>
      </p:sp>
      <p:sp>
        <p:nvSpPr>
          <p:cNvPr id="15" name="Text 13"/>
          <p:cNvSpPr/>
          <p:nvPr/>
        </p:nvSpPr>
        <p:spPr>
          <a:xfrm>
            <a:off x="49377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birthday</a:t>
            </a:r>
            <a:endParaRPr lang="en-US" sz="1400" dirty="0"/>
          </a:p>
        </p:txBody>
      </p:sp>
      <p:sp>
        <p:nvSpPr>
          <p:cNvPr id="16" name="Text 14"/>
          <p:cNvSpPr/>
          <p:nvPr/>
        </p:nvSpPr>
        <p:spPr>
          <a:xfrm>
            <a:off x="49377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nurse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Reading — Ch. 15</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CHAPTERS</a:t>
            </a:r>
            <a:endParaRPr lang="en-US" sz="1100" dirty="0"/>
          </a:p>
        </p:txBody>
      </p:sp>
      <p:sp>
        <p:nvSpPr>
          <p:cNvPr id="5" name="Text 3"/>
          <p:cNvSpPr/>
          <p:nvPr/>
        </p:nvSpPr>
        <p:spPr>
          <a:xfrm>
            <a:off x="457200" y="1005840"/>
            <a:ext cx="8229600" cy="502920"/>
          </a:xfrm>
          <a:prstGeom prst="rect">
            <a:avLst/>
          </a:prstGeom>
          <a:noFill/>
          <a:ln/>
        </p:spPr>
        <p:txBody>
          <a:bodyPr wrap="square" lIns="0" tIns="0" rIns="0" bIns="0" rtlCol="0" anchor="ctr"/>
          <a:lstStyle/>
          <a:p>
            <a:pPr indent="0" marL="0">
              <a:buNone/>
            </a:pPr>
            <a:r>
              <a:rPr lang="en-US" sz="1800" b="1" i="1" dirty="0">
                <a:solidFill>
                  <a:srgbClr val="2A0A4A"/>
                </a:solidFill>
                <a:latin typeface="Calibri" pitchFamily="34" charset="0"/>
                <a:ea typeface="Calibri" pitchFamily="34" charset="-122"/>
                <a:cs typeface="Calibri" pitchFamily="34" charset="-120"/>
              </a:rPr>
              <a:t>Of the Hot-Potato Man and other matters</a:t>
            </a:r>
            <a:endParaRPr lang="en-US" sz="1800" dirty="0"/>
          </a:p>
        </p:txBody>
      </p:sp>
      <p:sp>
        <p:nvSpPr>
          <p:cNvPr id="6" name="Text 4"/>
          <p:cNvSpPr/>
          <p:nvPr/>
        </p:nvSpPr>
        <p:spPr>
          <a:xfrm>
            <a:off x="365760" y="162763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PAUSE &amp; THINK</a:t>
            </a:r>
            <a:endParaRPr lang="en-US" sz="1100" dirty="0"/>
          </a:p>
        </p:txBody>
      </p:sp>
      <p:sp>
        <p:nvSpPr>
          <p:cNvPr id="7" name="Shape 5"/>
          <p:cNvSpPr/>
          <p:nvPr/>
        </p:nvSpPr>
        <p:spPr>
          <a:xfrm>
            <a:off x="365760" y="18836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9751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1.  When The Whipping Boy sees Jeremy tangled in string and the cat coming, she could have run. She stays and unties him instead. Later, Nicodemus and the rats agree to move her cinderblock house — a dangerous, hours-long job — because she asked for help.</a:t>
            </a:r>
            <a:endParaRPr lang="en-US" sz="1400" dirty="0"/>
          </a:p>
        </p:txBody>
      </p:sp>
      <p:sp>
        <p:nvSpPr>
          <p:cNvPr id="9" name="Shape 7"/>
          <p:cNvSpPr/>
          <p:nvPr/>
        </p:nvSpPr>
        <p:spPr>
          <a:xfrm>
            <a:off x="365760" y="27980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594360" y="28895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2.  On the mud flat, the prince eventually helps Jemmy collect scraps. What does this tell you about how he is changing?</a:t>
            </a:r>
            <a:endParaRPr lang="en-US" sz="1400" dirty="0"/>
          </a:p>
        </p:txBody>
      </p:sp>
      <p:sp>
        <p:nvSpPr>
          <p:cNvPr id="11" name="Shape 9"/>
          <p:cNvSpPr/>
          <p:nvPr/>
        </p:nvSpPr>
        <p:spPr>
          <a:xfrm>
            <a:off x="365760" y="37124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594360" y="38039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3.  Jemmy has a free ride to the city — then asks Captain Nips to stop for the prince. Why does Jemmy do this?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 like a Reader · Read like a Writer · Mimic</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MENTOR SENTENCE</a:t>
            </a:r>
            <a:endParaRPr lang="en-US" sz="1100" dirty="0"/>
          </a:p>
        </p:txBody>
      </p:sp>
      <p:sp>
        <p:nvSpPr>
          <p:cNvPr id="5" name="Shape 3"/>
          <p:cNvSpPr/>
          <p:nvPr/>
        </p:nvSpPr>
        <p:spPr>
          <a:xfrm>
            <a:off x="365760" y="1042416"/>
            <a:ext cx="8412480" cy="914400"/>
          </a:xfrm>
          <a:prstGeom prst="roundRect">
            <a:avLst>
              <a:gd name="adj" fmla="val 10000"/>
            </a:avLst>
          </a:prstGeom>
          <a:solidFill>
            <a:srgbClr val="F0E8F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685800"/>
          </a:xfrm>
          <a:prstGeom prst="rect">
            <a:avLst/>
          </a:prstGeom>
          <a:noFill/>
          <a:ln/>
        </p:spPr>
        <p:txBody>
          <a:bodyPr wrap="square" lIns="0" tIns="0" rIns="0" bIns="0" rtlCol="0" anchor="ctr"/>
          <a:lstStyle/>
          <a:p>
            <a:pPr indent="0" marL="0">
              <a:buNone/>
            </a:pPr>
            <a:r>
              <a:rPr lang="en-US" sz="1800" i="1" dirty="0">
                <a:solidFill>
                  <a:srgbClr val="2A0A4A"/>
                </a:solidFill>
                <a:latin typeface="Calibri" pitchFamily="34" charset="0"/>
                <a:ea typeface="Calibri" pitchFamily="34" charset="-122"/>
                <a:cs typeface="Calibri" pitchFamily="34" charset="-120"/>
              </a:rPr>
              <a:t>"The mud sucked at their feet and the air was cold and the tide was coming in — and none of it mattered."</a:t>
            </a:r>
            <a:endParaRPr lang="en-US" sz="1800" dirty="0"/>
          </a:p>
        </p:txBody>
      </p:sp>
      <p:sp>
        <p:nvSpPr>
          <p:cNvPr id="7" name="Text 5"/>
          <p:cNvSpPr/>
          <p:nvPr/>
        </p:nvSpPr>
        <p:spPr>
          <a:xfrm>
            <a:off x="457200" y="2048256"/>
            <a:ext cx="8229600" cy="347472"/>
          </a:xfrm>
          <a:prstGeom prst="rect">
            <a:avLst/>
          </a:prstGeom>
          <a:noFill/>
          <a:ln/>
        </p:spPr>
        <p:txBody>
          <a:bodyPr wrap="square" lIns="0" tIns="0" rIns="0" bIns="0" rtlCol="0" anchor="ctr"/>
          <a:lstStyle/>
          <a:p>
            <a:pPr indent="0" marL="0">
              <a:buNone/>
            </a:pPr>
            <a:r>
              <a:rPr lang="en-US" sz="1300" i="1" dirty="0">
                <a:solidFill>
                  <a:srgbClr val="5C2D91"/>
                </a:solidFill>
                <a:latin typeface="Calibri" pitchFamily="34" charset="0"/>
                <a:ea typeface="Calibri" pitchFamily="34" charset="-122"/>
                <a:cs typeface="Calibri" pitchFamily="34" charset="-120"/>
              </a:rPr>
              <a:t>📌 Craft focus: and... and... and chain that reverses with none of it mattered</a:t>
            </a:r>
            <a:endParaRPr lang="en-US" sz="1300" dirty="0"/>
          </a:p>
        </p:txBody>
      </p:sp>
      <p:sp>
        <p:nvSpPr>
          <p:cNvPr id="8" name="Text 6"/>
          <p:cNvSpPr/>
          <p:nvPr/>
        </p:nvSpPr>
        <p:spPr>
          <a:xfrm>
            <a:off x="365760" y="248716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YOUR THREE JOBS</a:t>
            </a:r>
            <a:endParaRPr lang="en-US" sz="1100" dirty="0"/>
          </a:p>
        </p:txBody>
      </p:sp>
      <p:sp>
        <p:nvSpPr>
          <p:cNvPr id="9" name="Shape 7"/>
          <p:cNvSpPr/>
          <p:nvPr/>
        </p:nvSpPr>
        <p:spPr>
          <a:xfrm>
            <a:off x="365760" y="2724912"/>
            <a:ext cx="8412480" cy="438912"/>
          </a:xfrm>
          <a:prstGeom prst="roundRect">
            <a:avLst>
              <a:gd name="adj" fmla="val 20833"/>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77977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Read like a Reader</a:t>
            </a:r>
            <a:endParaRPr lang="en-US" sz="1300" dirty="0"/>
          </a:p>
        </p:txBody>
      </p:sp>
      <p:sp>
        <p:nvSpPr>
          <p:cNvPr id="11" name="Text 9"/>
          <p:cNvSpPr/>
          <p:nvPr/>
        </p:nvSpPr>
        <p:spPr>
          <a:xfrm>
            <a:off x="3246120" y="277977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What is happening here? What does this moment reveal about the character?</a:t>
            </a:r>
            <a:endParaRPr lang="en-US" sz="1200" dirty="0"/>
          </a:p>
        </p:txBody>
      </p:sp>
      <p:sp>
        <p:nvSpPr>
          <p:cNvPr id="12" name="Shape 10"/>
          <p:cNvSpPr/>
          <p:nvPr/>
        </p:nvSpPr>
        <p:spPr>
          <a:xfrm>
            <a:off x="365760" y="3227832"/>
            <a:ext cx="8412480" cy="438912"/>
          </a:xfrm>
          <a:prstGeom prst="roundRect">
            <a:avLst>
              <a:gd name="adj" fmla="val 20833"/>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328269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Read like a Writer</a:t>
            </a:r>
            <a:endParaRPr lang="en-US" sz="1300" dirty="0"/>
          </a:p>
        </p:txBody>
      </p:sp>
      <p:sp>
        <p:nvSpPr>
          <p:cNvPr id="14" name="Text 12"/>
          <p:cNvSpPr/>
          <p:nvPr/>
        </p:nvSpPr>
        <p:spPr>
          <a:xfrm>
            <a:off x="3246120" y="328269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What did the author do? Name the craft technique and explain why it works.</a:t>
            </a:r>
            <a:endParaRPr lang="en-US" sz="1200" dirty="0"/>
          </a:p>
        </p:txBody>
      </p:sp>
      <p:sp>
        <p:nvSpPr>
          <p:cNvPr id="15" name="Shape 13"/>
          <p:cNvSpPr/>
          <p:nvPr/>
        </p:nvSpPr>
        <p:spPr>
          <a:xfrm>
            <a:off x="365760" y="3730752"/>
            <a:ext cx="8412480" cy="438912"/>
          </a:xfrm>
          <a:prstGeom prst="roundRect">
            <a:avLst>
              <a:gd name="adj" fmla="val 20833"/>
            </a:avLst>
          </a:prstGeom>
          <a:solidFill>
            <a:srgbClr val="E8F8EF"/>
          </a:solidFill>
          <a:ln/>
          <a:effectLst>
            <a:outerShdw sx="100000" sy="100000" kx="0" ky="0" algn="bl" rotWithShape="0" blurRad="101600" dist="38100" dir="2700000">
              <a:srgbClr val="000000">
                <a:alpha val="12000"/>
              </a:srgbClr>
            </a:outerShdw>
          </a:effectLst>
        </p:spPr>
      </p:sp>
      <p:sp>
        <p:nvSpPr>
          <p:cNvPr id="16" name="Text 14"/>
          <p:cNvSpPr/>
          <p:nvPr/>
        </p:nvSpPr>
        <p:spPr>
          <a:xfrm>
            <a:off x="594360" y="378561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Mimic</a:t>
            </a:r>
            <a:endParaRPr lang="en-US" sz="1300" dirty="0"/>
          </a:p>
        </p:txBody>
      </p:sp>
      <p:sp>
        <p:nvSpPr>
          <p:cNvPr id="17" name="Text 15"/>
          <p:cNvSpPr/>
          <p:nvPr/>
        </p:nvSpPr>
        <p:spPr>
          <a:xfrm>
            <a:off x="3246120" y="378561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Write your own sentence using the same pattern as the author.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Writer's Workshop — Week 20</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WRITING STAGE</a:t>
            </a:r>
            <a:endParaRPr lang="en-US" sz="1100" dirty="0"/>
          </a:p>
        </p:txBody>
      </p:sp>
      <p:sp>
        <p:nvSpPr>
          <p:cNvPr id="5" name="Shape 3"/>
          <p:cNvSpPr/>
          <p:nvPr/>
        </p:nvSpPr>
        <p:spPr>
          <a:xfrm>
            <a:off x="365760" y="1042416"/>
            <a:ext cx="8412480" cy="658368"/>
          </a:xfrm>
          <a:prstGeom prst="roundRect">
            <a:avLst>
              <a:gd name="adj" fmla="val 13889"/>
            </a:avLst>
          </a:prstGeom>
          <a:solidFill>
            <a:srgbClr val="FFF8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33856"/>
            <a:ext cx="7863840" cy="475488"/>
          </a:xfrm>
          <a:prstGeom prst="rect">
            <a:avLst/>
          </a:prstGeom>
          <a:noFill/>
          <a:ln/>
        </p:spPr>
        <p:txBody>
          <a:bodyPr wrap="square" lIns="0" tIns="0" rIns="0" bIns="0" rtlCol="0" anchor="ctr"/>
          <a:lstStyle/>
          <a:p>
            <a:pPr indent="0" marL="0">
              <a:buNone/>
            </a:pPr>
            <a:r>
              <a:rPr lang="en-US" sz="2200" b="1" dirty="0">
                <a:solidFill>
                  <a:srgbClr val="B8860B"/>
                </a:solidFill>
                <a:latin typeface="Calibri" pitchFamily="34" charset="0"/>
                <a:ea typeface="Calibri" pitchFamily="34" charset="-122"/>
                <a:cs typeface="Calibri" pitchFamily="34" charset="-120"/>
              </a:rPr>
              <a:t>✍️ Draft</a:t>
            </a:r>
            <a:endParaRPr lang="en-US" sz="2200" dirty="0"/>
          </a:p>
        </p:txBody>
      </p:sp>
      <p:sp>
        <p:nvSpPr>
          <p:cNvPr id="7" name="Text 5"/>
          <p:cNvSpPr/>
          <p:nvPr/>
        </p:nvSpPr>
        <p:spPr>
          <a:xfrm>
            <a:off x="365760" y="182880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TODAY'S FOCUS</a:t>
            </a:r>
            <a:endParaRPr lang="en-US" sz="1100" dirty="0"/>
          </a:p>
        </p:txBody>
      </p:sp>
      <p:sp>
        <p:nvSpPr>
          <p:cNvPr id="8" name="Text 6"/>
          <p:cNvSpPr/>
          <p:nvPr/>
        </p:nvSpPr>
        <p:spPr>
          <a:xfrm>
            <a:off x="457200" y="2084832"/>
            <a:ext cx="8229600" cy="59436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Opinion: draft your full paragraph — claim + reasons + closing.</a:t>
            </a:r>
            <a:endParaRPr lang="en-US" sz="1500" dirty="0"/>
          </a:p>
        </p:txBody>
      </p:sp>
      <p:sp>
        <p:nvSpPr>
          <p:cNvPr id="9" name="Text 7"/>
          <p:cNvSpPr/>
          <p:nvPr/>
        </p:nvSpPr>
        <p:spPr>
          <a:xfrm>
            <a:off x="365760" y="279806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SENTENCE FRAMES</a:t>
            </a:r>
            <a:endParaRPr lang="en-US" sz="1100" dirty="0"/>
          </a:p>
        </p:txBody>
      </p:sp>
      <p:sp>
        <p:nvSpPr>
          <p:cNvPr id="10" name="Text 8"/>
          <p:cNvSpPr/>
          <p:nvPr/>
        </p:nvSpPr>
        <p:spPr>
          <a:xfrm>
            <a:off x="502920" y="3054096"/>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"I believe ___ because ___. For example, ___. This shows that ___."</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2026-07-11T02:16:32Z</dcterms:created>
  <dcterms:modified xsi:type="dcterms:W3CDTF">2026-07-11T02:16:32Z</dcterms:modified>
</cp:coreProperties>
</file>