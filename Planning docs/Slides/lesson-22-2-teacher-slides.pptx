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We traced how Jemmy and Prince Brat each changed across the novel.
TODAY: Theme — What is Fleischman teaching us about people and change?
BIG Q: Can a person change if they have never faced real consequences? What does The Whipping Boy say about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 prince could not hide his grin"
Corrected: "The prince could not hide his grin."
Errors: Capital T on The; period at the end. Simple narration — no quotation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 prince could not hide his grin"
Corrected: "The prince could not hide his grin."
Errors: Capital T on The; period at the end. Simple narration — no quotation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support — to carry up; to hold up | export — to carry out to another place | report — to carry back information | portable — able to be carried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theme: The central message or big lesson of a story. | evidence: A detail from the text that proves your idea is true. | resolution: How the conflict is settled at the end of a story. | character development: How a character grows and changes across 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"She whistled, [and] the bear sat down." → and | "Jemmy shrugged, [but] he was smiling." → but | "The king nodded, [so] the guards stepped back." → so | "Prince Brat bowed low, [and] the crowd cheered." →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"She whistled, [and] the bear sat down." → and | "Jemmy shrugged, [but] he was smiling." → but | "The king nodded, [so] the guards stepped back." → so | "Prince Brat bowed low, [and] the crowd cheered." →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3 syllables: captured, punishment, enormous, protector, suspicion | 4+ syllables: accomplish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3 syllables: captured, punishment, enormous, protector, suspicion | 4+ syllables: accomplish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When The Whipping Boy sees Jeremy tangled in string and the cat coming, she could have run. She stays and unties him instead. Later, Nicodemus and the rats agree to move her cinderblock house — a dangerous, hours-long job — because she asked for help.
State the theme of The Whipping Boy in one sentence — a general truth, not a plot summary.
Think of two events that prove your theme: one from early in the book, one from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Compare &amp; Present
Focus: Compare Jemmy and Prince Brat. How did each change? What does Fleischman want us to understand?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22  ·  DAY 2</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22  ·  Virtue: Gratitude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We traced how Jemmy and Prince Brat each changed across the novel.</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Theme — What is Fleischman teaching us about people and change?</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Can a person change if they have never faced real consequences? What does The Whipping Boy say about that?</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look for the lesson the author is teaching. Today we name the theme of The Whipping Boy — in our own words </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could not sort out his feelings.</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could not hide his grin</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T on The; period at the end. Simple narration — no quotation marks.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could not hide his grin</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T on The; period at the end. Simple narration — no quotation marks.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prince could not hide his grin.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Review</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support — to carry up; to hold up</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export — to carry out to another place</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report — to carry back information</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portable — able to be carried</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theme   ·   evidence   ·   resolution   ·   character development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theme</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The central message or big lesson of a story.</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evidence</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detail from the text that proves your idea is true.</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resolution</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How the conflict is settled at the end of a story.</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character development</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How a character grows and changes across a story.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Compound Sentences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She whistled, _____ the bear sat down.</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shrugged, _____ he was smiling.</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king nodded, _____ the guards stepped back.</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Prince Brat bowed low, _____ the crowd cheered.</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Compound Sentences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She whistled,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the bear sat down.</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shrugged,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he was smiling.</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king nodded,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1E293B"/>
                </a:solidFill>
                <a:latin typeface="Calibri" pitchFamily="34" charset="0"/>
                <a:ea typeface="Calibri" pitchFamily="34" charset="-122"/>
                <a:cs typeface="Calibri" pitchFamily="34" charset="-120"/>
              </a:rPr>
              <a:t> the guards stepped back.</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Prince Brat bowed low,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the crowd cheered.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Multisyllabic Decoding (Day 2: Apply syllable rules)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captured   ·   punishment   ·   enormous   ·   protector   ·   suspicion   ·   accomplish</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3 syllables</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4+ syllables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Multisyllabic Decoding (Day 2: Apply syllable rules)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2121408"/>
          </a:xfrm>
          <a:prstGeom prst="roundRect">
            <a:avLst>
              <a:gd name="adj" fmla="val 4310"/>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3 syllables</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captured</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punishment</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enormous</a:t>
            </a:r>
            <a:endParaRPr lang="en-US" sz="1400" dirty="0"/>
          </a:p>
        </p:txBody>
      </p:sp>
      <p:sp>
        <p:nvSpPr>
          <p:cNvPr id="12" name="Text 10"/>
          <p:cNvSpPr/>
          <p:nvPr/>
        </p:nvSpPr>
        <p:spPr>
          <a:xfrm>
            <a:off x="594360" y="2505456"/>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protector</a:t>
            </a:r>
            <a:endParaRPr lang="en-US" sz="1400" dirty="0"/>
          </a:p>
        </p:txBody>
      </p:sp>
      <p:sp>
        <p:nvSpPr>
          <p:cNvPr id="13" name="Text 11"/>
          <p:cNvSpPr/>
          <p:nvPr/>
        </p:nvSpPr>
        <p:spPr>
          <a:xfrm>
            <a:off x="594360" y="2852928"/>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suspicion</a:t>
            </a:r>
            <a:endParaRPr lang="en-US" sz="1400" dirty="0"/>
          </a:p>
        </p:txBody>
      </p:sp>
      <p:sp>
        <p:nvSpPr>
          <p:cNvPr id="14" name="Shape 12"/>
          <p:cNvSpPr/>
          <p:nvPr/>
        </p:nvSpPr>
        <p:spPr>
          <a:xfrm>
            <a:off x="4709160" y="1024128"/>
            <a:ext cx="4114800" cy="1005840"/>
          </a:xfrm>
          <a:prstGeom prst="roundRect">
            <a:avLst>
              <a:gd name="adj" fmla="val 9091"/>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5" name="Text 13"/>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4+ syllables</a:t>
            </a:r>
            <a:endParaRPr lang="en-US" sz="1200" dirty="0"/>
          </a:p>
        </p:txBody>
      </p:sp>
      <p:sp>
        <p:nvSpPr>
          <p:cNvPr id="16" name="Text 14"/>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accomplish</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Today's Chapters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State the theme of The Whipping Boy in one sentence — a general truth, not a plot summary.</a:t>
            </a:r>
            <a:endParaRPr lang="en-US" sz="1400" dirty="0"/>
          </a:p>
        </p:txBody>
      </p:sp>
      <p:sp>
        <p:nvSpPr>
          <p:cNvPr id="11" name="Shape 9"/>
          <p:cNvSpPr/>
          <p:nvPr/>
        </p:nvSpPr>
        <p:spPr>
          <a:xfrm>
            <a:off x="365760" y="3566160"/>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657600"/>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Think of two events that prove your theme: one from early in the book, one from late.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22</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Compare &amp; Present</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Compare Jemmy and Prince Brat. How did each change? What does Fleischman want us to understand?</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"At the beginning, ___ is ___. By the end, ___ is ___. Fleischman teaches us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