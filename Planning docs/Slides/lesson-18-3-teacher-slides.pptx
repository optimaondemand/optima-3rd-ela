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3–4: Prince Brat dragged Jemmy into the dark forest. They were finally free of the castle — or so they thought.
TODAY: Ch. 5: They've run into Hold-Your-Nose Billy and Cutwater. Danger has arrived.
BIG Q: When you are in a dangerous situation, is it better to stay quiet or to speak up? What does Jemmy do —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"cutwater was a thin man sharp as a knife blade and he moved like a shadow"
Corrected: "Cutwater was a thin man, sharp as a knife blade, and he moved like a shadow."
Errors: Capital C on Cutwater; commas around the description sharp as a knife blade; and connects the last clause;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"cutwater was a thin man sharp as a knife blade and he moved like a shadow"
Corrected: "Cutwater was a thin man, sharp as a knife blade, and he moved like a shadow."
Errors: Capital C on Cutwater; commas around the description sharp as a knife blade; and connects the last clause;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overruled — forced to obey someone with more power | overshadowed — blocked out or made less important | overcome — defeated or got past something hard | overwhelmed — hit by too much at once | Hold-Your-Nose-Billy was a trueruffian — &amp;mdash; rough, cruel, and always looking for trouble. | The ballad sellers sang of the prince&amp;rsquo;s everyexploit — , even the ones he didn&amp;rsquo;t really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ruffian: A rough, violent person; a bully or criminal. | exploit: A bold, daring act — often sung about by ballad sellers. | heir: The person who will inherit a throne or title. | ransom: Money paid or demanded to free a prisoner.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wanted to run, [but] Billy held his ear." → but | "The prince was scared, [so] he stayed quiet." → so | "Billy shouted a command, [and] Cutwater obeyed." → and | "Jemmy knew the plan, [but] he said nothing." →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wanted to run, [but] Billy held his ear." → but | "The prince was scared, [so] he stayed quiet." → so | "Billy shouted a command, [and] Cutwater obeyed." → and | "Jemmy knew the plan, [but] he said nothing." →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syllable (divide between consonants): trumpet, lesson, harvest, cotton | Other pattern: frozen,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syllable (divide between consonants): trumpet, lesson, harvest, cotton | Other pattern: frozen,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5
When The Whipping Boy sees Jeremy tangled in string and the cat coming, she could have run. She stays and unties him instead. Later, Nicodemus and the rats agree to move her cinderblock house — a dangerous, hours-long job — because she asked for help.
Jemmy jabs the prince with his elbow to keep him quiet. Why does he do this?
What does Cutwater find in the basket that changes everything? How do the outlaws react?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sentence: "Jemmy could outrun anyone in the castle. He'd had to."
Craft: short follow-up sentence that reveals character
Reader: What does this moment reveal?
Writer: What technique did the author use and why?
Mimic: Write your own using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Choose a Claim
Focus: Opinion: make a claim about which character has the harder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18  ·  DAY 3</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5</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Hold-Your-Nose Billy and Cutwater</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18  ·  Virtue: Courage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3–4: Prince Brat dragged Jemmy into the dark forest. They were finally free of the castle — or so they thought.</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5: They've run into Hold-Your-Nose Billy and Cutwater. Danger has arrived.</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When you are in a dangerous situation, is it better to stay quiet or to speak up? What does Jemmy do — and why?</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notice how characters handle pressure. Watch Jemmy carefully in Chapter 5 — does he fight, trick, or stay 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Billy was a big man, raw as a skinned ox, and he smelled like a ton of garlic.</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cutwater was a thin man sharp as a knife blade and he moved like a shadow</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C on Cutwater; commas around the description sharp as a knife blade; and connects the last clause;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cutwater was a thin man sharp as a knife blade and he moved like a shadow</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C on Cutwater; commas around the description sharp as a knife blade; and connects the last clause;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Cutwater was a thin man, sharp as a knife blade, and he moved like a shadow.</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over-</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overruled — forced to obey someone with more power</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overshadowed — blocked out or made less important</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overcome — defeated or got past something hard</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overwhelmed — hit by too much at once</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ruffian   ·   exploit   ·   heir   ·   ransom</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ruffian</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rough, violent person; a bully or criminal.</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exploit</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bold, daring act — often sung about by ballad sellers.</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heir</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person who will inherit a throne or title.</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ransom</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Money paid or demanded to free a prisoner.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Conjunctions (Use in Writing)</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wanted to run, _____ Billy held his ear.</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was scared, _____ he stayed quiet.</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shouted a command, _____ Cutwater obeyed.</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knew the plan, _____ he said nothing.</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Conjunctions (Use in Writing)</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wanted to run,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Billy held his ear.</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was scared,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1E293B"/>
                </a:solidFill>
                <a:latin typeface="Calibri" pitchFamily="34" charset="0"/>
                <a:ea typeface="Calibri" pitchFamily="34" charset="-122"/>
                <a:cs typeface="Calibri" pitchFamily="34" charset="-120"/>
              </a:rPr>
              <a:t> he stayed quiet.</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shouted a command,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Cutwater obeyed.</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knew the plan,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he said nothing.</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Closed Syllables (Day 3: Apply)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trumpet   ·   lesson   ·   harvest   ·   cotton   ·   frozen   ·   publish</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Closed syllable (divide between consonants)</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Other pattern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Closed Syllables (Day 3: Apply)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773936"/>
          </a:xfrm>
          <a:prstGeom prst="roundRect">
            <a:avLst>
              <a:gd name="adj" fmla="val 5155"/>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Closed syllable (divide between consonants)</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trumpet</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lesson</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harvest</a:t>
            </a:r>
            <a:endParaRPr lang="en-US" sz="1400" dirty="0"/>
          </a:p>
        </p:txBody>
      </p:sp>
      <p:sp>
        <p:nvSpPr>
          <p:cNvPr id="12" name="Text 10"/>
          <p:cNvSpPr/>
          <p:nvPr/>
        </p:nvSpPr>
        <p:spPr>
          <a:xfrm>
            <a:off x="594360" y="2505456"/>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cotton</a:t>
            </a:r>
            <a:endParaRPr lang="en-US" sz="1400" dirty="0"/>
          </a:p>
        </p:txBody>
      </p:sp>
      <p:sp>
        <p:nvSpPr>
          <p:cNvPr id="13" name="Shape 11"/>
          <p:cNvSpPr/>
          <p:nvPr/>
        </p:nvSpPr>
        <p:spPr>
          <a:xfrm>
            <a:off x="4709160" y="1024128"/>
            <a:ext cx="4114800" cy="1078992"/>
          </a:xfrm>
          <a:prstGeom prst="roundRect">
            <a:avLst>
              <a:gd name="adj" fmla="val 8475"/>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4" name="Text 12"/>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Other pattern</a:t>
            </a:r>
            <a:endParaRPr lang="en-US" sz="1200" dirty="0"/>
          </a:p>
        </p:txBody>
      </p:sp>
      <p:sp>
        <p:nvSpPr>
          <p:cNvPr id="15" name="Text 13"/>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frozen</a:t>
            </a:r>
            <a:endParaRPr lang="en-US" sz="1400" dirty="0"/>
          </a:p>
        </p:txBody>
      </p:sp>
      <p:sp>
        <p:nvSpPr>
          <p:cNvPr id="16" name="Text 14"/>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publish</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5</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Hold-Your-Nose Billy and Cutwater</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Jemmy jabs the prince with his elbow to keep him quiet. Why does he do this?</a:t>
            </a:r>
            <a:endParaRPr lang="en-US" sz="1400" dirty="0"/>
          </a:p>
        </p:txBody>
      </p:sp>
      <p:sp>
        <p:nvSpPr>
          <p:cNvPr id="11" name="Shape 9"/>
          <p:cNvSpPr/>
          <p:nvPr/>
        </p:nvSpPr>
        <p:spPr>
          <a:xfrm>
            <a:off x="365760" y="3566160"/>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657600"/>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What does Cutwater find in the basket that changes everything? How do the outlaws react?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 like a Reader · Read like a Writer · Mimic</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MENTOR SENTENCE</a:t>
            </a:r>
            <a:endParaRPr lang="en-US" sz="1100" dirty="0"/>
          </a:p>
        </p:txBody>
      </p:sp>
      <p:sp>
        <p:nvSpPr>
          <p:cNvPr id="5" name="Shape 3"/>
          <p:cNvSpPr/>
          <p:nvPr/>
        </p:nvSpPr>
        <p:spPr>
          <a:xfrm>
            <a:off x="365760" y="1042416"/>
            <a:ext cx="8412480" cy="914400"/>
          </a:xfrm>
          <a:prstGeom prst="roundRect">
            <a:avLst>
              <a:gd name="adj" fmla="val 10000"/>
            </a:avLst>
          </a:prstGeom>
          <a:solidFill>
            <a:srgbClr val="F0E8F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685800"/>
          </a:xfrm>
          <a:prstGeom prst="rect">
            <a:avLst/>
          </a:prstGeom>
          <a:noFill/>
          <a:ln/>
        </p:spPr>
        <p:txBody>
          <a:bodyPr wrap="square" lIns="0" tIns="0" rIns="0" bIns="0" rtlCol="0" anchor="ctr"/>
          <a:lstStyle/>
          <a:p>
            <a:pPr indent="0" marL="0">
              <a:buNone/>
            </a:pPr>
            <a:r>
              <a:rPr lang="en-US" sz="1800" i="1" dirty="0">
                <a:solidFill>
                  <a:srgbClr val="2A0A4A"/>
                </a:solidFill>
                <a:latin typeface="Calibri" pitchFamily="34" charset="0"/>
                <a:ea typeface="Calibri" pitchFamily="34" charset="-122"/>
                <a:cs typeface="Calibri" pitchFamily="34" charset="-120"/>
              </a:rPr>
              <a:t>"Jemmy could outrun anyone in the castle. He'd had to."</a:t>
            </a:r>
            <a:endParaRPr lang="en-US" sz="1800" dirty="0"/>
          </a:p>
        </p:txBody>
      </p:sp>
      <p:sp>
        <p:nvSpPr>
          <p:cNvPr id="7" name="Text 5"/>
          <p:cNvSpPr/>
          <p:nvPr/>
        </p:nvSpPr>
        <p:spPr>
          <a:xfrm>
            <a:off x="457200" y="2048256"/>
            <a:ext cx="8229600" cy="347472"/>
          </a:xfrm>
          <a:prstGeom prst="rect">
            <a:avLst/>
          </a:prstGeom>
          <a:noFill/>
          <a:ln/>
        </p:spPr>
        <p:txBody>
          <a:bodyPr wrap="square" lIns="0" tIns="0" rIns="0" bIns="0" rtlCol="0" anchor="ctr"/>
          <a:lstStyle/>
          <a:p>
            <a:pPr indent="0" marL="0">
              <a:buNone/>
            </a:pPr>
            <a:r>
              <a:rPr lang="en-US" sz="1300" i="1" dirty="0">
                <a:solidFill>
                  <a:srgbClr val="5C2D91"/>
                </a:solidFill>
                <a:latin typeface="Calibri" pitchFamily="34" charset="0"/>
                <a:ea typeface="Calibri" pitchFamily="34" charset="-122"/>
                <a:cs typeface="Calibri" pitchFamily="34" charset="-120"/>
              </a:rPr>
              <a:t>📌 Craft focus: short follow-up sentence that reveals character</a:t>
            </a:r>
            <a:endParaRPr lang="en-US" sz="1300" dirty="0"/>
          </a:p>
        </p:txBody>
      </p:sp>
      <p:sp>
        <p:nvSpPr>
          <p:cNvPr id="8" name="Text 6"/>
          <p:cNvSpPr/>
          <p:nvPr/>
        </p:nvSpPr>
        <p:spPr>
          <a:xfrm>
            <a:off x="365760" y="248716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YOUR THREE JOBS</a:t>
            </a:r>
            <a:endParaRPr lang="en-US" sz="1100" dirty="0"/>
          </a:p>
        </p:txBody>
      </p:sp>
      <p:sp>
        <p:nvSpPr>
          <p:cNvPr id="9" name="Shape 7"/>
          <p:cNvSpPr/>
          <p:nvPr/>
        </p:nvSpPr>
        <p:spPr>
          <a:xfrm>
            <a:off x="365760" y="2724912"/>
            <a:ext cx="8412480" cy="438912"/>
          </a:xfrm>
          <a:prstGeom prst="roundRect">
            <a:avLst>
              <a:gd name="adj" fmla="val 20833"/>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77977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Reader</a:t>
            </a:r>
            <a:endParaRPr lang="en-US" sz="1300" dirty="0"/>
          </a:p>
        </p:txBody>
      </p:sp>
      <p:sp>
        <p:nvSpPr>
          <p:cNvPr id="11" name="Text 9"/>
          <p:cNvSpPr/>
          <p:nvPr/>
        </p:nvSpPr>
        <p:spPr>
          <a:xfrm>
            <a:off x="3246120" y="277977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is happening here? What does this moment reveal about the character?</a:t>
            </a:r>
            <a:endParaRPr lang="en-US" sz="1200" dirty="0"/>
          </a:p>
        </p:txBody>
      </p:sp>
      <p:sp>
        <p:nvSpPr>
          <p:cNvPr id="12" name="Shape 10"/>
          <p:cNvSpPr/>
          <p:nvPr/>
        </p:nvSpPr>
        <p:spPr>
          <a:xfrm>
            <a:off x="365760" y="3227832"/>
            <a:ext cx="8412480" cy="438912"/>
          </a:xfrm>
          <a:prstGeom prst="roundRect">
            <a:avLst>
              <a:gd name="adj" fmla="val 20833"/>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328269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Writer</a:t>
            </a:r>
            <a:endParaRPr lang="en-US" sz="1300" dirty="0"/>
          </a:p>
        </p:txBody>
      </p:sp>
      <p:sp>
        <p:nvSpPr>
          <p:cNvPr id="14" name="Text 12"/>
          <p:cNvSpPr/>
          <p:nvPr/>
        </p:nvSpPr>
        <p:spPr>
          <a:xfrm>
            <a:off x="3246120" y="328269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did the author do? Name the craft technique and explain why it works.</a:t>
            </a:r>
            <a:endParaRPr lang="en-US" sz="1200" dirty="0"/>
          </a:p>
        </p:txBody>
      </p:sp>
      <p:sp>
        <p:nvSpPr>
          <p:cNvPr id="15" name="Shape 13"/>
          <p:cNvSpPr/>
          <p:nvPr/>
        </p:nvSpPr>
        <p:spPr>
          <a:xfrm>
            <a:off x="365760" y="3730752"/>
            <a:ext cx="8412480" cy="438912"/>
          </a:xfrm>
          <a:prstGeom prst="roundRect">
            <a:avLst>
              <a:gd name="adj" fmla="val 20833"/>
            </a:avLst>
          </a:prstGeom>
          <a:solidFill>
            <a:srgbClr val="E8F8EF"/>
          </a:solidFill>
          <a:ln/>
          <a:effectLst>
            <a:outerShdw sx="100000" sy="100000" kx="0" ky="0" algn="bl" rotWithShape="0" blurRad="101600" dist="38100" dir="2700000">
              <a:srgbClr val="000000">
                <a:alpha val="12000"/>
              </a:srgbClr>
            </a:outerShdw>
          </a:effectLst>
        </p:spPr>
      </p:sp>
      <p:sp>
        <p:nvSpPr>
          <p:cNvPr id="16" name="Text 14"/>
          <p:cNvSpPr/>
          <p:nvPr/>
        </p:nvSpPr>
        <p:spPr>
          <a:xfrm>
            <a:off x="594360" y="378561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Mimic</a:t>
            </a:r>
            <a:endParaRPr lang="en-US" sz="1300" dirty="0"/>
          </a:p>
        </p:txBody>
      </p:sp>
      <p:sp>
        <p:nvSpPr>
          <p:cNvPr id="17" name="Text 15"/>
          <p:cNvSpPr/>
          <p:nvPr/>
        </p:nvSpPr>
        <p:spPr>
          <a:xfrm>
            <a:off x="3246120" y="378561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18</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Choose a Claim</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make a claim about which character has the harder life.</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think ___ has the harder life because ___."</a:t>
            </a:r>
            <a:endParaRPr lang="en-US" sz="1400" dirty="0"/>
          </a:p>
        </p:txBody>
      </p:sp>
      <p:sp>
        <p:nvSpPr>
          <p:cNvPr id="11" name="Text 9"/>
          <p:cNvSpPr/>
          <p:nvPr/>
        </p:nvSpPr>
        <p:spPr>
          <a:xfrm>
            <a:off x="502920" y="3529584"/>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"One example is when ___ in Chapter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2026-07-11T02:16:31Z</dcterms:created>
  <dcterms:modified xsi:type="dcterms:W3CDTF">2026-07-11T02:16:31Z</dcterms:modified>
</cp:coreProperties>
</file>