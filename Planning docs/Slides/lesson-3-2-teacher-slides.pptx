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3.2. Reading: Chapter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Give students a moment to think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of sustained writing. Stamina over polish. Do not correct spelling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fix only. Editing is conventions; revision is ideas. Name which one you are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or three volunteers. Praise something specific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lens: Good readers pay attention to how events affect characters . When something important happens, it changes what a character feels, thinks, or decides to do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Corrected: 
Look for: “POLICE! POLICE! THE SNEAK THIEVES ARE HERE !” shouted Stanley in his loudest , most terrifying voice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Corrected: 
Look for: “POLICE! POLICE! THE SNEAK THIEVES ARE HERE !” shouted Stanley in his loudest , most terrifying voice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the word into base + word part. Ask what the part adds to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word appears in the chapters read this week, in the author’s own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thieves, Lambchop, kite, Arthur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thieves, Lambchop, kite, Arthur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silent-e: frame, spoke, whole, stole | closed: kept, still, dark, held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silent-e: frame, spoke, whole, stole | closed: kept, still, dark, held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chapters, then return to the pause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Writer’s Workshop stage for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Text 0"/>
          <p:cNvSpPr/>
          <p:nvPr/>
        </p:nvSpPr>
        <p:spPr>
          <a:xfrm>
            <a:off x="0" y="822960"/>
            <a:ext cx="9144000" cy="822960"/>
          </a:xfrm>
          <a:prstGeom prst="rect">
            <a:avLst/>
          </a:prstGeom>
          <a:noFill/>
          <a:ln/>
        </p:spPr>
        <p:txBody>
          <a:bodyPr wrap="square" lIns="0" tIns="0" rIns="0" bIns="0" rtlCol="0" anchor="ctr"/>
          <a:lstStyle/>
          <a:p>
            <a:pPr algn="ctr" indent="0" marL="0">
              <a:buNone/>
            </a:pPr>
            <a:r>
              <a:rPr lang="en-US" sz="5200" dirty="0">
                <a:solidFill>
                  <a:srgbClr val="000000"/>
                </a:solidFill>
              </a:rPr>
              <a:t>⭐</a:t>
            </a:r>
            <a:endParaRPr lang="en-US" sz="5200" dirty="0"/>
          </a:p>
        </p:txBody>
      </p:sp>
      <p:sp>
        <p:nvSpPr>
          <p:cNvPr id="3" name="Text 1"/>
          <p:cNvSpPr/>
          <p:nvPr/>
        </p:nvSpPr>
        <p:spPr>
          <a:xfrm>
            <a:off x="457200" y="1691640"/>
            <a:ext cx="8229600"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Flat Stanley</a:t>
            </a:r>
            <a:endParaRPr lang="en-US" sz="3400" dirty="0"/>
          </a:p>
        </p:txBody>
      </p:sp>
      <p:sp>
        <p:nvSpPr>
          <p:cNvPr id="4" name="Text 2"/>
          <p:cNvSpPr/>
          <p:nvPr/>
        </p:nvSpPr>
        <p:spPr>
          <a:xfrm>
            <a:off x="457200" y="2331720"/>
            <a:ext cx="8229600" cy="411480"/>
          </a:xfrm>
          <a:prstGeom prst="rect">
            <a:avLst/>
          </a:prstGeom>
          <a:noFill/>
          <a:ln/>
        </p:spPr>
        <p:txBody>
          <a:bodyPr wrap="square" lIns="0" tIns="0" rIns="0" bIns="0" rtlCol="0" anchor="ctr"/>
          <a:lstStyle/>
          <a:p>
            <a:pPr algn="ctr" indent="0" marL="0">
              <a:buNone/>
            </a:pPr>
            <a:r>
              <a:rPr lang="en-US" sz="2000" dirty="0">
                <a:solidFill>
                  <a:srgbClr val="55C8E8"/>
                </a:solidFill>
                <a:latin typeface="Calibri" pitchFamily="34" charset="0"/>
                <a:ea typeface="Calibri" pitchFamily="34" charset="-122"/>
                <a:cs typeface="Calibri" pitchFamily="34" charset="-120"/>
              </a:rPr>
              <a:t>Lesson 3.2  ·  Chapter 4</a:t>
            </a:r>
            <a:endParaRPr lang="en-US" sz="2000" dirty="0"/>
          </a:p>
        </p:txBody>
      </p:sp>
      <p:sp>
        <p:nvSpPr>
          <p:cNvPr id="5" name="Text 3"/>
          <p:cNvSpPr/>
          <p:nvPr/>
        </p:nvSpPr>
        <p:spPr>
          <a:xfrm>
            <a:off x="457200" y="2880360"/>
            <a:ext cx="8229600" cy="320040"/>
          </a:xfrm>
          <a:prstGeom prst="rect">
            <a:avLst/>
          </a:prstGeom>
          <a:noFill/>
          <a:ln/>
        </p:spPr>
        <p:txBody>
          <a:bodyPr wrap="square" lIns="0" tIns="0" rIns="0" bIns="0" rtlCol="0" anchor="ctr"/>
          <a:lstStyle/>
          <a:p>
            <a:pPr algn="ctr" indent="0" marL="0">
              <a:buNone/>
            </a:pPr>
            <a:r>
              <a:rPr lang="en-US" sz="1400" dirty="0">
                <a:solidFill>
                  <a:srgbClr val="C9BCE4"/>
                </a:solidFill>
                <a:latin typeface="Calibri" pitchFamily="34" charset="0"/>
                <a:ea typeface="Calibri" pitchFamily="34" charset="-122"/>
                <a:cs typeface="Calibri" pitchFamily="34" charset="-120"/>
              </a:rPr>
              <a:t>Grade 3 ELA  ·  Virtue: Courage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10-Minute Write</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READ THE PROMPT — 1 MINUTE</a:t>
            </a:r>
            <a:endParaRPr lang="en-US" sz="1100" dirty="0"/>
          </a:p>
        </p:txBody>
      </p:sp>
      <p:sp>
        <p:nvSpPr>
          <p:cNvPr id="5" name="Shape 3"/>
          <p:cNvSpPr/>
          <p:nvPr/>
        </p:nvSpPr>
        <p:spPr>
          <a:xfrm>
            <a:off x="365760" y="1143000"/>
            <a:ext cx="8412480" cy="1737360"/>
          </a:xfrm>
          <a:prstGeom prst="roundRect">
            <a:avLst>
              <a:gd name="adj" fmla="val 5263"/>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271016"/>
            <a:ext cx="7955280" cy="148132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Stanley hides in a painting to catch thieves. Write about a hiding place you have used.</a:t>
            </a:r>
            <a:endParaRPr lang="en-US" sz="1700" dirty="0"/>
          </a:p>
        </p:txBody>
      </p:sp>
      <p:sp>
        <p:nvSpPr>
          <p:cNvPr id="7" name="Text 5"/>
          <p:cNvSpPr/>
          <p:nvPr/>
        </p:nvSpPr>
        <p:spPr>
          <a:xfrm>
            <a:off x="365760" y="3063240"/>
            <a:ext cx="8412480" cy="365760"/>
          </a:xfrm>
          <a:prstGeom prst="rect">
            <a:avLst/>
          </a:prstGeom>
          <a:noFill/>
          <a:ln/>
        </p:spPr>
        <p:txBody>
          <a:bodyPr wrap="square" lIns="0" tIns="0" rIns="0" bIns="0" rtlCol="0" anchor="ctr"/>
          <a:lstStyle/>
          <a:p>
            <a:pPr indent="0" marL="0">
              <a:buNone/>
            </a:pPr>
            <a:r>
              <a:rPr lang="en-US" sz="1600" i="1" dirty="0">
                <a:solidFill>
                  <a:srgbClr val="64748B"/>
                </a:solidFill>
                <a:latin typeface="Calibri" pitchFamily="34" charset="0"/>
                <a:ea typeface="Calibri" pitchFamily="34" charset="-122"/>
                <a:cs typeface="Calibri" pitchFamily="34" charset="-120"/>
              </a:rPr>
              <a:t>Think first. You will have five minutes to write.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Writing Time</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5 minutes — keep your pencil moving!</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YOUR PROMPT</a:t>
            </a:r>
            <a:endParaRPr lang="en-US" sz="1100" dirty="0"/>
          </a:p>
        </p:txBody>
      </p:sp>
      <p:sp>
        <p:nvSpPr>
          <p:cNvPr id="6" name="Shape 4"/>
          <p:cNvSpPr/>
          <p:nvPr/>
        </p:nvSpPr>
        <p:spPr>
          <a:xfrm>
            <a:off x="365760" y="1737360"/>
            <a:ext cx="8412480" cy="1417320"/>
          </a:xfrm>
          <a:prstGeom prst="roundRect">
            <a:avLst>
              <a:gd name="adj" fmla="val 6452"/>
            </a:avLst>
          </a:prstGeom>
          <a:solidFill>
            <a:srgbClr val="FFFFFF"/>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65376"/>
            <a:ext cx="7955280" cy="11612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Stanley hides in a painting to catch thieves. Write about a hiding place you have used.</a:t>
            </a:r>
            <a:endParaRPr lang="en-US" sz="1700" dirty="0"/>
          </a:p>
        </p:txBody>
      </p:sp>
      <p:sp>
        <p:nvSpPr>
          <p:cNvPr id="8" name="Text 6"/>
          <p:cNvSpPr/>
          <p:nvPr/>
        </p:nvSpPr>
        <p:spPr>
          <a:xfrm>
            <a:off x="365760" y="3291840"/>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Do not stop to erase. If you get stuck, write the last word again and keep going.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Edit &amp; Revise</a:t>
            </a:r>
            <a:endParaRPr lang="en-US" sz="2200" dirty="0"/>
          </a:p>
        </p:txBody>
      </p:sp>
      <p:sp>
        <p:nvSpPr>
          <p:cNvPr id="4" name="Text 2"/>
          <p:cNvSpPr/>
          <p:nvPr/>
        </p:nvSpPr>
        <p:spPr>
          <a:xfrm>
            <a:off x="365760" y="868680"/>
            <a:ext cx="8412480" cy="457200"/>
          </a:xfrm>
          <a:prstGeom prst="rect">
            <a:avLst/>
          </a:prstGeom>
          <a:noFill/>
          <a:ln/>
        </p:spPr>
        <p:txBody>
          <a:bodyPr wrap="square" lIns="0" tIns="0" rIns="0" bIns="0" rtlCol="0" anchor="ctr"/>
          <a:lstStyle/>
          <a:p>
            <a:pPr indent="0" marL="0">
              <a:buNone/>
            </a:pPr>
            <a:r>
              <a:rPr lang="en-US" sz="2400" b="1" dirty="0">
                <a:solidFill>
                  <a:srgbClr val="0E1C42"/>
                </a:solidFill>
                <a:latin typeface="Calibri" pitchFamily="34" charset="0"/>
                <a:ea typeface="Calibri" pitchFamily="34" charset="-122"/>
                <a:cs typeface="Calibri" pitchFamily="34" charset="-120"/>
              </a:rPr>
              <a:t>1 minute — pick ONE thing to fix.</a:t>
            </a:r>
            <a:endParaRPr lang="en-US" sz="2400" dirty="0"/>
          </a:p>
        </p:txBody>
      </p:sp>
      <p:sp>
        <p:nvSpPr>
          <p:cNvPr id="5" name="Text 3"/>
          <p:cNvSpPr/>
          <p:nvPr/>
        </p:nvSpPr>
        <p:spPr>
          <a:xfrm>
            <a:off x="365760" y="141732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TODAY'S EDIT FOCUS</a:t>
            </a:r>
            <a:endParaRPr lang="en-US" sz="1100" dirty="0"/>
          </a:p>
        </p:txBody>
      </p:sp>
      <p:sp>
        <p:nvSpPr>
          <p:cNvPr id="6" name="Shape 4"/>
          <p:cNvSpPr/>
          <p:nvPr/>
        </p:nvSpPr>
        <p:spPr>
          <a:xfrm>
            <a:off x="365760" y="1691640"/>
            <a:ext cx="841248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1965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Did I use a capital letter for every place name?</a:t>
            </a:r>
            <a:endParaRPr lang="en-US" sz="1700" dirty="0"/>
          </a:p>
        </p:txBody>
      </p:sp>
      <p:sp>
        <p:nvSpPr>
          <p:cNvPr id="8" name="Text 6"/>
          <p:cNvSpPr/>
          <p:nvPr/>
        </p:nvSpPr>
        <p:spPr>
          <a:xfrm>
            <a:off x="365760" y="2651760"/>
            <a:ext cx="8412480" cy="3657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Quick check:  </a:t>
            </a:r>
            <a:pPr indent="0" marL="0">
              <a:buNone/>
            </a:pPr>
            <a:r>
              <a:rPr lang="en-US" sz="1500" dirty="0">
                <a:solidFill>
                  <a:srgbClr val="1E293B"/>
                </a:solidFill>
                <a:latin typeface="Calibri" pitchFamily="34" charset="0"/>
                <a:ea typeface="Calibri" pitchFamily="34" charset="-122"/>
                <a:cs typeface="Calibri" pitchFamily="34" charset="-120"/>
              </a:rPr>
              <a:t>capitals  ·  end punctuation  ·  circle a word you are unsure of  ·  read it aloud</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Share Time</a:t>
            </a:r>
            <a:endParaRPr lang="en-US" sz="2200" dirty="0"/>
          </a:p>
        </p:txBody>
      </p:sp>
      <p:sp>
        <p:nvSpPr>
          <p:cNvPr id="4" name="Text 2"/>
          <p:cNvSpPr/>
          <p:nvPr/>
        </p:nvSpPr>
        <p:spPr>
          <a:xfrm>
            <a:off x="365760" y="1005840"/>
            <a:ext cx="8412480" cy="54864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3 minutes — let's hear your writing!</a:t>
            </a:r>
            <a:endParaRPr lang="en-US" sz="2600" dirty="0"/>
          </a:p>
        </p:txBody>
      </p:sp>
      <p:sp>
        <p:nvSpPr>
          <p:cNvPr id="5" name="Text 3"/>
          <p:cNvSpPr/>
          <p:nvPr/>
        </p:nvSpPr>
        <p:spPr>
          <a:xfrm>
            <a:off x="365760" y="1691640"/>
            <a:ext cx="8412480" cy="457200"/>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Raise your hand  ·  paste it in the chat  ·  or hold your paper up to the camera</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Today</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READING</a:t>
            </a:r>
            <a:endParaRPr lang="en-US" sz="1100" dirty="0"/>
          </a:p>
        </p:txBody>
      </p:sp>
      <p:sp>
        <p:nvSpPr>
          <p:cNvPr id="5" name="Text 3"/>
          <p:cNvSpPr/>
          <p:nvPr/>
        </p:nvSpPr>
        <p:spPr>
          <a:xfrm>
            <a:off x="365760" y="1014984"/>
            <a:ext cx="84124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Chapter 4</a:t>
            </a:r>
            <a:endParaRPr lang="en-US" sz="2000" dirty="0"/>
          </a:p>
        </p:txBody>
      </p:sp>
      <p:sp>
        <p:nvSpPr>
          <p:cNvPr id="6" name="Text 4"/>
          <p:cNvSpPr/>
          <p:nvPr/>
        </p:nvSpPr>
        <p:spPr>
          <a:xfrm>
            <a:off x="365760" y="15087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365760" y="1746504"/>
            <a:ext cx="8412480" cy="731520"/>
          </a:xfrm>
          <a:prstGeom prst="roundRect">
            <a:avLst>
              <a:gd name="adj" fmla="val 12500"/>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874520"/>
            <a:ext cx="7955280" cy="4754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Stanley hides in a picture frame, disguised as a shepherdess. How do you think he feels waiting in the dark?</a:t>
            </a:r>
            <a:endParaRPr lang="en-US" sz="1700" dirty="0"/>
          </a:p>
        </p:txBody>
      </p:sp>
      <p:sp>
        <p:nvSpPr>
          <p:cNvPr id="9" name="Text 7"/>
          <p:cNvSpPr/>
          <p:nvPr/>
        </p:nvSpPr>
        <p:spPr>
          <a:xfrm>
            <a:off x="365760" y="2606040"/>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READING LENS</a:t>
            </a:r>
            <a:endParaRPr lang="en-US" sz="1100" dirty="0"/>
          </a:p>
        </p:txBody>
      </p:sp>
      <p:sp>
        <p:nvSpPr>
          <p:cNvPr id="10" name="Text 8"/>
          <p:cNvSpPr/>
          <p:nvPr/>
        </p:nvSpPr>
        <p:spPr>
          <a:xfrm>
            <a:off x="365760" y="2843784"/>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pay attention to how events affect characters . When something important happens, it changes what a character feels, thinks, or decides to do next.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“Stanley,” Mr. Dart said, “if your mother gives her permission, I will put you and your plan to work.”</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police police the sneak thieves are here shouted stanley in his loudest most terrifying voice</a:t>
            </a:r>
            <a:endParaRPr lang="en-US" sz="1700" dirty="0"/>
          </a:p>
        </p:txBody>
      </p:sp>
      <p:sp>
        <p:nvSpPr>
          <p:cNvPr id="9" name="Text 7"/>
          <p:cNvSpPr/>
          <p:nvPr/>
        </p:nvSpPr>
        <p:spPr>
          <a:xfrm>
            <a:off x="365760" y="2788920"/>
            <a:ext cx="841248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Rewrite both sentences correctly in your notebook.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“Stanley,” Mr. Dart said, “if your mother gives her permission, I will put you and your plan to work.”</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police police the sneak thieves are here shouted stanley in his loudest most terrifying voice</a:t>
            </a:r>
            <a:endParaRPr lang="en-US" sz="1700" dirty="0"/>
          </a:p>
        </p:txBody>
      </p:sp>
      <p:sp>
        <p:nvSpPr>
          <p:cNvPr id="9" name="Shape 7"/>
          <p:cNvSpPr/>
          <p:nvPr/>
        </p:nvSpPr>
        <p:spPr>
          <a:xfrm>
            <a:off x="365760" y="2743200"/>
            <a:ext cx="8412480" cy="1417320"/>
          </a:xfrm>
          <a:prstGeom prst="roundRect">
            <a:avLst>
              <a:gd name="adj" fmla="val 6452"/>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66928" y="2816352"/>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1" name="Text 9"/>
          <p:cNvSpPr/>
          <p:nvPr/>
        </p:nvSpPr>
        <p:spPr>
          <a:xfrm>
            <a:off x="566928" y="3072384"/>
            <a:ext cx="8010144" cy="68580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Corrected:</a:t>
            </a:r>
            <a:endParaRPr lang="en-US" sz="1400" dirty="0"/>
          </a:p>
          <a:p>
            <a:pPr indent="0" marL="0">
              <a:buNone/>
            </a:pPr>
            <a:endParaRPr lang="en-US" sz="1400" dirty="0"/>
          </a:p>
        </p:txBody>
      </p:sp>
      <p:sp>
        <p:nvSpPr>
          <p:cNvPr id="12" name="Text 10"/>
          <p:cNvSpPr/>
          <p:nvPr/>
        </p:nvSpPr>
        <p:spPr>
          <a:xfrm>
            <a:off x="566928" y="3767328"/>
            <a:ext cx="8010144"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“POLICE! POLICE! THE SNEAK THIEVES ARE HERE !” shouted Stanley in his loudest , most terrifying voice .</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Morphology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PREFIX UN- MEANS NOT</a:t>
            </a:r>
            <a:endParaRPr lang="en-US" sz="1100" dirty="0"/>
          </a:p>
        </p:txBody>
      </p:sp>
      <p:sp>
        <p:nvSpPr>
          <p:cNvPr id="5" name="Shape 3"/>
          <p:cNvSpPr/>
          <p:nvPr/>
        </p:nvSpPr>
        <p:spPr>
          <a:xfrm>
            <a:off x="365760" y="1097280"/>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16152"/>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un- + happy = unhappy — un- means not , so unhappy means not happy</a:t>
            </a:r>
            <a:endParaRPr lang="en-US" sz="1500" dirty="0"/>
          </a:p>
        </p:txBody>
      </p:sp>
      <p:sp>
        <p:nvSpPr>
          <p:cNvPr id="7" name="Shape 5"/>
          <p:cNvSpPr/>
          <p:nvPr/>
        </p:nvSpPr>
        <p:spPr>
          <a:xfrm>
            <a:off x="365760" y="1792224"/>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11096"/>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un- + lock = unlock — not locked, to open a lock</a:t>
            </a:r>
            <a:endParaRPr lang="en-US" sz="1500" dirty="0"/>
          </a:p>
        </p:txBody>
      </p:sp>
      <p:sp>
        <p:nvSpPr>
          <p:cNvPr id="9" name="Shape 7"/>
          <p:cNvSpPr/>
          <p:nvPr/>
        </p:nvSpPr>
        <p:spPr>
          <a:xfrm>
            <a:off x="365760" y="2487168"/>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06040"/>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un- + fair = unfair — not fair</a:t>
            </a:r>
            <a:endParaRPr lang="en-US" sz="1500" dirty="0"/>
          </a:p>
        </p:txBody>
      </p:sp>
      <p:sp>
        <p:nvSpPr>
          <p:cNvPr id="11" name="Shape 9"/>
          <p:cNvSpPr/>
          <p:nvPr/>
        </p:nvSpPr>
        <p:spPr>
          <a:xfrm>
            <a:off x="365760" y="3182112"/>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300984"/>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Practice: Match the Word to Its Base!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Vocabulary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THIS WEEK'S WORDS</a:t>
            </a:r>
            <a:endParaRPr lang="en-US" sz="1100" dirty="0"/>
          </a:p>
        </p:txBody>
      </p:sp>
      <p:sp>
        <p:nvSpPr>
          <p:cNvPr id="5" name="Shape 3"/>
          <p:cNvSpPr/>
          <p:nvPr/>
        </p:nvSpPr>
        <p:spPr>
          <a:xfrm>
            <a:off x="365760" y="109728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museum  </a:t>
            </a:r>
            <a:pPr indent="0" marL="0">
              <a:buNone/>
            </a:pPr>
            <a:r>
              <a:rPr lang="en-US" sz="1400" dirty="0">
                <a:solidFill>
                  <a:srgbClr val="1E293B"/>
                </a:solidFill>
                <a:latin typeface="Calibri" pitchFamily="34" charset="0"/>
                <a:ea typeface="Calibri" pitchFamily="34" charset="-122"/>
                <a:cs typeface="Calibri" pitchFamily="34" charset="-120"/>
              </a:rPr>
              <a:t>A building where art or important objects are kept for people to see.</a:t>
            </a:r>
            <a:endParaRPr lang="en-US" sz="1700" dirty="0"/>
          </a:p>
        </p:txBody>
      </p:sp>
      <p:sp>
        <p:nvSpPr>
          <p:cNvPr id="7" name="Shape 5"/>
          <p:cNvSpPr/>
          <p:nvPr/>
        </p:nvSpPr>
        <p:spPr>
          <a:xfrm>
            <a:off x="365760" y="18288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sneak  </a:t>
            </a:r>
            <a:pPr indent="0" marL="0">
              <a:buNone/>
            </a:pPr>
            <a:r>
              <a:rPr lang="en-US" sz="1400" dirty="0">
                <a:solidFill>
                  <a:srgbClr val="1E293B"/>
                </a:solidFill>
                <a:latin typeface="Calibri" pitchFamily="34" charset="0"/>
                <a:ea typeface="Calibri" pitchFamily="34" charset="-122"/>
                <a:cs typeface="Calibri" pitchFamily="34" charset="-120"/>
              </a:rPr>
              <a:t>To move quietly so you won’t be noticed. Or a person who is sneaky.</a:t>
            </a:r>
            <a:endParaRPr lang="en-US" sz="1700" dirty="0"/>
          </a:p>
        </p:txBody>
      </p:sp>
      <p:sp>
        <p:nvSpPr>
          <p:cNvPr id="9" name="Shape 7"/>
          <p:cNvSpPr/>
          <p:nvPr/>
        </p:nvSpPr>
        <p:spPr>
          <a:xfrm>
            <a:off x="365760" y="256032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frightened  </a:t>
            </a:r>
            <a:pPr indent="0" marL="0">
              <a:buNone/>
            </a:pPr>
            <a:r>
              <a:rPr lang="en-US" sz="1400" dirty="0">
                <a:solidFill>
                  <a:srgbClr val="1E293B"/>
                </a:solidFill>
                <a:latin typeface="Calibri" pitchFamily="34" charset="0"/>
                <a:ea typeface="Calibri" pitchFamily="34" charset="-122"/>
                <a:cs typeface="Calibri" pitchFamily="34" charset="-120"/>
              </a:rPr>
              <a:t>Very scared.</a:t>
            </a:r>
            <a:endParaRPr lang="en-US" sz="1700" dirty="0"/>
          </a:p>
        </p:txBody>
      </p:sp>
      <p:sp>
        <p:nvSpPr>
          <p:cNvPr id="11" name="Shape 9"/>
          <p:cNvSpPr/>
          <p:nvPr/>
        </p:nvSpPr>
        <p:spPr>
          <a:xfrm>
            <a:off x="365760" y="329184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disguise  </a:t>
            </a:r>
            <a:pPr indent="0" marL="0">
              <a:buNone/>
            </a:pPr>
            <a:r>
              <a:rPr lang="en-US" sz="1400" dirty="0">
                <a:solidFill>
                  <a:srgbClr val="1E293B"/>
                </a:solidFill>
                <a:latin typeface="Calibri" pitchFamily="34" charset="0"/>
                <a:ea typeface="Calibri" pitchFamily="34" charset="-122"/>
                <a:cs typeface="Calibri" pitchFamily="34" charset="-120"/>
              </a:rPr>
              <a:t>Clothes or makeup that make you look like someone else.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SUBJECT AND PREDICATE</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museum thieves worked at night.</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Mrs. Lambchop wrote the numbers down.</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kite climbed higher and higher.</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Arthur found the bicycle pump.</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Your turn. Tap the subject in each sentence. Tap to check — green means you got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SUBJECT AND PREDICATE</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museum </a:t>
            </a:r>
            <a:pPr indent="0" marL="0">
              <a:buNone/>
            </a:pPr>
            <a:r>
              <a:rPr lang="en-US" sz="1600" b="1" dirty="0">
                <a:solidFill>
                  <a:srgbClr val="34B76F"/>
                </a:solidFill>
                <a:latin typeface="Calibri" pitchFamily="34" charset="0"/>
                <a:ea typeface="Calibri" pitchFamily="34" charset="-122"/>
                <a:cs typeface="Calibri" pitchFamily="34" charset="-120"/>
              </a:rPr>
              <a:t>thieves</a:t>
            </a:r>
            <a:pPr indent="0" marL="0">
              <a:buNone/>
            </a:pPr>
            <a:r>
              <a:rPr lang="en-US" sz="1600" dirty="0">
                <a:solidFill>
                  <a:srgbClr val="1E293B"/>
                </a:solidFill>
                <a:latin typeface="Calibri" pitchFamily="34" charset="0"/>
                <a:ea typeface="Calibri" pitchFamily="34" charset="-122"/>
                <a:cs typeface="Calibri" pitchFamily="34" charset="-120"/>
              </a:rPr>
              <a:t> worked at night.</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Mrs. </a:t>
            </a:r>
            <a:pPr indent="0" marL="0">
              <a:buNone/>
            </a:pPr>
            <a:r>
              <a:rPr lang="en-US" sz="1600" b="1" dirty="0">
                <a:solidFill>
                  <a:srgbClr val="34B76F"/>
                </a:solidFill>
                <a:latin typeface="Calibri" pitchFamily="34" charset="0"/>
                <a:ea typeface="Calibri" pitchFamily="34" charset="-122"/>
                <a:cs typeface="Calibri" pitchFamily="34" charset="-120"/>
              </a:rPr>
              <a:t>Lambchop</a:t>
            </a:r>
            <a:pPr indent="0" marL="0">
              <a:buNone/>
            </a:pPr>
            <a:r>
              <a:rPr lang="en-US" sz="1600" dirty="0">
                <a:solidFill>
                  <a:srgbClr val="1E293B"/>
                </a:solidFill>
                <a:latin typeface="Calibri" pitchFamily="34" charset="0"/>
                <a:ea typeface="Calibri" pitchFamily="34" charset="-122"/>
                <a:cs typeface="Calibri" pitchFamily="34" charset="-120"/>
              </a:rPr>
              <a:t> wrote the numbers down.</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a:t>
            </a:r>
            <a:pPr indent="0" marL="0">
              <a:buNone/>
            </a:pPr>
            <a:r>
              <a:rPr lang="en-US" sz="1600" b="1" dirty="0">
                <a:solidFill>
                  <a:srgbClr val="34B76F"/>
                </a:solidFill>
                <a:latin typeface="Calibri" pitchFamily="34" charset="0"/>
                <a:ea typeface="Calibri" pitchFamily="34" charset="-122"/>
                <a:cs typeface="Calibri" pitchFamily="34" charset="-120"/>
              </a:rPr>
              <a:t>kite</a:t>
            </a:r>
            <a:pPr indent="0" marL="0">
              <a:buNone/>
            </a:pPr>
            <a:r>
              <a:rPr lang="en-US" sz="1600" dirty="0">
                <a:solidFill>
                  <a:srgbClr val="1E293B"/>
                </a:solidFill>
                <a:latin typeface="Calibri" pitchFamily="34" charset="0"/>
                <a:ea typeface="Calibri" pitchFamily="34" charset="-122"/>
                <a:cs typeface="Calibri" pitchFamily="34" charset="-120"/>
              </a:rPr>
              <a:t> climbed higher and higher.</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b="1" dirty="0">
                <a:solidFill>
                  <a:srgbClr val="34B76F"/>
                </a:solidFill>
                <a:latin typeface="Calibri" pitchFamily="34" charset="0"/>
                <a:ea typeface="Calibri" pitchFamily="34" charset="-122"/>
                <a:cs typeface="Calibri" pitchFamily="34" charset="-120"/>
              </a:rPr>
              <a:t>Arthur</a:t>
            </a:r>
            <a:pPr indent="0" marL="0">
              <a:buNone/>
            </a:pPr>
            <a:r>
              <a:rPr lang="en-US" sz="1600" dirty="0">
                <a:solidFill>
                  <a:srgbClr val="1E293B"/>
                </a:solidFill>
                <a:latin typeface="Calibri" pitchFamily="34" charset="0"/>
                <a:ea typeface="Calibri" pitchFamily="34" charset="-122"/>
                <a:cs typeface="Calibri" pitchFamily="34" charset="-120"/>
              </a:rPr>
              <a:t> found the bicycle pump.</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b="1" dirty="0">
                <a:solidFill>
                  <a:srgbClr val="34B76F"/>
                </a:solidFill>
                <a:latin typeface="Calibri" pitchFamily="34" charset="0"/>
                <a:ea typeface="Calibri" pitchFamily="34" charset="-122"/>
                <a:cs typeface="Calibri" pitchFamily="34" charset="-120"/>
              </a:rPr>
              <a:t>✅  Answers revealed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LONG VOWELS AND SILENT-E REVIEW</a:t>
            </a:r>
            <a:endParaRPr lang="en-US" sz="1100" dirty="0"/>
          </a:p>
        </p:txBody>
      </p:sp>
      <p:sp>
        <p:nvSpPr>
          <p:cNvPr id="5" name="Text 3"/>
          <p:cNvSpPr/>
          <p:nvPr/>
        </p:nvSpPr>
        <p:spPr>
          <a:xfrm>
            <a:off x="365760" y="1078992"/>
            <a:ext cx="8229600" cy="237744"/>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6" name="Shape 4"/>
          <p:cNvSpPr/>
          <p:nvPr/>
        </p:nvSpPr>
        <p:spPr>
          <a:xfrm>
            <a:off x="365760" y="1353312"/>
            <a:ext cx="8412480" cy="1005840"/>
          </a:xfrm>
          <a:prstGeom prst="roundRect">
            <a:avLst>
              <a:gd name="adj" fmla="val 9091"/>
            </a:avLst>
          </a:prstGeom>
          <a:solidFill>
            <a:srgbClr val="FFFFFF"/>
          </a:solidFill>
          <a:ln w="19050">
            <a:solidFill>
              <a:srgbClr val="0E1C42"/>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481328"/>
            <a:ext cx="7955280" cy="749808"/>
          </a:xfrm>
          <a:prstGeom prst="rect">
            <a:avLst/>
          </a:prstGeom>
          <a:noFill/>
          <a:ln/>
        </p:spPr>
        <p:txBody>
          <a:bodyPr wrap="square" lIns="0" tIns="0" rIns="0" bIns="0" rtlCol="0" anchor="ctr"/>
          <a:lstStyle/>
          <a:p>
            <a:pPr indent="0" marL="0">
              <a:buNone/>
            </a:pPr>
            <a:r>
              <a:rPr lang="en-US" sz="1700" dirty="0">
                <a:solidFill>
                  <a:srgbClr val="0E1C42"/>
                </a:solidFill>
                <a:latin typeface="Calibri" pitchFamily="34" charset="0"/>
                <a:ea typeface="Calibri" pitchFamily="34" charset="-122"/>
                <a:cs typeface="Calibri" pitchFamily="34" charset="-120"/>
              </a:rPr>
              <a:t>frame   ·   spoke   ·   whole   ·   stole   ·   kept   ·   still   ·   dark   ·   held</a:t>
            </a:r>
            <a:endParaRPr lang="en-US" sz="1700" dirty="0"/>
          </a:p>
        </p:txBody>
      </p:sp>
      <p:sp>
        <p:nvSpPr>
          <p:cNvPr id="8" name="Text 6"/>
          <p:cNvSpPr/>
          <p:nvPr/>
        </p:nvSpPr>
        <p:spPr>
          <a:xfrm>
            <a:off x="365760" y="2514600"/>
            <a:ext cx="8412480" cy="45720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Which column does each word belong in?  Columns: silent-e  |  closed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LONG VOWELS AND SILENT-E REVIEW</a:t>
            </a:r>
            <a:endParaRPr lang="en-US" sz="1100" dirty="0"/>
          </a:p>
        </p:txBody>
      </p:sp>
      <p:sp>
        <p:nvSpPr>
          <p:cNvPr id="5" name="Shape 3"/>
          <p:cNvSpPr/>
          <p:nvPr/>
        </p:nvSpPr>
        <p:spPr>
          <a:xfrm>
            <a:off x="411480" y="1078992"/>
            <a:ext cx="4114800" cy="457200"/>
          </a:xfrm>
          <a:prstGeom prst="roundRect">
            <a:avLst>
              <a:gd name="adj" fmla="val 16000"/>
            </a:avLst>
          </a:prstGeom>
          <a:solidFill>
            <a:srgbClr val="0E1C42"/>
          </a:solidFill>
          <a:ln/>
        </p:spPr>
      </p:sp>
      <p:sp>
        <p:nvSpPr>
          <p:cNvPr id="6" name="Text 4"/>
          <p:cNvSpPr/>
          <p:nvPr/>
        </p:nvSpPr>
        <p:spPr>
          <a:xfrm>
            <a:off x="457200" y="1133856"/>
            <a:ext cx="40233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silent-e</a:t>
            </a:r>
            <a:endParaRPr lang="en-US" sz="1300" dirty="0"/>
          </a:p>
        </p:txBody>
      </p:sp>
      <p:sp>
        <p:nvSpPr>
          <p:cNvPr id="7" name="Shape 5"/>
          <p:cNvSpPr/>
          <p:nvPr/>
        </p:nvSpPr>
        <p:spPr>
          <a:xfrm>
            <a:off x="411480" y="1591056"/>
            <a:ext cx="411480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02920" y="1700784"/>
            <a:ext cx="393192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frame</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spoke</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whole</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stole</a:t>
            </a:r>
            <a:endParaRPr lang="en-US" sz="1400" dirty="0"/>
          </a:p>
        </p:txBody>
      </p:sp>
      <p:sp>
        <p:nvSpPr>
          <p:cNvPr id="9" name="Shape 7"/>
          <p:cNvSpPr/>
          <p:nvPr/>
        </p:nvSpPr>
        <p:spPr>
          <a:xfrm>
            <a:off x="4617720" y="1078992"/>
            <a:ext cx="4114800" cy="457200"/>
          </a:xfrm>
          <a:prstGeom prst="roundRect">
            <a:avLst>
              <a:gd name="adj" fmla="val 16000"/>
            </a:avLst>
          </a:prstGeom>
          <a:solidFill>
            <a:srgbClr val="0E1C42"/>
          </a:solidFill>
          <a:ln/>
        </p:spPr>
      </p:sp>
      <p:sp>
        <p:nvSpPr>
          <p:cNvPr id="10" name="Text 8"/>
          <p:cNvSpPr/>
          <p:nvPr/>
        </p:nvSpPr>
        <p:spPr>
          <a:xfrm>
            <a:off x="4663440" y="1133856"/>
            <a:ext cx="40233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closed</a:t>
            </a:r>
            <a:endParaRPr lang="en-US" sz="1300" dirty="0"/>
          </a:p>
        </p:txBody>
      </p:sp>
      <p:sp>
        <p:nvSpPr>
          <p:cNvPr id="11" name="Shape 9"/>
          <p:cNvSpPr/>
          <p:nvPr/>
        </p:nvSpPr>
        <p:spPr>
          <a:xfrm>
            <a:off x="4617720" y="1591056"/>
            <a:ext cx="411480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4709160" y="1700784"/>
            <a:ext cx="393192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kept</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still</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dark</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held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Read</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Chapter 4</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PAUSE &amp; THINK</a:t>
            </a:r>
            <a:endParaRPr lang="en-US" sz="1100" dirty="0"/>
          </a:p>
        </p:txBody>
      </p:sp>
      <p:sp>
        <p:nvSpPr>
          <p:cNvPr id="6" name="Text 4"/>
          <p:cNvSpPr/>
          <p:nvPr/>
        </p:nvSpPr>
        <p:spPr>
          <a:xfrm>
            <a:off x="365760" y="1719072"/>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Stop when Mr. Dart takes out the white dress, the straw hat and the blond wig. Stanley says he wishes he had never had his idea. Which event changed how he felt about a plan that was his own?</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Writer’s Workshop</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THIS WEEK’S STAGE</a:t>
            </a:r>
            <a:endParaRPr lang="en-US" sz="1100" dirty="0"/>
          </a:p>
        </p:txBody>
      </p:sp>
      <p:sp>
        <p:nvSpPr>
          <p:cNvPr id="5" name="Text 3"/>
          <p:cNvSpPr/>
          <p:nvPr/>
        </p:nvSpPr>
        <p:spPr>
          <a:xfrm>
            <a:off x="365760" y="1078992"/>
            <a:ext cx="8412480" cy="548640"/>
          </a:xfrm>
          <a:prstGeom prst="rect">
            <a:avLst/>
          </a:prstGeom>
          <a:noFill/>
          <a:ln/>
        </p:spPr>
        <p:txBody>
          <a:bodyPr wrap="square" lIns="0" tIns="0" rIns="0" bIns="0" rtlCol="0" anchor="ctr"/>
          <a:lstStyle/>
          <a:p>
            <a:pPr indent="0" marL="0">
              <a:buNone/>
            </a:pPr>
            <a:r>
              <a:rPr lang="en-US" sz="3000" b="1" dirty="0">
                <a:solidFill>
                  <a:srgbClr val="0E1C42"/>
                </a:solidFill>
                <a:latin typeface="Calibri" pitchFamily="34" charset="0"/>
                <a:ea typeface="Calibri" pitchFamily="34" charset="-122"/>
                <a:cs typeface="Calibri" pitchFamily="34" charset="-120"/>
              </a:rPr>
              <a:t>DRAFT</a:t>
            </a:r>
            <a:endParaRPr lang="en-US" sz="3000" dirty="0"/>
          </a:p>
        </p:txBody>
      </p:sp>
      <p:sp>
        <p:nvSpPr>
          <p:cNvPr id="6" name="Text 4"/>
          <p:cNvSpPr/>
          <p:nvPr/>
        </p:nvSpPr>
        <p:spPr>
          <a:xfrm>
            <a:off x="365760" y="1691640"/>
            <a:ext cx="8412480" cy="457200"/>
          </a:xfrm>
          <a:prstGeom prst="rect">
            <a:avLst/>
          </a:prstGeom>
          <a:noFill/>
          <a:ln/>
        </p:spPr>
        <p:txBody>
          <a:bodyPr wrap="square" lIns="0" tIns="0" rIns="0" bIns="0" rtlCol="0" anchor="ctr"/>
          <a:lstStyle/>
          <a:p>
            <a:pPr indent="0" marL="0">
              <a:buNone/>
            </a:pPr>
            <a:r>
              <a:rPr lang="en-US" sz="1800" dirty="0">
                <a:solidFill>
                  <a:srgbClr val="1E293B"/>
                </a:solidFill>
                <a:latin typeface="Calibri" pitchFamily="34" charset="0"/>
                <a:ea typeface="Calibri" pitchFamily="34" charset="-122"/>
                <a:cs typeface="Calibri" pitchFamily="34" charset="-120"/>
              </a:rPr>
              <a:t>Draft your ending</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Optima Academy Online</dc:creator>
  <cp:lastModifiedBy>Optima Academy Online</cp:lastModifiedBy>
  <cp:revision>1</cp:revision>
  <dcterms:created xsi:type="dcterms:W3CDTF">2026-09-08T13:30:00Z</dcterms:created>
  <dcterms:modified xsi:type="dcterms:W3CDTF">2026-09-08T13:30:00Z</dcterms:modified>
</cp:coreProperties>
</file>