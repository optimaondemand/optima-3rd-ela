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11.3. Reading: Ch. 28–29.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track cause and effect in the plot. Every event causes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Despereaux found the princess in the dark, and Miggery Sow was standing there, looking frightened.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Despereaux found the princess in the dark, and Miggery Sow was standing there, looking frightened.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A verb has to match its subject. One thing is, was, or runs. More than one thing are, were, or run. Find the subject first, then check the verb against it.
One girl, so was. Two girls would need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A verb has to match its subject. One thing is, was, or runs. More than one thing are, were, or run. Find the subject first, then check the verb against it.
One girl, so was. Two girls would need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run, hears, are, stirs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run, hears, are, stirs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Plain -s means more than one: three kings. An apostrophe + s means something belongs to: the king’s crown. If a plural already ends in s, add the apostrophe only: the girls’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11.3  ·  Ch. 28–29</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 is told she cannot have what she wants, over and over. Write about something you want that is hard to get. What would you do to get it?</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 is told she cannot have what she wants, over and over. Write about something you want that is hard to get. What would you do to get it?</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circle any word I was not sure how to spell?</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 28–29</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What caused Despereaux to end up where he is now?</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track cause and effect in the plot. Every event causes the next.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rats watch from the shadows, and Roscuro waits quietly with them.</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the plural subject rats takes watch with no -s, but the singular subject Roscuro takes waits with an -s. Roscuro is a name. A comma comes before and.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found the princess in the dark and miggery sow was standing there looking frightened</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found the princess in the dark and miggery sow was standing there looking frightened</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Despereaux found the princess in the dark, and Miggery Sow was standing there, looking frightened.</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-NESS</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dark + ness →darkness — the quality of being dark</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kind + ness →kindness — the quality of being kind</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sad + ness →sadness — the quality of being sad</a:t>
            </a:r>
            <a:endParaRPr lang="en-US" sz="1500" dirty="0"/>
          </a:p>
        </p:txBody>
      </p:sp>
      <p:sp>
        <p:nvSpPr>
          <p:cNvPr id="11" name="Shape 9"/>
          <p:cNvSpPr/>
          <p:nvPr/>
        </p:nvSpPr>
        <p:spPr>
          <a:xfrm>
            <a:off x="365760" y="3182112"/>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300984"/>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good + ness →goodness — the quality of being good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clout  </a:t>
            </a:r>
            <a:pPr indent="0" marL="0">
              <a:buNone/>
            </a:pPr>
            <a:r>
              <a:rPr lang="en-US" sz="1400" dirty="0">
                <a:solidFill>
                  <a:srgbClr val="1E293B"/>
                </a:solidFill>
                <a:latin typeface="Calibri" pitchFamily="34" charset="0"/>
                <a:ea typeface="Calibri" pitchFamily="34" charset="-122"/>
                <a:cs typeface="Calibri" pitchFamily="34" charset="-120"/>
              </a:rPr>
              <a:t>A hard hit or blow, usually with an open hand.</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deaf  </a:t>
            </a:r>
            <a:pPr indent="0" marL="0">
              <a:buNone/>
            </a:pPr>
            <a:r>
              <a:rPr lang="en-US" sz="1400" dirty="0">
                <a:solidFill>
                  <a:srgbClr val="1E293B"/>
                </a:solidFill>
                <a:latin typeface="Calibri" pitchFamily="34" charset="0"/>
                <a:ea typeface="Calibri" pitchFamily="34" charset="-122"/>
                <a:cs typeface="Calibri" pitchFamily="34" charset="-120"/>
              </a:rPr>
              <a:t>Unable to hear, or unable to hear well.</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servant  </a:t>
            </a:r>
            <a:pPr indent="0" marL="0">
              <a:buNone/>
            </a:pPr>
            <a:r>
              <a:rPr lang="en-US" sz="1400" dirty="0">
                <a:solidFill>
                  <a:srgbClr val="1E293B"/>
                </a:solidFill>
                <a:latin typeface="Calibri" pitchFamily="34" charset="0"/>
                <a:ea typeface="Calibri" pitchFamily="34" charset="-122"/>
                <a:cs typeface="Calibri" pitchFamily="34" charset="-120"/>
              </a:rPr>
              <a:t>Someone whose job is to work in another person's household.</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tablecloth  </a:t>
            </a:r>
            <a:pPr indent="0" marL="0">
              <a:buNone/>
            </a:pPr>
            <a:r>
              <a:rPr lang="en-US" sz="1400" dirty="0">
                <a:solidFill>
                  <a:srgbClr val="1E293B"/>
                </a:solidFill>
                <a:latin typeface="Calibri" pitchFamily="34" charset="0"/>
                <a:ea typeface="Calibri" pitchFamily="34" charset="-122"/>
                <a:cs typeface="Calibri" pitchFamily="34" charset="-120"/>
              </a:rPr>
              <a:t>A cloth spread over a table; here, what Mig was traded for.</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Look at the subject of each sentence and then at its verb.</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Miggery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Sow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center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it.</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clouts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were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alarmingly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frequent.</a:t>
            </a:r>
            <a:endParaRPr lang="en-US" sz="1700" dirty="0"/>
          </a:p>
        </p:txBody>
      </p:sp>
      <p:sp>
        <p:nvSpPr>
          <p:cNvPr id="12" name="Text 10"/>
          <p:cNvSpPr/>
          <p:nvPr/>
        </p:nvSpPr>
        <p:spPr>
          <a:xfrm>
            <a:off x="365760" y="3008376"/>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3" name="Text 11"/>
          <p:cNvSpPr/>
          <p:nvPr/>
        </p:nvSpPr>
        <p:spPr>
          <a:xfrm>
            <a:off x="365760" y="3255264"/>
            <a:ext cx="8412480" cy="1563624"/>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Is the subject one thing or more than one?</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What does the verb look like in each case — does it end in s or not?</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3.  It is backwards from nouns. Can you say how?</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Look at the subject of each sentence and then at its verb.</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Miggery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Sow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center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it.</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clouts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were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alarmingly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frequent.</a:t>
            </a:r>
            <a:endParaRPr lang="en-US" sz="1700" dirty="0"/>
          </a:p>
        </p:txBody>
      </p:sp>
      <p:sp>
        <p:nvSpPr>
          <p:cNvPr id="12" name="Shape 10"/>
          <p:cNvSpPr/>
          <p:nvPr/>
        </p:nvSpPr>
        <p:spPr>
          <a:xfrm>
            <a:off x="365760" y="3008376"/>
            <a:ext cx="8412480" cy="1837944"/>
          </a:xfrm>
          <a:prstGeom prst="roundRect">
            <a:avLst>
              <a:gd name="adj" fmla="val 4975"/>
            </a:avLst>
          </a:prstGeom>
          <a:solidFill>
            <a:srgbClr val="E8F8EF"/>
          </a:solidFill>
          <a:ln/>
          <a:effectLst>
            <a:outerShdw sx="100000" sy="100000" kx="0" ky="0" algn="bl" rotWithShape="0" blurRad="101600" dist="38100" dir="2700000">
              <a:srgbClr val="000000">
                <a:alpha val="12000"/>
              </a:srgbClr>
            </a:outerShdw>
          </a:effectLst>
        </p:spPr>
      </p:sp>
      <p:sp>
        <p:nvSpPr>
          <p:cNvPr id="13" name="Text 11"/>
          <p:cNvSpPr/>
          <p:nvPr/>
        </p:nvSpPr>
        <p:spPr>
          <a:xfrm>
            <a:off x="566928" y="3072384"/>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4" name="Text 12"/>
          <p:cNvSpPr/>
          <p:nvPr/>
        </p:nvSpPr>
        <p:spPr>
          <a:xfrm>
            <a:off x="566928" y="3328416"/>
            <a:ext cx="8010144" cy="1380744"/>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A verb has to match its subject. One thing is, was, or runs. More than one thing are, were, or run. Find the subject first, then check the verb against it.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One girl, so was. Two girls would need were.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mice ______ down the hall. (from run )</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Despereaux ______ the music. (from hear )</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brothers ______ afraid. (from be )</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______ the soup. (from stir )</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Put each verb into the form that matches its subject. Two subjects are one, and two are more than one.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mice </a:t>
            </a:r>
            <a:pPr indent="0" marL="0">
              <a:buNone/>
            </a:pPr>
            <a:r>
              <a:rPr lang="en-US" sz="1600" b="1" dirty="0">
                <a:solidFill>
                  <a:srgbClr val="34B76F"/>
                </a:solidFill>
                <a:latin typeface="Calibri" pitchFamily="34" charset="0"/>
                <a:ea typeface="Calibri" pitchFamily="34" charset="-122"/>
                <a:cs typeface="Calibri" pitchFamily="34" charset="-120"/>
              </a:rPr>
              <a:t>run</a:t>
            </a:r>
            <a:pPr indent="0" marL="0">
              <a:buNone/>
            </a:pPr>
            <a:r>
              <a:rPr lang="en-US" sz="1600" dirty="0">
                <a:solidFill>
                  <a:srgbClr val="1E293B"/>
                </a:solidFill>
                <a:latin typeface="Calibri" pitchFamily="34" charset="0"/>
                <a:ea typeface="Calibri" pitchFamily="34" charset="-122"/>
                <a:cs typeface="Calibri" pitchFamily="34" charset="-120"/>
              </a:rPr>
              <a:t> down the hall. (from run )</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Despereaux </a:t>
            </a:r>
            <a:pPr indent="0" marL="0">
              <a:buNone/>
            </a:pPr>
            <a:r>
              <a:rPr lang="en-US" sz="1600" b="1" dirty="0">
                <a:solidFill>
                  <a:srgbClr val="34B76F"/>
                </a:solidFill>
                <a:latin typeface="Calibri" pitchFamily="34" charset="0"/>
                <a:ea typeface="Calibri" pitchFamily="34" charset="-122"/>
                <a:cs typeface="Calibri" pitchFamily="34" charset="-120"/>
              </a:rPr>
              <a:t>hears</a:t>
            </a:r>
            <a:pPr indent="0" marL="0">
              <a:buNone/>
            </a:pPr>
            <a:r>
              <a:rPr lang="en-US" sz="1600" dirty="0">
                <a:solidFill>
                  <a:srgbClr val="1E293B"/>
                </a:solidFill>
                <a:latin typeface="Calibri" pitchFamily="34" charset="0"/>
                <a:ea typeface="Calibri" pitchFamily="34" charset="-122"/>
                <a:cs typeface="Calibri" pitchFamily="34" charset="-120"/>
              </a:rPr>
              <a:t> the music. (from hear )</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brothers </a:t>
            </a:r>
            <a:pPr indent="0" marL="0">
              <a:buNone/>
            </a:pPr>
            <a:r>
              <a:rPr lang="en-US" sz="1600" b="1" dirty="0">
                <a:solidFill>
                  <a:srgbClr val="34B76F"/>
                </a:solidFill>
                <a:latin typeface="Calibri" pitchFamily="34" charset="0"/>
                <a:ea typeface="Calibri" pitchFamily="34" charset="-122"/>
                <a:cs typeface="Calibri" pitchFamily="34" charset="-120"/>
              </a:rPr>
              <a:t>are</a:t>
            </a:r>
            <a:pPr indent="0" marL="0">
              <a:buNone/>
            </a:pPr>
            <a:r>
              <a:rPr lang="en-US" sz="1600" dirty="0">
                <a:solidFill>
                  <a:srgbClr val="1E293B"/>
                </a:solidFill>
                <a:latin typeface="Calibri" pitchFamily="34" charset="0"/>
                <a:ea typeface="Calibri" pitchFamily="34" charset="-122"/>
                <a:cs typeface="Calibri" pitchFamily="34" charset="-120"/>
              </a:rPr>
              <a:t> afraid. (from be )</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a:t>
            </a:r>
            <a:pPr indent="0" marL="0">
              <a:buNone/>
            </a:pPr>
            <a:r>
              <a:rPr lang="en-US" sz="1600" b="1" dirty="0">
                <a:solidFill>
                  <a:srgbClr val="34B76F"/>
                </a:solidFill>
                <a:latin typeface="Calibri" pitchFamily="34" charset="0"/>
                <a:ea typeface="Calibri" pitchFamily="34" charset="-122"/>
                <a:cs typeface="Calibri" pitchFamily="34" charset="-120"/>
              </a:rPr>
              <a:t>stirs</a:t>
            </a:r>
            <a:pPr indent="0" marL="0">
              <a:buNone/>
            </a:pPr>
            <a:r>
              <a:rPr lang="en-US" sz="1600" dirty="0">
                <a:solidFill>
                  <a:srgbClr val="1E293B"/>
                </a:solidFill>
                <a:latin typeface="Calibri" pitchFamily="34" charset="0"/>
                <a:ea typeface="Calibri" pitchFamily="34" charset="-122"/>
                <a:cs typeface="Calibri" pitchFamily="34" charset="-120"/>
              </a:rPr>
              <a:t> the soup. (from stir )</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POSSESSIVES VS. PLURALS</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Plain -s means more than one: three kings. An apostrophe + s means something belongs to: the king’s crown. If a plural already ends in s, add the apostrophe only: the girls’ room.</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Proofreader! Apostrophes are the easiest thing in the world to get wrong. Each sentence has two misspelled words. Tap any word you want to check.</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 28–29</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“Her father had sold her. Her Uncle, who wasn’t her uncle at all, had clouted her until she was almost deaf.”</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All three characters are in the dungeon. How does each one behave? Does anything surprise you?</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The author brings the threads together. What is the exact moment when everything shifts?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REVISE</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Add cause/effect transitions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2026-10-19T11:55:30Z</dcterms:created>
  <dcterms:modified xsi:type="dcterms:W3CDTF">2026-10-19T11:55:30Z</dcterms:modified>
</cp:coreProperties>
</file>