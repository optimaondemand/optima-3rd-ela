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27 Day 4. The Lion, the Witch and the Wardrobe.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describe the feeling the word gives me?.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model sentence aloud. Ask students: what do you notice about the punctuation and capitalization?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Read the mentor sentence. Discuss as a Reader (what happens?), Writer (what craft did the author use?), then Mimic (write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A5C"/>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27 · Day 4</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4A90D9"/>
                </a:solidFill>
                <a:latin typeface="Calibri" pitchFamily="34" charset="0"/>
                <a:ea typeface="Calibri" pitchFamily="34" charset="-122"/>
                <a:cs typeface="Calibri" pitchFamily="34" charset="-120"/>
              </a:rPr>
              <a:t>The Lion, the Witch and the Wardrobe — Lesson 27.4</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Beavers tell the children about Aslan, and everyone feels something when they hear his name. Is there a word, a name, or a sound that gives YOU a strong feeling? What is it and why?</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The Beavers tell the children about Aslan, and everyone feels something when they hear his name. Is there a word, a name, or a sound that gives YOU a strong feeling? What is it and why?</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describe the feeling the word gives me?</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4A90D9"/>
            </a:solidFill>
            <a:prstDash val="solid"/>
          </a:ln>
        </p:spPr>
      </p:sp>
      <p:sp>
        <p:nvSpPr>
          <p:cNvPr id="4" name="Shape 2"/>
          <p:cNvSpPr/>
          <p:nvPr/>
        </p:nvSpPr>
        <p:spPr>
          <a:xfrm>
            <a:off x="6492240" y="173736"/>
            <a:ext cx="2286000" cy="502920"/>
          </a:xfrm>
          <a:prstGeom prst="roundRect">
            <a:avLst>
              <a:gd name="adj" fmla="val 21818"/>
            </a:avLst>
          </a:prstGeom>
          <a:solidFill>
            <a:srgbClr val="4A90D9"/>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Explain different character perspectives.</a:t>
            </a:r>
            <a:endParaRPr lang="en-US" sz="1800" dirty="0"/>
          </a:p>
        </p:txBody>
      </p:sp>
      <p:sp>
        <p:nvSpPr>
          <p:cNvPr id="9" name="Shape 7"/>
          <p:cNvSpPr/>
          <p:nvPr/>
        </p:nvSpPr>
        <p:spPr>
          <a:xfrm>
            <a:off x="457200" y="196596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0756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As you read today, ask yourself: What does the contrast between Edmund's and Lucy's perspectives tell us about the theme of the book so far?</a:t>
            </a:r>
            <a:endParaRPr lang="en-US" sz="1800" dirty="0"/>
          </a:p>
        </p:txBody>
      </p:sp>
      <p:sp>
        <p:nvSpPr>
          <p:cNvPr id="11" name="Shape 9"/>
          <p:cNvSpPr/>
          <p:nvPr/>
        </p:nvSpPr>
        <p:spPr>
          <a:xfrm>
            <a:off x="457200" y="269748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640080" y="280720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Complete this: By showing us Edmund's perspective, Lewis reveals ___. Use at least one piece of evidence.</a:t>
            </a:r>
            <a:endParaRPr lang="en-US" sz="1800" dirty="0"/>
          </a:p>
        </p:txBody>
      </p:sp>
      <p:sp>
        <p:nvSpPr>
          <p:cNvPr id="13" name="Text 11"/>
          <p:cNvSpPr/>
          <p:nvPr/>
        </p:nvSpPr>
        <p:spPr>
          <a:xfrm>
            <a:off x="45720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4" name="Text 12"/>
          <p:cNvSpPr/>
          <p:nvPr/>
        </p:nvSpPr>
        <p:spPr>
          <a:xfrm>
            <a:off x="640080" y="374904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in a fantasy story slow down and pay attention to how the author builds the world . Details of setting, character, and pattern all work together to create meaning.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Model Sentence — Study What's Right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Shape 2"/>
          <p:cNvSpPr/>
          <p:nvPr/>
        </p:nvSpPr>
        <p:spPr>
          <a:xfrm>
            <a:off x="457200" y="1097280"/>
            <a:ext cx="822960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207008"/>
            <a:ext cx="7863840" cy="68580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Although Edmund had made mistake, Aslan.</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4A90D9"/>
            </a:solidFill>
            <a:prstDash val="solid"/>
          </a:ln>
        </p:spPr>
      </p:sp>
      <p:sp>
        <p:nvSpPr>
          <p:cNvPr id="4" name="Shape 2"/>
          <p:cNvSpPr/>
          <p:nvPr/>
        </p:nvSpPr>
        <p:spPr>
          <a:xfrm>
            <a:off x="6492240" y="173736"/>
            <a:ext cx="2286000" cy="502920"/>
          </a:xfrm>
          <a:prstGeom prst="roundRect">
            <a:avLst>
              <a:gd name="adj" fmla="val 21818"/>
            </a:avLst>
          </a:prstGeom>
          <a:solidFill>
            <a:srgbClr val="4A90D9"/>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children ran through the dark woods and they came to a wide frozen river that they had to cross</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4A90D9"/>
            </a:solidFill>
            <a:prstDash val="solid"/>
          </a:ln>
        </p:spPr>
      </p:sp>
      <p:sp>
        <p:nvSpPr>
          <p:cNvPr id="4" name="Shape 2"/>
          <p:cNvSpPr/>
          <p:nvPr/>
        </p:nvSpPr>
        <p:spPr>
          <a:xfrm>
            <a:off x="6492240" y="173736"/>
            <a:ext cx="2286000" cy="502920"/>
          </a:xfrm>
          <a:prstGeom prst="roundRect">
            <a:avLst>
              <a:gd name="adj" fmla="val 21818"/>
            </a:avLst>
          </a:prstGeom>
          <a:solidFill>
            <a:srgbClr val="4A90D9"/>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children ran through the dark woods and they came to a wide frozen river that they had to cross</a:t>
            </a:r>
            <a:endParaRPr lang="en-US" sz="1800" dirty="0"/>
          </a:p>
        </p:txBody>
      </p:sp>
      <p:sp>
        <p:nvSpPr>
          <p:cNvPr id="8" name="Text 6"/>
          <p:cNvSpPr/>
          <p:nvPr/>
        </p:nvSpPr>
        <p:spPr>
          <a:xfrm>
            <a:off x="457200" y="17373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9" name="Text 7"/>
          <p:cNvSpPr/>
          <p:nvPr/>
        </p:nvSpPr>
        <p:spPr>
          <a:xfrm>
            <a:off x="640080" y="201168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Capitalize The at the start; ran and came are irregular past tenses; comma before and joining two independent clauses; period ends.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Root/base: form means shape</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5" name="Text 3"/>
          <p:cNvSpPr/>
          <p:nvPr/>
        </p:nvSpPr>
        <p:spPr>
          <a:xfrm>
            <a:off x="640080" y="1325880"/>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Explain: What does form mean?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Reading: Ch. 7–9</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PAUSE &amp; THINK</a:t>
            </a:r>
            <a:endParaRPr lang="en-US" sz="1100" dirty="0"/>
          </a:p>
        </p:txBody>
      </p:sp>
      <p:sp>
        <p:nvSpPr>
          <p:cNvPr id="5" name="Text 3"/>
          <p:cNvSpPr/>
          <p:nvPr/>
        </p:nvSpPr>
        <p:spPr>
          <a:xfrm>
            <a:off x="640080" y="132588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As you read today, ask yourself: What does the contrast between Edmund's and Lucy's perspectives tell us about the theme of the book so far?</a:t>
            </a:r>
            <a:endParaRPr lang="en-US" sz="1400" dirty="0"/>
          </a:p>
        </p:txBody>
      </p:sp>
      <p:sp>
        <p:nvSpPr>
          <p:cNvPr id="6" name="Text 4"/>
          <p:cNvSpPr/>
          <p:nvPr/>
        </p:nvSpPr>
        <p:spPr>
          <a:xfrm>
            <a:off x="640080" y="196596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Complete this: By showing us Edmund's perspective, Lewis reveals ___. Use at least one piece of evidence.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 Write · Mimic</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457200" y="91440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02412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“Edmund had been thinking, as they all had, only of the cold and the wet and the danger. He had not been thinking at all about what Narnia really meant.”</a:t>
            </a:r>
            <a:endParaRPr lang="en-US" sz="1800" dirty="0"/>
          </a:p>
        </p:txBody>
      </p:sp>
      <p:sp>
        <p:nvSpPr>
          <p:cNvPr id="6" name="Text 4"/>
          <p:cNvSpPr/>
          <p:nvPr/>
        </p:nvSpPr>
        <p:spPr>
          <a:xfrm>
            <a:off x="640080" y="1645920"/>
            <a:ext cx="7863840" cy="320040"/>
          </a:xfrm>
          <a:prstGeom prst="rect">
            <a:avLst/>
          </a:prstGeom>
          <a:noFill/>
          <a:ln/>
        </p:spPr>
        <p:txBody>
          <a:bodyPr wrap="square" lIns="0" tIns="0" rIns="0" bIns="0" rtlCol="0" anchor="ctr"/>
          <a:lstStyle/>
          <a:p>
            <a:pPr indent="0" marL="0">
              <a:buNone/>
            </a:pPr>
            <a:r>
              <a:rPr lang="en-US" sz="1300" i="1" dirty="0">
                <a:solidFill>
                  <a:srgbClr val="8B6FC0"/>
                </a:solidFill>
                <a:latin typeface="Calibri" pitchFamily="34" charset="0"/>
                <a:ea typeface="Calibri" pitchFamily="34" charset="-122"/>
                <a:cs typeface="Calibri" pitchFamily="34" charset="-120"/>
              </a:rPr>
              <a:t>📌 Craft focus: contrast — what the character was thinking vs. what they were missing</a:t>
            </a:r>
            <a:endParaRPr lang="en-US" sz="1300" dirty="0"/>
          </a:p>
        </p:txBody>
      </p:sp>
      <p:sp>
        <p:nvSpPr>
          <p:cNvPr id="7" name="Shape 5"/>
          <p:cNvSpPr/>
          <p:nvPr/>
        </p:nvSpPr>
        <p:spPr>
          <a:xfrm>
            <a:off x="457200" y="2057400"/>
            <a:ext cx="8229600" cy="594360"/>
          </a:xfrm>
          <a:prstGeom prst="roundRect">
            <a:avLst>
              <a:gd name="adj" fmla="val 15385"/>
            </a:avLst>
          </a:prstGeom>
          <a:solidFill>
            <a:srgbClr val="E5F7FC"/>
          </a:solidFill>
          <a:ln/>
          <a:effectLst>
            <a:outerShdw sx="100000" sy="100000" kx="0" ky="0" algn="bl" rotWithShape="0" blurRad="101600" dist="38100" dir="2700000">
              <a:srgbClr val="000000">
                <a:alpha val="12000"/>
              </a:srgbClr>
            </a:outerShdw>
          </a:effectLst>
        </p:spPr>
      </p:sp>
      <p:sp>
        <p:nvSpPr>
          <p:cNvPr id="8" name="Text 6"/>
          <p:cNvSpPr/>
          <p:nvPr/>
        </p:nvSpPr>
        <p:spPr>
          <a:xfrm>
            <a:off x="640080" y="2103120"/>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Reader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Edmund has been focused on survival. But the author suggests he'd been missing something bigger. What do you think Narnia "really meant" at this point in the story? What had he overlooked?</a:t>
            </a:r>
            <a:endParaRPr lang="en-US" sz="1400" dirty="0"/>
          </a:p>
        </p:txBody>
      </p:sp>
      <p:sp>
        <p:nvSpPr>
          <p:cNvPr id="9" name="Shape 7"/>
          <p:cNvSpPr/>
          <p:nvPr/>
        </p:nvSpPr>
        <p:spPr>
          <a:xfrm>
            <a:off x="457200" y="2715768"/>
            <a:ext cx="8229600" cy="594360"/>
          </a:xfrm>
          <a:prstGeom prst="roundRect">
            <a:avLst>
              <a:gd name="adj" fmla="val 15385"/>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761488"/>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Writer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Lewis tells us what Edmund was thinking about, then tells us what he was NOT thinking about. This two-part structure — what happened vs. what was missed — creates a sense of something important being overlooked. Try it yourself with a moment of distraction.</a:t>
            </a:r>
            <a:endParaRPr lang="en-US" sz="1400" dirty="0"/>
          </a:p>
        </p:txBody>
      </p:sp>
      <p:sp>
        <p:nvSpPr>
          <p:cNvPr id="11" name="Shape 9"/>
          <p:cNvSpPr/>
          <p:nvPr/>
        </p:nvSpPr>
        <p:spPr>
          <a:xfrm>
            <a:off x="457200" y="3374136"/>
            <a:ext cx="8229600" cy="594360"/>
          </a:xfrm>
          <a:prstGeom prst="roundRect">
            <a:avLst>
              <a:gd name="adj" fmla="val 15385"/>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419856"/>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Mimic</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Write your own sentence using the same pattern as the author.</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Writer’s Workshop: Week 27 · PUBLISH</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