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18–19: Jemmy accidentally called the prince his "friend." The word surprised them both.
TODAY: Ch. 20: The final chapter. The sun comes out and everything is resolved.
BIG Q: The prince asks the king to protect Jemmy. Why is this the most important moment in the whole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"they're waiting for us at the gate said jemmy"
Corrected: ""They're waiting for us at the gate," said Jemmy."
Errors: Opening quotation mark; capital T; apostrophe in They're; comma inside the closing quote; capital J on Jemmy;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"they're waiting for us at the gate said jemmy"
Corrected: ""They're waiting for us at the gate," said Jemmy."
Errors: Opening quotation mark; capital T; apostrophe in They're; comma inside the closing quote; capital J on Jemmy;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respect — to admire; to treat with honor | expect — to look forward to; believe something will happen | inspect — to look carefully into something | unexpected — not planned for; surprising | The prince wasdumfounded — &amp;mdash; he had never heard anyone speak to him that way before. | The outlaws were afraid of being caught and transported across the sea like aconvict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dumfounded: So shocked that you cannot speak or think. | convict: A prisoner being transported for a crime. | decree: An official order given by a ruler. | protection: A promise to keep someone safe from harm.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boys stood [before the castle gate]." → before the castle gate | "Guards waited [at the drawbridge]." → at the drawbridge | "The prince walked [beside his whipping boy]." → beside his whipping boy | "Jemmy looked [toward the open road]." → toward the open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boys stood [before the castle gate]." → before the castle gate | "Guards waited [at the drawbridge]." → at the drawbridge | "The prince walked [beside his whipping boy]." → beside his whipping boy | "Jemmy looked [toward the open road]." → toward the open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Open or silent-e: spoken, stone, broken | Closed or r-controlled: farmer, kitten,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Open or silent-e: spoken, stone, broken | Closed or r-controlled: farmer, kitten,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20
When The Whipping Boy sees Jeremy tangled in string and the cat coming, she could have run. She stays and unties him instead. Later, Nicodemus and the rats agree to move her cinderblock house — a dangerous, hours-long job — because she asked for help.
The prince announces the reward for the whipping boy. Jemmy feels betrayed at first — then he realizes he was wrong. What actually happened?
What deal does the king make with Jemmy? Is it a fair deal? Why or why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sentence: "The prince had expected to feel triumph. Instead, he felt a strange new thing: gratitude."
Craft: Instead as pivot; colon to name the unexpected
Reader: What does this moment reveal?
Writer: What technique did the author use and why?
Mimic: Write your own using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Revise &amp; Publish
Focus: Revise for strong verbs and clear transitions. Then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21  ·  DAY 3</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20</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In which the sun shines and we learn what befell everyone</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21  ·  Virtue: Loyalty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18–19: Jemmy accidentally called the prince his "friend." The word surprised them both.</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20: The final chapter. The sun comes out and everything is resolved.</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The prince asks the king to protect Jemmy. Why is this the most important moment in the whole book?</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know that a story's theme is the BIG IDEA it wants you to take away. As you finish Chapter 20, ask: what is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"We're going back to the castle," said the prince.</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they're waiting for us at the gate said jemmy</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T; apostrophe in They're; comma inside the closing quote; capital J on Jemmy;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they're waiting for us at the gate said jemmy</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T; apostrophe in They're; comma inside the closing quote; capital J on Jemmy;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"They're waiting for us at the gate," said Jemmy.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re-</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respect — to admire; to treat with honor</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expect — to look forward to; believe something will happen</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inspect — to look carefully into something</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unexpected — not planned for; surprising</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dumfounded   ·   convict   ·   decree   ·   protection</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dumfounded</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So shocked that you cannot speak or think.</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convict</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prisoner being transported for a crime.</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decree</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An official order given by a ruler.</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protection</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promise to keep someone safe from harm.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Prepositional Phrases (Apply)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boys stood _____.</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Guards waited _____.</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walked _____.</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looked _____.</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Prepositional Phrases (Apply)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boys stood </a:t>
            </a:r>
            <a:pPr indent="0" marL="0">
              <a:buNone/>
            </a:pPr>
            <a:r>
              <a:rPr lang="en-US" sz="1500" b="1" u="sng" dirty="0">
                <a:solidFill>
                  <a:srgbClr val="34B76F"/>
                </a:solidFill>
                <a:latin typeface="Calibri" pitchFamily="34" charset="0"/>
                <a:ea typeface="Calibri" pitchFamily="34" charset="-122"/>
                <a:cs typeface="Calibri" pitchFamily="34" charset="-120"/>
              </a:rPr>
              <a:t>before the castle gate</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Guards waited </a:t>
            </a:r>
            <a:pPr indent="0" marL="0">
              <a:buNone/>
            </a:pPr>
            <a:r>
              <a:rPr lang="en-US" sz="1500" b="1" u="sng" dirty="0">
                <a:solidFill>
                  <a:srgbClr val="34B76F"/>
                </a:solidFill>
                <a:latin typeface="Calibri" pitchFamily="34" charset="0"/>
                <a:ea typeface="Calibri" pitchFamily="34" charset="-122"/>
                <a:cs typeface="Calibri" pitchFamily="34" charset="-120"/>
              </a:rPr>
              <a:t>at the drawbridge</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walked </a:t>
            </a:r>
            <a:pPr indent="0" marL="0">
              <a:buNone/>
            </a:pPr>
            <a:r>
              <a:rPr lang="en-US" sz="1500" b="1" u="sng" dirty="0">
                <a:solidFill>
                  <a:srgbClr val="34B76F"/>
                </a:solidFill>
                <a:latin typeface="Calibri" pitchFamily="34" charset="0"/>
                <a:ea typeface="Calibri" pitchFamily="34" charset="-122"/>
                <a:cs typeface="Calibri" pitchFamily="34" charset="-120"/>
              </a:rPr>
              <a:t>beside his whipping boy</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looked </a:t>
            </a:r>
            <a:pPr indent="0" marL="0">
              <a:buNone/>
            </a:pPr>
            <a:r>
              <a:rPr lang="en-US" sz="1500" b="1" u="sng" dirty="0">
                <a:solidFill>
                  <a:srgbClr val="34B76F"/>
                </a:solidFill>
                <a:latin typeface="Calibri" pitchFamily="34" charset="0"/>
                <a:ea typeface="Calibri" pitchFamily="34" charset="-122"/>
                <a:cs typeface="Calibri" pitchFamily="34" charset="-120"/>
              </a:rPr>
              <a:t>toward the open road</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Syllable Review (Day 3: All four types)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spoken   ·   stone   ·   broken   ·   farmer   ·   kitten   ·   corner</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Open or silent-e</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Closed or r-controlled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Syllable Review (Day 3: All four types)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426464"/>
          </a:xfrm>
          <a:prstGeom prst="roundRect">
            <a:avLst>
              <a:gd name="adj" fmla="val 6410"/>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Open or silent-e</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spoken</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stone</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broken</a:t>
            </a:r>
            <a:endParaRPr lang="en-US" sz="1400" dirty="0"/>
          </a:p>
        </p:txBody>
      </p:sp>
      <p:sp>
        <p:nvSpPr>
          <p:cNvPr id="12" name="Shape 10"/>
          <p:cNvSpPr/>
          <p:nvPr/>
        </p:nvSpPr>
        <p:spPr>
          <a:xfrm>
            <a:off x="4709160" y="1024128"/>
            <a:ext cx="4114800" cy="1426464"/>
          </a:xfrm>
          <a:prstGeom prst="roundRect">
            <a:avLst>
              <a:gd name="adj" fmla="val 6410"/>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Closed or r-controlled</a:t>
            </a:r>
            <a:endParaRPr lang="en-US" sz="1200" dirty="0"/>
          </a:p>
        </p:txBody>
      </p:sp>
      <p:sp>
        <p:nvSpPr>
          <p:cNvPr id="14" name="Text 12"/>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farmer</a:t>
            </a:r>
            <a:endParaRPr lang="en-US" sz="1400" dirty="0"/>
          </a:p>
        </p:txBody>
      </p:sp>
      <p:sp>
        <p:nvSpPr>
          <p:cNvPr id="15" name="Text 13"/>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kitten</a:t>
            </a:r>
            <a:endParaRPr lang="en-US" sz="1400" dirty="0"/>
          </a:p>
        </p:txBody>
      </p:sp>
      <p:sp>
        <p:nvSpPr>
          <p:cNvPr id="16" name="Text 14"/>
          <p:cNvSpPr/>
          <p:nvPr/>
        </p:nvSpPr>
        <p:spPr>
          <a:xfrm>
            <a:off x="49377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corner</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20</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In which the sun shines and we learn what befell everyone</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The prince announces the reward for the whipping boy. Jemmy feels betrayed at first — then he realizes he was wrong. What actually happened?</a:t>
            </a:r>
            <a:endParaRPr lang="en-US" sz="1400" dirty="0"/>
          </a:p>
        </p:txBody>
      </p:sp>
      <p:sp>
        <p:nvSpPr>
          <p:cNvPr id="11" name="Shape 9"/>
          <p:cNvSpPr/>
          <p:nvPr/>
        </p:nvSpPr>
        <p:spPr>
          <a:xfrm>
            <a:off x="365760" y="37124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8039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What deal does the king make with Jemmy? Is it a fair deal? Why or why not?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 like a Reader · Read like a Writer · Mimic</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MENTOR SENTENCE</a:t>
            </a:r>
            <a:endParaRPr lang="en-US" sz="1100" dirty="0"/>
          </a:p>
        </p:txBody>
      </p:sp>
      <p:sp>
        <p:nvSpPr>
          <p:cNvPr id="5" name="Shape 3"/>
          <p:cNvSpPr/>
          <p:nvPr/>
        </p:nvSpPr>
        <p:spPr>
          <a:xfrm>
            <a:off x="365760" y="1042416"/>
            <a:ext cx="8412480" cy="914400"/>
          </a:xfrm>
          <a:prstGeom prst="roundRect">
            <a:avLst>
              <a:gd name="adj" fmla="val 10000"/>
            </a:avLst>
          </a:prstGeom>
          <a:solidFill>
            <a:srgbClr val="F0E8F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685800"/>
          </a:xfrm>
          <a:prstGeom prst="rect">
            <a:avLst/>
          </a:prstGeom>
          <a:noFill/>
          <a:ln/>
        </p:spPr>
        <p:txBody>
          <a:bodyPr wrap="square" lIns="0" tIns="0" rIns="0" bIns="0" rtlCol="0" anchor="ctr"/>
          <a:lstStyle/>
          <a:p>
            <a:pPr indent="0" marL="0">
              <a:buNone/>
            </a:pPr>
            <a:r>
              <a:rPr lang="en-US" sz="1800" i="1" dirty="0">
                <a:solidFill>
                  <a:srgbClr val="2A0A4A"/>
                </a:solidFill>
                <a:latin typeface="Calibri" pitchFamily="34" charset="0"/>
                <a:ea typeface="Calibri" pitchFamily="34" charset="-122"/>
                <a:cs typeface="Calibri" pitchFamily="34" charset="-120"/>
              </a:rPr>
              <a:t>"The prince had expected to feel triumph. Instead, he felt a strange new thing: gratitude."</a:t>
            </a:r>
            <a:endParaRPr lang="en-US" sz="1800" dirty="0"/>
          </a:p>
        </p:txBody>
      </p:sp>
      <p:sp>
        <p:nvSpPr>
          <p:cNvPr id="7" name="Text 5"/>
          <p:cNvSpPr/>
          <p:nvPr/>
        </p:nvSpPr>
        <p:spPr>
          <a:xfrm>
            <a:off x="457200" y="2048256"/>
            <a:ext cx="8229600" cy="347472"/>
          </a:xfrm>
          <a:prstGeom prst="rect">
            <a:avLst/>
          </a:prstGeom>
          <a:noFill/>
          <a:ln/>
        </p:spPr>
        <p:txBody>
          <a:bodyPr wrap="square" lIns="0" tIns="0" rIns="0" bIns="0" rtlCol="0" anchor="ctr"/>
          <a:lstStyle/>
          <a:p>
            <a:pPr indent="0" marL="0">
              <a:buNone/>
            </a:pPr>
            <a:r>
              <a:rPr lang="en-US" sz="1300" i="1" dirty="0">
                <a:solidFill>
                  <a:srgbClr val="5C2D91"/>
                </a:solidFill>
                <a:latin typeface="Calibri" pitchFamily="34" charset="0"/>
                <a:ea typeface="Calibri" pitchFamily="34" charset="-122"/>
                <a:cs typeface="Calibri" pitchFamily="34" charset="-120"/>
              </a:rPr>
              <a:t>📌 Craft focus: Instead as pivot; colon to name the unexpected</a:t>
            </a:r>
            <a:endParaRPr lang="en-US" sz="1300" dirty="0"/>
          </a:p>
        </p:txBody>
      </p:sp>
      <p:sp>
        <p:nvSpPr>
          <p:cNvPr id="8" name="Text 6"/>
          <p:cNvSpPr/>
          <p:nvPr/>
        </p:nvSpPr>
        <p:spPr>
          <a:xfrm>
            <a:off x="365760" y="248716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YOUR THREE JOBS</a:t>
            </a:r>
            <a:endParaRPr lang="en-US" sz="1100" dirty="0"/>
          </a:p>
        </p:txBody>
      </p:sp>
      <p:sp>
        <p:nvSpPr>
          <p:cNvPr id="9" name="Shape 7"/>
          <p:cNvSpPr/>
          <p:nvPr/>
        </p:nvSpPr>
        <p:spPr>
          <a:xfrm>
            <a:off x="365760" y="2724912"/>
            <a:ext cx="8412480" cy="438912"/>
          </a:xfrm>
          <a:prstGeom prst="roundRect">
            <a:avLst>
              <a:gd name="adj" fmla="val 20833"/>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77977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Reader</a:t>
            </a:r>
            <a:endParaRPr lang="en-US" sz="1300" dirty="0"/>
          </a:p>
        </p:txBody>
      </p:sp>
      <p:sp>
        <p:nvSpPr>
          <p:cNvPr id="11" name="Text 9"/>
          <p:cNvSpPr/>
          <p:nvPr/>
        </p:nvSpPr>
        <p:spPr>
          <a:xfrm>
            <a:off x="3246120" y="277977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is happening here? What does this moment reveal about the character?</a:t>
            </a:r>
            <a:endParaRPr lang="en-US" sz="1200" dirty="0"/>
          </a:p>
        </p:txBody>
      </p:sp>
      <p:sp>
        <p:nvSpPr>
          <p:cNvPr id="12" name="Shape 10"/>
          <p:cNvSpPr/>
          <p:nvPr/>
        </p:nvSpPr>
        <p:spPr>
          <a:xfrm>
            <a:off x="365760" y="3227832"/>
            <a:ext cx="8412480" cy="438912"/>
          </a:xfrm>
          <a:prstGeom prst="roundRect">
            <a:avLst>
              <a:gd name="adj" fmla="val 20833"/>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328269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Writer</a:t>
            </a:r>
            <a:endParaRPr lang="en-US" sz="1300" dirty="0"/>
          </a:p>
        </p:txBody>
      </p:sp>
      <p:sp>
        <p:nvSpPr>
          <p:cNvPr id="14" name="Text 12"/>
          <p:cNvSpPr/>
          <p:nvPr/>
        </p:nvSpPr>
        <p:spPr>
          <a:xfrm>
            <a:off x="3246120" y="328269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did the author do? Name the craft technique and explain why it works.</a:t>
            </a:r>
            <a:endParaRPr lang="en-US" sz="1200" dirty="0"/>
          </a:p>
        </p:txBody>
      </p:sp>
      <p:sp>
        <p:nvSpPr>
          <p:cNvPr id="15" name="Shape 13"/>
          <p:cNvSpPr/>
          <p:nvPr/>
        </p:nvSpPr>
        <p:spPr>
          <a:xfrm>
            <a:off x="365760" y="3730752"/>
            <a:ext cx="8412480" cy="438912"/>
          </a:xfrm>
          <a:prstGeom prst="roundRect">
            <a:avLst>
              <a:gd name="adj" fmla="val 20833"/>
            </a:avLst>
          </a:prstGeom>
          <a:solidFill>
            <a:srgbClr val="E8F8EF"/>
          </a:solidFill>
          <a:ln/>
          <a:effectLst>
            <a:outerShdw sx="100000" sy="100000" kx="0" ky="0" algn="bl" rotWithShape="0" blurRad="101600" dist="38100" dir="2700000">
              <a:srgbClr val="000000">
                <a:alpha val="12000"/>
              </a:srgbClr>
            </a:outerShdw>
          </a:effectLst>
        </p:spPr>
      </p:sp>
      <p:sp>
        <p:nvSpPr>
          <p:cNvPr id="16" name="Text 14"/>
          <p:cNvSpPr/>
          <p:nvPr/>
        </p:nvSpPr>
        <p:spPr>
          <a:xfrm>
            <a:off x="594360" y="378561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Mimic</a:t>
            </a:r>
            <a:endParaRPr lang="en-US" sz="1300" dirty="0"/>
          </a:p>
        </p:txBody>
      </p:sp>
      <p:sp>
        <p:nvSpPr>
          <p:cNvPr id="17" name="Text 15"/>
          <p:cNvSpPr/>
          <p:nvPr/>
        </p:nvSpPr>
        <p:spPr>
          <a:xfrm>
            <a:off x="3246120" y="378561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21</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Revise &amp; Publish</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Revise for strong verbs and clear transitions. Then publish.</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"I revised ___ by changing ___ to ___ because it is stronger."</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