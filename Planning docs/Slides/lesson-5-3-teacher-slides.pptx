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5.3. Reading: Share Your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summarize before they polish. Knowing the most important events of a piece tells you which sentences are doing real work — and which ones are just taking up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The two brothers were shaking hands when Mr. Lambchop strode into the room with Mrs. Lambchop right behind him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The two brothers were shaking hands when Mr. Lambchop strode into the room with Mrs. Lambchop right behind him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pack, mails, pick, smiles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pack, mails, pick, smiles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ed=/d/: flattened, returned, mailed, closed | ed=/t/: pumped, crashed | ed=/ĕd/: celebrated,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ed=/d/: flattened, returned, mailed, closed | ed=/t/: pumped, crashed | ed=/ĕd/: celebrated,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Writer’s Workshop stage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Flat Stanley</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55C8E8"/>
                </a:solidFill>
                <a:latin typeface="Calibri" pitchFamily="34" charset="0"/>
                <a:ea typeface="Calibri" pitchFamily="34" charset="-122"/>
                <a:cs typeface="Calibri" pitchFamily="34" charset="-120"/>
              </a:rPr>
              <a:t>Lesson 5.3  ·  Share Your Narrative</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Courage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Write about a time you had to fix something you made. What did you change?</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Write about a time you had to fix something you made. What did you change?</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circle any word I was not sure how to spell?</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Share Your Narrative</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If a sentence in your story disappeared, would your summary change? What does that tell you about the sentence?</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summarize before they polish. Knowing the most important events of a piece tells you which sentences are doing real work — and which ones are just taking up space.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“Thank you, Arthur,” Stanley said. “Thank you very much.”</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 two brothers were shaking hands when mr lambchop strode into the room with mrs lambchop right behind him</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“Thank you, Arthur,” Stanley said. “Thank you very much.”</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 two brothers were shaking hands when mr lambchop strode into the room with mrs lambchop right behind him</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Corrected:</a:t>
            </a:r>
            <a:endParaRPr lang="en-US" sz="1400" dirty="0"/>
          </a:p>
          <a:p>
            <a:pPr indent="0" marL="0">
              <a:buNone/>
            </a:pP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The two brothers were shaking hands when Mr. Lambchop strode into the room with Mrs. Lambchop right behind him .</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SUFFIX -ED SHOWS PAST ACTION</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-ed suffix review — adds past tense to verbs: walk→walked, play→played</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Practice: Find the Base Word!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WORDS WE'VE MET BEFORE</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marvel  </a:t>
            </a:r>
            <a:pPr indent="0" marL="0">
              <a:buNone/>
            </a:pPr>
            <a:r>
              <a:rPr lang="en-US" sz="1400" dirty="0">
                <a:solidFill>
                  <a:srgbClr val="1E293B"/>
                </a:solidFill>
                <a:latin typeface="Calibri" pitchFamily="34" charset="0"/>
                <a:ea typeface="Calibri" pitchFamily="34" charset="-122"/>
                <a:cs typeface="Calibri" pitchFamily="34" charset="-120"/>
              </a:rPr>
              <a:t>To be amazed or surprised by something.</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measurements  </a:t>
            </a:r>
            <a:pPr indent="0" marL="0">
              <a:buNone/>
            </a:pPr>
            <a:r>
              <a:rPr lang="en-US" sz="1400" dirty="0">
                <a:solidFill>
                  <a:srgbClr val="1E293B"/>
                </a:solidFill>
                <a:latin typeface="Calibri" pitchFamily="34" charset="0"/>
                <a:ea typeface="Calibri" pitchFamily="34" charset="-122"/>
                <a:cs typeface="Calibri" pitchFamily="34" charset="-120"/>
              </a:rPr>
              <a:t>The size of something — how tall, wide, or thick.</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jealous  </a:t>
            </a:r>
            <a:pPr indent="0" marL="0">
              <a:buNone/>
            </a:pPr>
            <a:r>
              <a:rPr lang="en-US" sz="1400" dirty="0">
                <a:solidFill>
                  <a:srgbClr val="1E293B"/>
                </a:solidFill>
                <a:latin typeface="Calibri" pitchFamily="34" charset="0"/>
                <a:ea typeface="Calibri" pitchFamily="34" charset="-122"/>
                <a:cs typeface="Calibri" pitchFamily="34" charset="-120"/>
              </a:rPr>
              <a:t>Wanting what someone else has.</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expensive  </a:t>
            </a:r>
            <a:pPr indent="0" marL="0">
              <a:buNone/>
            </a:pPr>
            <a:r>
              <a:rPr lang="en-US" sz="1400" dirty="0">
                <a:solidFill>
                  <a:srgbClr val="1E293B"/>
                </a:solidFill>
                <a:latin typeface="Calibri" pitchFamily="34" charset="0"/>
                <a:ea typeface="Calibri" pitchFamily="34" charset="-122"/>
                <a:cs typeface="Calibri" pitchFamily="34" charset="-120"/>
              </a:rPr>
              <a:t>Costing a lot of money.</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PAST-TENSE VERBS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Yesterday I pack my bag and walked to school.</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Stanley folded the letter and mails it.</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We planned the trip and pick a date.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She smiles when she opened the box.</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Each sentence tells about the past, but one verb is still in the present tense . Tap that verb. Tap a word to check your answer. If it turns green,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PAST-TENSE VERBS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Yesterday I </a:t>
            </a:r>
            <a:pPr indent="0" marL="0">
              <a:buNone/>
            </a:pPr>
            <a:r>
              <a:rPr lang="en-US" sz="1600" b="1" dirty="0">
                <a:solidFill>
                  <a:srgbClr val="34B76F"/>
                </a:solidFill>
                <a:latin typeface="Calibri" pitchFamily="34" charset="0"/>
                <a:ea typeface="Calibri" pitchFamily="34" charset="-122"/>
                <a:cs typeface="Calibri" pitchFamily="34" charset="-120"/>
              </a:rPr>
              <a:t>pack</a:t>
            </a:r>
            <a:pPr indent="0" marL="0">
              <a:buNone/>
            </a:pPr>
            <a:r>
              <a:rPr lang="en-US" sz="1600" dirty="0">
                <a:solidFill>
                  <a:srgbClr val="1E293B"/>
                </a:solidFill>
                <a:latin typeface="Calibri" pitchFamily="34" charset="0"/>
                <a:ea typeface="Calibri" pitchFamily="34" charset="-122"/>
                <a:cs typeface="Calibri" pitchFamily="34" charset="-120"/>
              </a:rPr>
              <a:t> my bag and walked to school.</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Stanley folded the letter and </a:t>
            </a:r>
            <a:pPr indent="0" marL="0">
              <a:buNone/>
            </a:pPr>
            <a:r>
              <a:rPr lang="en-US" sz="1600" b="1" dirty="0">
                <a:solidFill>
                  <a:srgbClr val="34B76F"/>
                </a:solidFill>
                <a:latin typeface="Calibri" pitchFamily="34" charset="0"/>
                <a:ea typeface="Calibri" pitchFamily="34" charset="-122"/>
                <a:cs typeface="Calibri" pitchFamily="34" charset="-120"/>
              </a:rPr>
              <a:t>mails</a:t>
            </a:r>
            <a:pPr indent="0" marL="0">
              <a:buNone/>
            </a:pPr>
            <a:r>
              <a:rPr lang="en-US" sz="1600" dirty="0">
                <a:solidFill>
                  <a:srgbClr val="1E293B"/>
                </a:solidFill>
                <a:latin typeface="Calibri" pitchFamily="34" charset="0"/>
                <a:ea typeface="Calibri" pitchFamily="34" charset="-122"/>
                <a:cs typeface="Calibri" pitchFamily="34" charset="-120"/>
              </a:rPr>
              <a:t> it.</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We planned the trip and </a:t>
            </a:r>
            <a:pPr indent="0" marL="0">
              <a:buNone/>
            </a:pPr>
            <a:r>
              <a:rPr lang="en-US" sz="1600" b="1" dirty="0">
                <a:solidFill>
                  <a:srgbClr val="34B76F"/>
                </a:solidFill>
                <a:latin typeface="Calibri" pitchFamily="34" charset="0"/>
                <a:ea typeface="Calibri" pitchFamily="34" charset="-122"/>
                <a:cs typeface="Calibri" pitchFamily="34" charset="-120"/>
              </a:rPr>
              <a:t>pick</a:t>
            </a:r>
            <a:pPr indent="0" marL="0">
              <a:buNone/>
            </a:pPr>
            <a:r>
              <a:rPr lang="en-US" sz="1600" dirty="0">
                <a:solidFill>
                  <a:srgbClr val="1E293B"/>
                </a:solidFill>
                <a:latin typeface="Calibri" pitchFamily="34" charset="0"/>
                <a:ea typeface="Calibri" pitchFamily="34" charset="-122"/>
                <a:cs typeface="Calibri" pitchFamily="34" charset="-120"/>
              </a:rPr>
              <a:t> a date.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She </a:t>
            </a:r>
            <a:pPr indent="0" marL="0">
              <a:buNone/>
            </a:pPr>
            <a:r>
              <a:rPr lang="en-US" sz="1600" b="1" dirty="0">
                <a:solidFill>
                  <a:srgbClr val="34B76F"/>
                </a:solidFill>
                <a:latin typeface="Calibri" pitchFamily="34" charset="0"/>
                <a:ea typeface="Calibri" pitchFamily="34" charset="-122"/>
                <a:cs typeface="Calibri" pitchFamily="34" charset="-120"/>
              </a:rPr>
              <a:t>smiles</a:t>
            </a:r>
            <a:pPr indent="0" marL="0">
              <a:buNone/>
            </a:pPr>
            <a:r>
              <a:rPr lang="en-US" sz="1600" dirty="0">
                <a:solidFill>
                  <a:srgbClr val="1E293B"/>
                </a:solidFill>
                <a:latin typeface="Calibri" pitchFamily="34" charset="0"/>
                <a:ea typeface="Calibri" pitchFamily="34" charset="-122"/>
                <a:cs typeface="Calibri" pitchFamily="34" charset="-120"/>
              </a:rPr>
              <a:t> when she opened the box.</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THREE SOUNDS OF -ED</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flattened   ·   returned   ·   mailed   ·   closed   ·   pumped   ·   crashed   ·   celebrated   ·   started</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ed=/d/  |  ed=/t/  |  ed=/ĕd/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THREE SOUNDS OF -ED</a:t>
            </a:r>
            <a:endParaRPr lang="en-US" sz="1100" dirty="0"/>
          </a:p>
        </p:txBody>
      </p:sp>
      <p:sp>
        <p:nvSpPr>
          <p:cNvPr id="5" name="Shape 3"/>
          <p:cNvSpPr/>
          <p:nvPr/>
        </p:nvSpPr>
        <p:spPr>
          <a:xfrm>
            <a:off x="411480" y="1078992"/>
            <a:ext cx="2712720" cy="457200"/>
          </a:xfrm>
          <a:prstGeom prst="roundRect">
            <a:avLst>
              <a:gd name="adj" fmla="val 16000"/>
            </a:avLst>
          </a:prstGeom>
          <a:solidFill>
            <a:srgbClr val="0E1C42"/>
          </a:solidFill>
          <a:ln/>
        </p:spPr>
      </p:sp>
      <p:sp>
        <p:nvSpPr>
          <p:cNvPr id="6" name="Text 4"/>
          <p:cNvSpPr/>
          <p:nvPr/>
        </p:nvSpPr>
        <p:spPr>
          <a:xfrm>
            <a:off x="457200" y="1133856"/>
            <a:ext cx="262128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ed=/d/</a:t>
            </a:r>
            <a:endParaRPr lang="en-US" sz="1300" dirty="0"/>
          </a:p>
        </p:txBody>
      </p:sp>
      <p:sp>
        <p:nvSpPr>
          <p:cNvPr id="7" name="Shape 5"/>
          <p:cNvSpPr/>
          <p:nvPr/>
        </p:nvSpPr>
        <p:spPr>
          <a:xfrm>
            <a:off x="411480" y="1591056"/>
            <a:ext cx="271272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252984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flattened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returned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mailed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closed</a:t>
            </a:r>
            <a:endParaRPr lang="en-US" sz="1400" dirty="0"/>
          </a:p>
        </p:txBody>
      </p:sp>
      <p:sp>
        <p:nvSpPr>
          <p:cNvPr id="9" name="Shape 7"/>
          <p:cNvSpPr/>
          <p:nvPr/>
        </p:nvSpPr>
        <p:spPr>
          <a:xfrm>
            <a:off x="3215640" y="1078992"/>
            <a:ext cx="2712720" cy="457200"/>
          </a:xfrm>
          <a:prstGeom prst="roundRect">
            <a:avLst>
              <a:gd name="adj" fmla="val 16000"/>
            </a:avLst>
          </a:prstGeom>
          <a:solidFill>
            <a:srgbClr val="0E1C42"/>
          </a:solidFill>
          <a:ln/>
        </p:spPr>
      </p:sp>
      <p:sp>
        <p:nvSpPr>
          <p:cNvPr id="10" name="Text 8"/>
          <p:cNvSpPr/>
          <p:nvPr/>
        </p:nvSpPr>
        <p:spPr>
          <a:xfrm>
            <a:off x="3261360" y="1133856"/>
            <a:ext cx="262128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ed=/t/</a:t>
            </a:r>
            <a:endParaRPr lang="en-US" sz="1300" dirty="0"/>
          </a:p>
        </p:txBody>
      </p:sp>
      <p:sp>
        <p:nvSpPr>
          <p:cNvPr id="11" name="Shape 9"/>
          <p:cNvSpPr/>
          <p:nvPr/>
        </p:nvSpPr>
        <p:spPr>
          <a:xfrm>
            <a:off x="3215640" y="1591056"/>
            <a:ext cx="271272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3307080" y="1700784"/>
            <a:ext cx="252984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pumped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crashed</a:t>
            </a:r>
            <a:endParaRPr lang="en-US" sz="1400" dirty="0"/>
          </a:p>
        </p:txBody>
      </p:sp>
      <p:sp>
        <p:nvSpPr>
          <p:cNvPr id="13" name="Shape 11"/>
          <p:cNvSpPr/>
          <p:nvPr/>
        </p:nvSpPr>
        <p:spPr>
          <a:xfrm>
            <a:off x="6019800" y="1078992"/>
            <a:ext cx="2712720" cy="457200"/>
          </a:xfrm>
          <a:prstGeom prst="roundRect">
            <a:avLst>
              <a:gd name="adj" fmla="val 16000"/>
            </a:avLst>
          </a:prstGeom>
          <a:solidFill>
            <a:srgbClr val="0E1C42"/>
          </a:solidFill>
          <a:ln/>
        </p:spPr>
      </p:sp>
      <p:sp>
        <p:nvSpPr>
          <p:cNvPr id="14" name="Text 12"/>
          <p:cNvSpPr/>
          <p:nvPr/>
        </p:nvSpPr>
        <p:spPr>
          <a:xfrm>
            <a:off x="6065520" y="1133856"/>
            <a:ext cx="262128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ed=/ĕd/</a:t>
            </a:r>
            <a:endParaRPr lang="en-US" sz="1300" dirty="0"/>
          </a:p>
        </p:txBody>
      </p:sp>
      <p:sp>
        <p:nvSpPr>
          <p:cNvPr id="15" name="Shape 13"/>
          <p:cNvSpPr/>
          <p:nvPr/>
        </p:nvSpPr>
        <p:spPr>
          <a:xfrm>
            <a:off x="6019800" y="1591056"/>
            <a:ext cx="271272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6" name="Text 14"/>
          <p:cNvSpPr/>
          <p:nvPr/>
        </p:nvSpPr>
        <p:spPr>
          <a:xfrm>
            <a:off x="6111240" y="1700784"/>
            <a:ext cx="252984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celebrated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started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Share Your Narrative</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COPYWORK — FROM THE NOVEL</a:t>
            </a:r>
            <a:endParaRPr lang="en-US" sz="1100" dirty="0"/>
          </a:p>
        </p:txBody>
      </p:sp>
      <p:sp>
        <p:nvSpPr>
          <p:cNvPr id="6" name="Shape 4"/>
          <p:cNvSpPr/>
          <p:nvPr/>
        </p:nvSpPr>
        <p:spPr>
          <a:xfrm>
            <a:off x="365760" y="1719072"/>
            <a:ext cx="8412480" cy="1143000"/>
          </a:xfrm>
          <a:prstGeom prst="roundRect">
            <a:avLst>
              <a:gd name="adj" fmla="val 8000"/>
            </a:avLst>
          </a:prstGeom>
          <a:solidFill>
            <a:srgbClr val="F0E8FF"/>
          </a:solidFill>
          <a:ln w="19050">
            <a:solidFill>
              <a:srgbClr val="8B6FC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47088"/>
            <a:ext cx="7955280" cy="88696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““Good for you, Stanley,” she said. Then she turned angrily to the policemen.”</a:t>
            </a:r>
            <a:endParaRPr lang="en-US" sz="1700" dirty="0"/>
          </a:p>
        </p:txBody>
      </p:sp>
      <p:sp>
        <p:nvSpPr>
          <p:cNvPr id="8" name="Text 6"/>
          <p:cNvSpPr/>
          <p:nvPr/>
        </p:nvSpPr>
        <p:spPr>
          <a:xfrm>
            <a:off x="365760" y="301752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9" name="Text 7"/>
          <p:cNvSpPr/>
          <p:nvPr/>
        </p:nvSpPr>
        <p:spPr>
          <a:xfrm>
            <a:off x="365760" y="327355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Read your narrative out loud to someone, all the way to the end. Watch their face while you read. Which part did they react to? Write down that part and what they did.</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Writer’s Workshop</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THIS WEEK’S STAGE</a:t>
            </a:r>
            <a:endParaRPr lang="en-US" sz="1100" dirty="0"/>
          </a:p>
        </p:txBody>
      </p:sp>
      <p:sp>
        <p:nvSpPr>
          <p:cNvPr id="5" name="Text 3"/>
          <p:cNvSpPr/>
          <p:nvPr/>
        </p:nvSpPr>
        <p:spPr>
          <a:xfrm>
            <a:off x="365760" y="1078992"/>
            <a:ext cx="8412480" cy="548640"/>
          </a:xfrm>
          <a:prstGeom prst="rect">
            <a:avLst/>
          </a:prstGeom>
          <a:noFill/>
          <a:ln/>
        </p:spPr>
        <p:txBody>
          <a:bodyPr wrap="square" lIns="0" tIns="0" rIns="0" bIns="0" rtlCol="0" anchor="ctr"/>
          <a:lstStyle/>
          <a:p>
            <a:pPr indent="0" marL="0">
              <a:buNone/>
            </a:pPr>
            <a:r>
              <a:rPr lang="en-US" sz="3000" b="1" dirty="0">
                <a:solidFill>
                  <a:srgbClr val="0E1C42"/>
                </a:solidFill>
                <a:latin typeface="Calibri" pitchFamily="34" charset="0"/>
                <a:ea typeface="Calibri" pitchFamily="34" charset="-122"/>
                <a:cs typeface="Calibri" pitchFamily="34" charset="-120"/>
              </a:rPr>
              <a:t>PUBLISH</a:t>
            </a:r>
            <a:endParaRPr lang="en-US" sz="3000" dirty="0"/>
          </a:p>
        </p:txBody>
      </p:sp>
      <p:sp>
        <p:nvSpPr>
          <p:cNvPr id="6" name="Text 4"/>
          <p:cNvSpPr/>
          <p:nvPr/>
        </p:nvSpPr>
        <p:spPr>
          <a:xfrm>
            <a:off x="365760" y="1691640"/>
            <a:ext cx="8412480" cy="4572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Share your story</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2026-09-09T02:48:06Z</dcterms:created>
  <dcterms:modified xsi:type="dcterms:W3CDTF">2026-09-09T02:48:06Z</dcterms:modified>
</cp:coreProperties>
</file>