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Ch. 15: Jemmy's street smarts helped him survive. He might not be alone anymore.
TODAY: Ch. 11–15 Review: Find the single most important turning point in this section.
BIG Q: Looking at Chapters 11–15, what is the most important moment of change — for Jemmy? For the prince?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sentence aloud together. Ask: What capitalization rules do you see? What punctuation? Any dialogue formatting?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DOL fix-it: "betsy thought she heard a shout echo through the princes forest"
Corrected: "Betsy thought she heard a shout echo through the prince's forest."
Errors: Capital B on Betsy; capital B on... wait — apostrophe in prince's (possessive); period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DOL fix-it: "betsy thought she heard a shout echo through the princes forest"
Corrected: "Betsy thought she heard a shout echo through the prince's forest."
Errors: Capital B on Betsy; capital B on... wait — apostrophe in prince's (possessive); period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Morphology: bravest — most brave | fastest — most fast | cleverest — most clever | slyest — most sly | The prince stuck to Jemmy like abarnacle — , unable to do a single thing on his own. | Jemmy&amp;rsquo;s streetinstinct — told him something was wrong before he even saw the danger.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Vocab: barnacle: A sea creature that sticks permanently to hard surfaces. | instinct: A natural behavior that happens automatically. | embankment: A raised wall of earth beside a river. | mudlarking: Searching river mud for useful objects to sell.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"The soldiers rode [along] the river road." → along | "Jemmy stayed [behind] the hedgerow." → behind | "The prince knelt [before] the fire." → before | "Betsy stood [beside] her bear." → beside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"The soldiers rode [along] the river road." → along | "Jemmy stayed [behind] the hedgerow." → behind | "The prince knelt [before] the fire." → before | "Betsy stood [beside] her bear." → beside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ar or or: market, morning, pardon | er, ir, or ur: circle, birch, hurdle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ar or or: market, morning, pardon | er, ir, or ur: circle, birch, hurdle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Ch. 11–15 Review
When The Whipping Boy sees Jeremy tangled in string and the cat coming, she could have run. She stays and unties him instead. Later, Nicodemus and the rats agree to move her cinderblock house — a dangerous, hours-long job — because she asked for help.
Three things happened in Chapters 11–15: the prince gave Jemmy away, Jemmy escaped and met Betsy, and the prince picked up mud flat scraps. Which tells you the most about the prince?
Does Jemmy trust the prince more, less, or the same as in Chapter 1? Use one event as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RWM sentence: "It came to Jemmy that perhaps he had never really looked at the prince before. Not truly."
Craft: fragment as addition — Not truly adds depth
Reader: What does this moment reveal?
Writer: What technique did the author use and why?
Mimic: Write your own using the same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stage: ✍️ Draft
Focus: Opinion: draft your full paragraph — claim + reasons + closing.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A0A4A"/>
        </a:solidFill>
      </p:bgPr>
    </p:bg>
    <p:spTree>
      <p:nvGrpSpPr>
        <p:cNvPr id="1" name=""/>
        <p:cNvGrpSpPr/>
        <p:nvPr/>
      </p:nvGrpSpPr>
      <p:grpSpPr>
        <a:xfrm>
          <a:off x="0" y="0"/>
          <a:ext cx="0" cy="0"/>
          <a:chOff x="0" y="0"/>
          <a:chExt cx="0" cy="0"/>
        </a:xfrm>
      </p:grpSpPr>
      <p:sp>
        <p:nvSpPr>
          <p:cNvPr id="2" name="Shape 0"/>
          <p:cNvSpPr/>
          <p:nvPr/>
        </p:nvSpPr>
        <p:spPr>
          <a:xfrm>
            <a:off x="0" y="4114800"/>
            <a:ext cx="9144000" cy="1028700"/>
          </a:xfrm>
          <a:prstGeom prst="rect">
            <a:avLst/>
          </a:prstGeom>
          <a:solidFill>
            <a:srgbClr val="B8860B">
              <a:alpha val="20000"/>
            </a:srgbClr>
          </a:solidFill>
          <a:ln/>
        </p:spPr>
      </p:sp>
      <p:sp>
        <p:nvSpPr>
          <p:cNvPr id="3" name="Text 1"/>
          <p:cNvSpPr/>
          <p:nvPr/>
        </p:nvSpPr>
        <p:spPr>
          <a:xfrm>
            <a:off x="457200" y="640080"/>
            <a:ext cx="8229600" cy="365760"/>
          </a:xfrm>
          <a:prstGeom prst="rect">
            <a:avLst/>
          </a:prstGeom>
          <a:noFill/>
          <a:ln/>
        </p:spPr>
        <p:txBody>
          <a:bodyPr wrap="square" lIns="0" tIns="0" rIns="0" bIns="0" rtlCol="0" anchor="ctr"/>
          <a:lstStyle/>
          <a:p>
            <a:pPr algn="l" indent="0" marL="0">
              <a:buNone/>
            </a:pPr>
            <a:r>
              <a:rPr lang="en-US" sz="1300" b="1" spc="400" kern="0" dirty="0">
                <a:solidFill>
                  <a:srgbClr val="B8860B"/>
                </a:solidFill>
                <a:latin typeface="Calibri" pitchFamily="34" charset="0"/>
                <a:ea typeface="Calibri" pitchFamily="34" charset="-122"/>
                <a:cs typeface="Calibri" pitchFamily="34" charset="-120"/>
              </a:rPr>
              <a:t>WEEK 20  ·  DAY 4</a:t>
            </a:r>
            <a:endParaRPr lang="en-US" sz="1300" dirty="0"/>
          </a:p>
        </p:txBody>
      </p:sp>
      <p:sp>
        <p:nvSpPr>
          <p:cNvPr id="4" name="Text 2"/>
          <p:cNvSpPr/>
          <p:nvPr/>
        </p:nvSpPr>
        <p:spPr>
          <a:xfrm>
            <a:off x="457200" y="1097280"/>
            <a:ext cx="8229600" cy="1645920"/>
          </a:xfrm>
          <a:prstGeom prst="rect">
            <a:avLst/>
          </a:prstGeom>
          <a:noFill/>
          <a:ln/>
        </p:spPr>
        <p:txBody>
          <a:bodyPr wrap="square" lIns="0" tIns="0" rIns="0" bIns="0" rtlCol="0" anchor="ctr"/>
          <a:lstStyle/>
          <a:p>
            <a:pPr algn="l" indent="0" marL="0">
              <a:buNone/>
            </a:pPr>
            <a:r>
              <a:rPr lang="en-US" sz="2800" b="1" dirty="0">
                <a:solidFill>
                  <a:srgbClr val="FFFFFF"/>
                </a:solidFill>
                <a:latin typeface="Calibri" pitchFamily="34" charset="0"/>
                <a:ea typeface="Calibri" pitchFamily="34" charset="-122"/>
                <a:cs typeface="Calibri" pitchFamily="34" charset="-120"/>
              </a:rPr>
              <a:t>Ch. 11–15 Review</a:t>
            </a:r>
            <a:endParaRPr lang="en-US" sz="2800" dirty="0"/>
          </a:p>
          <a:p>
            <a:pPr algn="l" indent="0" marL="0">
              <a:buNone/>
            </a:pPr>
            <a:r>
              <a:rPr lang="en-US" sz="2800" b="1" dirty="0">
                <a:solidFill>
                  <a:srgbClr val="FFFFFF"/>
                </a:solidFill>
                <a:latin typeface="Calibri" pitchFamily="34" charset="0"/>
                <a:ea typeface="Calibri" pitchFamily="34" charset="-122"/>
                <a:cs typeface="Calibri" pitchFamily="34" charset="-120"/>
              </a:rPr>
              <a:t>Review, Response, and Writing Workshop</a:t>
            </a:r>
            <a:endParaRPr lang="en-US" sz="2800" dirty="0"/>
          </a:p>
        </p:txBody>
      </p:sp>
      <p:sp>
        <p:nvSpPr>
          <p:cNvPr id="5" name="Text 3"/>
          <p:cNvSpPr/>
          <p:nvPr/>
        </p:nvSpPr>
        <p:spPr>
          <a:xfrm>
            <a:off x="457200" y="2834640"/>
            <a:ext cx="8229600" cy="457200"/>
          </a:xfrm>
          <a:prstGeom prst="rect">
            <a:avLst/>
          </a:prstGeom>
          <a:noFill/>
          <a:ln/>
        </p:spPr>
        <p:txBody>
          <a:bodyPr wrap="square" lIns="0" tIns="0" rIns="0" bIns="0" rtlCol="0" anchor="ctr"/>
          <a:lstStyle/>
          <a:p>
            <a:pPr algn="l" indent="0" marL="0">
              <a:buNone/>
            </a:pPr>
            <a:r>
              <a:rPr lang="en-US" sz="1800" dirty="0">
                <a:solidFill>
                  <a:srgbClr val="B8860B"/>
                </a:solidFill>
                <a:latin typeface="Calibri" pitchFamily="34" charset="0"/>
                <a:ea typeface="Calibri" pitchFamily="34" charset="-122"/>
                <a:cs typeface="Calibri" pitchFamily="34" charset="-120"/>
              </a:rPr>
              <a:t>The Whipping Boy  ·  Sid Fleischman</a:t>
            </a:r>
            <a:endParaRPr lang="en-US" sz="1800" dirty="0"/>
          </a:p>
        </p:txBody>
      </p:sp>
      <p:sp>
        <p:nvSpPr>
          <p:cNvPr id="6" name="Text 4"/>
          <p:cNvSpPr/>
          <p:nvPr/>
        </p:nvSpPr>
        <p:spPr>
          <a:xfrm>
            <a:off x="457200" y="4480560"/>
            <a:ext cx="8229600" cy="365760"/>
          </a:xfrm>
          <a:prstGeom prst="rect">
            <a:avLst/>
          </a:prstGeom>
          <a:noFill/>
          <a:ln/>
        </p:spPr>
        <p:txBody>
          <a:bodyPr wrap="square" lIns="0" tIns="0" rIns="0" bIns="0" rtlCol="0" anchor="ctr"/>
          <a:lstStyle/>
          <a:p>
            <a:pPr algn="l" indent="0" marL="0">
              <a:buNone/>
            </a:pPr>
            <a:r>
              <a:rPr lang="en-US" sz="1200" dirty="0">
                <a:solidFill>
                  <a:srgbClr val="FFFFFF"/>
                </a:solidFill>
                <a:latin typeface="Calibri" pitchFamily="34" charset="0"/>
                <a:ea typeface="Calibri" pitchFamily="34" charset="-122"/>
                <a:cs typeface="Calibri" pitchFamily="34" charset="-120"/>
              </a:rPr>
              <a:t>Week 20  ·  Virtue: Perseverance  ·  👑</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Recap + Today's Focus</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YESTERDAY</a:t>
            </a:r>
            <a:endParaRPr lang="en-US" sz="1100" dirty="0"/>
          </a:p>
        </p:txBody>
      </p:sp>
      <p:sp>
        <p:nvSpPr>
          <p:cNvPr id="7" name="Shape 5"/>
          <p:cNvSpPr/>
          <p:nvPr/>
        </p:nvSpPr>
        <p:spPr>
          <a:xfrm>
            <a:off x="365760" y="1078992"/>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70432"/>
            <a:ext cx="7955280" cy="59436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Ch. 15: Jemmy's street smarts helped him survive. He might not be alone anymore.</a:t>
            </a:r>
            <a:endParaRPr lang="en-US" sz="1400" dirty="0"/>
          </a:p>
        </p:txBody>
      </p:sp>
      <p:sp>
        <p:nvSpPr>
          <p:cNvPr id="9" name="Text 7"/>
          <p:cNvSpPr/>
          <p:nvPr/>
        </p:nvSpPr>
        <p:spPr>
          <a:xfrm>
            <a:off x="365760" y="1993392"/>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TODAY</a:t>
            </a:r>
            <a:endParaRPr lang="en-US" sz="1100" dirty="0"/>
          </a:p>
        </p:txBody>
      </p:sp>
      <p:sp>
        <p:nvSpPr>
          <p:cNvPr id="10" name="Shape 8"/>
          <p:cNvSpPr/>
          <p:nvPr/>
        </p:nvSpPr>
        <p:spPr>
          <a:xfrm>
            <a:off x="365760" y="2249424"/>
            <a:ext cx="8412480" cy="713232"/>
          </a:xfrm>
          <a:prstGeom prst="roundRect">
            <a:avLst>
              <a:gd name="adj" fmla="val 12821"/>
            </a:avLst>
          </a:prstGeom>
          <a:solidFill>
            <a:srgbClr val="FFF8E8"/>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340864"/>
            <a:ext cx="7955280" cy="530352"/>
          </a:xfrm>
          <a:prstGeom prst="rect">
            <a:avLst/>
          </a:prstGeom>
          <a:noFill/>
          <a:ln/>
        </p:spPr>
        <p:txBody>
          <a:bodyPr wrap="square" lIns="0" tIns="0" rIns="0" bIns="0" rtlCol="0" anchor="ctr"/>
          <a:lstStyle/>
          <a:p>
            <a:pPr indent="0" marL="0">
              <a:buNone/>
            </a:pPr>
            <a:r>
              <a:rPr lang="en-US" sz="1400" b="1" dirty="0">
                <a:solidFill>
                  <a:srgbClr val="2A0A4A"/>
                </a:solidFill>
                <a:latin typeface="Calibri" pitchFamily="34" charset="0"/>
                <a:ea typeface="Calibri" pitchFamily="34" charset="-122"/>
                <a:cs typeface="Calibri" pitchFamily="34" charset="-120"/>
              </a:rPr>
              <a:t>Ch. 11–15 Review: Find the single most important turning point in this section.</a:t>
            </a:r>
            <a:endParaRPr lang="en-US" sz="1400" dirty="0"/>
          </a:p>
        </p:txBody>
      </p:sp>
      <p:sp>
        <p:nvSpPr>
          <p:cNvPr id="12" name="Text 10"/>
          <p:cNvSpPr/>
          <p:nvPr/>
        </p:nvSpPr>
        <p:spPr>
          <a:xfrm>
            <a:off x="365760" y="3072384"/>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BIG QUESTION</a:t>
            </a:r>
            <a:endParaRPr lang="en-US" sz="1100" dirty="0"/>
          </a:p>
        </p:txBody>
      </p:sp>
      <p:sp>
        <p:nvSpPr>
          <p:cNvPr id="13" name="Shape 11"/>
          <p:cNvSpPr/>
          <p:nvPr/>
        </p:nvSpPr>
        <p:spPr>
          <a:xfrm>
            <a:off x="365760" y="3328416"/>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419856"/>
            <a:ext cx="7955280" cy="594360"/>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Looking at Chapters 11–15, what is the most important moment of change — for Jemmy? For the prince?</a:t>
            </a:r>
            <a:endParaRPr lang="en-US" sz="1300" dirty="0"/>
          </a:p>
        </p:txBody>
      </p:sp>
      <p:sp>
        <p:nvSpPr>
          <p:cNvPr id="15" name="Text 13"/>
          <p:cNvSpPr/>
          <p:nvPr/>
        </p:nvSpPr>
        <p:spPr>
          <a:xfrm>
            <a:off x="365760" y="420624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READING LENS</a:t>
            </a:r>
            <a:endParaRPr lang="en-US" sz="1100" dirty="0"/>
          </a:p>
        </p:txBody>
      </p:sp>
      <p:sp>
        <p:nvSpPr>
          <p:cNvPr id="16" name="Text 14"/>
          <p:cNvSpPr/>
          <p:nvPr/>
        </p:nvSpPr>
        <p:spPr>
          <a:xfrm>
            <a:off x="457200" y="4434840"/>
            <a:ext cx="8229600" cy="32004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 Good readers look back at a section and find the single most important turning point. Which moment in Chapters 11–15 cha</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Study What's Right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CORRECT MODEL — FROM THE NOVEL</a:t>
            </a:r>
            <a:endParaRPr lang="en-US" sz="1100" dirty="0"/>
          </a:p>
        </p:txBody>
      </p:sp>
      <p:sp>
        <p:nvSpPr>
          <p:cNvPr id="5" name="Shape 3"/>
          <p:cNvSpPr/>
          <p:nvPr/>
        </p:nvSpPr>
        <p:spPr>
          <a:xfrm>
            <a:off x="365760" y="1078992"/>
            <a:ext cx="8412480" cy="1005840"/>
          </a:xfrm>
          <a:prstGeom prst="roundRect">
            <a:avLst>
              <a:gd name="adj" fmla="val 9091"/>
            </a:avLst>
          </a:prstGeom>
          <a:solidFill>
            <a:srgbClr val="E8F8EF"/>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48640" y="1188720"/>
            <a:ext cx="8046720" cy="77724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Jemmy thought he saw a smile flash across the prince's face.</a:t>
            </a:r>
            <a:endParaRPr lang="en-US" sz="1800" dirty="0"/>
          </a:p>
        </p:txBody>
      </p:sp>
      <p:sp>
        <p:nvSpPr>
          <p:cNvPr id="7" name="Text 5"/>
          <p:cNvSpPr/>
          <p:nvPr/>
        </p:nvSpPr>
        <p:spPr>
          <a:xfrm>
            <a:off x="365760" y="219456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WHAT TO NOTICE</a:t>
            </a:r>
            <a:endParaRPr lang="en-US" sz="1100" dirty="0"/>
          </a:p>
        </p:txBody>
      </p:sp>
      <p:sp>
        <p:nvSpPr>
          <p:cNvPr id="8" name="Text 6"/>
          <p:cNvSpPr/>
          <p:nvPr/>
        </p:nvSpPr>
        <p:spPr>
          <a:xfrm>
            <a:off x="502920" y="2423160"/>
            <a:ext cx="8229600" cy="41148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Tap or circle: capital letters, quotation marks, punctuation, proper nouns.</a:t>
            </a:r>
            <a:endParaRPr lang="en-US" sz="1500" dirty="0"/>
          </a:p>
        </p:txBody>
      </p:sp>
      <p:sp>
        <p:nvSpPr>
          <p:cNvPr id="9" name="Text 7"/>
          <p:cNvSpPr/>
          <p:nvPr/>
        </p:nvSpPr>
        <p:spPr>
          <a:xfrm>
            <a:off x="502920" y="2926080"/>
            <a:ext cx="8229600" cy="411480"/>
          </a:xfrm>
          <a:prstGeom prst="rect">
            <a:avLst/>
          </a:prstGeom>
          <a:noFill/>
          <a:ln/>
        </p:spPr>
        <p:txBody>
          <a:bodyPr wrap="square" lIns="0" tIns="0" rIns="0" bIns="0" rtlCol="0" anchor="ctr"/>
          <a:lstStyle/>
          <a:p>
            <a:pPr indent="0" marL="0">
              <a:buNone/>
            </a:pPr>
            <a:r>
              <a:rPr lang="en-US" sz="1500" b="1" dirty="0">
                <a:solidFill>
                  <a:srgbClr val="2A0A4A"/>
                </a:solidFill>
                <a:latin typeface="Calibri" pitchFamily="34" charset="0"/>
                <a:ea typeface="Calibri" pitchFamily="34" charset="-122"/>
                <a:cs typeface="Calibri" pitchFamily="34" charset="-120"/>
              </a:rPr>
              <a:t>Copy this sentence in your journal. Circle one thing you notice.</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Fix It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868680"/>
          </a:xfrm>
          <a:prstGeom prst="roundRect">
            <a:avLst>
              <a:gd name="adj" fmla="val 10526"/>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6400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betsy thought she heard a shout echo through the princes forest</a:t>
            </a:r>
            <a:endParaRPr lang="en-US" sz="1800" dirty="0"/>
          </a:p>
        </p:txBody>
      </p:sp>
      <p:sp>
        <p:nvSpPr>
          <p:cNvPr id="9" name="Text 7"/>
          <p:cNvSpPr/>
          <p:nvPr/>
        </p:nvSpPr>
        <p:spPr>
          <a:xfrm>
            <a:off x="457200" y="2057400"/>
            <a:ext cx="8229600" cy="411480"/>
          </a:xfrm>
          <a:prstGeom prst="rect">
            <a:avLst/>
          </a:prstGeom>
          <a:noFill/>
          <a:ln/>
        </p:spPr>
        <p:txBody>
          <a:bodyPr wrap="square" lIns="0" tIns="0" rIns="0" bIns="0" rtlCol="0" anchor="ctr"/>
          <a:lstStyle/>
          <a:p>
            <a:pPr indent="0" marL="0">
              <a:buNone/>
            </a:pPr>
            <a:r>
              <a:rPr lang="en-US" sz="1400" dirty="0">
                <a:solidFill>
                  <a:srgbClr val="2A0A4A"/>
                </a:solidFill>
                <a:latin typeface="Calibri" pitchFamily="34" charset="0"/>
                <a:ea typeface="Calibri" pitchFamily="34" charset="-122"/>
                <a:cs typeface="Calibri" pitchFamily="34" charset="-120"/>
              </a:rPr>
              <a:t>Fix: Capital B on Betsy; capital B on... wait — apostrophe in prince's (possessive); period ends.</a:t>
            </a:r>
            <a:endParaRPr lang="en-US" sz="1400" dirty="0"/>
          </a:p>
        </p:txBody>
      </p:sp>
      <p:sp>
        <p:nvSpPr>
          <p:cNvPr id="10" name="Text 8"/>
          <p:cNvSpPr/>
          <p:nvPr/>
        </p:nvSpPr>
        <p:spPr>
          <a:xfrm>
            <a:off x="457200" y="2542032"/>
            <a:ext cx="8229600" cy="384048"/>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Rewrite the corrected sentence in your journal.</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Fix It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868680"/>
          </a:xfrm>
          <a:prstGeom prst="roundRect">
            <a:avLst>
              <a:gd name="adj" fmla="val 10526"/>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6400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betsy thought she heard a shout echo through the princes forest</a:t>
            </a:r>
            <a:endParaRPr lang="en-US" sz="1800" dirty="0"/>
          </a:p>
        </p:txBody>
      </p:sp>
      <p:sp>
        <p:nvSpPr>
          <p:cNvPr id="9" name="Text 7"/>
          <p:cNvSpPr/>
          <p:nvPr/>
        </p:nvSpPr>
        <p:spPr>
          <a:xfrm>
            <a:off x="457200" y="2057400"/>
            <a:ext cx="8229600" cy="411480"/>
          </a:xfrm>
          <a:prstGeom prst="rect">
            <a:avLst/>
          </a:prstGeom>
          <a:noFill/>
          <a:ln/>
        </p:spPr>
        <p:txBody>
          <a:bodyPr wrap="square" lIns="0" tIns="0" rIns="0" bIns="0" rtlCol="0" anchor="ctr"/>
          <a:lstStyle/>
          <a:p>
            <a:pPr indent="0" marL="0">
              <a:buNone/>
            </a:pPr>
            <a:r>
              <a:rPr lang="en-US" sz="1400" dirty="0">
                <a:solidFill>
                  <a:srgbClr val="2A0A4A"/>
                </a:solidFill>
                <a:latin typeface="Calibri" pitchFamily="34" charset="0"/>
                <a:ea typeface="Calibri" pitchFamily="34" charset="-122"/>
                <a:cs typeface="Calibri" pitchFamily="34" charset="-120"/>
              </a:rPr>
              <a:t>Fix: Capital B on Betsy; capital B on... wait — apostrophe in prince's (possessive); period ends.</a:t>
            </a:r>
            <a:endParaRPr lang="en-US" sz="1400" dirty="0"/>
          </a:p>
        </p:txBody>
      </p:sp>
      <p:sp>
        <p:nvSpPr>
          <p:cNvPr id="10" name="Text 8"/>
          <p:cNvSpPr/>
          <p:nvPr/>
        </p:nvSpPr>
        <p:spPr>
          <a:xfrm>
            <a:off x="457200" y="2542032"/>
            <a:ext cx="8229600" cy="384048"/>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Rewrite the corrected sentence in your journal.</a:t>
            </a:r>
            <a:endParaRPr lang="en-US" sz="1600" dirty="0"/>
          </a:p>
        </p:txBody>
      </p:sp>
      <p:sp>
        <p:nvSpPr>
          <p:cNvPr id="11" name="Shape 9"/>
          <p:cNvSpPr/>
          <p:nvPr/>
        </p:nvSpPr>
        <p:spPr>
          <a:xfrm>
            <a:off x="365760" y="3063240"/>
            <a:ext cx="8412480" cy="914400"/>
          </a:xfrm>
          <a:prstGeom prst="roundRect">
            <a:avLst>
              <a:gd name="adj" fmla="val 10000"/>
            </a:avLst>
          </a:prstGeom>
          <a:solidFill>
            <a:srgbClr val="E8F8E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127248"/>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CORRECTED</a:t>
            </a:r>
            <a:endParaRPr lang="en-US" sz="1100" dirty="0"/>
          </a:p>
        </p:txBody>
      </p:sp>
      <p:sp>
        <p:nvSpPr>
          <p:cNvPr id="13" name="Text 11"/>
          <p:cNvSpPr/>
          <p:nvPr/>
        </p:nvSpPr>
        <p:spPr>
          <a:xfrm>
            <a:off x="594360" y="3438144"/>
            <a:ext cx="7863840" cy="475488"/>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Betsy thought she heard a shout echo through the prince's forest.</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Morphology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41248"/>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WORD PART: -est</a:t>
            </a:r>
            <a:endParaRPr lang="en-US" sz="1100" dirty="0"/>
          </a:p>
        </p:txBody>
      </p:sp>
      <p:sp>
        <p:nvSpPr>
          <p:cNvPr id="5" name="Shape 3"/>
          <p:cNvSpPr/>
          <p:nvPr/>
        </p:nvSpPr>
        <p:spPr>
          <a:xfrm>
            <a:off x="365760" y="1188720"/>
            <a:ext cx="8412480" cy="566928"/>
          </a:xfrm>
          <a:prstGeom prst="roundRect">
            <a:avLst>
              <a:gd name="adj" fmla="val 16129"/>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9844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bravest — most brave</a:t>
            </a:r>
            <a:endParaRPr lang="en-US" sz="1500" dirty="0"/>
          </a:p>
        </p:txBody>
      </p:sp>
      <p:sp>
        <p:nvSpPr>
          <p:cNvPr id="7" name="Shape 5"/>
          <p:cNvSpPr/>
          <p:nvPr/>
        </p:nvSpPr>
        <p:spPr>
          <a:xfrm>
            <a:off x="365760" y="1828800"/>
            <a:ext cx="8412480" cy="566928"/>
          </a:xfrm>
          <a:prstGeom prst="roundRect">
            <a:avLst>
              <a:gd name="adj" fmla="val 16129"/>
            </a:avLst>
          </a:prstGeom>
          <a:solidFill>
            <a:srgbClr val="F8F4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3852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fastest — most fast</a:t>
            </a:r>
            <a:endParaRPr lang="en-US" sz="1500" dirty="0"/>
          </a:p>
        </p:txBody>
      </p:sp>
      <p:sp>
        <p:nvSpPr>
          <p:cNvPr id="9" name="Shape 7"/>
          <p:cNvSpPr/>
          <p:nvPr/>
        </p:nvSpPr>
        <p:spPr>
          <a:xfrm>
            <a:off x="365760" y="2468880"/>
            <a:ext cx="8412480" cy="566928"/>
          </a:xfrm>
          <a:prstGeom prst="roundRect">
            <a:avLst>
              <a:gd name="adj" fmla="val 16129"/>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57860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cleverest — most clever</a:t>
            </a:r>
            <a:endParaRPr lang="en-US" sz="1500" dirty="0"/>
          </a:p>
        </p:txBody>
      </p:sp>
      <p:sp>
        <p:nvSpPr>
          <p:cNvPr id="11" name="Shape 9"/>
          <p:cNvSpPr/>
          <p:nvPr/>
        </p:nvSpPr>
        <p:spPr>
          <a:xfrm>
            <a:off x="365760" y="3108960"/>
            <a:ext cx="8412480" cy="566928"/>
          </a:xfrm>
          <a:prstGeom prst="roundRect">
            <a:avLst>
              <a:gd name="adj" fmla="val 16129"/>
            </a:avLst>
          </a:prstGeom>
          <a:solidFill>
            <a:srgbClr val="F8F4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21868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slyest — most sly</a:t>
            </a:r>
            <a:endParaRPr lang="en-US" sz="1500" dirty="0"/>
          </a:p>
        </p:txBody>
      </p:sp>
      <p:sp>
        <p:nvSpPr>
          <p:cNvPr id="13" name="Text 11"/>
          <p:cNvSpPr/>
          <p:nvPr/>
        </p:nvSpPr>
        <p:spPr>
          <a:xfrm>
            <a:off x="365760" y="37947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MATCH GAME WORDS</a:t>
            </a:r>
            <a:endParaRPr lang="en-US" sz="1100" dirty="0"/>
          </a:p>
        </p:txBody>
      </p:sp>
      <p:sp>
        <p:nvSpPr>
          <p:cNvPr id="14" name="Text 12"/>
          <p:cNvSpPr/>
          <p:nvPr/>
        </p:nvSpPr>
        <p:spPr>
          <a:xfrm>
            <a:off x="457200" y="4096512"/>
            <a:ext cx="8229600" cy="347472"/>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barnacle   ·   instinct   ·   embankment   ·   mudlarking</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Vocabulary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795528"/>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4 WORDS THIS WEEK</a:t>
            </a:r>
            <a:endParaRPr lang="en-US" sz="1100" dirty="0"/>
          </a:p>
        </p:txBody>
      </p:sp>
      <p:sp>
        <p:nvSpPr>
          <p:cNvPr id="5" name="Shape 3"/>
          <p:cNvSpPr/>
          <p:nvPr/>
        </p:nvSpPr>
        <p:spPr>
          <a:xfrm>
            <a:off x="320040" y="1161288"/>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457200" y="1234440"/>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barnacle</a:t>
            </a:r>
            <a:endParaRPr lang="en-US" sz="1600" dirty="0"/>
          </a:p>
        </p:txBody>
      </p:sp>
      <p:sp>
        <p:nvSpPr>
          <p:cNvPr id="7" name="Text 5"/>
          <p:cNvSpPr/>
          <p:nvPr/>
        </p:nvSpPr>
        <p:spPr>
          <a:xfrm>
            <a:off x="457200" y="1600200"/>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A sea creature that sticks permanently to hard surfaces.</a:t>
            </a:r>
            <a:endParaRPr lang="en-US" sz="1200" dirty="0"/>
          </a:p>
        </p:txBody>
      </p:sp>
      <p:sp>
        <p:nvSpPr>
          <p:cNvPr id="8" name="Shape 6"/>
          <p:cNvSpPr/>
          <p:nvPr/>
        </p:nvSpPr>
        <p:spPr>
          <a:xfrm>
            <a:off x="4572000" y="1161288"/>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9" name="Text 7"/>
          <p:cNvSpPr/>
          <p:nvPr/>
        </p:nvSpPr>
        <p:spPr>
          <a:xfrm>
            <a:off x="4709160" y="1234440"/>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instinct</a:t>
            </a:r>
            <a:endParaRPr lang="en-US" sz="1600" dirty="0"/>
          </a:p>
        </p:txBody>
      </p:sp>
      <p:sp>
        <p:nvSpPr>
          <p:cNvPr id="10" name="Text 8"/>
          <p:cNvSpPr/>
          <p:nvPr/>
        </p:nvSpPr>
        <p:spPr>
          <a:xfrm>
            <a:off x="4709160" y="1600200"/>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A natural behavior that happens automatically.</a:t>
            </a:r>
            <a:endParaRPr lang="en-US" sz="1200" dirty="0"/>
          </a:p>
        </p:txBody>
      </p:sp>
      <p:sp>
        <p:nvSpPr>
          <p:cNvPr id="11" name="Shape 9"/>
          <p:cNvSpPr/>
          <p:nvPr/>
        </p:nvSpPr>
        <p:spPr>
          <a:xfrm>
            <a:off x="320040" y="2551176"/>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457200" y="2624328"/>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embankment</a:t>
            </a:r>
            <a:endParaRPr lang="en-US" sz="1600" dirty="0"/>
          </a:p>
        </p:txBody>
      </p:sp>
      <p:sp>
        <p:nvSpPr>
          <p:cNvPr id="13" name="Text 11"/>
          <p:cNvSpPr/>
          <p:nvPr/>
        </p:nvSpPr>
        <p:spPr>
          <a:xfrm>
            <a:off x="457200" y="2990088"/>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A raised wall of earth beside a river.</a:t>
            </a:r>
            <a:endParaRPr lang="en-US" sz="1200" dirty="0"/>
          </a:p>
        </p:txBody>
      </p:sp>
      <p:sp>
        <p:nvSpPr>
          <p:cNvPr id="14" name="Shape 12"/>
          <p:cNvSpPr/>
          <p:nvPr/>
        </p:nvSpPr>
        <p:spPr>
          <a:xfrm>
            <a:off x="4572000" y="2551176"/>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5" name="Text 13"/>
          <p:cNvSpPr/>
          <p:nvPr/>
        </p:nvSpPr>
        <p:spPr>
          <a:xfrm>
            <a:off x="4709160" y="2624328"/>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mudlarking</a:t>
            </a:r>
            <a:endParaRPr lang="en-US" sz="1600" dirty="0"/>
          </a:p>
        </p:txBody>
      </p:sp>
      <p:sp>
        <p:nvSpPr>
          <p:cNvPr id="16" name="Text 14"/>
          <p:cNvSpPr/>
          <p:nvPr/>
        </p:nvSpPr>
        <p:spPr>
          <a:xfrm>
            <a:off x="4709160" y="2990088"/>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Searching river mud for useful objects to sell.</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Grammar — Prepositions (Review + Explain)</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 SPOT THE ANSWER</a:t>
            </a:r>
            <a:endParaRPr lang="en-US" sz="1100" dirty="0"/>
          </a:p>
        </p:txBody>
      </p:sp>
      <p:sp>
        <p:nvSpPr>
          <p:cNvPr id="7" name="Shape 5"/>
          <p:cNvSpPr/>
          <p:nvPr/>
        </p:nvSpPr>
        <p:spPr>
          <a:xfrm>
            <a:off x="365760" y="10789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521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soldiers rode _____ the river road.</a:t>
            </a:r>
            <a:endParaRPr lang="en-US" sz="1500" dirty="0"/>
          </a:p>
        </p:txBody>
      </p:sp>
      <p:sp>
        <p:nvSpPr>
          <p:cNvPr id="9" name="Shape 7"/>
          <p:cNvSpPr/>
          <p:nvPr/>
        </p:nvSpPr>
        <p:spPr>
          <a:xfrm>
            <a:off x="365760" y="17647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18379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 stayed _____ the hedgerow.</a:t>
            </a:r>
            <a:endParaRPr lang="en-US" sz="1500" dirty="0"/>
          </a:p>
        </p:txBody>
      </p:sp>
      <p:sp>
        <p:nvSpPr>
          <p:cNvPr id="11" name="Shape 9"/>
          <p:cNvSpPr/>
          <p:nvPr/>
        </p:nvSpPr>
        <p:spPr>
          <a:xfrm>
            <a:off x="365760" y="24505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25237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prince knelt _____ the fire.</a:t>
            </a:r>
            <a:endParaRPr lang="en-US" sz="1500" dirty="0"/>
          </a:p>
        </p:txBody>
      </p:sp>
      <p:sp>
        <p:nvSpPr>
          <p:cNvPr id="13" name="Shape 11"/>
          <p:cNvSpPr/>
          <p:nvPr/>
        </p:nvSpPr>
        <p:spPr>
          <a:xfrm>
            <a:off x="365760" y="31363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2095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Betsy stood _____ her bear.</a:t>
            </a:r>
            <a:endParaRPr lang="en-US" sz="1500" dirty="0"/>
          </a:p>
        </p:txBody>
      </p:sp>
      <p:sp>
        <p:nvSpPr>
          <p:cNvPr id="15" name="Text 13"/>
          <p:cNvSpPr/>
          <p:nvPr/>
        </p:nvSpPr>
        <p:spPr>
          <a:xfrm>
            <a:off x="457200" y="3867912"/>
            <a:ext cx="8229600" cy="347472"/>
          </a:xfrm>
          <a:prstGeom prst="rect">
            <a:avLst/>
          </a:prstGeom>
          <a:noFill/>
          <a:ln/>
        </p:spPr>
        <p:txBody>
          <a:bodyPr wrap="square" lIns="0" tIns="0" rIns="0" bIns="0" rtlCol="0" anchor="ctr"/>
          <a:lstStyle/>
          <a:p>
            <a:pPr indent="0" marL="0">
              <a:buNone/>
            </a:pPr>
            <a:r>
              <a:rPr lang="en-US" sz="1500" b="1" dirty="0">
                <a:solidFill>
                  <a:srgbClr val="2A0A4A"/>
                </a:solidFill>
                <a:latin typeface="Calibri" pitchFamily="34" charset="0"/>
                <a:ea typeface="Calibri" pitchFamily="34" charset="-122"/>
                <a:cs typeface="Calibri" pitchFamily="34" charset="-120"/>
              </a:rPr>
              <a:t>Find the answer! Write it in your notebook.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Grammar — Prepositions (Review + Explain)</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ANSWERS REVEALED</a:t>
            </a:r>
            <a:endParaRPr lang="en-US" sz="1100" dirty="0"/>
          </a:p>
        </p:txBody>
      </p:sp>
      <p:sp>
        <p:nvSpPr>
          <p:cNvPr id="7" name="Shape 5"/>
          <p:cNvSpPr/>
          <p:nvPr/>
        </p:nvSpPr>
        <p:spPr>
          <a:xfrm>
            <a:off x="365760" y="10789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521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soldiers rode </a:t>
            </a:r>
            <a:pPr indent="0" marL="0">
              <a:buNone/>
            </a:pPr>
            <a:r>
              <a:rPr lang="en-US" sz="1500" b="1" u="sng" dirty="0">
                <a:solidFill>
                  <a:srgbClr val="34B76F"/>
                </a:solidFill>
                <a:latin typeface="Calibri" pitchFamily="34" charset="0"/>
                <a:ea typeface="Calibri" pitchFamily="34" charset="-122"/>
                <a:cs typeface="Calibri" pitchFamily="34" charset="-120"/>
              </a:rPr>
              <a:t>along</a:t>
            </a:r>
            <a:pPr indent="0" marL="0">
              <a:buNone/>
            </a:pPr>
            <a:r>
              <a:rPr lang="en-US" sz="1500" dirty="0">
                <a:solidFill>
                  <a:srgbClr val="1E293B"/>
                </a:solidFill>
                <a:latin typeface="Calibri" pitchFamily="34" charset="0"/>
                <a:ea typeface="Calibri" pitchFamily="34" charset="-122"/>
                <a:cs typeface="Calibri" pitchFamily="34" charset="-120"/>
              </a:rPr>
              <a:t> the river road.</a:t>
            </a:r>
            <a:endParaRPr lang="en-US" sz="1500" dirty="0"/>
          </a:p>
        </p:txBody>
      </p:sp>
      <p:sp>
        <p:nvSpPr>
          <p:cNvPr id="9" name="Shape 7"/>
          <p:cNvSpPr/>
          <p:nvPr/>
        </p:nvSpPr>
        <p:spPr>
          <a:xfrm>
            <a:off x="365760" y="17647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18379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 stayed </a:t>
            </a:r>
            <a:pPr indent="0" marL="0">
              <a:buNone/>
            </a:pPr>
            <a:r>
              <a:rPr lang="en-US" sz="1500" b="1" u="sng" dirty="0">
                <a:solidFill>
                  <a:srgbClr val="34B76F"/>
                </a:solidFill>
                <a:latin typeface="Calibri" pitchFamily="34" charset="0"/>
                <a:ea typeface="Calibri" pitchFamily="34" charset="-122"/>
                <a:cs typeface="Calibri" pitchFamily="34" charset="-120"/>
              </a:rPr>
              <a:t>behind</a:t>
            </a:r>
            <a:pPr indent="0" marL="0">
              <a:buNone/>
            </a:pPr>
            <a:r>
              <a:rPr lang="en-US" sz="1500" dirty="0">
                <a:solidFill>
                  <a:srgbClr val="1E293B"/>
                </a:solidFill>
                <a:latin typeface="Calibri" pitchFamily="34" charset="0"/>
                <a:ea typeface="Calibri" pitchFamily="34" charset="-122"/>
                <a:cs typeface="Calibri" pitchFamily="34" charset="-120"/>
              </a:rPr>
              <a:t> the hedgerow.</a:t>
            </a:r>
            <a:endParaRPr lang="en-US" sz="1500" dirty="0"/>
          </a:p>
        </p:txBody>
      </p:sp>
      <p:sp>
        <p:nvSpPr>
          <p:cNvPr id="11" name="Shape 9"/>
          <p:cNvSpPr/>
          <p:nvPr/>
        </p:nvSpPr>
        <p:spPr>
          <a:xfrm>
            <a:off x="365760" y="24505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25237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prince knelt </a:t>
            </a:r>
            <a:pPr indent="0" marL="0">
              <a:buNone/>
            </a:pPr>
            <a:r>
              <a:rPr lang="en-US" sz="1500" b="1" u="sng" dirty="0">
                <a:solidFill>
                  <a:srgbClr val="34B76F"/>
                </a:solidFill>
                <a:latin typeface="Calibri" pitchFamily="34" charset="0"/>
                <a:ea typeface="Calibri" pitchFamily="34" charset="-122"/>
                <a:cs typeface="Calibri" pitchFamily="34" charset="-120"/>
              </a:rPr>
              <a:t>before</a:t>
            </a:r>
            <a:pPr indent="0" marL="0">
              <a:buNone/>
            </a:pPr>
            <a:r>
              <a:rPr lang="en-US" sz="1500" dirty="0">
                <a:solidFill>
                  <a:srgbClr val="1E293B"/>
                </a:solidFill>
                <a:latin typeface="Calibri" pitchFamily="34" charset="0"/>
                <a:ea typeface="Calibri" pitchFamily="34" charset="-122"/>
                <a:cs typeface="Calibri" pitchFamily="34" charset="-120"/>
              </a:rPr>
              <a:t> the fire.</a:t>
            </a:r>
            <a:endParaRPr lang="en-US" sz="1500" dirty="0"/>
          </a:p>
        </p:txBody>
      </p:sp>
      <p:sp>
        <p:nvSpPr>
          <p:cNvPr id="13" name="Shape 11"/>
          <p:cNvSpPr/>
          <p:nvPr/>
        </p:nvSpPr>
        <p:spPr>
          <a:xfrm>
            <a:off x="365760" y="31363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2095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Betsy stood </a:t>
            </a:r>
            <a:pPr indent="0" marL="0">
              <a:buNone/>
            </a:pPr>
            <a:r>
              <a:rPr lang="en-US" sz="1500" b="1" u="sng" dirty="0">
                <a:solidFill>
                  <a:srgbClr val="34B76F"/>
                </a:solidFill>
                <a:latin typeface="Calibri" pitchFamily="34" charset="0"/>
                <a:ea typeface="Calibri" pitchFamily="34" charset="-122"/>
                <a:cs typeface="Calibri" pitchFamily="34" charset="-120"/>
              </a:rPr>
              <a:t>beside</a:t>
            </a:r>
            <a:pPr indent="0" marL="0">
              <a:buNone/>
            </a:pPr>
            <a:r>
              <a:rPr lang="en-US" sz="1500" dirty="0">
                <a:solidFill>
                  <a:srgbClr val="1E293B"/>
                </a:solidFill>
                <a:latin typeface="Calibri" pitchFamily="34" charset="0"/>
                <a:ea typeface="Calibri" pitchFamily="34" charset="-122"/>
                <a:cs typeface="Calibri" pitchFamily="34" charset="-120"/>
              </a:rPr>
              <a:t> her bear.</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Spelling — r-Controlled Syllables (Day 4: Review + Explain)</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 SORT THE WORDS</a:t>
            </a:r>
            <a:endParaRPr lang="en-US" sz="1100" dirty="0"/>
          </a:p>
        </p:txBody>
      </p:sp>
      <p:sp>
        <p:nvSpPr>
          <p:cNvPr id="7" name="Shape 5"/>
          <p:cNvSpPr/>
          <p:nvPr/>
        </p:nvSpPr>
        <p:spPr>
          <a:xfrm>
            <a:off x="365760" y="1024128"/>
            <a:ext cx="8412480" cy="685800"/>
          </a:xfrm>
          <a:prstGeom prst="roundRect">
            <a:avLst>
              <a:gd name="adj" fmla="val 13333"/>
            </a:avLst>
          </a:prstGeom>
          <a:solidFill>
            <a:srgbClr val="F8FAFC"/>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078992"/>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WORD BANK</a:t>
            </a:r>
            <a:endParaRPr lang="en-US" sz="1100" dirty="0"/>
          </a:p>
        </p:txBody>
      </p:sp>
      <p:sp>
        <p:nvSpPr>
          <p:cNvPr id="9" name="Text 7"/>
          <p:cNvSpPr/>
          <p:nvPr/>
        </p:nvSpPr>
        <p:spPr>
          <a:xfrm>
            <a:off x="594360" y="1325880"/>
            <a:ext cx="7863840" cy="320040"/>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market   ·   morning   ·   pardon   ·   circle   ·   birch   ·   hurdle</a:t>
            </a:r>
            <a:endParaRPr lang="en-US" sz="1600" dirty="0"/>
          </a:p>
        </p:txBody>
      </p:sp>
      <p:sp>
        <p:nvSpPr>
          <p:cNvPr id="10" name="Text 8"/>
          <p:cNvSpPr/>
          <p:nvPr/>
        </p:nvSpPr>
        <p:spPr>
          <a:xfrm>
            <a:off x="365760" y="187452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SORT INTO GROUPS</a:t>
            </a:r>
            <a:endParaRPr lang="en-US" sz="1100" dirty="0"/>
          </a:p>
        </p:txBody>
      </p:sp>
      <p:sp>
        <p:nvSpPr>
          <p:cNvPr id="11" name="Shape 9"/>
          <p:cNvSpPr/>
          <p:nvPr/>
        </p:nvSpPr>
        <p:spPr>
          <a:xfrm>
            <a:off x="365760" y="2176272"/>
            <a:ext cx="4114800" cy="1051560"/>
          </a:xfrm>
          <a:prstGeom prst="roundRect">
            <a:avLst>
              <a:gd name="adj" fmla="val 8696"/>
            </a:avLst>
          </a:prstGeom>
          <a:solidFill>
            <a:srgbClr val="E8F8EF"/>
          </a:solidFill>
          <a:ln w="19050">
            <a:solidFill>
              <a:srgbClr val="4A7C2E"/>
            </a:solidFill>
            <a:prstDash val="solid"/>
          </a:ln>
        </p:spPr>
      </p:sp>
      <p:sp>
        <p:nvSpPr>
          <p:cNvPr id="12" name="Text 10"/>
          <p:cNvSpPr/>
          <p:nvPr/>
        </p:nvSpPr>
        <p:spPr>
          <a:xfrm>
            <a:off x="502920" y="2249424"/>
            <a:ext cx="3840480" cy="384048"/>
          </a:xfrm>
          <a:prstGeom prst="rect">
            <a:avLst/>
          </a:prstGeom>
          <a:noFill/>
          <a:ln/>
        </p:spPr>
        <p:txBody>
          <a:bodyPr wrap="square" lIns="0" tIns="0" rIns="0" bIns="0" rtlCol="0" anchor="ctr"/>
          <a:lstStyle/>
          <a:p>
            <a:pPr indent="0" marL="0">
              <a:buNone/>
            </a:pPr>
            <a:r>
              <a:rPr lang="en-US" sz="1300" b="1" dirty="0">
                <a:solidFill>
                  <a:srgbClr val="4A7C2E"/>
                </a:solidFill>
                <a:latin typeface="Calibri" pitchFamily="34" charset="0"/>
                <a:ea typeface="Calibri" pitchFamily="34" charset="-122"/>
                <a:cs typeface="Calibri" pitchFamily="34" charset="-120"/>
              </a:rPr>
              <a:t>ar or or</a:t>
            </a:r>
            <a:endParaRPr lang="en-US" sz="1300" dirty="0"/>
          </a:p>
        </p:txBody>
      </p:sp>
      <p:sp>
        <p:nvSpPr>
          <p:cNvPr id="13" name="Shape 11"/>
          <p:cNvSpPr/>
          <p:nvPr/>
        </p:nvSpPr>
        <p:spPr>
          <a:xfrm>
            <a:off x="4709160" y="2176272"/>
            <a:ext cx="4114800" cy="1051560"/>
          </a:xfrm>
          <a:prstGeom prst="roundRect">
            <a:avLst>
              <a:gd name="adj" fmla="val 8696"/>
            </a:avLst>
          </a:prstGeom>
          <a:solidFill>
            <a:srgbClr val="F0E8FF"/>
          </a:solidFill>
          <a:ln w="19050">
            <a:solidFill>
              <a:srgbClr val="5C2D91"/>
            </a:solidFill>
            <a:prstDash val="solid"/>
          </a:ln>
        </p:spPr>
      </p:sp>
      <p:sp>
        <p:nvSpPr>
          <p:cNvPr id="14" name="Text 12"/>
          <p:cNvSpPr/>
          <p:nvPr/>
        </p:nvSpPr>
        <p:spPr>
          <a:xfrm>
            <a:off x="4846320" y="2249424"/>
            <a:ext cx="3840480" cy="384048"/>
          </a:xfrm>
          <a:prstGeom prst="rect">
            <a:avLst/>
          </a:prstGeom>
          <a:noFill/>
          <a:ln/>
        </p:spPr>
        <p:txBody>
          <a:bodyPr wrap="square" lIns="0" tIns="0" rIns="0" bIns="0" rtlCol="0" anchor="ctr"/>
          <a:lstStyle/>
          <a:p>
            <a:pPr indent="0" marL="0">
              <a:buNone/>
            </a:pPr>
            <a:r>
              <a:rPr lang="en-US" sz="1300" b="1" dirty="0">
                <a:solidFill>
                  <a:srgbClr val="5C2D91"/>
                </a:solidFill>
                <a:latin typeface="Calibri" pitchFamily="34" charset="0"/>
                <a:ea typeface="Calibri" pitchFamily="34" charset="-122"/>
                <a:cs typeface="Calibri" pitchFamily="34" charset="-120"/>
              </a:rPr>
              <a:t>er, ir, or ur</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Spelling — r-Controlled Syllables (Day 4: Review + Explain)</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SORTED</a:t>
            </a:r>
            <a:endParaRPr lang="en-US" sz="1100" dirty="0"/>
          </a:p>
        </p:txBody>
      </p:sp>
      <p:sp>
        <p:nvSpPr>
          <p:cNvPr id="7" name="Shape 5"/>
          <p:cNvSpPr/>
          <p:nvPr/>
        </p:nvSpPr>
        <p:spPr>
          <a:xfrm>
            <a:off x="365760" y="1024128"/>
            <a:ext cx="4114800" cy="1426464"/>
          </a:xfrm>
          <a:prstGeom prst="roundRect">
            <a:avLst>
              <a:gd name="adj" fmla="val 6410"/>
            </a:avLst>
          </a:prstGeom>
          <a:solidFill>
            <a:srgbClr val="E8F8EF"/>
          </a:solidFill>
          <a:ln w="19050">
            <a:solidFill>
              <a:srgbClr val="4A7C2E"/>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02920" y="1097280"/>
            <a:ext cx="3840480" cy="347472"/>
          </a:xfrm>
          <a:prstGeom prst="rect">
            <a:avLst/>
          </a:prstGeom>
          <a:noFill/>
          <a:ln/>
        </p:spPr>
        <p:txBody>
          <a:bodyPr wrap="square" lIns="0" tIns="0" rIns="0" bIns="0" rtlCol="0" anchor="ctr"/>
          <a:lstStyle/>
          <a:p>
            <a:pPr indent="0" marL="0">
              <a:buNone/>
            </a:pPr>
            <a:r>
              <a:rPr lang="en-US" sz="1200" b="1" dirty="0">
                <a:solidFill>
                  <a:srgbClr val="4A7C2E"/>
                </a:solidFill>
                <a:latin typeface="Calibri" pitchFamily="34" charset="0"/>
                <a:ea typeface="Calibri" pitchFamily="34" charset="-122"/>
                <a:cs typeface="Calibri" pitchFamily="34" charset="-120"/>
              </a:rPr>
              <a:t>ar or or</a:t>
            </a:r>
            <a:endParaRPr lang="en-US" sz="1200" dirty="0"/>
          </a:p>
        </p:txBody>
      </p:sp>
      <p:sp>
        <p:nvSpPr>
          <p:cNvPr id="9" name="Text 7"/>
          <p:cNvSpPr/>
          <p:nvPr/>
        </p:nvSpPr>
        <p:spPr>
          <a:xfrm>
            <a:off x="594360" y="1463040"/>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market</a:t>
            </a:r>
            <a:endParaRPr lang="en-US" sz="1400" dirty="0"/>
          </a:p>
        </p:txBody>
      </p:sp>
      <p:sp>
        <p:nvSpPr>
          <p:cNvPr id="10" name="Text 8"/>
          <p:cNvSpPr/>
          <p:nvPr/>
        </p:nvSpPr>
        <p:spPr>
          <a:xfrm>
            <a:off x="594360" y="1810512"/>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morning</a:t>
            </a:r>
            <a:endParaRPr lang="en-US" sz="1400" dirty="0"/>
          </a:p>
        </p:txBody>
      </p:sp>
      <p:sp>
        <p:nvSpPr>
          <p:cNvPr id="11" name="Text 9"/>
          <p:cNvSpPr/>
          <p:nvPr/>
        </p:nvSpPr>
        <p:spPr>
          <a:xfrm>
            <a:off x="594360" y="2157984"/>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pardon</a:t>
            </a:r>
            <a:endParaRPr lang="en-US" sz="1400" dirty="0"/>
          </a:p>
        </p:txBody>
      </p:sp>
      <p:sp>
        <p:nvSpPr>
          <p:cNvPr id="12" name="Shape 10"/>
          <p:cNvSpPr/>
          <p:nvPr/>
        </p:nvSpPr>
        <p:spPr>
          <a:xfrm>
            <a:off x="4709160" y="1024128"/>
            <a:ext cx="4114800" cy="1426464"/>
          </a:xfrm>
          <a:prstGeom prst="roundRect">
            <a:avLst>
              <a:gd name="adj" fmla="val 6410"/>
            </a:avLst>
          </a:prstGeom>
          <a:solidFill>
            <a:srgbClr val="F0E8FF"/>
          </a:solidFill>
          <a:ln w="19050">
            <a:solidFill>
              <a:srgbClr val="5C2D91"/>
            </a:solidFill>
            <a:prstDash val="solid"/>
          </a:ln>
          <a:effectLst>
            <a:outerShdw sx="100000" sy="100000" kx="0" ky="0" algn="bl" rotWithShape="0" blurRad="101600" dist="38100" dir="2700000">
              <a:srgbClr val="000000">
                <a:alpha val="12000"/>
              </a:srgbClr>
            </a:outerShdw>
          </a:effectLst>
        </p:spPr>
      </p:sp>
      <p:sp>
        <p:nvSpPr>
          <p:cNvPr id="13" name="Text 11"/>
          <p:cNvSpPr/>
          <p:nvPr/>
        </p:nvSpPr>
        <p:spPr>
          <a:xfrm>
            <a:off x="4846320" y="1097280"/>
            <a:ext cx="3840480" cy="347472"/>
          </a:xfrm>
          <a:prstGeom prst="rect">
            <a:avLst/>
          </a:prstGeom>
          <a:noFill/>
          <a:ln/>
        </p:spPr>
        <p:txBody>
          <a:bodyPr wrap="square" lIns="0" tIns="0" rIns="0" bIns="0" rtlCol="0" anchor="ctr"/>
          <a:lstStyle/>
          <a:p>
            <a:pPr indent="0" marL="0">
              <a:buNone/>
            </a:pPr>
            <a:r>
              <a:rPr lang="en-US" sz="1200" b="1" dirty="0">
                <a:solidFill>
                  <a:srgbClr val="5C2D91"/>
                </a:solidFill>
                <a:latin typeface="Calibri" pitchFamily="34" charset="0"/>
                <a:ea typeface="Calibri" pitchFamily="34" charset="-122"/>
                <a:cs typeface="Calibri" pitchFamily="34" charset="-120"/>
              </a:rPr>
              <a:t>er, ir, or ur</a:t>
            </a:r>
            <a:endParaRPr lang="en-US" sz="1200" dirty="0"/>
          </a:p>
        </p:txBody>
      </p:sp>
      <p:sp>
        <p:nvSpPr>
          <p:cNvPr id="14" name="Text 12"/>
          <p:cNvSpPr/>
          <p:nvPr/>
        </p:nvSpPr>
        <p:spPr>
          <a:xfrm>
            <a:off x="4937760" y="1463040"/>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circle</a:t>
            </a:r>
            <a:endParaRPr lang="en-US" sz="1400" dirty="0"/>
          </a:p>
        </p:txBody>
      </p:sp>
      <p:sp>
        <p:nvSpPr>
          <p:cNvPr id="15" name="Text 13"/>
          <p:cNvSpPr/>
          <p:nvPr/>
        </p:nvSpPr>
        <p:spPr>
          <a:xfrm>
            <a:off x="4937760" y="1810512"/>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birch</a:t>
            </a:r>
            <a:endParaRPr lang="en-US" sz="1400" dirty="0"/>
          </a:p>
        </p:txBody>
      </p:sp>
      <p:sp>
        <p:nvSpPr>
          <p:cNvPr id="16" name="Text 14"/>
          <p:cNvSpPr/>
          <p:nvPr/>
        </p:nvSpPr>
        <p:spPr>
          <a:xfrm>
            <a:off x="4937760" y="2157984"/>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hurdle</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Reading — Ch. 11–15 Review</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CHAPTERS</a:t>
            </a:r>
            <a:endParaRPr lang="en-US" sz="1100" dirty="0"/>
          </a:p>
        </p:txBody>
      </p:sp>
      <p:sp>
        <p:nvSpPr>
          <p:cNvPr id="5" name="Text 3"/>
          <p:cNvSpPr/>
          <p:nvPr/>
        </p:nvSpPr>
        <p:spPr>
          <a:xfrm>
            <a:off x="457200" y="1005840"/>
            <a:ext cx="8229600" cy="502920"/>
          </a:xfrm>
          <a:prstGeom prst="rect">
            <a:avLst/>
          </a:prstGeom>
          <a:noFill/>
          <a:ln/>
        </p:spPr>
        <p:txBody>
          <a:bodyPr wrap="square" lIns="0" tIns="0" rIns="0" bIns="0" rtlCol="0" anchor="ctr"/>
          <a:lstStyle/>
          <a:p>
            <a:pPr indent="0" marL="0">
              <a:buNone/>
            </a:pPr>
            <a:r>
              <a:rPr lang="en-US" sz="1800" b="1" i="1" dirty="0">
                <a:solidFill>
                  <a:srgbClr val="2A0A4A"/>
                </a:solidFill>
                <a:latin typeface="Calibri" pitchFamily="34" charset="0"/>
                <a:ea typeface="Calibri" pitchFamily="34" charset="-122"/>
                <a:cs typeface="Calibri" pitchFamily="34" charset="-120"/>
              </a:rPr>
              <a:t>Review, Response, and Writing Workshop</a:t>
            </a:r>
            <a:endParaRPr lang="en-US" sz="1800" dirty="0"/>
          </a:p>
        </p:txBody>
      </p:sp>
      <p:sp>
        <p:nvSpPr>
          <p:cNvPr id="6" name="Text 4"/>
          <p:cNvSpPr/>
          <p:nvPr/>
        </p:nvSpPr>
        <p:spPr>
          <a:xfrm>
            <a:off x="365760" y="1627632"/>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PAUSE &amp; THINK</a:t>
            </a:r>
            <a:endParaRPr lang="en-US" sz="1100" dirty="0"/>
          </a:p>
        </p:txBody>
      </p:sp>
      <p:sp>
        <p:nvSpPr>
          <p:cNvPr id="7" name="Shape 5"/>
          <p:cNvSpPr/>
          <p:nvPr/>
        </p:nvSpPr>
        <p:spPr>
          <a:xfrm>
            <a:off x="365760" y="1883664"/>
            <a:ext cx="8412480" cy="804672"/>
          </a:xfrm>
          <a:prstGeom prst="roundRect">
            <a:avLst>
              <a:gd name="adj" fmla="val 909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1975104"/>
            <a:ext cx="7863840" cy="621792"/>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1.  When The Whipping Boy sees Jeremy tangled in string and the cat coming, she could have run. She stays and unties him instead. Later, Nicodemus and the rats agree to move her cinderblock house — a dangerous, hours-long job — because she asked for help.</a:t>
            </a:r>
            <a:endParaRPr lang="en-US" sz="1400" dirty="0"/>
          </a:p>
        </p:txBody>
      </p:sp>
      <p:sp>
        <p:nvSpPr>
          <p:cNvPr id="9" name="Shape 7"/>
          <p:cNvSpPr/>
          <p:nvPr/>
        </p:nvSpPr>
        <p:spPr>
          <a:xfrm>
            <a:off x="365760" y="2798064"/>
            <a:ext cx="8412480" cy="804672"/>
          </a:xfrm>
          <a:prstGeom prst="roundRect">
            <a:avLst>
              <a:gd name="adj" fmla="val 909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594360" y="2889504"/>
            <a:ext cx="7863840" cy="621792"/>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2.  Three things happened in Chapters 11–15: the prince gave Jemmy away, Jemmy escaped and met Betsy, and the prince picked up mud flat scraps. Which tells you the most about the prince?</a:t>
            </a:r>
            <a:endParaRPr lang="en-US" sz="1400" dirty="0"/>
          </a:p>
        </p:txBody>
      </p:sp>
      <p:sp>
        <p:nvSpPr>
          <p:cNvPr id="11" name="Shape 9"/>
          <p:cNvSpPr/>
          <p:nvPr/>
        </p:nvSpPr>
        <p:spPr>
          <a:xfrm>
            <a:off x="365760" y="3712464"/>
            <a:ext cx="8412480" cy="658368"/>
          </a:xfrm>
          <a:prstGeom prst="roundRect">
            <a:avLst>
              <a:gd name="adj" fmla="val 1111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12" name="Text 10"/>
          <p:cNvSpPr/>
          <p:nvPr/>
        </p:nvSpPr>
        <p:spPr>
          <a:xfrm>
            <a:off x="594360" y="3803904"/>
            <a:ext cx="7863840" cy="475488"/>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3.  Does Jemmy trust the prince more, less, or the same as in Chapter 1? Use one event as evidence.</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Read like a Reader · Read like a Writer · Mimic</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MENTOR SENTENCE</a:t>
            </a:r>
            <a:endParaRPr lang="en-US" sz="1100" dirty="0"/>
          </a:p>
        </p:txBody>
      </p:sp>
      <p:sp>
        <p:nvSpPr>
          <p:cNvPr id="5" name="Shape 3"/>
          <p:cNvSpPr/>
          <p:nvPr/>
        </p:nvSpPr>
        <p:spPr>
          <a:xfrm>
            <a:off x="365760" y="1042416"/>
            <a:ext cx="8412480" cy="914400"/>
          </a:xfrm>
          <a:prstGeom prst="roundRect">
            <a:avLst>
              <a:gd name="adj" fmla="val 10000"/>
            </a:avLst>
          </a:prstGeom>
          <a:solidFill>
            <a:srgbClr val="F0E8FF"/>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48640" y="1152144"/>
            <a:ext cx="8046720" cy="685800"/>
          </a:xfrm>
          <a:prstGeom prst="rect">
            <a:avLst/>
          </a:prstGeom>
          <a:noFill/>
          <a:ln/>
        </p:spPr>
        <p:txBody>
          <a:bodyPr wrap="square" lIns="0" tIns="0" rIns="0" bIns="0" rtlCol="0" anchor="ctr"/>
          <a:lstStyle/>
          <a:p>
            <a:pPr indent="0" marL="0">
              <a:buNone/>
            </a:pPr>
            <a:r>
              <a:rPr lang="en-US" sz="1800" i="1" dirty="0">
                <a:solidFill>
                  <a:srgbClr val="2A0A4A"/>
                </a:solidFill>
                <a:latin typeface="Calibri" pitchFamily="34" charset="0"/>
                <a:ea typeface="Calibri" pitchFamily="34" charset="-122"/>
                <a:cs typeface="Calibri" pitchFamily="34" charset="-120"/>
              </a:rPr>
              <a:t>"It came to Jemmy that perhaps he had never really looked at the prince before. Not truly."</a:t>
            </a:r>
            <a:endParaRPr lang="en-US" sz="1800" dirty="0"/>
          </a:p>
        </p:txBody>
      </p:sp>
      <p:sp>
        <p:nvSpPr>
          <p:cNvPr id="7" name="Text 5"/>
          <p:cNvSpPr/>
          <p:nvPr/>
        </p:nvSpPr>
        <p:spPr>
          <a:xfrm>
            <a:off x="457200" y="2048256"/>
            <a:ext cx="8229600" cy="347472"/>
          </a:xfrm>
          <a:prstGeom prst="rect">
            <a:avLst/>
          </a:prstGeom>
          <a:noFill/>
          <a:ln/>
        </p:spPr>
        <p:txBody>
          <a:bodyPr wrap="square" lIns="0" tIns="0" rIns="0" bIns="0" rtlCol="0" anchor="ctr"/>
          <a:lstStyle/>
          <a:p>
            <a:pPr indent="0" marL="0">
              <a:buNone/>
            </a:pPr>
            <a:r>
              <a:rPr lang="en-US" sz="1300" i="1" dirty="0">
                <a:solidFill>
                  <a:srgbClr val="5C2D91"/>
                </a:solidFill>
                <a:latin typeface="Calibri" pitchFamily="34" charset="0"/>
                <a:ea typeface="Calibri" pitchFamily="34" charset="-122"/>
                <a:cs typeface="Calibri" pitchFamily="34" charset="-120"/>
              </a:rPr>
              <a:t>📌 Craft focus: fragment as addition — Not truly adds depth</a:t>
            </a:r>
            <a:endParaRPr lang="en-US" sz="1300" dirty="0"/>
          </a:p>
        </p:txBody>
      </p:sp>
      <p:sp>
        <p:nvSpPr>
          <p:cNvPr id="8" name="Text 6"/>
          <p:cNvSpPr/>
          <p:nvPr/>
        </p:nvSpPr>
        <p:spPr>
          <a:xfrm>
            <a:off x="365760" y="2487168"/>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YOUR THREE JOBS</a:t>
            </a:r>
            <a:endParaRPr lang="en-US" sz="1100" dirty="0"/>
          </a:p>
        </p:txBody>
      </p:sp>
      <p:sp>
        <p:nvSpPr>
          <p:cNvPr id="9" name="Shape 7"/>
          <p:cNvSpPr/>
          <p:nvPr/>
        </p:nvSpPr>
        <p:spPr>
          <a:xfrm>
            <a:off x="365760" y="2724912"/>
            <a:ext cx="8412480" cy="438912"/>
          </a:xfrm>
          <a:prstGeom prst="roundRect">
            <a:avLst>
              <a:gd name="adj" fmla="val 20833"/>
            </a:avLst>
          </a:prstGeom>
          <a:solidFill>
            <a:srgbClr val="E5F7FC"/>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779776"/>
            <a:ext cx="2560320" cy="329184"/>
          </a:xfrm>
          <a:prstGeom prst="rect">
            <a:avLst/>
          </a:prstGeom>
          <a:noFill/>
          <a:ln/>
        </p:spPr>
        <p:txBody>
          <a:bodyPr wrap="square" lIns="0" tIns="0" rIns="0" bIns="0" rtlCol="0" anchor="ctr"/>
          <a:lstStyle/>
          <a:p>
            <a:pPr indent="0" marL="0">
              <a:buNone/>
            </a:pPr>
            <a:r>
              <a:rPr lang="en-US" sz="1300" b="1" dirty="0">
                <a:solidFill>
                  <a:srgbClr val="2A0A4A"/>
                </a:solidFill>
                <a:latin typeface="Calibri" pitchFamily="34" charset="0"/>
                <a:ea typeface="Calibri" pitchFamily="34" charset="-122"/>
                <a:cs typeface="Calibri" pitchFamily="34" charset="-120"/>
              </a:rPr>
              <a:t>📖 Read like a Reader</a:t>
            </a:r>
            <a:endParaRPr lang="en-US" sz="1300" dirty="0"/>
          </a:p>
        </p:txBody>
      </p:sp>
      <p:sp>
        <p:nvSpPr>
          <p:cNvPr id="11" name="Text 9"/>
          <p:cNvSpPr/>
          <p:nvPr/>
        </p:nvSpPr>
        <p:spPr>
          <a:xfrm>
            <a:off x="3246120" y="2779776"/>
            <a:ext cx="5394960" cy="329184"/>
          </a:xfrm>
          <a:prstGeom prst="rect">
            <a:avLst/>
          </a:prstGeom>
          <a:noFill/>
          <a:ln/>
        </p:spPr>
        <p:txBody>
          <a:bodyPr wrap="square" lIns="0" tIns="0" rIns="0" bIns="0" rtlCol="0" anchor="ctr"/>
          <a:lstStyle/>
          <a:p>
            <a:pPr indent="0" marL="0">
              <a:buNone/>
            </a:pPr>
            <a:r>
              <a:rPr lang="en-US" sz="1200" dirty="0">
                <a:solidFill>
                  <a:srgbClr val="1E293B"/>
                </a:solidFill>
                <a:latin typeface="Calibri" pitchFamily="34" charset="0"/>
                <a:ea typeface="Calibri" pitchFamily="34" charset="-122"/>
                <a:cs typeface="Calibri" pitchFamily="34" charset="-120"/>
              </a:rPr>
              <a:t>What is happening here? What does this moment reveal about the character?</a:t>
            </a:r>
            <a:endParaRPr lang="en-US" sz="1200" dirty="0"/>
          </a:p>
        </p:txBody>
      </p:sp>
      <p:sp>
        <p:nvSpPr>
          <p:cNvPr id="12" name="Shape 10"/>
          <p:cNvSpPr/>
          <p:nvPr/>
        </p:nvSpPr>
        <p:spPr>
          <a:xfrm>
            <a:off x="365760" y="3227832"/>
            <a:ext cx="8412480" cy="438912"/>
          </a:xfrm>
          <a:prstGeom prst="roundRect">
            <a:avLst>
              <a:gd name="adj" fmla="val 20833"/>
            </a:avLst>
          </a:prstGeom>
          <a:solidFill>
            <a:srgbClr val="F0E8FF"/>
          </a:solidFill>
          <a:ln/>
          <a:effectLst>
            <a:outerShdw sx="100000" sy="100000" kx="0" ky="0" algn="bl" rotWithShape="0" blurRad="101600" dist="38100" dir="2700000">
              <a:srgbClr val="000000">
                <a:alpha val="12000"/>
              </a:srgbClr>
            </a:outerShdw>
          </a:effectLst>
        </p:spPr>
      </p:sp>
      <p:sp>
        <p:nvSpPr>
          <p:cNvPr id="13" name="Text 11"/>
          <p:cNvSpPr/>
          <p:nvPr/>
        </p:nvSpPr>
        <p:spPr>
          <a:xfrm>
            <a:off x="594360" y="3282696"/>
            <a:ext cx="2560320" cy="329184"/>
          </a:xfrm>
          <a:prstGeom prst="rect">
            <a:avLst/>
          </a:prstGeom>
          <a:noFill/>
          <a:ln/>
        </p:spPr>
        <p:txBody>
          <a:bodyPr wrap="square" lIns="0" tIns="0" rIns="0" bIns="0" rtlCol="0" anchor="ctr"/>
          <a:lstStyle/>
          <a:p>
            <a:pPr indent="0" marL="0">
              <a:buNone/>
            </a:pPr>
            <a:r>
              <a:rPr lang="en-US" sz="1300" b="1" dirty="0">
                <a:solidFill>
                  <a:srgbClr val="2A0A4A"/>
                </a:solidFill>
                <a:latin typeface="Calibri" pitchFamily="34" charset="0"/>
                <a:ea typeface="Calibri" pitchFamily="34" charset="-122"/>
                <a:cs typeface="Calibri" pitchFamily="34" charset="-120"/>
              </a:rPr>
              <a:t>✏️ Read like a Writer</a:t>
            </a:r>
            <a:endParaRPr lang="en-US" sz="1300" dirty="0"/>
          </a:p>
        </p:txBody>
      </p:sp>
      <p:sp>
        <p:nvSpPr>
          <p:cNvPr id="14" name="Text 12"/>
          <p:cNvSpPr/>
          <p:nvPr/>
        </p:nvSpPr>
        <p:spPr>
          <a:xfrm>
            <a:off x="3246120" y="3282696"/>
            <a:ext cx="5394960" cy="329184"/>
          </a:xfrm>
          <a:prstGeom prst="rect">
            <a:avLst/>
          </a:prstGeom>
          <a:noFill/>
          <a:ln/>
        </p:spPr>
        <p:txBody>
          <a:bodyPr wrap="square" lIns="0" tIns="0" rIns="0" bIns="0" rtlCol="0" anchor="ctr"/>
          <a:lstStyle/>
          <a:p>
            <a:pPr indent="0" marL="0">
              <a:buNone/>
            </a:pPr>
            <a:r>
              <a:rPr lang="en-US" sz="1200" dirty="0">
                <a:solidFill>
                  <a:srgbClr val="1E293B"/>
                </a:solidFill>
                <a:latin typeface="Calibri" pitchFamily="34" charset="0"/>
                <a:ea typeface="Calibri" pitchFamily="34" charset="-122"/>
                <a:cs typeface="Calibri" pitchFamily="34" charset="-120"/>
              </a:rPr>
              <a:t>What did the author do? Name the craft technique and explain why it works.</a:t>
            </a:r>
            <a:endParaRPr lang="en-US" sz="1200" dirty="0"/>
          </a:p>
        </p:txBody>
      </p:sp>
      <p:sp>
        <p:nvSpPr>
          <p:cNvPr id="15" name="Shape 13"/>
          <p:cNvSpPr/>
          <p:nvPr/>
        </p:nvSpPr>
        <p:spPr>
          <a:xfrm>
            <a:off x="365760" y="3730752"/>
            <a:ext cx="8412480" cy="438912"/>
          </a:xfrm>
          <a:prstGeom prst="roundRect">
            <a:avLst>
              <a:gd name="adj" fmla="val 20833"/>
            </a:avLst>
          </a:prstGeom>
          <a:solidFill>
            <a:srgbClr val="E8F8EF"/>
          </a:solidFill>
          <a:ln/>
          <a:effectLst>
            <a:outerShdw sx="100000" sy="100000" kx="0" ky="0" algn="bl" rotWithShape="0" blurRad="101600" dist="38100" dir="2700000">
              <a:srgbClr val="000000">
                <a:alpha val="12000"/>
              </a:srgbClr>
            </a:outerShdw>
          </a:effectLst>
        </p:spPr>
      </p:sp>
      <p:sp>
        <p:nvSpPr>
          <p:cNvPr id="16" name="Text 14"/>
          <p:cNvSpPr/>
          <p:nvPr/>
        </p:nvSpPr>
        <p:spPr>
          <a:xfrm>
            <a:off x="594360" y="3785616"/>
            <a:ext cx="2560320" cy="329184"/>
          </a:xfrm>
          <a:prstGeom prst="rect">
            <a:avLst/>
          </a:prstGeom>
          <a:noFill/>
          <a:ln/>
        </p:spPr>
        <p:txBody>
          <a:bodyPr wrap="square" lIns="0" tIns="0" rIns="0" bIns="0" rtlCol="0" anchor="ctr"/>
          <a:lstStyle/>
          <a:p>
            <a:pPr indent="0" marL="0">
              <a:buNone/>
            </a:pPr>
            <a:r>
              <a:rPr lang="en-US" sz="1300" b="1" dirty="0">
                <a:solidFill>
                  <a:srgbClr val="2A0A4A"/>
                </a:solidFill>
                <a:latin typeface="Calibri" pitchFamily="34" charset="0"/>
                <a:ea typeface="Calibri" pitchFamily="34" charset="-122"/>
                <a:cs typeface="Calibri" pitchFamily="34" charset="-120"/>
              </a:rPr>
              <a:t>🖊️ Mimic</a:t>
            </a:r>
            <a:endParaRPr lang="en-US" sz="1300" dirty="0"/>
          </a:p>
        </p:txBody>
      </p:sp>
      <p:sp>
        <p:nvSpPr>
          <p:cNvPr id="17" name="Text 15"/>
          <p:cNvSpPr/>
          <p:nvPr/>
        </p:nvSpPr>
        <p:spPr>
          <a:xfrm>
            <a:off x="3246120" y="3785616"/>
            <a:ext cx="5394960" cy="329184"/>
          </a:xfrm>
          <a:prstGeom prst="rect">
            <a:avLst/>
          </a:prstGeom>
          <a:noFill/>
          <a:ln/>
        </p:spPr>
        <p:txBody>
          <a:bodyPr wrap="square" lIns="0" tIns="0" rIns="0" bIns="0" rtlCol="0" anchor="ctr"/>
          <a:lstStyle/>
          <a:p>
            <a:pPr indent="0" marL="0">
              <a:buNone/>
            </a:pPr>
            <a:r>
              <a:rPr lang="en-US" sz="1200" dirty="0">
                <a:solidFill>
                  <a:srgbClr val="1E293B"/>
                </a:solidFill>
                <a:latin typeface="Calibri" pitchFamily="34" charset="0"/>
                <a:ea typeface="Calibri" pitchFamily="34" charset="-122"/>
                <a:cs typeface="Calibri" pitchFamily="34" charset="-120"/>
              </a:rPr>
              <a:t>Write your own sentence using the same pattern as the author.</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Writer's Workshop — Week 20</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WRITING STAGE</a:t>
            </a:r>
            <a:endParaRPr lang="en-US" sz="1100" dirty="0"/>
          </a:p>
        </p:txBody>
      </p:sp>
      <p:sp>
        <p:nvSpPr>
          <p:cNvPr id="5" name="Shape 3"/>
          <p:cNvSpPr/>
          <p:nvPr/>
        </p:nvSpPr>
        <p:spPr>
          <a:xfrm>
            <a:off x="365760" y="1042416"/>
            <a:ext cx="8412480" cy="658368"/>
          </a:xfrm>
          <a:prstGeom prst="roundRect">
            <a:avLst>
              <a:gd name="adj" fmla="val 13889"/>
            </a:avLst>
          </a:prstGeom>
          <a:solidFill>
            <a:srgbClr val="FFF8E8"/>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133856"/>
            <a:ext cx="7863840" cy="475488"/>
          </a:xfrm>
          <a:prstGeom prst="rect">
            <a:avLst/>
          </a:prstGeom>
          <a:noFill/>
          <a:ln/>
        </p:spPr>
        <p:txBody>
          <a:bodyPr wrap="square" lIns="0" tIns="0" rIns="0" bIns="0" rtlCol="0" anchor="ctr"/>
          <a:lstStyle/>
          <a:p>
            <a:pPr indent="0" marL="0">
              <a:buNone/>
            </a:pPr>
            <a:r>
              <a:rPr lang="en-US" sz="2200" b="1" dirty="0">
                <a:solidFill>
                  <a:srgbClr val="B8860B"/>
                </a:solidFill>
                <a:latin typeface="Calibri" pitchFamily="34" charset="0"/>
                <a:ea typeface="Calibri" pitchFamily="34" charset="-122"/>
                <a:cs typeface="Calibri" pitchFamily="34" charset="-120"/>
              </a:rPr>
              <a:t>✍️ Draft</a:t>
            </a:r>
            <a:endParaRPr lang="en-US" sz="2200" dirty="0"/>
          </a:p>
        </p:txBody>
      </p:sp>
      <p:sp>
        <p:nvSpPr>
          <p:cNvPr id="7" name="Text 5"/>
          <p:cNvSpPr/>
          <p:nvPr/>
        </p:nvSpPr>
        <p:spPr>
          <a:xfrm>
            <a:off x="365760" y="182880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TODAY'S FOCUS</a:t>
            </a:r>
            <a:endParaRPr lang="en-US" sz="1100" dirty="0"/>
          </a:p>
        </p:txBody>
      </p:sp>
      <p:sp>
        <p:nvSpPr>
          <p:cNvPr id="8" name="Text 6"/>
          <p:cNvSpPr/>
          <p:nvPr/>
        </p:nvSpPr>
        <p:spPr>
          <a:xfrm>
            <a:off x="457200" y="2084832"/>
            <a:ext cx="8229600" cy="59436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Opinion: draft your full paragraph — claim + reasons + closing.</a:t>
            </a:r>
            <a:endParaRPr lang="en-US" sz="1500" dirty="0"/>
          </a:p>
        </p:txBody>
      </p:sp>
      <p:sp>
        <p:nvSpPr>
          <p:cNvPr id="9" name="Text 7"/>
          <p:cNvSpPr/>
          <p:nvPr/>
        </p:nvSpPr>
        <p:spPr>
          <a:xfrm>
            <a:off x="365760" y="2798064"/>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SENTENCE FRAMES</a:t>
            </a:r>
            <a:endParaRPr lang="en-US" sz="1100" dirty="0"/>
          </a:p>
        </p:txBody>
      </p:sp>
      <p:sp>
        <p:nvSpPr>
          <p:cNvPr id="10" name="Text 8"/>
          <p:cNvSpPr/>
          <p:nvPr/>
        </p:nvSpPr>
        <p:spPr>
          <a:xfrm>
            <a:off x="502920" y="3054096"/>
            <a:ext cx="8229600" cy="41148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  "I believe ___ because ___. For example, ___. This shows that ___."</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2026-07-11T02:16:32Z</dcterms:created>
  <dcterms:modified xsi:type="dcterms:W3CDTF">2026-07-11T02:16:32Z</dcterms:modified>
</cp:coreProperties>
</file>