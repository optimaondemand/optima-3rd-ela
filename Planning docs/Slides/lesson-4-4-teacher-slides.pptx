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4.4. Reading: Whole Book + 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compare stories with informational texts to see how fiction and nonfiction explore the same topics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“Perhaps people can’t help staring at what is different ,” said Mrs. Lambchop, “but they can try to be kind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“Perhaps people can’t help staring at what is different ,” said Mrs. Lambchop, “but they can try to be kind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pacific, Stanley, Mississippi, Arthur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pacific, Stanley, Mississippi, Arthur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Flat Stanley</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55C8E8"/>
                </a:solidFill>
                <a:latin typeface="Calibri" pitchFamily="34" charset="0"/>
                <a:ea typeface="Calibri" pitchFamily="34" charset="-122"/>
                <a:cs typeface="Calibri" pitchFamily="34" charset="-120"/>
              </a:rPr>
              <a:t>Lesson 4.4  ·  Whole Book + Extensions</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Which is better for learning about a place — a story or a fact page? Write what you think and why.</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Which is better for learning about a place — a story or a fact page? Write what you think and why.</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read my writing out loud to check that it makes sense?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Whole Book + Extensions</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Flat Stanley is fiction, but it touches on real topics like mailing packages, visiting museums, and being different. What is one thing you learned from an extension text that made you understand Stanley's story better?</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compare stories with informational texts to see how fiction and nonfiction explore the same topics differently.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“Shame on them,” Mrs. Lambchop said. “It is wrong to dislike people for their shapes.”</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perhaps people cant help staring at what is different said mrs lambchop but they can try to be kind</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“Shame on them,” Mrs. Lambchop said. “It is wrong to dislike people for their shapes.”</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perhaps people cant help staring at what is different said mrs lambchop but they can try to be kind</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Corrected:</a:t>
            </a:r>
            <a:endParaRPr lang="en-US" sz="1400" dirty="0"/>
          </a:p>
          <a:p>
            <a:pPr indent="0" marL="0">
              <a:buNone/>
            </a:pP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“Perhaps people can’t help staring at what is different ,” said Mrs. Lambchop, “but they can try to be kind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PREFIX PRE- MEANS BEFORE</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The prefix pre- means before . When you add pre- to a word, it changes the meaning to "before [that word]."</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Dice Roll Challenge! Roll the dice and explain the pre- word you land on. What does the prefix do to the meaning?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PROPER NOUNS AND CAPITALIZATION</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pacific Ocean borders the coast.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Stanley travelled in an envelope.</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We live near the Mississippi River.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A boy named Arthur had a good idea.</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Tap the proper noun . Be ready to explain why it needs a capital letter. Tap to check — green means you got it.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PROPER NOUNS AND CAPITALIZATION</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a:t>
            </a:r>
            <a:pPr indent="0" marL="0">
              <a:buNone/>
            </a:pPr>
            <a:r>
              <a:rPr lang="en-US" sz="1600" b="1" dirty="0">
                <a:solidFill>
                  <a:srgbClr val="34B76F"/>
                </a:solidFill>
                <a:latin typeface="Calibri" pitchFamily="34" charset="0"/>
                <a:ea typeface="Calibri" pitchFamily="34" charset="-122"/>
                <a:cs typeface="Calibri" pitchFamily="34" charset="-120"/>
              </a:rPr>
              <a:t>pacific</a:t>
            </a:r>
            <a:pPr indent="0" marL="0">
              <a:buNone/>
            </a:pPr>
            <a:r>
              <a:rPr lang="en-US" sz="1600" dirty="0">
                <a:solidFill>
                  <a:srgbClr val="1E293B"/>
                </a:solidFill>
                <a:latin typeface="Calibri" pitchFamily="34" charset="0"/>
                <a:ea typeface="Calibri" pitchFamily="34" charset="-122"/>
                <a:cs typeface="Calibri" pitchFamily="34" charset="-120"/>
              </a:rPr>
              <a:t> Ocean borders the coast.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Stanley</a:t>
            </a:r>
            <a:pPr indent="0" marL="0">
              <a:buNone/>
            </a:pPr>
            <a:r>
              <a:rPr lang="en-US" sz="1600" dirty="0">
                <a:solidFill>
                  <a:srgbClr val="1E293B"/>
                </a:solidFill>
                <a:latin typeface="Calibri" pitchFamily="34" charset="0"/>
                <a:ea typeface="Calibri" pitchFamily="34" charset="-122"/>
                <a:cs typeface="Calibri" pitchFamily="34" charset="-120"/>
              </a:rPr>
              <a:t> travelled in an envelope.</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We live near the </a:t>
            </a:r>
            <a:pPr indent="0" marL="0">
              <a:buNone/>
            </a:pPr>
            <a:r>
              <a:rPr lang="en-US" sz="1600" b="1" dirty="0">
                <a:solidFill>
                  <a:srgbClr val="34B76F"/>
                </a:solidFill>
                <a:latin typeface="Calibri" pitchFamily="34" charset="0"/>
                <a:ea typeface="Calibri" pitchFamily="34" charset="-122"/>
                <a:cs typeface="Calibri" pitchFamily="34" charset="-120"/>
              </a:rPr>
              <a:t>Mississippi</a:t>
            </a:r>
            <a:pPr indent="0" marL="0">
              <a:buNone/>
            </a:pPr>
            <a:r>
              <a:rPr lang="en-US" sz="1600" dirty="0">
                <a:solidFill>
                  <a:srgbClr val="1E293B"/>
                </a:solidFill>
                <a:latin typeface="Calibri" pitchFamily="34" charset="0"/>
                <a:ea typeface="Calibri" pitchFamily="34" charset="-122"/>
                <a:cs typeface="Calibri" pitchFamily="34" charset="-120"/>
              </a:rPr>
              <a:t> River.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A boy named </a:t>
            </a:r>
            <a:pPr indent="0" marL="0">
              <a:buNone/>
            </a:pPr>
            <a:r>
              <a:rPr lang="en-US" sz="1600" b="1" dirty="0">
                <a:solidFill>
                  <a:srgbClr val="34B76F"/>
                </a:solidFill>
                <a:latin typeface="Calibri" pitchFamily="34" charset="0"/>
                <a:ea typeface="Calibri" pitchFamily="34" charset="-122"/>
                <a:cs typeface="Calibri" pitchFamily="34" charset="-120"/>
              </a:rPr>
              <a:t>Arthur</a:t>
            </a:r>
            <a:pPr indent="0" marL="0">
              <a:buNone/>
            </a:pPr>
            <a:r>
              <a:rPr lang="en-US" sz="1600" dirty="0">
                <a:solidFill>
                  <a:srgbClr val="1E293B"/>
                </a:solidFill>
                <a:latin typeface="Calibri" pitchFamily="34" charset="0"/>
                <a:ea typeface="Calibri" pitchFamily="34" charset="-122"/>
                <a:cs typeface="Calibri" pitchFamily="34" charset="-120"/>
              </a:rPr>
              <a:t> had a good idea.</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Whole Book + Extensions</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6" name="Text 4"/>
          <p:cNvSpPr/>
          <p:nvPr/>
        </p:nvSpPr>
        <p:spPr>
          <a:xfrm>
            <a:off x="365760" y="171907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Stop after the article defines informational text — headings, facts and details. Name one thing you learned only from the story, and one thing you learned only from the articles this week.</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