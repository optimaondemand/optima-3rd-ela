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4.4. Reading: Whole Book + Extensions.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prompt aloud. Give students a moment to think before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minutes of sustained writing. Stamina over polish. Do not correct spelling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fix only. Editing is conventions; revision is ideas. Name which one you are asking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or three volunteers. Praise something specific in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lens: Good readers compare stories with informational texts to see how fiction and nonfiction explore the same topics differently.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Corrected: Corrected: 
Look for: “Perhaps people can’t help staring at what is different ,” said Mrs. Lambchop, “but they can try to be kind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Corrected: Corrected: 
Look for: “Perhaps people can’t help staring at what is different ,” said Mrs. Lambchop, “but they can try to be kind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Break the word into base + word part. Ask what the part adds to the meaning.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pacific, Stanley, Mississippi, Arthur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pacific, Stanley, Mississippi, Arthur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chapters, then return to the pause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C42"/>
        </a:solidFill>
      </p:bgPr>
    </p:bg>
    <p:spTree>
      <p:nvGrpSpPr>
        <p:cNvPr id="1" name=""/>
        <p:cNvGrpSpPr/>
        <p:nvPr/>
      </p:nvGrpSpPr>
      <p:grpSpPr>
        <a:xfrm>
          <a:off x="0" y="0"/>
          <a:ext cx="0" cy="0"/>
          <a:chOff x="0" y="0"/>
          <a:chExt cx="0" cy="0"/>
        </a:xfrm>
      </p:grpSpPr>
      <p:sp>
        <p:nvSpPr>
          <p:cNvPr id="2" name="Text 0"/>
          <p:cNvSpPr/>
          <p:nvPr/>
        </p:nvSpPr>
        <p:spPr>
          <a:xfrm>
            <a:off x="0" y="822960"/>
            <a:ext cx="9144000" cy="822960"/>
          </a:xfrm>
          <a:prstGeom prst="rect">
            <a:avLst/>
          </a:prstGeom>
          <a:noFill/>
          <a:ln/>
        </p:spPr>
        <p:txBody>
          <a:bodyPr wrap="square" lIns="0" tIns="0" rIns="0" bIns="0" rtlCol="0" anchor="ctr"/>
          <a:lstStyle/>
          <a:p>
            <a:pPr algn="ctr" indent="0" marL="0">
              <a:buNone/>
            </a:pPr>
            <a:r>
              <a:rPr lang="en-US" sz="5200" dirty="0">
                <a:solidFill>
                  <a:srgbClr val="000000"/>
                </a:solidFill>
              </a:rPr>
              <a:t>⭐</a:t>
            </a:r>
            <a:endParaRPr lang="en-US" sz="5200" dirty="0"/>
          </a:p>
        </p:txBody>
      </p:sp>
      <p:sp>
        <p:nvSpPr>
          <p:cNvPr id="3" name="Text 1"/>
          <p:cNvSpPr/>
          <p:nvPr/>
        </p:nvSpPr>
        <p:spPr>
          <a:xfrm>
            <a:off x="457200" y="1691640"/>
            <a:ext cx="8229600" cy="566928"/>
          </a:xfrm>
          <a:prstGeom prst="rect">
            <a:avLst/>
          </a:prstGeom>
          <a:noFill/>
          <a:ln/>
        </p:spPr>
        <p:txBody>
          <a:bodyPr wrap="square" lIns="0" tIns="0" rIns="0" bIns="0" rtlCol="0" anchor="ctr"/>
          <a:lstStyle/>
          <a:p>
            <a:pPr algn="ctr" indent="0" marL="0">
              <a:buNone/>
            </a:pPr>
            <a:r>
              <a:rPr lang="en-US" sz="3400" b="1" dirty="0">
                <a:solidFill>
                  <a:srgbClr val="FFFFFF"/>
                </a:solidFill>
                <a:latin typeface="Calibri" pitchFamily="34" charset="0"/>
                <a:ea typeface="Calibri" pitchFamily="34" charset="-122"/>
                <a:cs typeface="Calibri" pitchFamily="34" charset="-120"/>
              </a:rPr>
              <a:t>Flat Stanley</a:t>
            </a:r>
            <a:endParaRPr lang="en-US" sz="3400" dirty="0"/>
          </a:p>
        </p:txBody>
      </p:sp>
      <p:sp>
        <p:nvSpPr>
          <p:cNvPr id="4" name="Text 2"/>
          <p:cNvSpPr/>
          <p:nvPr/>
        </p:nvSpPr>
        <p:spPr>
          <a:xfrm>
            <a:off x="457200" y="2331720"/>
            <a:ext cx="8229600" cy="411480"/>
          </a:xfrm>
          <a:prstGeom prst="rect">
            <a:avLst/>
          </a:prstGeom>
          <a:noFill/>
          <a:ln/>
        </p:spPr>
        <p:txBody>
          <a:bodyPr wrap="square" lIns="0" tIns="0" rIns="0" bIns="0" rtlCol="0" anchor="ctr"/>
          <a:lstStyle/>
          <a:p>
            <a:pPr algn="ctr" indent="0" marL="0">
              <a:buNone/>
            </a:pPr>
            <a:r>
              <a:rPr lang="en-US" sz="2000" dirty="0">
                <a:solidFill>
                  <a:srgbClr val="55C8E8"/>
                </a:solidFill>
                <a:latin typeface="Calibri" pitchFamily="34" charset="0"/>
                <a:ea typeface="Calibri" pitchFamily="34" charset="-122"/>
                <a:cs typeface="Calibri" pitchFamily="34" charset="-120"/>
              </a:rPr>
              <a:t>Lesson 4.4  ·  Whole Book + Extensions</a:t>
            </a:r>
            <a:endParaRPr lang="en-US" sz="2000" dirty="0"/>
          </a:p>
        </p:txBody>
      </p:sp>
      <p:sp>
        <p:nvSpPr>
          <p:cNvPr id="5" name="Text 3"/>
          <p:cNvSpPr/>
          <p:nvPr/>
        </p:nvSpPr>
        <p:spPr>
          <a:xfrm>
            <a:off x="457200" y="2880360"/>
            <a:ext cx="8229600" cy="320040"/>
          </a:xfrm>
          <a:prstGeom prst="rect">
            <a:avLst/>
          </a:prstGeom>
          <a:noFill/>
          <a:ln/>
        </p:spPr>
        <p:txBody>
          <a:bodyPr wrap="square" lIns="0" tIns="0" rIns="0" bIns="0" rtlCol="0" anchor="ctr"/>
          <a:lstStyle/>
          <a:p>
            <a:pPr algn="ctr" indent="0" marL="0">
              <a:buNone/>
            </a:pPr>
            <a:r>
              <a:rPr lang="en-US" sz="1400" dirty="0">
                <a:solidFill>
                  <a:srgbClr val="C9BCE4"/>
                </a:solidFill>
                <a:latin typeface="Calibri" pitchFamily="34" charset="0"/>
                <a:ea typeface="Calibri" pitchFamily="34" charset="-122"/>
                <a:cs typeface="Calibri" pitchFamily="34" charset="-120"/>
              </a:rPr>
              <a:t>Grade 3 ELA  ·  Virtue: Courage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C7922C"/>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10-Minute Write</a:t>
            </a:r>
            <a:endParaRPr lang="en-US" sz="2200" dirty="0"/>
          </a:p>
        </p:txBody>
      </p:sp>
      <p:sp>
        <p:nvSpPr>
          <p:cNvPr id="4" name="Text 2"/>
          <p:cNvSpPr/>
          <p:nvPr/>
        </p:nvSpPr>
        <p:spPr>
          <a:xfrm>
            <a:off x="365760" y="822960"/>
            <a:ext cx="8229600" cy="237744"/>
          </a:xfrm>
          <a:prstGeom prst="rect">
            <a:avLst/>
          </a:prstGeom>
          <a:noFill/>
          <a:ln/>
        </p:spPr>
        <p:txBody>
          <a:bodyPr wrap="square" lIns="0" tIns="0" rIns="0" bIns="0" rtlCol="0" anchor="ctr"/>
          <a:lstStyle/>
          <a:p>
            <a:pPr indent="0" marL="0">
              <a:buNone/>
            </a:pPr>
            <a:r>
              <a:rPr lang="en-US" sz="1100" b="1" spc="100" kern="0" dirty="0">
                <a:solidFill>
                  <a:srgbClr val="C7922C"/>
                </a:solidFill>
                <a:latin typeface="Calibri" pitchFamily="34" charset="0"/>
                <a:ea typeface="Calibri" pitchFamily="34" charset="-122"/>
                <a:cs typeface="Calibri" pitchFamily="34" charset="-120"/>
              </a:rPr>
              <a:t>READ THE PROMPT — 1 MINUTE</a:t>
            </a:r>
            <a:endParaRPr lang="en-US" sz="1100" dirty="0"/>
          </a:p>
        </p:txBody>
      </p:sp>
      <p:sp>
        <p:nvSpPr>
          <p:cNvPr id="5" name="Shape 3"/>
          <p:cNvSpPr/>
          <p:nvPr/>
        </p:nvSpPr>
        <p:spPr>
          <a:xfrm>
            <a:off x="365760" y="1143000"/>
            <a:ext cx="8412480" cy="1737360"/>
          </a:xfrm>
          <a:prstGeom prst="roundRect">
            <a:avLst>
              <a:gd name="adj" fmla="val 5263"/>
            </a:avLst>
          </a:prstGeom>
          <a:solidFill>
            <a:srgbClr val="FEF6E8"/>
          </a:solidFill>
          <a:ln w="19050">
            <a:solidFill>
              <a:srgbClr val="C7922C"/>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94360" y="1271016"/>
            <a:ext cx="7955280" cy="148132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Which is better for learning about a place — a story or a fact page? Write what you think and why.</a:t>
            </a:r>
            <a:endParaRPr lang="en-US" sz="1700" dirty="0"/>
          </a:p>
        </p:txBody>
      </p:sp>
      <p:sp>
        <p:nvSpPr>
          <p:cNvPr id="7" name="Text 5"/>
          <p:cNvSpPr/>
          <p:nvPr/>
        </p:nvSpPr>
        <p:spPr>
          <a:xfrm>
            <a:off x="365760" y="3063240"/>
            <a:ext cx="8412480" cy="365760"/>
          </a:xfrm>
          <a:prstGeom prst="rect">
            <a:avLst/>
          </a:prstGeom>
          <a:noFill/>
          <a:ln/>
        </p:spPr>
        <p:txBody>
          <a:bodyPr wrap="square" lIns="0" tIns="0" rIns="0" bIns="0" rtlCol="0" anchor="ctr"/>
          <a:lstStyle/>
          <a:p>
            <a:pPr indent="0" marL="0">
              <a:buNone/>
            </a:pPr>
            <a:r>
              <a:rPr lang="en-US" sz="1600" i="1" dirty="0">
                <a:solidFill>
                  <a:srgbClr val="64748B"/>
                </a:solidFill>
                <a:latin typeface="Calibri" pitchFamily="34" charset="0"/>
                <a:ea typeface="Calibri" pitchFamily="34" charset="-122"/>
                <a:cs typeface="Calibri" pitchFamily="34" charset="-120"/>
              </a:rPr>
              <a:t>Think first. You will have five minutes to write.</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EF6E8"/>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C7922C"/>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Writing Time</a:t>
            </a:r>
            <a:endParaRPr lang="en-US" sz="2200" dirty="0"/>
          </a:p>
        </p:txBody>
      </p:sp>
      <p:sp>
        <p:nvSpPr>
          <p:cNvPr id="4" name="Text 2"/>
          <p:cNvSpPr/>
          <p:nvPr/>
        </p:nvSpPr>
        <p:spPr>
          <a:xfrm>
            <a:off x="365760" y="868680"/>
            <a:ext cx="8412480" cy="502920"/>
          </a:xfrm>
          <a:prstGeom prst="rect">
            <a:avLst/>
          </a:prstGeom>
          <a:noFill/>
          <a:ln/>
        </p:spPr>
        <p:txBody>
          <a:bodyPr wrap="square" lIns="0" tIns="0" rIns="0" bIns="0" rtlCol="0" anchor="ctr"/>
          <a:lstStyle/>
          <a:p>
            <a:pPr indent="0" marL="0">
              <a:buNone/>
            </a:pPr>
            <a:r>
              <a:rPr lang="en-US" sz="2600" b="1" dirty="0">
                <a:solidFill>
                  <a:srgbClr val="0E1C42"/>
                </a:solidFill>
                <a:latin typeface="Calibri" pitchFamily="34" charset="0"/>
                <a:ea typeface="Calibri" pitchFamily="34" charset="-122"/>
                <a:cs typeface="Calibri" pitchFamily="34" charset="-120"/>
              </a:rPr>
              <a:t>5 minutes — keep your pencil moving!</a:t>
            </a:r>
            <a:endParaRPr lang="en-US" sz="2600" dirty="0"/>
          </a:p>
        </p:txBody>
      </p:sp>
      <p:sp>
        <p:nvSpPr>
          <p:cNvPr id="5" name="Text 3"/>
          <p:cNvSpPr/>
          <p:nvPr/>
        </p:nvSpPr>
        <p:spPr>
          <a:xfrm>
            <a:off x="365760" y="1463040"/>
            <a:ext cx="8229600" cy="237744"/>
          </a:xfrm>
          <a:prstGeom prst="rect">
            <a:avLst/>
          </a:prstGeom>
          <a:noFill/>
          <a:ln/>
        </p:spPr>
        <p:txBody>
          <a:bodyPr wrap="square" lIns="0" tIns="0" rIns="0" bIns="0" rtlCol="0" anchor="ctr"/>
          <a:lstStyle/>
          <a:p>
            <a:pPr indent="0" marL="0">
              <a:buNone/>
            </a:pPr>
            <a:r>
              <a:rPr lang="en-US" sz="1100" b="1" spc="100" kern="0" dirty="0">
                <a:solidFill>
                  <a:srgbClr val="C7922C"/>
                </a:solidFill>
                <a:latin typeface="Calibri" pitchFamily="34" charset="0"/>
                <a:ea typeface="Calibri" pitchFamily="34" charset="-122"/>
                <a:cs typeface="Calibri" pitchFamily="34" charset="-120"/>
              </a:rPr>
              <a:t>YOUR PROMPT</a:t>
            </a:r>
            <a:endParaRPr lang="en-US" sz="1100" dirty="0"/>
          </a:p>
        </p:txBody>
      </p:sp>
      <p:sp>
        <p:nvSpPr>
          <p:cNvPr id="6" name="Shape 4"/>
          <p:cNvSpPr/>
          <p:nvPr/>
        </p:nvSpPr>
        <p:spPr>
          <a:xfrm>
            <a:off x="365760" y="1737360"/>
            <a:ext cx="8412480" cy="1417320"/>
          </a:xfrm>
          <a:prstGeom prst="roundRect">
            <a:avLst>
              <a:gd name="adj" fmla="val 6452"/>
            </a:avLst>
          </a:prstGeom>
          <a:solidFill>
            <a:srgbClr val="FFFFFF"/>
          </a:solidFill>
          <a:ln w="19050">
            <a:solidFill>
              <a:srgbClr val="C7922C"/>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594360" y="1865376"/>
            <a:ext cx="7955280" cy="116128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Which is better for learning about a place — a story or a fact page? Write what you think and why.</a:t>
            </a:r>
            <a:endParaRPr lang="en-US" sz="1700" dirty="0"/>
          </a:p>
        </p:txBody>
      </p:sp>
      <p:sp>
        <p:nvSpPr>
          <p:cNvPr id="8" name="Text 6"/>
          <p:cNvSpPr/>
          <p:nvPr/>
        </p:nvSpPr>
        <p:spPr>
          <a:xfrm>
            <a:off x="365760" y="3291840"/>
            <a:ext cx="8412480" cy="365760"/>
          </a:xfrm>
          <a:prstGeom prst="rect">
            <a:avLst/>
          </a:prstGeom>
          <a:noFill/>
          <a:ln/>
        </p:spPr>
        <p:txBody>
          <a:bodyPr wrap="square" lIns="0" tIns="0" rIns="0" bIns="0" rtlCol="0" anchor="ctr"/>
          <a:lstStyle/>
          <a:p>
            <a:pPr indent="0" marL="0">
              <a:buNone/>
            </a:pPr>
            <a:r>
              <a:rPr lang="en-US" sz="1500" i="1" dirty="0">
                <a:solidFill>
                  <a:srgbClr val="64748B"/>
                </a:solidFill>
                <a:latin typeface="Calibri" pitchFamily="34" charset="0"/>
                <a:ea typeface="Calibri" pitchFamily="34" charset="-122"/>
                <a:cs typeface="Calibri" pitchFamily="34" charset="-120"/>
              </a:rPr>
              <a:t>Do not stop to erase. If you get stuck, write the last word again and keep going.</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8F8EF"/>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34B76F"/>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Edit &amp; Revise</a:t>
            </a:r>
            <a:endParaRPr lang="en-US" sz="2200" dirty="0"/>
          </a:p>
        </p:txBody>
      </p:sp>
      <p:sp>
        <p:nvSpPr>
          <p:cNvPr id="4" name="Text 2"/>
          <p:cNvSpPr/>
          <p:nvPr/>
        </p:nvSpPr>
        <p:spPr>
          <a:xfrm>
            <a:off x="365760" y="868680"/>
            <a:ext cx="8412480" cy="457200"/>
          </a:xfrm>
          <a:prstGeom prst="rect">
            <a:avLst/>
          </a:prstGeom>
          <a:noFill/>
          <a:ln/>
        </p:spPr>
        <p:txBody>
          <a:bodyPr wrap="square" lIns="0" tIns="0" rIns="0" bIns="0" rtlCol="0" anchor="ctr"/>
          <a:lstStyle/>
          <a:p>
            <a:pPr indent="0" marL="0">
              <a:buNone/>
            </a:pPr>
            <a:r>
              <a:rPr lang="en-US" sz="2400" b="1" dirty="0">
                <a:solidFill>
                  <a:srgbClr val="0E1C42"/>
                </a:solidFill>
                <a:latin typeface="Calibri" pitchFamily="34" charset="0"/>
                <a:ea typeface="Calibri" pitchFamily="34" charset="-122"/>
                <a:cs typeface="Calibri" pitchFamily="34" charset="-120"/>
              </a:rPr>
              <a:t>1 minute — pick ONE thing to fix.</a:t>
            </a:r>
            <a:endParaRPr lang="en-US" sz="2400" dirty="0"/>
          </a:p>
        </p:txBody>
      </p:sp>
      <p:sp>
        <p:nvSpPr>
          <p:cNvPr id="5" name="Text 3"/>
          <p:cNvSpPr/>
          <p:nvPr/>
        </p:nvSpPr>
        <p:spPr>
          <a:xfrm>
            <a:off x="365760" y="1417320"/>
            <a:ext cx="8229600" cy="237744"/>
          </a:xfrm>
          <a:prstGeom prst="rect">
            <a:avLst/>
          </a:prstGeom>
          <a:noFill/>
          <a:ln/>
        </p:spPr>
        <p:txBody>
          <a:bodyPr wrap="square" lIns="0" tIns="0" rIns="0" bIns="0" rtlCol="0" anchor="ctr"/>
          <a:lstStyle/>
          <a:p>
            <a:pPr indent="0" marL="0">
              <a:buNone/>
            </a:pPr>
            <a:r>
              <a:rPr lang="en-US" sz="1100" b="1" spc="100" kern="0" dirty="0">
                <a:solidFill>
                  <a:srgbClr val="34B76F"/>
                </a:solidFill>
                <a:latin typeface="Calibri" pitchFamily="34" charset="0"/>
                <a:ea typeface="Calibri" pitchFamily="34" charset="-122"/>
                <a:cs typeface="Calibri" pitchFamily="34" charset="-120"/>
              </a:rPr>
              <a:t>TODAY'S EDIT FOCUS</a:t>
            </a:r>
            <a:endParaRPr lang="en-US" sz="1100" dirty="0"/>
          </a:p>
        </p:txBody>
      </p:sp>
      <p:sp>
        <p:nvSpPr>
          <p:cNvPr id="6" name="Shape 4"/>
          <p:cNvSpPr/>
          <p:nvPr/>
        </p:nvSpPr>
        <p:spPr>
          <a:xfrm>
            <a:off x="365760" y="1691640"/>
            <a:ext cx="8412480" cy="777240"/>
          </a:xfrm>
          <a:prstGeom prst="roundRect">
            <a:avLst>
              <a:gd name="adj" fmla="val 11765"/>
            </a:avLst>
          </a:prstGeom>
          <a:solidFill>
            <a:srgbClr val="FFFFFF"/>
          </a:solidFill>
          <a:ln w="19050">
            <a:solidFill>
              <a:srgbClr val="34B76F"/>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594360" y="1819656"/>
            <a:ext cx="7955280" cy="52120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Did I read my writing out loud to check that it makes sense?</a:t>
            </a:r>
            <a:endParaRPr lang="en-US" sz="1700" dirty="0"/>
          </a:p>
        </p:txBody>
      </p:sp>
      <p:sp>
        <p:nvSpPr>
          <p:cNvPr id="8" name="Text 6"/>
          <p:cNvSpPr/>
          <p:nvPr/>
        </p:nvSpPr>
        <p:spPr>
          <a:xfrm>
            <a:off x="365760" y="2651760"/>
            <a:ext cx="8412480" cy="365760"/>
          </a:xfrm>
          <a:prstGeom prst="rect">
            <a:avLst/>
          </a:prstGeom>
          <a:noFill/>
          <a:ln/>
        </p:spPr>
        <p:txBody>
          <a:bodyPr wrap="square" lIns="0" tIns="0" rIns="0" bIns="0" rtlCol="0" anchor="ctr"/>
          <a:lstStyle/>
          <a:p>
            <a:pPr indent="0" marL="0">
              <a:buNone/>
            </a:pPr>
            <a:r>
              <a:rPr lang="en-US" sz="1500" b="1" dirty="0">
                <a:solidFill>
                  <a:srgbClr val="1E293B"/>
                </a:solidFill>
                <a:latin typeface="Calibri" pitchFamily="34" charset="0"/>
                <a:ea typeface="Calibri" pitchFamily="34" charset="-122"/>
                <a:cs typeface="Calibri" pitchFamily="34" charset="-120"/>
              </a:rPr>
              <a:t>Quick check:  </a:t>
            </a:r>
            <a:pPr indent="0" marL="0">
              <a:buNone/>
            </a:pPr>
            <a:r>
              <a:rPr lang="en-US" sz="1500" dirty="0">
                <a:solidFill>
                  <a:srgbClr val="1E293B"/>
                </a:solidFill>
                <a:latin typeface="Calibri" pitchFamily="34" charset="0"/>
                <a:ea typeface="Calibri" pitchFamily="34" charset="-122"/>
                <a:cs typeface="Calibri" pitchFamily="34" charset="-120"/>
              </a:rPr>
              <a:t>capitals  ·  end punctuation  ·  circle a word you are unsure of  ·  read it aloud</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5F7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55C8E8"/>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Share Time</a:t>
            </a:r>
            <a:endParaRPr lang="en-US" sz="2200" dirty="0"/>
          </a:p>
        </p:txBody>
      </p:sp>
      <p:sp>
        <p:nvSpPr>
          <p:cNvPr id="4" name="Text 2"/>
          <p:cNvSpPr/>
          <p:nvPr/>
        </p:nvSpPr>
        <p:spPr>
          <a:xfrm>
            <a:off x="365760" y="1005840"/>
            <a:ext cx="8412480" cy="548640"/>
          </a:xfrm>
          <a:prstGeom prst="rect">
            <a:avLst/>
          </a:prstGeom>
          <a:noFill/>
          <a:ln/>
        </p:spPr>
        <p:txBody>
          <a:bodyPr wrap="square" lIns="0" tIns="0" rIns="0" bIns="0" rtlCol="0" anchor="ctr"/>
          <a:lstStyle/>
          <a:p>
            <a:pPr indent="0" marL="0">
              <a:buNone/>
            </a:pPr>
            <a:r>
              <a:rPr lang="en-US" sz="2600" b="1" dirty="0">
                <a:solidFill>
                  <a:srgbClr val="0E1C42"/>
                </a:solidFill>
                <a:latin typeface="Calibri" pitchFamily="34" charset="0"/>
                <a:ea typeface="Calibri" pitchFamily="34" charset="-122"/>
                <a:cs typeface="Calibri" pitchFamily="34" charset="-120"/>
              </a:rPr>
              <a:t>3 minutes — let's hear your writing!</a:t>
            </a:r>
            <a:endParaRPr lang="en-US" sz="2600" dirty="0"/>
          </a:p>
        </p:txBody>
      </p:sp>
      <p:sp>
        <p:nvSpPr>
          <p:cNvPr id="5" name="Text 3"/>
          <p:cNvSpPr/>
          <p:nvPr/>
        </p:nvSpPr>
        <p:spPr>
          <a:xfrm>
            <a:off x="365760" y="1691640"/>
            <a:ext cx="8412480" cy="457200"/>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Raise your hand  ·  paste it in the chat  ·  or hold your paper up to the camera</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55C8E8"/>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Today</a:t>
            </a:r>
            <a:endParaRPr lang="en-US" sz="2200" dirty="0"/>
          </a:p>
        </p:txBody>
      </p:sp>
      <p:sp>
        <p:nvSpPr>
          <p:cNvPr id="4" name="Text 2"/>
          <p:cNvSpPr/>
          <p:nvPr/>
        </p:nvSpPr>
        <p:spPr>
          <a:xfrm>
            <a:off x="365760" y="777240"/>
            <a:ext cx="8229600" cy="237744"/>
          </a:xfrm>
          <a:prstGeom prst="rect">
            <a:avLst/>
          </a:prstGeom>
          <a:noFill/>
          <a:ln/>
        </p:spPr>
        <p:txBody>
          <a:bodyPr wrap="square" lIns="0" tIns="0" rIns="0" bIns="0" rtlCol="0" anchor="ctr"/>
          <a:lstStyle/>
          <a:p>
            <a:pPr indent="0" marL="0">
              <a:buNone/>
            </a:pPr>
            <a:r>
              <a:rPr lang="en-US" sz="1100" b="1" spc="100" kern="0" dirty="0">
                <a:solidFill>
                  <a:srgbClr val="8B6FC0"/>
                </a:solidFill>
                <a:latin typeface="Calibri" pitchFamily="34" charset="0"/>
                <a:ea typeface="Calibri" pitchFamily="34" charset="-122"/>
                <a:cs typeface="Calibri" pitchFamily="34" charset="-120"/>
              </a:rPr>
              <a:t>READING</a:t>
            </a:r>
            <a:endParaRPr lang="en-US" sz="1100" dirty="0"/>
          </a:p>
        </p:txBody>
      </p:sp>
      <p:sp>
        <p:nvSpPr>
          <p:cNvPr id="5" name="Text 3"/>
          <p:cNvSpPr/>
          <p:nvPr/>
        </p:nvSpPr>
        <p:spPr>
          <a:xfrm>
            <a:off x="365760" y="1014984"/>
            <a:ext cx="8412480" cy="365760"/>
          </a:xfrm>
          <a:prstGeom prst="rect">
            <a:avLst/>
          </a:prstGeom>
          <a:noFill/>
          <a:ln/>
        </p:spPr>
        <p:txBody>
          <a:bodyPr wrap="square" lIns="0" tIns="0" rIns="0" bIns="0" rtlCol="0" anchor="ctr"/>
          <a:lstStyle/>
          <a:p>
            <a:pPr indent="0" marL="0">
              <a:buNone/>
            </a:pPr>
            <a:r>
              <a:rPr lang="en-US" sz="2000" b="1" dirty="0">
                <a:solidFill>
                  <a:srgbClr val="0E1C42"/>
                </a:solidFill>
                <a:latin typeface="Calibri" pitchFamily="34" charset="0"/>
                <a:ea typeface="Calibri" pitchFamily="34" charset="-122"/>
                <a:cs typeface="Calibri" pitchFamily="34" charset="-120"/>
              </a:rPr>
              <a:t>Whole Book + Extensions</a:t>
            </a:r>
            <a:endParaRPr lang="en-US" sz="2000" dirty="0"/>
          </a:p>
        </p:txBody>
      </p:sp>
      <p:sp>
        <p:nvSpPr>
          <p:cNvPr id="6" name="Text 4"/>
          <p:cNvSpPr/>
          <p:nvPr/>
        </p:nvSpPr>
        <p:spPr>
          <a:xfrm>
            <a:off x="365760" y="1508760"/>
            <a:ext cx="8229600" cy="237744"/>
          </a:xfrm>
          <a:prstGeom prst="rect">
            <a:avLst/>
          </a:prstGeom>
          <a:noFill/>
          <a:ln/>
        </p:spPr>
        <p:txBody>
          <a:bodyPr wrap="square" lIns="0" tIns="0" rIns="0" bIns="0" rtlCol="0" anchor="ctr"/>
          <a:lstStyle/>
          <a:p>
            <a:pPr indent="0" marL="0">
              <a:buNone/>
            </a:pPr>
            <a:r>
              <a:rPr lang="en-US" sz="1100" b="1" spc="100" kern="0" dirty="0">
                <a:solidFill>
                  <a:srgbClr val="C7922C"/>
                </a:solidFill>
                <a:latin typeface="Calibri" pitchFamily="34" charset="0"/>
                <a:ea typeface="Calibri" pitchFamily="34" charset="-122"/>
                <a:cs typeface="Calibri" pitchFamily="34" charset="-120"/>
              </a:rPr>
              <a:t>BIG QUESTION</a:t>
            </a:r>
            <a:endParaRPr lang="en-US" sz="1100" dirty="0"/>
          </a:p>
        </p:txBody>
      </p:sp>
      <p:sp>
        <p:nvSpPr>
          <p:cNvPr id="7" name="Shape 5"/>
          <p:cNvSpPr/>
          <p:nvPr/>
        </p:nvSpPr>
        <p:spPr>
          <a:xfrm>
            <a:off x="365760" y="1746504"/>
            <a:ext cx="8412480" cy="731520"/>
          </a:xfrm>
          <a:prstGeom prst="roundRect">
            <a:avLst>
              <a:gd name="adj" fmla="val 12500"/>
            </a:avLst>
          </a:prstGeom>
          <a:solidFill>
            <a:srgbClr val="FEF6E8"/>
          </a:solidFill>
          <a:ln w="1905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94360" y="1874520"/>
            <a:ext cx="7955280" cy="47548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Flat Stanley is fiction, but it touches on real topics like mailing packages, visiting museums, and being different. What is one thing you learned from an extension text that made you understand Stanley's story better?</a:t>
            </a:r>
            <a:endParaRPr lang="en-US" sz="1700" dirty="0"/>
          </a:p>
        </p:txBody>
      </p:sp>
      <p:sp>
        <p:nvSpPr>
          <p:cNvPr id="9" name="Text 7"/>
          <p:cNvSpPr/>
          <p:nvPr/>
        </p:nvSpPr>
        <p:spPr>
          <a:xfrm>
            <a:off x="365760" y="2606040"/>
            <a:ext cx="8229600" cy="237744"/>
          </a:xfrm>
          <a:prstGeom prst="rect">
            <a:avLst/>
          </a:prstGeom>
          <a:noFill/>
          <a:ln/>
        </p:spPr>
        <p:txBody>
          <a:bodyPr wrap="square" lIns="0" tIns="0" rIns="0" bIns="0"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READING LENS</a:t>
            </a:r>
            <a:endParaRPr lang="en-US" sz="1100" dirty="0"/>
          </a:p>
        </p:txBody>
      </p:sp>
      <p:sp>
        <p:nvSpPr>
          <p:cNvPr id="10" name="Text 8"/>
          <p:cNvSpPr/>
          <p:nvPr/>
        </p:nvSpPr>
        <p:spPr>
          <a:xfrm>
            <a:off x="365760" y="2843784"/>
            <a:ext cx="8412480" cy="914400"/>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Good readers compare stories with informational texts to see how fiction and nonfiction explore the same topics differently.</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55C8E8"/>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Daily Oral Language</a:t>
            </a:r>
            <a:endParaRPr lang="en-US" sz="2200" dirty="0"/>
          </a:p>
        </p:txBody>
      </p:sp>
      <p:sp>
        <p:nvSpPr>
          <p:cNvPr id="4" name="Text 2"/>
          <p:cNvSpPr/>
          <p:nvPr/>
        </p:nvSpPr>
        <p:spPr>
          <a:xfrm>
            <a:off x="365760" y="749808"/>
            <a:ext cx="8229600" cy="237744"/>
          </a:xfrm>
          <a:prstGeom prst="rect">
            <a:avLst/>
          </a:prstGeom>
          <a:noFill/>
          <a:ln/>
        </p:spPr>
        <p:txBody>
          <a:bodyPr wrap="square" lIns="0" tIns="0" rIns="0" bIns="0"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FIX THESE SENTENCES</a:t>
            </a:r>
            <a:endParaRPr lang="en-US" sz="1100" dirty="0"/>
          </a:p>
        </p:txBody>
      </p:sp>
      <p:sp>
        <p:nvSpPr>
          <p:cNvPr id="5" name="Shape 3"/>
          <p:cNvSpPr/>
          <p:nvPr/>
        </p:nvSpPr>
        <p:spPr>
          <a:xfrm>
            <a:off x="365760" y="1024128"/>
            <a:ext cx="8412480" cy="777240"/>
          </a:xfrm>
          <a:prstGeom prst="roundRect">
            <a:avLst>
              <a:gd name="adj" fmla="val 11765"/>
            </a:avLst>
          </a:prstGeom>
          <a:solidFill>
            <a:srgbClr val="FFFFFF"/>
          </a:solidFill>
          <a:ln w="19050">
            <a:solidFill>
              <a:srgbClr val="55C8E8"/>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94360" y="1152144"/>
            <a:ext cx="7955280" cy="52120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“Shame on them,” Mrs. Lambchop said. “It is wrong to dislike people for their shapes.”</a:t>
            </a:r>
            <a:endParaRPr lang="en-US" sz="1700" dirty="0"/>
          </a:p>
        </p:txBody>
      </p:sp>
      <p:sp>
        <p:nvSpPr>
          <p:cNvPr id="7" name="Shape 5"/>
          <p:cNvSpPr/>
          <p:nvPr/>
        </p:nvSpPr>
        <p:spPr>
          <a:xfrm>
            <a:off x="365760" y="1874520"/>
            <a:ext cx="8412480" cy="777240"/>
          </a:xfrm>
          <a:prstGeom prst="roundRect">
            <a:avLst>
              <a:gd name="adj" fmla="val 11765"/>
            </a:avLst>
          </a:prstGeom>
          <a:solidFill>
            <a:srgbClr val="FFFFFF"/>
          </a:solidFill>
          <a:ln w="19050">
            <a:solidFill>
              <a:srgbClr val="55C8E8"/>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94360" y="2002536"/>
            <a:ext cx="7955280" cy="52120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perhaps people cant help staring at what is different said mrs lambchop but they can try to be kind</a:t>
            </a:r>
            <a:endParaRPr lang="en-US" sz="1700" dirty="0"/>
          </a:p>
        </p:txBody>
      </p:sp>
      <p:sp>
        <p:nvSpPr>
          <p:cNvPr id="9" name="Text 7"/>
          <p:cNvSpPr/>
          <p:nvPr/>
        </p:nvSpPr>
        <p:spPr>
          <a:xfrm>
            <a:off x="365760" y="2788920"/>
            <a:ext cx="8412480" cy="365760"/>
          </a:xfrm>
          <a:prstGeom prst="rect">
            <a:avLst/>
          </a:prstGeom>
          <a:noFill/>
          <a:ln/>
        </p:spPr>
        <p:txBody>
          <a:bodyPr wrap="square" lIns="0" tIns="0" rIns="0" bIns="0" rtlCol="0" anchor="ctr"/>
          <a:lstStyle/>
          <a:p>
            <a:pPr indent="0" marL="0">
              <a:buNone/>
            </a:pPr>
            <a:r>
              <a:rPr lang="en-US" sz="1600" b="1" dirty="0">
                <a:solidFill>
                  <a:srgbClr val="0E1C42"/>
                </a:solidFill>
                <a:latin typeface="Calibri" pitchFamily="34" charset="0"/>
                <a:ea typeface="Calibri" pitchFamily="34" charset="-122"/>
                <a:cs typeface="Calibri" pitchFamily="34" charset="-120"/>
              </a:rPr>
              <a:t>Rewrite both sentences correctly in your notebook.</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55C8E8"/>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Daily Oral Language</a:t>
            </a:r>
            <a:endParaRPr lang="en-US" sz="2200" dirty="0"/>
          </a:p>
        </p:txBody>
      </p:sp>
      <p:sp>
        <p:nvSpPr>
          <p:cNvPr id="4" name="Text 2"/>
          <p:cNvSpPr/>
          <p:nvPr/>
        </p:nvSpPr>
        <p:spPr>
          <a:xfrm>
            <a:off x="365760" y="749808"/>
            <a:ext cx="8229600" cy="237744"/>
          </a:xfrm>
          <a:prstGeom prst="rect">
            <a:avLst/>
          </a:prstGeom>
          <a:noFill/>
          <a:ln/>
        </p:spPr>
        <p:txBody>
          <a:bodyPr wrap="square" lIns="0" tIns="0" rIns="0" bIns="0"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FIX THESE SENTENCES</a:t>
            </a:r>
            <a:endParaRPr lang="en-US" sz="1100" dirty="0"/>
          </a:p>
        </p:txBody>
      </p:sp>
      <p:sp>
        <p:nvSpPr>
          <p:cNvPr id="5" name="Shape 3"/>
          <p:cNvSpPr/>
          <p:nvPr/>
        </p:nvSpPr>
        <p:spPr>
          <a:xfrm>
            <a:off x="365760" y="1024128"/>
            <a:ext cx="8412480" cy="777240"/>
          </a:xfrm>
          <a:prstGeom prst="roundRect">
            <a:avLst>
              <a:gd name="adj" fmla="val 11765"/>
            </a:avLst>
          </a:prstGeom>
          <a:solidFill>
            <a:srgbClr val="FFFFFF"/>
          </a:solidFill>
          <a:ln w="19050">
            <a:solidFill>
              <a:srgbClr val="55C8E8"/>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94360" y="1152144"/>
            <a:ext cx="7955280" cy="52120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“Shame on them,” Mrs. Lambchop said. “It is wrong to dislike people for their shapes.”</a:t>
            </a:r>
            <a:endParaRPr lang="en-US" sz="1700" dirty="0"/>
          </a:p>
        </p:txBody>
      </p:sp>
      <p:sp>
        <p:nvSpPr>
          <p:cNvPr id="7" name="Shape 5"/>
          <p:cNvSpPr/>
          <p:nvPr/>
        </p:nvSpPr>
        <p:spPr>
          <a:xfrm>
            <a:off x="365760" y="1874520"/>
            <a:ext cx="8412480" cy="777240"/>
          </a:xfrm>
          <a:prstGeom prst="roundRect">
            <a:avLst>
              <a:gd name="adj" fmla="val 11765"/>
            </a:avLst>
          </a:prstGeom>
          <a:solidFill>
            <a:srgbClr val="FFFFFF"/>
          </a:solidFill>
          <a:ln w="19050">
            <a:solidFill>
              <a:srgbClr val="55C8E8"/>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94360" y="2002536"/>
            <a:ext cx="7955280" cy="52120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perhaps people cant help staring at what is different said mrs lambchop but they can try to be kind</a:t>
            </a:r>
            <a:endParaRPr lang="en-US" sz="1700" dirty="0"/>
          </a:p>
        </p:txBody>
      </p:sp>
      <p:sp>
        <p:nvSpPr>
          <p:cNvPr id="9" name="Shape 7"/>
          <p:cNvSpPr/>
          <p:nvPr/>
        </p:nvSpPr>
        <p:spPr>
          <a:xfrm>
            <a:off x="365760" y="2743200"/>
            <a:ext cx="8412480" cy="1417320"/>
          </a:xfrm>
          <a:prstGeom prst="roundRect">
            <a:avLst>
              <a:gd name="adj" fmla="val 6452"/>
            </a:avLst>
          </a:prstGeom>
          <a:solidFill>
            <a:srgbClr val="E8F8EF"/>
          </a:solidFill>
          <a:ln/>
          <a:effectLst>
            <a:outerShdw sx="100000" sy="100000" kx="0" ky="0" algn="bl" rotWithShape="0" blurRad="101600" dist="38100" dir="2700000">
              <a:srgbClr val="000000">
                <a:alpha val="12000"/>
              </a:srgbClr>
            </a:outerShdw>
          </a:effectLst>
        </p:spPr>
      </p:sp>
      <p:sp>
        <p:nvSpPr>
          <p:cNvPr id="10" name="Text 8"/>
          <p:cNvSpPr/>
          <p:nvPr/>
        </p:nvSpPr>
        <p:spPr>
          <a:xfrm>
            <a:off x="566928" y="2816352"/>
            <a:ext cx="8229600" cy="237744"/>
          </a:xfrm>
          <a:prstGeom prst="rect">
            <a:avLst/>
          </a:prstGeom>
          <a:noFill/>
          <a:ln/>
        </p:spPr>
        <p:txBody>
          <a:bodyPr wrap="square" lIns="0" tIns="0" rIns="0" bIns="0" rtlCol="0" anchor="ctr"/>
          <a:lstStyle/>
          <a:p>
            <a:pPr indent="0" marL="0">
              <a:buNone/>
            </a:pPr>
            <a:r>
              <a:rPr lang="en-US" sz="1100" b="1" spc="100" kern="0" dirty="0">
                <a:solidFill>
                  <a:srgbClr val="34B76F"/>
                </a:solidFill>
                <a:latin typeface="Calibri" pitchFamily="34" charset="0"/>
                <a:ea typeface="Calibri" pitchFamily="34" charset="-122"/>
                <a:cs typeface="Calibri" pitchFamily="34" charset="-120"/>
              </a:rPr>
              <a:t>✅  CORRECTED</a:t>
            </a:r>
            <a:endParaRPr lang="en-US" sz="1100" dirty="0"/>
          </a:p>
        </p:txBody>
      </p:sp>
      <p:sp>
        <p:nvSpPr>
          <p:cNvPr id="11" name="Text 9"/>
          <p:cNvSpPr/>
          <p:nvPr/>
        </p:nvSpPr>
        <p:spPr>
          <a:xfrm>
            <a:off x="566928" y="3072384"/>
            <a:ext cx="8010144" cy="685800"/>
          </a:xfrm>
          <a:prstGeom prst="rect">
            <a:avLst/>
          </a:prstGeom>
          <a:noFill/>
          <a:ln/>
        </p:spPr>
        <p:txBody>
          <a:bodyPr wrap="square" lIns="0" tIns="0" rIns="0" bIns="0" rtlCol="0" anchor="ctr"/>
          <a:lstStyle/>
          <a:p>
            <a:pPr indent="0" marL="0">
              <a:buNone/>
            </a:pPr>
            <a:r>
              <a:rPr lang="en-US" sz="1400" i="1" dirty="0">
                <a:solidFill>
                  <a:srgbClr val="1E293B"/>
                </a:solidFill>
                <a:latin typeface="Calibri" pitchFamily="34" charset="0"/>
                <a:ea typeface="Calibri" pitchFamily="34" charset="-122"/>
                <a:cs typeface="Calibri" pitchFamily="34" charset="-120"/>
              </a:rPr>
              <a:t>Corrected:</a:t>
            </a:r>
            <a:endParaRPr lang="en-US" sz="1400" dirty="0"/>
          </a:p>
          <a:p>
            <a:pPr indent="0" marL="0">
              <a:buNone/>
            </a:pPr>
            <a:endParaRPr lang="en-US" sz="1400" dirty="0"/>
          </a:p>
        </p:txBody>
      </p:sp>
      <p:sp>
        <p:nvSpPr>
          <p:cNvPr id="12" name="Text 10"/>
          <p:cNvSpPr/>
          <p:nvPr/>
        </p:nvSpPr>
        <p:spPr>
          <a:xfrm>
            <a:off x="566928" y="3767328"/>
            <a:ext cx="8010144" cy="32004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“Perhaps people can’t help staring at what is different ,” said Mrs. Lambchop, “but they can try to be kind .”</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55C8E8"/>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Morphology</a:t>
            </a:r>
            <a:endParaRPr lang="en-US" sz="2200" dirty="0"/>
          </a:p>
        </p:txBody>
      </p:sp>
      <p:sp>
        <p:nvSpPr>
          <p:cNvPr id="4" name="Text 2"/>
          <p:cNvSpPr/>
          <p:nvPr/>
        </p:nvSpPr>
        <p:spPr>
          <a:xfrm>
            <a:off x="365760" y="804672"/>
            <a:ext cx="8229600" cy="237744"/>
          </a:xfrm>
          <a:prstGeom prst="rect">
            <a:avLst/>
          </a:prstGeom>
          <a:noFill/>
          <a:ln/>
        </p:spPr>
        <p:txBody>
          <a:bodyPr wrap="square" lIns="0" tIns="0" rIns="0" bIns="0" rtlCol="0" anchor="ctr"/>
          <a:lstStyle/>
          <a:p>
            <a:pPr indent="0" marL="0">
              <a:buNone/>
            </a:pPr>
            <a:r>
              <a:rPr lang="en-US" sz="1100" b="1" spc="100" kern="0" dirty="0">
                <a:solidFill>
                  <a:srgbClr val="8B6FC0"/>
                </a:solidFill>
                <a:latin typeface="Calibri" pitchFamily="34" charset="0"/>
                <a:ea typeface="Calibri" pitchFamily="34" charset="-122"/>
                <a:cs typeface="Calibri" pitchFamily="34" charset="-120"/>
              </a:rPr>
              <a:t>PREFIX PRE- MEANS BEFORE</a:t>
            </a:r>
            <a:endParaRPr lang="en-US" sz="1100" dirty="0"/>
          </a:p>
        </p:txBody>
      </p:sp>
      <p:sp>
        <p:nvSpPr>
          <p:cNvPr id="5" name="Shape 3"/>
          <p:cNvSpPr/>
          <p:nvPr/>
        </p:nvSpPr>
        <p:spPr>
          <a:xfrm>
            <a:off x="365760" y="1097280"/>
            <a:ext cx="8412480" cy="621792"/>
          </a:xfrm>
          <a:prstGeom prst="roundRect">
            <a:avLst>
              <a:gd name="adj" fmla="val 14706"/>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16152"/>
            <a:ext cx="7863840" cy="38404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  The prefix pre- means before . When you add pre- to a word, it changes the meaning to "before [that word]."</a:t>
            </a:r>
            <a:endParaRPr lang="en-US" sz="1500" dirty="0"/>
          </a:p>
        </p:txBody>
      </p:sp>
      <p:sp>
        <p:nvSpPr>
          <p:cNvPr id="7" name="Shape 5"/>
          <p:cNvSpPr/>
          <p:nvPr/>
        </p:nvSpPr>
        <p:spPr>
          <a:xfrm>
            <a:off x="365760" y="1792224"/>
            <a:ext cx="8412480" cy="621792"/>
          </a:xfrm>
          <a:prstGeom prst="roundRect">
            <a:avLst>
              <a:gd name="adj" fmla="val 14706"/>
            </a:avLst>
          </a:prstGeom>
          <a:solidFill>
            <a:srgbClr val="F8F4FF"/>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911096"/>
            <a:ext cx="7863840" cy="38404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  Dice Roll Challenge! Roll the dice and explain the pre- word you land on. What does the prefix do to the meaning?</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C7922C"/>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Grammar</a:t>
            </a:r>
            <a:endParaRPr lang="en-US" sz="2200" dirty="0"/>
          </a:p>
        </p:txBody>
      </p:sp>
      <p:sp>
        <p:nvSpPr>
          <p:cNvPr id="4" name="Text 2"/>
          <p:cNvSpPr/>
          <p:nvPr/>
        </p:nvSpPr>
        <p:spPr>
          <a:xfrm>
            <a:off x="365760" y="777240"/>
            <a:ext cx="8229600" cy="237744"/>
          </a:xfrm>
          <a:prstGeom prst="rect">
            <a:avLst/>
          </a:prstGeom>
          <a:noFill/>
          <a:ln/>
        </p:spPr>
        <p:txBody>
          <a:bodyPr wrap="square" lIns="0" tIns="0" rIns="0" bIns="0" rtlCol="0" anchor="ctr"/>
          <a:lstStyle/>
          <a:p>
            <a:pPr indent="0" marL="0">
              <a:buNone/>
            </a:pPr>
            <a:r>
              <a:rPr lang="en-US" sz="1100" b="1" spc="100" kern="0" dirty="0">
                <a:solidFill>
                  <a:srgbClr val="C7922C"/>
                </a:solidFill>
                <a:latin typeface="Calibri" pitchFamily="34" charset="0"/>
                <a:ea typeface="Calibri" pitchFamily="34" charset="-122"/>
                <a:cs typeface="Calibri" pitchFamily="34" charset="-120"/>
              </a:rPr>
              <a:t>PROPER NOUNS AND CAPITALIZATION</a:t>
            </a:r>
            <a:endParaRPr lang="en-US" sz="1100" dirty="0"/>
          </a:p>
        </p:txBody>
      </p:sp>
      <p:sp>
        <p:nvSpPr>
          <p:cNvPr id="5" name="Shape 3"/>
          <p:cNvSpPr/>
          <p:nvPr/>
        </p:nvSpPr>
        <p:spPr>
          <a:xfrm>
            <a:off x="365760" y="1078992"/>
            <a:ext cx="8412480" cy="658368"/>
          </a:xfrm>
          <a:prstGeom prst="roundRect">
            <a:avLst>
              <a:gd name="adj" fmla="val 13889"/>
            </a:avLst>
          </a:prstGeom>
          <a:solidFill>
            <a:srgbClr val="FEF6E8"/>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25296"/>
            <a:ext cx="7863840" cy="402336"/>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The pacific Ocean borders the coast.</a:t>
            </a:r>
            <a:endParaRPr lang="en-US" sz="1600" dirty="0"/>
          </a:p>
        </p:txBody>
      </p:sp>
      <p:sp>
        <p:nvSpPr>
          <p:cNvPr id="7" name="Shape 5"/>
          <p:cNvSpPr/>
          <p:nvPr/>
        </p:nvSpPr>
        <p:spPr>
          <a:xfrm>
            <a:off x="365760" y="1810512"/>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956816"/>
            <a:ext cx="7863840" cy="402336"/>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Stanley travelled in an envelope.</a:t>
            </a:r>
            <a:endParaRPr lang="en-US" sz="1600" dirty="0"/>
          </a:p>
        </p:txBody>
      </p:sp>
      <p:sp>
        <p:nvSpPr>
          <p:cNvPr id="9" name="Shape 7"/>
          <p:cNvSpPr/>
          <p:nvPr/>
        </p:nvSpPr>
        <p:spPr>
          <a:xfrm>
            <a:off x="365760" y="2542032"/>
            <a:ext cx="8412480" cy="658368"/>
          </a:xfrm>
          <a:prstGeom prst="roundRect">
            <a:avLst>
              <a:gd name="adj" fmla="val 13889"/>
            </a:avLst>
          </a:prstGeom>
          <a:solidFill>
            <a:srgbClr val="FEF6E8"/>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2688336"/>
            <a:ext cx="7863840" cy="402336"/>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We live near the Mississippi River.</a:t>
            </a:r>
            <a:endParaRPr lang="en-US" sz="1600" dirty="0"/>
          </a:p>
        </p:txBody>
      </p:sp>
      <p:sp>
        <p:nvSpPr>
          <p:cNvPr id="11" name="Shape 9"/>
          <p:cNvSpPr/>
          <p:nvPr/>
        </p:nvSpPr>
        <p:spPr>
          <a:xfrm>
            <a:off x="365760" y="3273552"/>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3419856"/>
            <a:ext cx="7863840" cy="402336"/>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A boy named Arthur had a good idea.</a:t>
            </a:r>
            <a:endParaRPr lang="en-US" sz="1600" dirty="0"/>
          </a:p>
        </p:txBody>
      </p:sp>
      <p:sp>
        <p:nvSpPr>
          <p:cNvPr id="13" name="Text 11"/>
          <p:cNvSpPr/>
          <p:nvPr/>
        </p:nvSpPr>
        <p:spPr>
          <a:xfrm>
            <a:off x="365760" y="4050792"/>
            <a:ext cx="8412480" cy="365760"/>
          </a:xfrm>
          <a:prstGeom prst="rect">
            <a:avLst/>
          </a:prstGeom>
          <a:noFill/>
          <a:ln/>
        </p:spPr>
        <p:txBody>
          <a:bodyPr wrap="square" lIns="0" tIns="0" rIns="0" bIns="0" rtlCol="0" anchor="ctr"/>
          <a:lstStyle/>
          <a:p>
            <a:pPr indent="0" marL="0">
              <a:buNone/>
            </a:pPr>
            <a:r>
              <a:rPr lang="en-US" sz="1500" i="1" dirty="0">
                <a:solidFill>
                  <a:srgbClr val="64748B"/>
                </a:solidFill>
                <a:latin typeface="Calibri" pitchFamily="34" charset="0"/>
                <a:ea typeface="Calibri" pitchFamily="34" charset="-122"/>
                <a:cs typeface="Calibri" pitchFamily="34" charset="-120"/>
              </a:rPr>
              <a:t>Your turn. Tap the proper noun . Be ready to explain why it needs a capital letter. Tap to check — green means you got it.</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C7922C"/>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Grammar</a:t>
            </a:r>
            <a:endParaRPr lang="en-US" sz="2200" dirty="0"/>
          </a:p>
        </p:txBody>
      </p:sp>
      <p:sp>
        <p:nvSpPr>
          <p:cNvPr id="4" name="Text 2"/>
          <p:cNvSpPr/>
          <p:nvPr/>
        </p:nvSpPr>
        <p:spPr>
          <a:xfrm>
            <a:off x="365760" y="777240"/>
            <a:ext cx="8229600" cy="237744"/>
          </a:xfrm>
          <a:prstGeom prst="rect">
            <a:avLst/>
          </a:prstGeom>
          <a:noFill/>
          <a:ln/>
        </p:spPr>
        <p:txBody>
          <a:bodyPr wrap="square" lIns="0" tIns="0" rIns="0" bIns="0" rtlCol="0" anchor="ctr"/>
          <a:lstStyle/>
          <a:p>
            <a:pPr indent="0" marL="0">
              <a:buNone/>
            </a:pPr>
            <a:r>
              <a:rPr lang="en-US" sz="1100" b="1" spc="100" kern="0" dirty="0">
                <a:solidFill>
                  <a:srgbClr val="C7922C"/>
                </a:solidFill>
                <a:latin typeface="Calibri" pitchFamily="34" charset="0"/>
                <a:ea typeface="Calibri" pitchFamily="34" charset="-122"/>
                <a:cs typeface="Calibri" pitchFamily="34" charset="-120"/>
              </a:rPr>
              <a:t>PROPER NOUNS AND CAPITALIZATION</a:t>
            </a:r>
            <a:endParaRPr lang="en-US" sz="1100" dirty="0"/>
          </a:p>
        </p:txBody>
      </p:sp>
      <p:sp>
        <p:nvSpPr>
          <p:cNvPr id="5" name="Shape 3"/>
          <p:cNvSpPr/>
          <p:nvPr/>
        </p:nvSpPr>
        <p:spPr>
          <a:xfrm>
            <a:off x="365760" y="1078992"/>
            <a:ext cx="8412480" cy="658368"/>
          </a:xfrm>
          <a:prstGeom prst="roundRect">
            <a:avLst>
              <a:gd name="adj" fmla="val 13889"/>
            </a:avLst>
          </a:prstGeom>
          <a:solidFill>
            <a:srgbClr val="FEF6E8"/>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25296"/>
            <a:ext cx="7863840" cy="402336"/>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The </a:t>
            </a:r>
            <a:pPr indent="0" marL="0">
              <a:buNone/>
            </a:pPr>
            <a:r>
              <a:rPr lang="en-US" sz="1600" b="1" dirty="0">
                <a:solidFill>
                  <a:srgbClr val="34B76F"/>
                </a:solidFill>
                <a:latin typeface="Calibri" pitchFamily="34" charset="0"/>
                <a:ea typeface="Calibri" pitchFamily="34" charset="-122"/>
                <a:cs typeface="Calibri" pitchFamily="34" charset="-120"/>
              </a:rPr>
              <a:t>pacific</a:t>
            </a:r>
            <a:pPr indent="0" marL="0">
              <a:buNone/>
            </a:pPr>
            <a:r>
              <a:rPr lang="en-US" sz="1600" dirty="0">
                <a:solidFill>
                  <a:srgbClr val="1E293B"/>
                </a:solidFill>
                <a:latin typeface="Calibri" pitchFamily="34" charset="0"/>
                <a:ea typeface="Calibri" pitchFamily="34" charset="-122"/>
                <a:cs typeface="Calibri" pitchFamily="34" charset="-120"/>
              </a:rPr>
              <a:t> Ocean borders the coast.</a:t>
            </a:r>
            <a:endParaRPr lang="en-US" sz="1600" dirty="0"/>
          </a:p>
        </p:txBody>
      </p:sp>
      <p:sp>
        <p:nvSpPr>
          <p:cNvPr id="7" name="Shape 5"/>
          <p:cNvSpPr/>
          <p:nvPr/>
        </p:nvSpPr>
        <p:spPr>
          <a:xfrm>
            <a:off x="365760" y="1810512"/>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956816"/>
            <a:ext cx="7863840" cy="402336"/>
          </a:xfrm>
          <a:prstGeom prst="rect">
            <a:avLst/>
          </a:prstGeom>
          <a:noFill/>
          <a:ln/>
        </p:spPr>
        <p:txBody>
          <a:bodyPr wrap="square" lIns="0" tIns="0" rIns="0" bIns="0" rtlCol="0" anchor="ctr"/>
          <a:lstStyle/>
          <a:p>
            <a:pPr indent="0" marL="0">
              <a:buNone/>
            </a:pPr>
            <a:r>
              <a:rPr lang="en-US" sz="1600" b="1" dirty="0">
                <a:solidFill>
                  <a:srgbClr val="34B76F"/>
                </a:solidFill>
                <a:latin typeface="Calibri" pitchFamily="34" charset="0"/>
                <a:ea typeface="Calibri" pitchFamily="34" charset="-122"/>
                <a:cs typeface="Calibri" pitchFamily="34" charset="-120"/>
              </a:rPr>
              <a:t>Stanley</a:t>
            </a:r>
            <a:pPr indent="0" marL="0">
              <a:buNone/>
            </a:pPr>
            <a:r>
              <a:rPr lang="en-US" sz="1600" dirty="0">
                <a:solidFill>
                  <a:srgbClr val="1E293B"/>
                </a:solidFill>
                <a:latin typeface="Calibri" pitchFamily="34" charset="0"/>
                <a:ea typeface="Calibri" pitchFamily="34" charset="-122"/>
                <a:cs typeface="Calibri" pitchFamily="34" charset="-120"/>
              </a:rPr>
              <a:t> travelled in an envelope.</a:t>
            </a:r>
            <a:endParaRPr lang="en-US" sz="1600" dirty="0"/>
          </a:p>
        </p:txBody>
      </p:sp>
      <p:sp>
        <p:nvSpPr>
          <p:cNvPr id="9" name="Shape 7"/>
          <p:cNvSpPr/>
          <p:nvPr/>
        </p:nvSpPr>
        <p:spPr>
          <a:xfrm>
            <a:off x="365760" y="2542032"/>
            <a:ext cx="8412480" cy="658368"/>
          </a:xfrm>
          <a:prstGeom prst="roundRect">
            <a:avLst>
              <a:gd name="adj" fmla="val 13889"/>
            </a:avLst>
          </a:prstGeom>
          <a:solidFill>
            <a:srgbClr val="FEF6E8"/>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2688336"/>
            <a:ext cx="7863840" cy="402336"/>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We live near the </a:t>
            </a:r>
            <a:pPr indent="0" marL="0">
              <a:buNone/>
            </a:pPr>
            <a:r>
              <a:rPr lang="en-US" sz="1600" b="1" dirty="0">
                <a:solidFill>
                  <a:srgbClr val="34B76F"/>
                </a:solidFill>
                <a:latin typeface="Calibri" pitchFamily="34" charset="0"/>
                <a:ea typeface="Calibri" pitchFamily="34" charset="-122"/>
                <a:cs typeface="Calibri" pitchFamily="34" charset="-120"/>
              </a:rPr>
              <a:t>Mississippi</a:t>
            </a:r>
            <a:pPr indent="0" marL="0">
              <a:buNone/>
            </a:pPr>
            <a:r>
              <a:rPr lang="en-US" sz="1600" dirty="0">
                <a:solidFill>
                  <a:srgbClr val="1E293B"/>
                </a:solidFill>
                <a:latin typeface="Calibri" pitchFamily="34" charset="0"/>
                <a:ea typeface="Calibri" pitchFamily="34" charset="-122"/>
                <a:cs typeface="Calibri" pitchFamily="34" charset="-120"/>
              </a:rPr>
              <a:t> River.</a:t>
            </a:r>
            <a:endParaRPr lang="en-US" sz="1600" dirty="0"/>
          </a:p>
        </p:txBody>
      </p:sp>
      <p:sp>
        <p:nvSpPr>
          <p:cNvPr id="11" name="Shape 9"/>
          <p:cNvSpPr/>
          <p:nvPr/>
        </p:nvSpPr>
        <p:spPr>
          <a:xfrm>
            <a:off x="365760" y="3273552"/>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3419856"/>
            <a:ext cx="7863840" cy="402336"/>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A boy named </a:t>
            </a:r>
            <a:pPr indent="0" marL="0">
              <a:buNone/>
            </a:pPr>
            <a:r>
              <a:rPr lang="en-US" sz="1600" b="1" dirty="0">
                <a:solidFill>
                  <a:srgbClr val="34B76F"/>
                </a:solidFill>
                <a:latin typeface="Calibri" pitchFamily="34" charset="0"/>
                <a:ea typeface="Calibri" pitchFamily="34" charset="-122"/>
                <a:cs typeface="Calibri" pitchFamily="34" charset="-120"/>
              </a:rPr>
              <a:t>Arthur</a:t>
            </a:r>
            <a:pPr indent="0" marL="0">
              <a:buNone/>
            </a:pPr>
            <a:r>
              <a:rPr lang="en-US" sz="1600" dirty="0">
                <a:solidFill>
                  <a:srgbClr val="1E293B"/>
                </a:solidFill>
                <a:latin typeface="Calibri" pitchFamily="34" charset="0"/>
                <a:ea typeface="Calibri" pitchFamily="34" charset="-122"/>
                <a:cs typeface="Calibri" pitchFamily="34" charset="-120"/>
              </a:rPr>
              <a:t> had a good idea.</a:t>
            </a:r>
            <a:endParaRPr lang="en-US" sz="1600" dirty="0"/>
          </a:p>
        </p:txBody>
      </p:sp>
      <p:sp>
        <p:nvSpPr>
          <p:cNvPr id="13" name="Text 11"/>
          <p:cNvSpPr/>
          <p:nvPr/>
        </p:nvSpPr>
        <p:spPr>
          <a:xfrm>
            <a:off x="365760" y="4050792"/>
            <a:ext cx="8412480" cy="365760"/>
          </a:xfrm>
          <a:prstGeom prst="rect">
            <a:avLst/>
          </a:prstGeom>
          <a:noFill/>
          <a:ln/>
        </p:spPr>
        <p:txBody>
          <a:bodyPr wrap="square" lIns="0" tIns="0" rIns="0" bIns="0" rtlCol="0" anchor="ctr"/>
          <a:lstStyle/>
          <a:p>
            <a:pPr indent="0" marL="0">
              <a:buNone/>
            </a:pPr>
            <a:r>
              <a:rPr lang="en-US" sz="1500" b="1" dirty="0">
                <a:solidFill>
                  <a:srgbClr val="34B76F"/>
                </a:solidFill>
                <a:latin typeface="Calibri" pitchFamily="34" charset="0"/>
                <a:ea typeface="Calibri" pitchFamily="34" charset="-122"/>
                <a:cs typeface="Calibri" pitchFamily="34" charset="-120"/>
              </a:rPr>
              <a:t>✅  Answers revealed</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55C8E8"/>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Read</a:t>
            </a:r>
            <a:endParaRPr lang="en-US" sz="2200" dirty="0"/>
          </a:p>
        </p:txBody>
      </p:sp>
      <p:sp>
        <p:nvSpPr>
          <p:cNvPr id="4" name="Text 2"/>
          <p:cNvSpPr/>
          <p:nvPr/>
        </p:nvSpPr>
        <p:spPr>
          <a:xfrm>
            <a:off x="365760" y="868680"/>
            <a:ext cx="8412480" cy="502920"/>
          </a:xfrm>
          <a:prstGeom prst="rect">
            <a:avLst/>
          </a:prstGeom>
          <a:noFill/>
          <a:ln/>
        </p:spPr>
        <p:txBody>
          <a:bodyPr wrap="square" lIns="0" tIns="0" rIns="0" bIns="0" rtlCol="0" anchor="ctr"/>
          <a:lstStyle/>
          <a:p>
            <a:pPr indent="0" marL="0">
              <a:buNone/>
            </a:pPr>
            <a:r>
              <a:rPr lang="en-US" sz="2600" b="1" dirty="0">
                <a:solidFill>
                  <a:srgbClr val="0E1C42"/>
                </a:solidFill>
                <a:latin typeface="Calibri" pitchFamily="34" charset="0"/>
                <a:ea typeface="Calibri" pitchFamily="34" charset="-122"/>
                <a:cs typeface="Calibri" pitchFamily="34" charset="-120"/>
              </a:rPr>
              <a:t>Whole Book + Extensions</a:t>
            </a:r>
            <a:endParaRPr lang="en-US" sz="2600" dirty="0"/>
          </a:p>
        </p:txBody>
      </p:sp>
      <p:sp>
        <p:nvSpPr>
          <p:cNvPr id="5" name="Text 3"/>
          <p:cNvSpPr/>
          <p:nvPr/>
        </p:nvSpPr>
        <p:spPr>
          <a:xfrm>
            <a:off x="365760" y="1463040"/>
            <a:ext cx="8229600" cy="237744"/>
          </a:xfrm>
          <a:prstGeom prst="rect">
            <a:avLst/>
          </a:prstGeom>
          <a:noFill/>
          <a:ln/>
        </p:spPr>
        <p:txBody>
          <a:bodyPr wrap="square" lIns="0" tIns="0" rIns="0" bIns="0" rtlCol="0" anchor="ctr"/>
          <a:lstStyle/>
          <a:p>
            <a:pPr indent="0" marL="0">
              <a:buNone/>
            </a:pPr>
            <a:r>
              <a:rPr lang="en-US" sz="1100" b="1" spc="100" kern="0" dirty="0">
                <a:solidFill>
                  <a:srgbClr val="C7922C"/>
                </a:solidFill>
                <a:latin typeface="Calibri" pitchFamily="34" charset="0"/>
                <a:ea typeface="Calibri" pitchFamily="34" charset="-122"/>
                <a:cs typeface="Calibri" pitchFamily="34" charset="-120"/>
              </a:rPr>
              <a:t>PAUSE &amp; THINK</a:t>
            </a:r>
            <a:endParaRPr lang="en-US" sz="1100" dirty="0"/>
          </a:p>
        </p:txBody>
      </p:sp>
      <p:sp>
        <p:nvSpPr>
          <p:cNvPr id="6" name="Text 4"/>
          <p:cNvSpPr/>
          <p:nvPr/>
        </p:nvSpPr>
        <p:spPr>
          <a:xfrm>
            <a:off x="365760" y="1719072"/>
            <a:ext cx="8412480" cy="914400"/>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  Flat Stanley is fiction, but it touches on real topics like mailing packages, visiting museums, and being different. What is one thing you learned from an extension text that made you understand Stanley's story better?</a:t>
            </a:r>
            <a:endParaRPr lang="en-US" sz="1500" dirty="0"/>
          </a:p>
          <a:p>
            <a:pPr indent="0" marL="0">
              <a:buNone/>
            </a:pPr>
            <a:r>
              <a:rPr lang="en-US" sz="1500" dirty="0">
                <a:solidFill>
                  <a:srgbClr val="1E293B"/>
                </a:solidFill>
                <a:latin typeface="Calibri" pitchFamily="34" charset="0"/>
                <a:ea typeface="Calibri" pitchFamily="34" charset="-122"/>
                <a:cs typeface="Calibri" pitchFamily="34" charset="-120"/>
              </a:rPr>
              <a:t>•  Mrs. Lambchop says it’s wrong to dislike people for how they look. How does Stanley’s experience connect to this message?</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Optima Academy Online</dc:creator>
  <cp:lastModifiedBy>Optima Academy Online</cp:lastModifiedBy>
  <cp:revision>1</cp:revision>
  <dcterms:created xsi:type="dcterms:W3CDTF">2026-09-07T02:56:15Z</dcterms:created>
  <dcterms:modified xsi:type="dcterms:W3CDTF">2026-09-07T02:56:15Z</dcterms:modified>
</cp:coreProperties>
</file>