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slide for Week 22 Day 1. The Whipping Boy.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prompt aloud once. Give students about 1 minute to read it again silently and think. Remind them: there is no wrong answer — just write what comes to mind. Advance to the writing slide when ready.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a 5-minute timer. Walk the room quietly. If a student stops, gently encourage them: "Keep writing — even one more sentence." The goal is sustained writing, not perfection. Do not interrupt to correct spelling or grammar during this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a 1-minute timer. Remind students: we are only fixing ONE thing today — Did I connect the title to who the author thinks matters most?. They should also do a quick conventions check (capitals, punctuation, spelling). They do NOT need to rewrite — just fix and improve. Revision = improving ideas; Editing = fixing conventions. Keep them separate in your language.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Call on 3-5 students to share. Respond with genuine interest: "I love how you described that" or "That's a really interesting idea." Avoid correcting grammar or spelling during share time — this is about celebrating writing. If time is short, have 2-3 students share in chat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Review the big question and reading lens with students before 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model sentence aloud. Ask students: what do you notice about the punctuation and capitalization?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students 1-2 minutes to fix the sentence. Walk the room and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the corrected version. Point out each fix: capitalization, punctuation, spelling.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Review morphology focus. Have students identify the base word and affix in each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vocabulary word. For flip cards, have students guess the definition before revealing.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identify the correct answer before revealing. Use chat or cold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answers. Discuss WHY each answer is correct — what rule applies?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students time to sort the words. Use the chat or paper to organize.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Review each column. Ask: what pattern do you see in each group?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focus slide. Use pause-and-think questions during reading. Copywork can be done after 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to the writing workshop assignment in Canvas.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8B4513"/>
        </a:solidFill>
      </p:bgPr>
    </p:bg>
    <p:spTree>
      <p:nvGrpSpPr>
        <p:cNvPr id="1" name=""/>
        <p:cNvGrpSpPr/>
        <p:nvPr/>
      </p:nvGrpSpPr>
      <p:grpSpPr>
        <a:xfrm>
          <a:off x="0" y="0"/>
          <a:ext cx="0" cy="0"/>
          <a:chOff x="0" y="0"/>
          <a:chExt cx="0" cy="0"/>
        </a:xfrm>
      </p:grpSpPr>
      <p:sp>
        <p:nvSpPr>
          <p:cNvPr id="2" name="Text 0"/>
          <p:cNvSpPr/>
          <p:nvPr/>
        </p:nvSpPr>
        <p:spPr>
          <a:xfrm>
            <a:off x="457200" y="914400"/>
            <a:ext cx="8229600" cy="1097280"/>
          </a:xfrm>
          <a:prstGeom prst="rect">
            <a:avLst/>
          </a:prstGeom>
          <a:noFill/>
          <a:ln/>
        </p:spPr>
        <p:txBody>
          <a:bodyPr wrap="square" lIns="0" tIns="0" rIns="0" bIns="0" rtlCol="0" anchor="ctr"/>
          <a:lstStyle/>
          <a:p>
            <a:pPr algn="ctr" indent="0" marL="0">
              <a:buNone/>
            </a:pPr>
            <a:r>
              <a:rPr lang="en-US" sz="4000" b="1" dirty="0">
                <a:solidFill>
                  <a:srgbClr val="FFFFFF"/>
                </a:solidFill>
                <a:latin typeface="Calibri" pitchFamily="34" charset="0"/>
                <a:ea typeface="Calibri" pitchFamily="34" charset="-122"/>
                <a:cs typeface="Calibri" pitchFamily="34" charset="-120"/>
              </a:rPr>
              <a:t>👑  Week 22 · Day 1</a:t>
            </a:r>
            <a:endParaRPr lang="en-US" sz="4000" dirty="0"/>
          </a:p>
        </p:txBody>
      </p:sp>
      <p:sp>
        <p:nvSpPr>
          <p:cNvPr id="3" name="Text 1"/>
          <p:cNvSpPr/>
          <p:nvPr/>
        </p:nvSpPr>
        <p:spPr>
          <a:xfrm>
            <a:off x="457200" y="2103120"/>
            <a:ext cx="8229600" cy="731520"/>
          </a:xfrm>
          <a:prstGeom prst="rect">
            <a:avLst/>
          </a:prstGeom>
          <a:noFill/>
          <a:ln/>
        </p:spPr>
        <p:txBody>
          <a:bodyPr wrap="square" lIns="0" tIns="0" rIns="0" bIns="0" rtlCol="0" anchor="ctr"/>
          <a:lstStyle/>
          <a:p>
            <a:pPr algn="ctr" indent="0" marL="0">
              <a:buNone/>
            </a:pPr>
            <a:r>
              <a:rPr lang="en-US" sz="1800" dirty="0">
                <a:solidFill>
                  <a:srgbClr val="D2691E"/>
                </a:solidFill>
                <a:latin typeface="Calibri" pitchFamily="34" charset="0"/>
                <a:ea typeface="Calibri" pitchFamily="34" charset="-122"/>
                <a:cs typeface="Calibri" pitchFamily="34" charset="-120"/>
              </a:rPr>
              <a:t>The Whipping Boy — Lesson 22.1</a:t>
            </a:r>
            <a:endParaRPr lang="en-US" sz="1800" dirty="0"/>
          </a:p>
        </p:txBody>
      </p:sp>
      <p:sp>
        <p:nvSpPr>
          <p:cNvPr id="4" name="Text 2"/>
          <p:cNvSpPr/>
          <p:nvPr/>
        </p:nvSpPr>
        <p:spPr>
          <a:xfrm>
            <a:off x="457200" y="4114800"/>
            <a:ext cx="8229600" cy="457200"/>
          </a:xfrm>
          <a:prstGeom prst="rect">
            <a:avLst/>
          </a:prstGeom>
          <a:noFill/>
          <a:ln/>
        </p:spPr>
        <p:txBody>
          <a:bodyPr wrap="square" lIns="0" tIns="0" rIns="0" bIns="0" rtlCol="0" anchor="ctr"/>
          <a:lstStyle/>
          <a:p>
            <a:pPr algn="ctr" indent="0" marL="0">
              <a:buNone/>
            </a:pPr>
            <a:r>
              <a:rPr lang="en-US" sz="1300" dirty="0">
                <a:solidFill>
                  <a:srgbClr val="AAAAAA"/>
                </a:solidFill>
                <a:latin typeface="Calibri" pitchFamily="34" charset="0"/>
                <a:ea typeface="Calibri" pitchFamily="34" charset="-122"/>
                <a:cs typeface="Calibri" pitchFamily="34" charset="-120"/>
              </a:rPr>
              <a:t>Optima Academy Online · 3rd Grade ELA</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10-Minute Write</a:t>
            </a:r>
            <a:endParaRPr lang="en-US" sz="2800" dirty="0"/>
          </a:p>
        </p:txBody>
      </p:sp>
      <p:sp>
        <p:nvSpPr>
          <p:cNvPr id="3" name="Shape 1"/>
          <p:cNvSpPr/>
          <p:nvPr/>
        </p:nvSpPr>
        <p:spPr>
          <a:xfrm>
            <a:off x="365760" y="749808"/>
            <a:ext cx="8412480" cy="0"/>
          </a:xfrm>
          <a:prstGeom prst="line">
            <a:avLst/>
          </a:prstGeom>
          <a:noFill/>
          <a:ln w="19050">
            <a:solidFill>
              <a:srgbClr val="C7922C"/>
            </a:solidFill>
            <a:prstDash val="solid"/>
          </a:ln>
        </p:spPr>
      </p:sp>
      <p:sp>
        <p:nvSpPr>
          <p:cNvPr id="4" name="Text 2"/>
          <p:cNvSpPr/>
          <p:nvPr/>
        </p:nvSpPr>
        <p:spPr>
          <a:xfrm>
            <a:off x="457200" y="100584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 READ THE PROMPT — 1 MINUTE</a:t>
            </a:r>
            <a:endParaRPr lang="en-US" sz="1100" dirty="0"/>
          </a:p>
        </p:txBody>
      </p:sp>
      <p:sp>
        <p:nvSpPr>
          <p:cNvPr id="5" name="Shape 3"/>
          <p:cNvSpPr/>
          <p:nvPr/>
        </p:nvSpPr>
        <p:spPr>
          <a:xfrm>
            <a:off x="457200" y="1417320"/>
            <a:ext cx="8229600" cy="1645920"/>
          </a:xfrm>
          <a:prstGeom prst="roundRect">
            <a:avLst>
              <a:gd name="adj" fmla="val 5556"/>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640080" y="1527048"/>
            <a:ext cx="7863840" cy="141732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Think about the title: The Whipping Boy. Why do you think the author named the book after Jemmy and not the prince? What does that choice tell you about who the real hero of the story is?</a:t>
            </a:r>
            <a:endParaRPr lang="en-US" sz="1800" dirty="0"/>
          </a:p>
        </p:txBody>
      </p:sp>
      <p:sp>
        <p:nvSpPr>
          <p:cNvPr id="7" name="Text 5"/>
          <p:cNvSpPr/>
          <p:nvPr/>
        </p:nvSpPr>
        <p:spPr>
          <a:xfrm>
            <a:off x="640080" y="3246120"/>
            <a:ext cx="7863840" cy="457200"/>
          </a:xfrm>
          <a:prstGeom prst="rect">
            <a:avLst/>
          </a:prstGeom>
          <a:noFill/>
          <a:ln/>
        </p:spPr>
        <p:txBody>
          <a:bodyPr wrap="square" lIns="0" tIns="0" rIns="0" bIns="0" rtlCol="0" anchor="ctr"/>
          <a:lstStyle/>
          <a:p>
            <a:pPr indent="0" marL="0">
              <a:buNone/>
            </a:pPr>
            <a:r>
              <a:rPr lang="en-US" sz="1400" b="1" dirty="0">
                <a:solidFill>
                  <a:srgbClr val="0E1C42"/>
                </a:solidFill>
                <a:latin typeface="Calibri" pitchFamily="34" charset="0"/>
                <a:ea typeface="Calibri" pitchFamily="34" charset="-122"/>
                <a:cs typeface="Calibri" pitchFamily="34" charset="-120"/>
              </a:rPr>
              <a:t>Type in the chat </a:t>
            </a:r>
            <a:pPr indent="0" marL="0">
              <a:buNone/>
            </a:pPr>
            <a:r>
              <a:rPr lang="en-US" sz="1400" dirty="0">
                <a:solidFill>
                  <a:srgbClr val="1E293B"/>
                </a:solidFill>
                <a:latin typeface="Calibri" pitchFamily="34" charset="0"/>
                <a:ea typeface="Calibri" pitchFamily="34" charset="-122"/>
                <a:cs typeface="Calibri" pitchFamily="34" charset="-120"/>
              </a:rPr>
              <a:t>or </a:t>
            </a:r>
            <a:pPr indent="0" marL="0">
              <a:buNone/>
            </a:pPr>
            <a:r>
              <a:rPr lang="en-US" sz="1400" b="1" dirty="0">
                <a:solidFill>
                  <a:srgbClr val="0E1C42"/>
                </a:solidFill>
                <a:latin typeface="Calibri" pitchFamily="34" charset="0"/>
                <a:ea typeface="Calibri" pitchFamily="34" charset="-122"/>
                <a:cs typeface="Calibri" pitchFamily="34" charset="-120"/>
              </a:rPr>
              <a:t>write on paper</a:t>
            </a:r>
            <a:pPr indent="0" marL="0">
              <a:buNone/>
            </a:pPr>
            <a:r>
              <a:rPr lang="en-US" sz="1400" dirty="0">
                <a:solidFill>
                  <a:srgbClr val="1E293B"/>
                </a:solidFill>
                <a:latin typeface="Calibri" pitchFamily="34" charset="0"/>
                <a:ea typeface="Calibri" pitchFamily="34" charset="-122"/>
                <a:cs typeface="Calibri" pitchFamily="34" charset="-120"/>
              </a:rPr>
              <a:t> to hold up when we share.</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EF6E8"/>
        </a:solidFill>
      </p:bgPr>
    </p:bg>
    <p:spTree>
      <p:nvGrpSpPr>
        <p:cNvPr id="1" name=""/>
        <p:cNvGrpSpPr/>
        <p:nvPr/>
      </p:nvGrpSpPr>
      <p:grpSpPr>
        <a:xfrm>
          <a:off x="0" y="0"/>
          <a:ext cx="0" cy="0"/>
          <a:chOff x="0" y="0"/>
          <a:chExt cx="0" cy="0"/>
        </a:xfrm>
      </p:grpSpPr>
      <p:sp>
        <p:nvSpPr>
          <p:cNvPr id="2" name="Text 0"/>
          <p:cNvSpPr/>
          <p:nvPr/>
        </p:nvSpPr>
        <p:spPr>
          <a:xfrm>
            <a:off x="457200" y="228600"/>
            <a:ext cx="8229600" cy="640080"/>
          </a:xfrm>
          <a:prstGeom prst="rect">
            <a:avLst/>
          </a:prstGeom>
          <a:noFill/>
          <a:ln/>
        </p:spPr>
        <p:txBody>
          <a:bodyPr wrap="square" lIns="0" tIns="0" rIns="0" bIns="0" rtlCol="0" anchor="ctr"/>
          <a:lstStyle/>
          <a:p>
            <a:pPr algn="ctr" indent="0" marL="0">
              <a:buNone/>
            </a:pPr>
            <a:r>
              <a:rPr lang="en-US" sz="3200" b="1" dirty="0">
                <a:solidFill>
                  <a:srgbClr val="0E1C42"/>
                </a:solidFill>
                <a:latin typeface="Calibri" pitchFamily="34" charset="0"/>
                <a:ea typeface="Calibri" pitchFamily="34" charset="-122"/>
                <a:cs typeface="Calibri" pitchFamily="34" charset="-120"/>
              </a:rPr>
              <a:t>✏️  Writing Time</a:t>
            </a:r>
            <a:endParaRPr lang="en-US" sz="3200" dirty="0"/>
          </a:p>
        </p:txBody>
      </p:sp>
      <p:sp>
        <p:nvSpPr>
          <p:cNvPr id="3" name="Text 1"/>
          <p:cNvSpPr/>
          <p:nvPr/>
        </p:nvSpPr>
        <p:spPr>
          <a:xfrm>
            <a:off x="914400" y="822960"/>
            <a:ext cx="7315200" cy="365760"/>
          </a:xfrm>
          <a:prstGeom prst="rect">
            <a:avLst/>
          </a:prstGeom>
          <a:noFill/>
          <a:ln/>
        </p:spPr>
        <p:txBody>
          <a:bodyPr wrap="square" lIns="0" tIns="0" rIns="0" bIns="0" rtlCol="0" anchor="ctr"/>
          <a:lstStyle/>
          <a:p>
            <a:pPr algn="ctr" indent="0" marL="0">
              <a:buNone/>
            </a:pPr>
            <a:r>
              <a:rPr lang="en-US" sz="1600" dirty="0">
                <a:solidFill>
                  <a:srgbClr val="C7922C"/>
                </a:solidFill>
                <a:latin typeface="Calibri" pitchFamily="34" charset="0"/>
                <a:ea typeface="Calibri" pitchFamily="34" charset="-122"/>
                <a:cs typeface="Calibri" pitchFamily="34" charset="-120"/>
              </a:rPr>
              <a:t>5 minutes — keep your pencil moving!</a:t>
            </a:r>
            <a:endParaRPr lang="en-US" sz="1600" dirty="0"/>
          </a:p>
        </p:txBody>
      </p:sp>
      <p:sp>
        <p:nvSpPr>
          <p:cNvPr id="4" name="Shape 2"/>
          <p:cNvSpPr/>
          <p:nvPr/>
        </p:nvSpPr>
        <p:spPr>
          <a:xfrm>
            <a:off x="457200" y="1371600"/>
            <a:ext cx="8229600" cy="1280160"/>
          </a:xfrm>
          <a:prstGeom prst="roundRect">
            <a:avLst>
              <a:gd name="adj" fmla="val 7143"/>
            </a:avLst>
          </a:prstGeom>
          <a:solidFill>
            <a:srgbClr val="FFFFFF"/>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5" name="Text 3"/>
          <p:cNvSpPr/>
          <p:nvPr/>
        </p:nvSpPr>
        <p:spPr>
          <a:xfrm>
            <a:off x="640080" y="1417320"/>
            <a:ext cx="7863840" cy="1188720"/>
          </a:xfrm>
          <a:prstGeom prst="rect">
            <a:avLst/>
          </a:prstGeom>
          <a:noFill/>
          <a:ln/>
        </p:spPr>
        <p:txBody>
          <a:bodyPr wrap="square" lIns="0" tIns="0" rIns="0" bIns="0" rtlCol="0" anchor="t"/>
          <a:lstStyle/>
          <a:p>
            <a:pPr indent="0" marL="0">
              <a:buNone/>
            </a:pPr>
            <a:r>
              <a:rPr lang="en-US" sz="1200" b="1" dirty="0">
                <a:solidFill>
                  <a:srgbClr val="C7922C"/>
                </a:solidFill>
                <a:latin typeface="Calibri" pitchFamily="34" charset="0"/>
                <a:ea typeface="Calibri" pitchFamily="34" charset="-122"/>
                <a:cs typeface="Calibri" pitchFamily="34" charset="-120"/>
              </a:rPr>
              <a:t>📖 Prompt: </a:t>
            </a:r>
            <a:pPr indent="0" marL="0">
              <a:buNone/>
            </a:pPr>
            <a:r>
              <a:rPr lang="en-US" sz="1200" i="1" dirty="0">
                <a:solidFill>
                  <a:srgbClr val="1E293B"/>
                </a:solidFill>
                <a:latin typeface="Calibri" pitchFamily="34" charset="0"/>
                <a:ea typeface="Calibri" pitchFamily="34" charset="-122"/>
                <a:cs typeface="Calibri" pitchFamily="34" charset="-120"/>
              </a:rPr>
              <a:t>Think about the title: The Whipping Boy. Why do you think the author named the book after Jemmy and not the prince? What does that choice tell you about who the real hero of the story is?</a:t>
            </a:r>
            <a:endParaRPr lang="en-US" sz="1200" dirty="0"/>
          </a:p>
        </p:txBody>
      </p:sp>
      <p:sp>
        <p:nvSpPr>
          <p:cNvPr id="6" name="Shape 4"/>
          <p:cNvSpPr/>
          <p:nvPr/>
        </p:nvSpPr>
        <p:spPr>
          <a:xfrm>
            <a:off x="2286000" y="2926080"/>
            <a:ext cx="4572000" cy="1280160"/>
          </a:xfrm>
          <a:prstGeom prst="roundRect">
            <a:avLst>
              <a:gd name="adj" fmla="val 8571"/>
            </a:avLst>
          </a:prstGeom>
          <a:solidFill>
            <a:srgbClr val="FFFFFF"/>
          </a:solidFill>
          <a:ln/>
          <a:effectLst>
            <a:outerShdw sx="100000" sy="100000" kx="0" ky="0" algn="bl" rotWithShape="0" blurRad="101600" dist="38100" dir="2700000">
              <a:srgbClr val="000000">
                <a:alpha val="12000"/>
              </a:srgbClr>
            </a:outerShdw>
          </a:effectLst>
        </p:spPr>
      </p:sp>
      <p:sp>
        <p:nvSpPr>
          <p:cNvPr id="7" name="Text 5"/>
          <p:cNvSpPr/>
          <p:nvPr/>
        </p:nvSpPr>
        <p:spPr>
          <a:xfrm>
            <a:off x="2468880" y="3017520"/>
            <a:ext cx="4206240" cy="1097280"/>
          </a:xfrm>
          <a:prstGeom prst="rect">
            <a:avLst/>
          </a:prstGeom>
          <a:noFill/>
          <a:ln/>
        </p:spPr>
        <p:txBody>
          <a:bodyPr wrap="square" lIns="0" tIns="0" rIns="0" bIns="0" rtlCol="0" anchor="t"/>
          <a:lstStyle/>
          <a:p>
            <a:pPr indent="0" marL="0">
              <a:buNone/>
            </a:pPr>
            <a:r>
              <a:rPr lang="en-US" sz="1400" b="1" dirty="0">
                <a:solidFill>
                  <a:srgbClr val="0E1C42"/>
                </a:solidFill>
                <a:latin typeface="Calibri" pitchFamily="34" charset="0"/>
                <a:ea typeface="Calibri" pitchFamily="34" charset="-122"/>
                <a:cs typeface="Calibri" pitchFamily="34" charset="-120"/>
              </a:rPr>
              <a:t>If you get stuck:
</a:t>
            </a:r>
            <a:pPr indent="0" marL="0">
              <a:buNone/>
            </a:pPr>
            <a:r>
              <a:rPr lang="en-US" sz="1300" dirty="0">
                <a:solidFill>
                  <a:srgbClr val="1E293B"/>
                </a:solidFill>
                <a:latin typeface="Calibri" pitchFamily="34" charset="0"/>
                <a:ea typeface="Calibri" pitchFamily="34" charset="-122"/>
                <a:cs typeface="Calibri" pitchFamily="34" charset="-120"/>
              </a:rPr>
              <a:t>• Reread the prompt above
</a:t>
            </a:r>
            <a:pPr indent="0" marL="0">
              <a:buNone/>
            </a:pPr>
            <a:r>
              <a:rPr lang="en-US" sz="1300" dirty="0">
                <a:solidFill>
                  <a:srgbClr val="1E293B"/>
                </a:solidFill>
                <a:latin typeface="Calibri" pitchFamily="34" charset="0"/>
                <a:ea typeface="Calibri" pitchFamily="34" charset="-122"/>
                <a:cs typeface="Calibri" pitchFamily="34" charset="-120"/>
              </a:rPr>
              <a:t>• Write "I'm thinking..." until a new idea comes
</a:t>
            </a:r>
            <a:pPr indent="0" marL="0">
              <a:buNone/>
            </a:pPr>
            <a:r>
              <a:rPr lang="en-US" sz="1300" dirty="0">
                <a:solidFill>
                  <a:srgbClr val="1E293B"/>
                </a:solidFill>
                <a:latin typeface="Calibri" pitchFamily="34" charset="0"/>
                <a:ea typeface="Calibri" pitchFamily="34" charset="-122"/>
                <a:cs typeface="Calibri" pitchFamily="34" charset="-120"/>
              </a:rPr>
              <a:t>• Keep going — don't erase!</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8F8EF"/>
        </a:solidFill>
      </p:bgPr>
    </p:bg>
    <p:spTree>
      <p:nvGrpSpPr>
        <p:cNvPr id="1" name=""/>
        <p:cNvGrpSpPr/>
        <p:nvPr/>
      </p:nvGrpSpPr>
      <p:grpSpPr>
        <a:xfrm>
          <a:off x="0" y="0"/>
          <a:ext cx="0" cy="0"/>
          <a:chOff x="0" y="0"/>
          <a:chExt cx="0" cy="0"/>
        </a:xfrm>
      </p:grpSpPr>
      <p:sp>
        <p:nvSpPr>
          <p:cNvPr id="2" name="Text 0"/>
          <p:cNvSpPr/>
          <p:nvPr/>
        </p:nvSpPr>
        <p:spPr>
          <a:xfrm>
            <a:off x="3657600" y="365760"/>
            <a:ext cx="1828800" cy="640080"/>
          </a:xfrm>
          <a:prstGeom prst="rect">
            <a:avLst/>
          </a:prstGeom>
          <a:noFill/>
          <a:ln/>
        </p:spPr>
        <p:txBody>
          <a:bodyPr wrap="square" lIns="0" tIns="0" rIns="0" bIns="0" rtlCol="0" anchor="ctr"/>
          <a:lstStyle/>
          <a:p>
            <a:pPr algn="ctr" indent="0" marL="0">
              <a:buNone/>
            </a:pPr>
            <a:r>
              <a:rPr lang="en-US" sz="4000" dirty="0">
                <a:solidFill>
                  <a:srgbClr val="000000"/>
                </a:solidFill>
              </a:rPr>
              <a:t>🔍</a:t>
            </a:r>
            <a:endParaRPr lang="en-US" sz="4000" dirty="0"/>
          </a:p>
        </p:txBody>
      </p:sp>
      <p:sp>
        <p:nvSpPr>
          <p:cNvPr id="3" name="Text 1"/>
          <p:cNvSpPr/>
          <p:nvPr/>
        </p:nvSpPr>
        <p:spPr>
          <a:xfrm>
            <a:off x="914400" y="914400"/>
            <a:ext cx="7315200" cy="640080"/>
          </a:xfrm>
          <a:prstGeom prst="rect">
            <a:avLst/>
          </a:prstGeom>
          <a:noFill/>
          <a:ln/>
        </p:spPr>
        <p:txBody>
          <a:bodyPr wrap="square" lIns="0" tIns="0" rIns="0" bIns="0" rtlCol="0" anchor="ctr"/>
          <a:lstStyle/>
          <a:p>
            <a:pPr algn="ctr" indent="0" marL="0">
              <a:buNone/>
            </a:pPr>
            <a:r>
              <a:rPr lang="en-US" sz="3200" b="1" dirty="0">
                <a:solidFill>
                  <a:srgbClr val="0E1C42"/>
                </a:solidFill>
                <a:latin typeface="Calibri" pitchFamily="34" charset="0"/>
                <a:ea typeface="Calibri" pitchFamily="34" charset="-122"/>
                <a:cs typeface="Calibri" pitchFamily="34" charset="-120"/>
              </a:rPr>
              <a:t>Edit &amp; Revise</a:t>
            </a:r>
            <a:endParaRPr lang="en-US" sz="3200" dirty="0"/>
          </a:p>
        </p:txBody>
      </p:sp>
      <p:sp>
        <p:nvSpPr>
          <p:cNvPr id="4" name="Text 2"/>
          <p:cNvSpPr/>
          <p:nvPr/>
        </p:nvSpPr>
        <p:spPr>
          <a:xfrm>
            <a:off x="914400" y="1508760"/>
            <a:ext cx="7315200" cy="457200"/>
          </a:xfrm>
          <a:prstGeom prst="rect">
            <a:avLst/>
          </a:prstGeom>
          <a:noFill/>
          <a:ln/>
        </p:spPr>
        <p:txBody>
          <a:bodyPr wrap="square" lIns="0" tIns="0" rIns="0" bIns="0" rtlCol="0" anchor="ctr"/>
          <a:lstStyle/>
          <a:p>
            <a:pPr algn="ctr" indent="0" marL="0">
              <a:buNone/>
            </a:pPr>
            <a:r>
              <a:rPr lang="en-US" sz="1600" dirty="0">
                <a:solidFill>
                  <a:srgbClr val="34B76F"/>
                </a:solidFill>
                <a:latin typeface="Calibri" pitchFamily="34" charset="0"/>
                <a:ea typeface="Calibri" pitchFamily="34" charset="-122"/>
                <a:cs typeface="Calibri" pitchFamily="34" charset="-120"/>
              </a:rPr>
              <a:t>1 minute — pick ONE thing to fix</a:t>
            </a:r>
            <a:endParaRPr lang="en-US" sz="1600" dirty="0"/>
          </a:p>
        </p:txBody>
      </p:sp>
      <p:sp>
        <p:nvSpPr>
          <p:cNvPr id="5" name="Shape 3"/>
          <p:cNvSpPr/>
          <p:nvPr/>
        </p:nvSpPr>
        <p:spPr>
          <a:xfrm>
            <a:off x="1371600" y="2103120"/>
            <a:ext cx="6400800" cy="640080"/>
          </a:xfrm>
          <a:prstGeom prst="roundRect">
            <a:avLst>
              <a:gd name="adj" fmla="val 14286"/>
            </a:avLst>
          </a:prstGeom>
          <a:solidFill>
            <a:srgbClr val="FFFFFF"/>
          </a:solidFill>
          <a:ln w="19050">
            <a:solidFill>
              <a:srgbClr val="34B76F"/>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1554480" y="2148840"/>
            <a:ext cx="6035040" cy="548640"/>
          </a:xfrm>
          <a:prstGeom prst="rect">
            <a:avLst/>
          </a:prstGeom>
          <a:noFill/>
          <a:ln/>
        </p:spPr>
        <p:txBody>
          <a:bodyPr wrap="square" lIns="0" tIns="0" rIns="0" bIns="0" rtlCol="0" anchor="ctr"/>
          <a:lstStyle/>
          <a:p>
            <a:pPr indent="0" marL="0">
              <a:buNone/>
            </a:pPr>
            <a:r>
              <a:rPr lang="en-US" sz="1400" b="1" dirty="0">
                <a:solidFill>
                  <a:srgbClr val="34B76F"/>
                </a:solidFill>
                <a:latin typeface="Calibri" pitchFamily="34" charset="0"/>
                <a:ea typeface="Calibri" pitchFamily="34" charset="-122"/>
                <a:cs typeface="Calibri" pitchFamily="34" charset="-120"/>
              </a:rPr>
              <a:t>Today's check: </a:t>
            </a:r>
            <a:pPr indent="0" marL="0">
              <a:buNone/>
            </a:pPr>
            <a:r>
              <a:rPr lang="en-US" sz="1400" dirty="0">
                <a:solidFill>
                  <a:srgbClr val="1E293B"/>
                </a:solidFill>
                <a:latin typeface="Calibri" pitchFamily="34" charset="0"/>
                <a:ea typeface="Calibri" pitchFamily="34" charset="-122"/>
                <a:cs typeface="Calibri" pitchFamily="34" charset="-120"/>
              </a:rPr>
              <a:t>Did I connect the title to who the author thinks matters most?</a:t>
            </a:r>
            <a:endParaRPr lang="en-US" sz="1400" dirty="0"/>
          </a:p>
        </p:txBody>
      </p:sp>
      <p:sp>
        <p:nvSpPr>
          <p:cNvPr id="7" name="Shape 5"/>
          <p:cNvSpPr/>
          <p:nvPr/>
        </p:nvSpPr>
        <p:spPr>
          <a:xfrm>
            <a:off x="1371600" y="2926080"/>
            <a:ext cx="6400800" cy="1463040"/>
          </a:xfrm>
          <a:prstGeom prst="roundRect">
            <a:avLst>
              <a:gd name="adj" fmla="val 6250"/>
            </a:avLst>
          </a:prstGeom>
          <a:solidFill>
            <a:srgbClr val="FFFFFF"/>
          </a:solidFill>
          <a:ln/>
          <a:effectLst>
            <a:outerShdw sx="100000" sy="100000" kx="0" ky="0" algn="bl" rotWithShape="0" blurRad="101600" dist="38100" dir="2700000">
              <a:srgbClr val="000000">
                <a:alpha val="12000"/>
              </a:srgbClr>
            </a:outerShdw>
          </a:effectLst>
        </p:spPr>
      </p:sp>
      <p:sp>
        <p:nvSpPr>
          <p:cNvPr id="8" name="Text 6"/>
          <p:cNvSpPr/>
          <p:nvPr/>
        </p:nvSpPr>
        <p:spPr>
          <a:xfrm>
            <a:off x="1554480" y="3017520"/>
            <a:ext cx="6035040" cy="1280160"/>
          </a:xfrm>
          <a:prstGeom prst="rect">
            <a:avLst/>
          </a:prstGeom>
          <a:noFill/>
          <a:ln/>
        </p:spPr>
        <p:txBody>
          <a:bodyPr wrap="square" lIns="0" tIns="0" rIns="0" bIns="0" rtlCol="0" anchor="t"/>
          <a:lstStyle/>
          <a:p>
            <a:pPr indent="0" marL="0">
              <a:spcAft>
                <a:spcPts val="200"/>
              </a:spcAft>
              <a:buNone/>
            </a:pPr>
            <a:r>
              <a:rPr lang="en-US" sz="1300" b="1" dirty="0">
                <a:solidFill>
                  <a:srgbClr val="0E1C42"/>
                </a:solidFill>
                <a:latin typeface="Calibri" pitchFamily="34" charset="0"/>
                <a:ea typeface="Calibri" pitchFamily="34" charset="-122"/>
                <a:cs typeface="Calibri" pitchFamily="34" charset="-120"/>
              </a:rPr>
              <a:t>Quick check:
</a:t>
            </a:r>
            <a:pPr indent="0" marL="0">
              <a:spcAft>
                <a:spcPts val="200"/>
              </a:spcAft>
              <a:buNone/>
            </a:pPr>
            <a:r>
              <a:rPr lang="en-US" sz="1200" dirty="0">
                <a:solidFill>
                  <a:srgbClr val="1E293B"/>
                </a:solidFill>
                <a:latin typeface="Calibri" pitchFamily="34" charset="0"/>
                <a:ea typeface="Calibri" pitchFamily="34" charset="-122"/>
                <a:cs typeface="Calibri" pitchFamily="34" charset="-120"/>
              </a:rPr>
              <a:t>□ Capital letters at the start of every sentence
</a:t>
            </a:r>
            <a:pPr indent="0" marL="0">
              <a:spcAft>
                <a:spcPts val="200"/>
              </a:spcAft>
              <a:buNone/>
            </a:pPr>
            <a:r>
              <a:rPr lang="en-US" sz="1200" dirty="0">
                <a:solidFill>
                  <a:srgbClr val="1E293B"/>
                </a:solidFill>
                <a:latin typeface="Calibri" pitchFamily="34" charset="0"/>
                <a:ea typeface="Calibri" pitchFamily="34" charset="-122"/>
                <a:cs typeface="Calibri" pitchFamily="34" charset="-120"/>
              </a:rPr>
              <a:t>□ End punctuation ( .  ?  ! )
</a:t>
            </a:r>
            <a:pPr indent="0" marL="0">
              <a:spcAft>
                <a:spcPts val="200"/>
              </a:spcAft>
              <a:buNone/>
            </a:pPr>
            <a:r>
              <a:rPr lang="en-US" sz="1200" dirty="0">
                <a:solidFill>
                  <a:srgbClr val="1E293B"/>
                </a:solidFill>
                <a:latin typeface="Calibri" pitchFamily="34" charset="0"/>
                <a:ea typeface="Calibri" pitchFamily="34" charset="-122"/>
                <a:cs typeface="Calibri" pitchFamily="34" charset="-120"/>
              </a:rPr>
              <a:t>□ Spelling — circle any words that look wrong
</a:t>
            </a:r>
            <a:pPr indent="0" marL="0">
              <a:spcAft>
                <a:spcPts val="200"/>
              </a:spcAft>
              <a:buNone/>
            </a:pPr>
            <a:r>
              <a:rPr lang="en-US" sz="1200" dirty="0">
                <a:solidFill>
                  <a:srgbClr val="1E293B"/>
                </a:solidFill>
                <a:latin typeface="Calibri" pitchFamily="34" charset="0"/>
                <a:ea typeface="Calibri" pitchFamily="34" charset="-122"/>
                <a:cs typeface="Calibri" pitchFamily="34" charset="-120"/>
              </a:rPr>
              <a:t>□ Read it quietly to yourself — does it sound right?</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0" y="457200"/>
            <a:ext cx="1828800" cy="731520"/>
          </a:xfrm>
          <a:prstGeom prst="rect">
            <a:avLst/>
          </a:prstGeom>
          <a:noFill/>
          <a:ln/>
        </p:spPr>
        <p:txBody>
          <a:bodyPr wrap="square" lIns="0" tIns="0" rIns="0" bIns="0" rtlCol="0" anchor="ctr"/>
          <a:lstStyle/>
          <a:p>
            <a:pPr algn="ctr" indent="0" marL="0">
              <a:buNone/>
            </a:pPr>
            <a:r>
              <a:rPr lang="en-US" sz="4400" dirty="0">
                <a:solidFill>
                  <a:srgbClr val="000000"/>
                </a:solidFill>
              </a:rPr>
              <a:t>🗣️</a:t>
            </a:r>
            <a:endParaRPr lang="en-US" sz="4400" dirty="0"/>
          </a:p>
        </p:txBody>
      </p:sp>
      <p:sp>
        <p:nvSpPr>
          <p:cNvPr id="3" name="Text 1"/>
          <p:cNvSpPr/>
          <p:nvPr/>
        </p:nvSpPr>
        <p:spPr>
          <a:xfrm>
            <a:off x="914400" y="1097280"/>
            <a:ext cx="7315200" cy="640080"/>
          </a:xfrm>
          <a:prstGeom prst="rect">
            <a:avLst/>
          </a:prstGeom>
          <a:noFill/>
          <a:ln/>
        </p:spPr>
        <p:txBody>
          <a:bodyPr wrap="square" lIns="0" tIns="0" rIns="0" bIns="0" rtlCol="0" anchor="ctr"/>
          <a:lstStyle/>
          <a:p>
            <a:pPr algn="ctr" indent="0" marL="0">
              <a:buNone/>
            </a:pPr>
            <a:r>
              <a:rPr lang="en-US" sz="3400" b="1" dirty="0">
                <a:solidFill>
                  <a:srgbClr val="0E1C42"/>
                </a:solidFill>
                <a:latin typeface="Calibri" pitchFamily="34" charset="0"/>
                <a:ea typeface="Calibri" pitchFamily="34" charset="-122"/>
                <a:cs typeface="Calibri" pitchFamily="34" charset="-120"/>
              </a:rPr>
              <a:t>Share Time</a:t>
            </a:r>
            <a:endParaRPr lang="en-US" sz="3400" dirty="0"/>
          </a:p>
        </p:txBody>
      </p:sp>
      <p:sp>
        <p:nvSpPr>
          <p:cNvPr id="4" name="Text 2"/>
          <p:cNvSpPr/>
          <p:nvPr/>
        </p:nvSpPr>
        <p:spPr>
          <a:xfrm>
            <a:off x="914400" y="1737360"/>
            <a:ext cx="7315200" cy="457200"/>
          </a:xfrm>
          <a:prstGeom prst="rect">
            <a:avLst/>
          </a:prstGeom>
          <a:noFill/>
          <a:ln/>
        </p:spPr>
        <p:txBody>
          <a:bodyPr wrap="square" lIns="0" tIns="0" rIns="0" bIns="0" rtlCol="0" anchor="ctr"/>
          <a:lstStyle/>
          <a:p>
            <a:pPr algn="ctr" indent="0" marL="0">
              <a:buNone/>
            </a:pPr>
            <a:r>
              <a:rPr lang="en-US" sz="1700" dirty="0">
                <a:solidFill>
                  <a:srgbClr val="55C8E8"/>
                </a:solidFill>
                <a:latin typeface="Calibri" pitchFamily="34" charset="0"/>
                <a:ea typeface="Calibri" pitchFamily="34" charset="-122"/>
                <a:cs typeface="Calibri" pitchFamily="34" charset="-120"/>
              </a:rPr>
              <a:t>3 minutes — let's hear your writing!</a:t>
            </a:r>
            <a:endParaRPr lang="en-US" sz="1700" dirty="0"/>
          </a:p>
        </p:txBody>
      </p:sp>
      <p:sp>
        <p:nvSpPr>
          <p:cNvPr id="5" name="Shape 3"/>
          <p:cNvSpPr/>
          <p:nvPr/>
        </p:nvSpPr>
        <p:spPr>
          <a:xfrm>
            <a:off x="1828800" y="2468880"/>
            <a:ext cx="5486400" cy="1645920"/>
          </a:xfrm>
          <a:prstGeom prst="roundRect">
            <a:avLst>
              <a:gd name="adj" fmla="val 6667"/>
            </a:avLst>
          </a:prstGeom>
          <a:solidFill>
            <a:srgbClr val="FFFFFF"/>
          </a:solidFill>
          <a:ln/>
          <a:effectLst>
            <a:outerShdw sx="100000" sy="100000" kx="0" ky="0" algn="bl" rotWithShape="0" blurRad="101600" dist="38100" dir="2700000">
              <a:srgbClr val="000000">
                <a:alpha val="12000"/>
              </a:srgbClr>
            </a:outerShdw>
          </a:effectLst>
        </p:spPr>
      </p:sp>
      <p:sp>
        <p:nvSpPr>
          <p:cNvPr id="6" name="Text 4"/>
          <p:cNvSpPr/>
          <p:nvPr/>
        </p:nvSpPr>
        <p:spPr>
          <a:xfrm>
            <a:off x="2103120" y="2560320"/>
            <a:ext cx="4937760" cy="1463040"/>
          </a:xfrm>
          <a:prstGeom prst="rect">
            <a:avLst/>
          </a:prstGeom>
          <a:noFill/>
          <a:ln/>
        </p:spPr>
        <p:txBody>
          <a:bodyPr wrap="square" lIns="0" tIns="0" rIns="0" bIns="0" rtlCol="0" anchor="t"/>
          <a:lstStyle/>
          <a:p>
            <a:pPr indent="0" marL="0">
              <a:spcAft>
                <a:spcPts val="200"/>
              </a:spcAft>
              <a:buNone/>
            </a:pPr>
            <a:r>
              <a:rPr lang="en-US" sz="1400" b="1" dirty="0">
                <a:solidFill>
                  <a:srgbClr val="0E1C42"/>
                </a:solidFill>
                <a:latin typeface="Calibri" pitchFamily="34" charset="0"/>
                <a:ea typeface="Calibri" pitchFamily="34" charset="-122"/>
                <a:cs typeface="Calibri" pitchFamily="34" charset="-120"/>
              </a:rPr>
              <a:t>How to share:
</a:t>
            </a:r>
            <a:pPr indent="0" marL="0">
              <a:spcAft>
                <a:spcPts val="200"/>
              </a:spcAft>
              <a:buNone/>
            </a:pPr>
            <a:r>
              <a:rPr lang="en-US" sz="1300" dirty="0">
                <a:solidFill>
                  <a:srgbClr val="1E293B"/>
                </a:solidFill>
                <a:latin typeface="Calibri" pitchFamily="34" charset="0"/>
                <a:ea typeface="Calibri" pitchFamily="34" charset="-122"/>
                <a:cs typeface="Calibri" pitchFamily="34" charset="-120"/>
              </a:rPr>
              <a:t>✋ Raise your hand if you want to read yours aloud
</a:t>
            </a:r>
            <a:pPr indent="0" marL="0">
              <a:spcAft>
                <a:spcPts val="200"/>
              </a:spcAft>
              <a:buNone/>
            </a:pPr>
            <a:r>
              <a:rPr lang="en-US" sz="1300" dirty="0">
                <a:solidFill>
                  <a:srgbClr val="1E293B"/>
                </a:solidFill>
                <a:latin typeface="Calibri" pitchFamily="34" charset="0"/>
                <a:ea typeface="Calibri" pitchFamily="34" charset="-122"/>
                <a:cs typeface="Calibri" pitchFamily="34" charset="-120"/>
              </a:rPr>
              <a:t>💬 Or paste your writing in the chat
</a:t>
            </a:r>
            <a:pPr indent="0" marL="0">
              <a:spcAft>
                <a:spcPts val="200"/>
              </a:spcAft>
              <a:buNone/>
            </a:pPr>
            <a:r>
              <a:rPr lang="en-US" sz="1300" dirty="0">
                <a:solidFill>
                  <a:srgbClr val="1E293B"/>
                </a:solidFill>
                <a:latin typeface="Calibri" pitchFamily="34" charset="0"/>
                <a:ea typeface="Calibri" pitchFamily="34" charset="-122"/>
                <a:cs typeface="Calibri" pitchFamily="34" charset="-120"/>
              </a:rPr>
              <a:t>👂 Listen respectfully when others share
</a:t>
            </a:r>
            <a:pPr indent="0" marL="0">
              <a:spcAft>
                <a:spcPts val="200"/>
              </a:spcAft>
              <a:buNone/>
            </a:pPr>
            <a:r>
              <a:rPr lang="en-US" sz="1200" i="1" dirty="0">
                <a:solidFill>
                  <a:srgbClr val="64748B"/>
                </a:solidFill>
                <a:latin typeface="Calibri" pitchFamily="34" charset="0"/>
                <a:ea typeface="Calibri" pitchFamily="34" charset="-122"/>
                <a:cs typeface="Calibri" pitchFamily="34" charset="-120"/>
              </a:rPr>
              <a:t>Every writer's ideas matter — there are no wrong answers.</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Today's Focus</a:t>
            </a:r>
            <a:endParaRPr lang="en-US" sz="2800" dirty="0"/>
          </a:p>
        </p:txBody>
      </p:sp>
      <p:sp>
        <p:nvSpPr>
          <p:cNvPr id="3" name="Shape 1"/>
          <p:cNvSpPr/>
          <p:nvPr/>
        </p:nvSpPr>
        <p:spPr>
          <a:xfrm>
            <a:off x="365760" y="749808"/>
            <a:ext cx="8412480" cy="0"/>
          </a:xfrm>
          <a:prstGeom prst="line">
            <a:avLst/>
          </a:prstGeom>
          <a:noFill/>
          <a:ln w="19050">
            <a:solidFill>
              <a:srgbClr val="D2691E"/>
            </a:solidFill>
            <a:prstDash val="solid"/>
          </a:ln>
        </p:spPr>
      </p:sp>
      <p:sp>
        <p:nvSpPr>
          <p:cNvPr id="4" name="Shape 2"/>
          <p:cNvSpPr/>
          <p:nvPr/>
        </p:nvSpPr>
        <p:spPr>
          <a:xfrm>
            <a:off x="6492240" y="173736"/>
            <a:ext cx="2286000" cy="502920"/>
          </a:xfrm>
          <a:prstGeom prst="roundRect">
            <a:avLst>
              <a:gd name="adj" fmla="val 21818"/>
            </a:avLst>
          </a:prstGeom>
          <a:solidFill>
            <a:srgbClr val="D2691E"/>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457200" y="91440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BIG QUESTION</a:t>
            </a:r>
            <a:endParaRPr lang="en-US" sz="1100" dirty="0"/>
          </a:p>
        </p:txBody>
      </p:sp>
      <p:sp>
        <p:nvSpPr>
          <p:cNvPr id="7" name="Shape 5"/>
          <p:cNvSpPr/>
          <p:nvPr/>
        </p:nvSpPr>
        <p:spPr>
          <a:xfrm>
            <a:off x="457200" y="1234440"/>
            <a:ext cx="8229600" cy="640080"/>
          </a:xfrm>
          <a:prstGeom prst="roundRect">
            <a:avLst>
              <a:gd name="adj" fmla="val 14286"/>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640080" y="134416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Good readers can look back at an entire novel and trace how characters grow. Today we think about the whole book and compare Jemmy and Prince Brat side by side.</a:t>
            </a:r>
            <a:endParaRPr lang="en-US" sz="1800" dirty="0"/>
          </a:p>
        </p:txBody>
      </p:sp>
      <p:sp>
        <p:nvSpPr>
          <p:cNvPr id="9" name="Shape 7"/>
          <p:cNvSpPr/>
          <p:nvPr/>
        </p:nvSpPr>
        <p:spPr>
          <a:xfrm>
            <a:off x="457200" y="1965960"/>
            <a:ext cx="8229600" cy="640080"/>
          </a:xfrm>
          <a:prstGeom prst="roundRect">
            <a:avLst>
              <a:gd name="adj" fmla="val 14286"/>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10" name="Text 8"/>
          <p:cNvSpPr/>
          <p:nvPr/>
        </p:nvSpPr>
        <p:spPr>
          <a:xfrm>
            <a:off x="640080" y="207568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Look at the letters around the dot in each word. Count: vowel, consonant, consonant, vowel. That's the VCCV pattern .</a:t>
            </a:r>
            <a:endParaRPr lang="en-US" sz="1800" dirty="0"/>
          </a:p>
        </p:txBody>
      </p:sp>
      <p:sp>
        <p:nvSpPr>
          <p:cNvPr id="11" name="Shape 9"/>
          <p:cNvSpPr/>
          <p:nvPr/>
        </p:nvSpPr>
        <p:spPr>
          <a:xfrm>
            <a:off x="457200" y="2697480"/>
            <a:ext cx="8229600" cy="640080"/>
          </a:xfrm>
          <a:prstGeom prst="roundRect">
            <a:avLst>
              <a:gd name="adj" fmla="val 14286"/>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12" name="Text 10"/>
          <p:cNvSpPr/>
          <p:nvPr/>
        </p:nvSpPr>
        <p:spPr>
          <a:xfrm>
            <a:off x="640080" y="280720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Where does the dot fall — before, between, or after the two consonants?</a:t>
            </a:r>
            <a:endParaRPr lang="en-US" sz="1800" dirty="0"/>
          </a:p>
        </p:txBody>
      </p:sp>
      <p:sp>
        <p:nvSpPr>
          <p:cNvPr id="13" name="Text 11"/>
          <p:cNvSpPr/>
          <p:nvPr/>
        </p:nvSpPr>
        <p:spPr>
          <a:xfrm>
            <a:off x="457200" y="3429000"/>
            <a:ext cx="8046720" cy="292608"/>
          </a:xfrm>
          <a:prstGeom prst="rect">
            <a:avLst/>
          </a:prstGeom>
          <a:noFill/>
          <a:ln/>
        </p:spPr>
        <p:txBody>
          <a:bodyPr wrap="square" lIns="0" tIns="0" rIns="0" bIns="0" rtlCol="0" anchor="ctr"/>
          <a:lstStyle/>
          <a:p>
            <a:pPr indent="0" marL="0">
              <a:buNone/>
            </a:pPr>
            <a:r>
              <a:rPr lang="en-US" sz="1100" b="1" spc="200" kern="0" dirty="0">
                <a:solidFill>
                  <a:srgbClr val="8B6FC0"/>
                </a:solidFill>
                <a:latin typeface="Calibri" pitchFamily="34" charset="0"/>
                <a:ea typeface="Calibri" pitchFamily="34" charset="-122"/>
                <a:cs typeface="Calibri" pitchFamily="34" charset="-120"/>
              </a:rPr>
              <a:t>READING LENS</a:t>
            </a:r>
            <a:endParaRPr lang="en-US" sz="1100" dirty="0"/>
          </a:p>
        </p:txBody>
      </p:sp>
      <p:sp>
        <p:nvSpPr>
          <p:cNvPr id="14" name="Text 12"/>
          <p:cNvSpPr/>
          <p:nvPr/>
        </p:nvSpPr>
        <p:spPr>
          <a:xfrm>
            <a:off x="640080" y="3749040"/>
            <a:ext cx="7863840" cy="731520"/>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Good readers can look back at an entire novel and trace how characters grow. Today we think about the whole book and compare Jemmy and Prince Brat side by side.</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Model Sentence — Study What's Right</a:t>
            </a:r>
            <a:endParaRPr lang="en-US" sz="2800" dirty="0"/>
          </a:p>
        </p:txBody>
      </p:sp>
      <p:sp>
        <p:nvSpPr>
          <p:cNvPr id="3" name="Shape 1"/>
          <p:cNvSpPr/>
          <p:nvPr/>
        </p:nvSpPr>
        <p:spPr>
          <a:xfrm>
            <a:off x="365760" y="749808"/>
            <a:ext cx="8412480" cy="0"/>
          </a:xfrm>
          <a:prstGeom prst="line">
            <a:avLst/>
          </a:prstGeom>
          <a:noFill/>
          <a:ln w="19050">
            <a:solidFill>
              <a:srgbClr val="34B76F"/>
            </a:solidFill>
            <a:prstDash val="solid"/>
          </a:ln>
        </p:spPr>
      </p:sp>
      <p:sp>
        <p:nvSpPr>
          <p:cNvPr id="4" name="Shape 2"/>
          <p:cNvSpPr/>
          <p:nvPr/>
        </p:nvSpPr>
        <p:spPr>
          <a:xfrm>
            <a:off x="457200" y="1097280"/>
            <a:ext cx="8229600" cy="914400"/>
          </a:xfrm>
          <a:prstGeom prst="roundRect">
            <a:avLst>
              <a:gd name="adj" fmla="val 10000"/>
            </a:avLst>
          </a:prstGeom>
          <a:solidFill>
            <a:srgbClr val="E8F8EF"/>
          </a:solidFill>
          <a:ln w="12700">
            <a:solidFill>
              <a:srgbClr val="34B76F"/>
            </a:solidFill>
            <a:prstDash val="solid"/>
          </a:ln>
          <a:effectLst>
            <a:outerShdw sx="100000" sy="100000" kx="0" ky="0" algn="bl" rotWithShape="0" blurRad="101600" dist="38100" dir="2700000">
              <a:srgbClr val="000000">
                <a:alpha val="12000"/>
              </a:srgbClr>
            </a:outerShdw>
          </a:effectLst>
        </p:spPr>
      </p:sp>
      <p:sp>
        <p:nvSpPr>
          <p:cNvPr id="5" name="Text 3"/>
          <p:cNvSpPr/>
          <p:nvPr/>
        </p:nvSpPr>
        <p:spPr>
          <a:xfrm>
            <a:off x="640080" y="1207008"/>
            <a:ext cx="7863840" cy="68580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Jemmy said, "Gaw!" and walked toward the golden doors.</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Fix-It Sentence — Now You Try</a:t>
            </a:r>
            <a:endParaRPr lang="en-US" sz="2800" dirty="0"/>
          </a:p>
        </p:txBody>
      </p:sp>
      <p:sp>
        <p:nvSpPr>
          <p:cNvPr id="3" name="Shape 1"/>
          <p:cNvSpPr/>
          <p:nvPr/>
        </p:nvSpPr>
        <p:spPr>
          <a:xfrm>
            <a:off x="365760" y="749808"/>
            <a:ext cx="8412480" cy="0"/>
          </a:xfrm>
          <a:prstGeom prst="line">
            <a:avLst/>
          </a:prstGeom>
          <a:noFill/>
          <a:ln w="19050">
            <a:solidFill>
              <a:srgbClr val="D2691E"/>
            </a:solidFill>
            <a:prstDash val="solid"/>
          </a:ln>
        </p:spPr>
      </p:sp>
      <p:sp>
        <p:nvSpPr>
          <p:cNvPr id="4" name="Shape 2"/>
          <p:cNvSpPr/>
          <p:nvPr/>
        </p:nvSpPr>
        <p:spPr>
          <a:xfrm>
            <a:off x="6492240" y="173736"/>
            <a:ext cx="2286000" cy="502920"/>
          </a:xfrm>
          <a:prstGeom prst="roundRect">
            <a:avLst>
              <a:gd name="adj" fmla="val 21818"/>
            </a:avLst>
          </a:prstGeom>
          <a:solidFill>
            <a:srgbClr val="D2691E"/>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Shape 4"/>
          <p:cNvSpPr/>
          <p:nvPr/>
        </p:nvSpPr>
        <p:spPr>
          <a:xfrm>
            <a:off x="457200" y="1005840"/>
            <a:ext cx="8229600" cy="640080"/>
          </a:xfrm>
          <a:prstGeom prst="roundRect">
            <a:avLst>
              <a:gd name="adj" fmla="val 14286"/>
            </a:avLst>
          </a:prstGeom>
          <a:solidFill>
            <a:srgbClr val="F8FAFC"/>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7" name="Text 5"/>
          <p:cNvSpPr/>
          <p:nvPr/>
        </p:nvSpPr>
        <p:spPr>
          <a:xfrm>
            <a:off x="640080" y="111556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betsy laughed hurrah and bowed toward the king</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Fix-It Sentence — Answer Revealed</a:t>
            </a:r>
            <a:endParaRPr lang="en-US" sz="2800" dirty="0"/>
          </a:p>
        </p:txBody>
      </p:sp>
      <p:sp>
        <p:nvSpPr>
          <p:cNvPr id="3" name="Shape 1"/>
          <p:cNvSpPr/>
          <p:nvPr/>
        </p:nvSpPr>
        <p:spPr>
          <a:xfrm>
            <a:off x="365760" y="749808"/>
            <a:ext cx="8412480" cy="0"/>
          </a:xfrm>
          <a:prstGeom prst="line">
            <a:avLst/>
          </a:prstGeom>
          <a:noFill/>
          <a:ln w="19050">
            <a:solidFill>
              <a:srgbClr val="D2691E"/>
            </a:solidFill>
            <a:prstDash val="solid"/>
          </a:ln>
        </p:spPr>
      </p:sp>
      <p:sp>
        <p:nvSpPr>
          <p:cNvPr id="4" name="Shape 2"/>
          <p:cNvSpPr/>
          <p:nvPr/>
        </p:nvSpPr>
        <p:spPr>
          <a:xfrm>
            <a:off x="6492240" y="173736"/>
            <a:ext cx="2286000" cy="502920"/>
          </a:xfrm>
          <a:prstGeom prst="roundRect">
            <a:avLst>
              <a:gd name="adj" fmla="val 21818"/>
            </a:avLst>
          </a:prstGeom>
          <a:solidFill>
            <a:srgbClr val="D2691E"/>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Shape 4"/>
          <p:cNvSpPr/>
          <p:nvPr/>
        </p:nvSpPr>
        <p:spPr>
          <a:xfrm>
            <a:off x="457200" y="1005840"/>
            <a:ext cx="8229600" cy="640080"/>
          </a:xfrm>
          <a:prstGeom prst="roundRect">
            <a:avLst>
              <a:gd name="adj" fmla="val 14286"/>
            </a:avLst>
          </a:prstGeom>
          <a:solidFill>
            <a:srgbClr val="F8FAFC"/>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7" name="Text 5"/>
          <p:cNvSpPr/>
          <p:nvPr/>
        </p:nvSpPr>
        <p:spPr>
          <a:xfrm>
            <a:off x="640080" y="111556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betsy laughed hurrah and bowed toward the king</a:t>
            </a:r>
            <a:endParaRPr lang="en-US" sz="1800" dirty="0"/>
          </a:p>
        </p:txBody>
      </p:sp>
      <p:sp>
        <p:nvSpPr>
          <p:cNvPr id="8" name="Text 6"/>
          <p:cNvSpPr/>
          <p:nvPr/>
        </p:nvSpPr>
        <p:spPr>
          <a:xfrm>
            <a:off x="457200" y="1737360"/>
            <a:ext cx="8046720" cy="292608"/>
          </a:xfrm>
          <a:prstGeom prst="rect">
            <a:avLst/>
          </a:prstGeom>
          <a:noFill/>
          <a:ln/>
        </p:spPr>
        <p:txBody>
          <a:bodyPr wrap="square" lIns="0" tIns="0" rIns="0" bIns="0" rtlCol="0" anchor="ctr"/>
          <a:lstStyle/>
          <a:p>
            <a:pPr indent="0" marL="0">
              <a:buNone/>
            </a:pPr>
            <a:r>
              <a:rPr lang="en-US" sz="1100" b="1" spc="200" kern="0" dirty="0">
                <a:solidFill>
                  <a:srgbClr val="34B76F"/>
                </a:solidFill>
                <a:latin typeface="Calibri" pitchFamily="34" charset="0"/>
                <a:ea typeface="Calibri" pitchFamily="34" charset="-122"/>
                <a:cs typeface="Calibri" pitchFamily="34" charset="-120"/>
              </a:rPr>
              <a:t>CORRECTED</a:t>
            </a:r>
            <a:endParaRPr lang="en-US" sz="1100" dirty="0"/>
          </a:p>
        </p:txBody>
      </p:sp>
      <p:sp>
        <p:nvSpPr>
          <p:cNvPr id="9" name="Shape 7"/>
          <p:cNvSpPr/>
          <p:nvPr/>
        </p:nvSpPr>
        <p:spPr>
          <a:xfrm>
            <a:off x="457200" y="2057400"/>
            <a:ext cx="8229600" cy="640080"/>
          </a:xfrm>
          <a:prstGeom prst="roundRect">
            <a:avLst>
              <a:gd name="adj" fmla="val 14286"/>
            </a:avLst>
          </a:prstGeom>
          <a:solidFill>
            <a:srgbClr val="E8F8EF"/>
          </a:solidFill>
          <a:ln w="12700">
            <a:solidFill>
              <a:srgbClr val="34B76F"/>
            </a:solidFill>
            <a:prstDash val="solid"/>
          </a:ln>
          <a:effectLst>
            <a:outerShdw sx="100000" sy="100000" kx="0" ky="0" algn="bl" rotWithShape="0" blurRad="101600" dist="38100" dir="2700000">
              <a:srgbClr val="000000">
                <a:alpha val="12000"/>
              </a:srgbClr>
            </a:outerShdw>
          </a:effectLst>
        </p:spPr>
      </p:sp>
      <p:sp>
        <p:nvSpPr>
          <p:cNvPr id="10" name="Text 8"/>
          <p:cNvSpPr/>
          <p:nvPr/>
        </p:nvSpPr>
        <p:spPr>
          <a:xfrm>
            <a:off x="640080" y="2167128"/>
            <a:ext cx="7863840" cy="411480"/>
          </a:xfrm>
          <a:prstGeom prst="rect">
            <a:avLst/>
          </a:prstGeom>
          <a:noFill/>
          <a:ln/>
        </p:spPr>
        <p:txBody>
          <a:bodyPr wrap="square" lIns="0" tIns="0" rIns="0" bIns="0" rtlCol="0" anchor="ctr"/>
          <a:lstStyle/>
          <a:p>
            <a:pPr indent="0" marL="0">
              <a:buNone/>
            </a:pPr>
            <a:r>
              <a:rPr lang="en-US" sz="1800" i="1" dirty="0">
                <a:solidFill>
                  <a:srgbClr val="34B76F"/>
                </a:solidFill>
                <a:latin typeface="Calibri" pitchFamily="34" charset="0"/>
                <a:ea typeface="Calibri" pitchFamily="34" charset="-122"/>
                <a:cs typeface="Calibri" pitchFamily="34" charset="-120"/>
              </a:rPr>
              <a:t>Betsy laughed, "Hurrah!" and bowed toward the king.</a:t>
            </a:r>
            <a:endParaRPr lang="en-US" sz="1800" dirty="0"/>
          </a:p>
        </p:txBody>
      </p:sp>
      <p:sp>
        <p:nvSpPr>
          <p:cNvPr id="11" name="Text 9"/>
          <p:cNvSpPr/>
          <p:nvPr/>
        </p:nvSpPr>
        <p:spPr>
          <a:xfrm>
            <a:off x="457200" y="283464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WHY</a:t>
            </a:r>
            <a:endParaRPr lang="en-US" sz="1100" dirty="0"/>
          </a:p>
        </p:txBody>
      </p:sp>
      <p:sp>
        <p:nvSpPr>
          <p:cNvPr id="12" name="Text 10"/>
          <p:cNvSpPr/>
          <p:nvPr/>
        </p:nvSpPr>
        <p:spPr>
          <a:xfrm>
            <a:off x="640080" y="3108960"/>
            <a:ext cx="7863840" cy="502920"/>
          </a:xfrm>
          <a:prstGeom prst="rect">
            <a:avLst/>
          </a:prstGeom>
          <a:noFill/>
          <a:ln/>
        </p:spPr>
        <p:txBody>
          <a:bodyPr wrap="square" lIns="0" tIns="0" rIns="0" bIns="0" rtlCol="0" anchor="ctr"/>
          <a:lstStyle/>
          <a:p>
            <a:pPr indent="0" marL="0">
              <a:buNone/>
            </a:pPr>
            <a:r>
              <a:rPr lang="en-US" sz="1300" i="1" dirty="0">
                <a:solidFill>
                  <a:srgbClr val="64748B"/>
                </a:solidFill>
                <a:latin typeface="Calibri" pitchFamily="34" charset="0"/>
                <a:ea typeface="Calibri" pitchFamily="34" charset="-122"/>
                <a:cs typeface="Calibri" pitchFamily="34" charset="-120"/>
              </a:rPr>
              <a:t>Capital B on Betsy; comma after laughed; opening quotation mark; capital H on Hurrah; exclamation mark inside the closing quote; lowercase and; period ends.</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Morphology: Review: port means carry + spect means look (Day 1)</a:t>
            </a:r>
            <a:endParaRPr lang="en-US" sz="2800" dirty="0"/>
          </a:p>
        </p:txBody>
      </p:sp>
      <p:sp>
        <p:nvSpPr>
          <p:cNvPr id="3" name="Shape 1"/>
          <p:cNvSpPr/>
          <p:nvPr/>
        </p:nvSpPr>
        <p:spPr>
          <a:xfrm>
            <a:off x="365760" y="749808"/>
            <a:ext cx="8412480" cy="0"/>
          </a:xfrm>
          <a:prstGeom prst="line">
            <a:avLst/>
          </a:prstGeom>
          <a:noFill/>
          <a:ln w="19050">
            <a:solidFill>
              <a:srgbClr val="8B6FC0"/>
            </a:solidFill>
            <a:prstDash val="solid"/>
          </a:ln>
        </p:spPr>
      </p:sp>
      <p:sp>
        <p:nvSpPr>
          <p:cNvPr id="4" name="Text 2"/>
          <p:cNvSpPr/>
          <p:nvPr/>
        </p:nvSpPr>
        <p:spPr>
          <a:xfrm>
            <a:off x="457200" y="1005840"/>
            <a:ext cx="8046720" cy="292608"/>
          </a:xfrm>
          <a:prstGeom prst="rect">
            <a:avLst/>
          </a:prstGeom>
          <a:noFill/>
          <a:ln/>
        </p:spPr>
        <p:txBody>
          <a:bodyPr wrap="square" lIns="0" tIns="0" rIns="0" bIns="0" rtlCol="0" anchor="ctr"/>
          <a:lstStyle/>
          <a:p>
            <a:pPr indent="0" marL="0">
              <a:buNone/>
            </a:pPr>
            <a:r>
              <a:rPr lang="en-US" sz="1100" b="1" spc="200" kern="0" dirty="0">
                <a:solidFill>
                  <a:srgbClr val="8B6FC0"/>
                </a:solidFill>
                <a:latin typeface="Calibri" pitchFamily="34" charset="0"/>
                <a:ea typeface="Calibri" pitchFamily="34" charset="-122"/>
                <a:cs typeface="Calibri" pitchFamily="34" charset="-120"/>
              </a:rPr>
              <a:t>WORD BUILDING</a:t>
            </a:r>
            <a:endParaRPr lang="en-US" sz="1100" dirty="0"/>
          </a:p>
        </p:txBody>
      </p:sp>
      <p:sp>
        <p:nvSpPr>
          <p:cNvPr id="5" name="Shape 3"/>
          <p:cNvSpPr/>
          <p:nvPr/>
        </p:nvSpPr>
        <p:spPr>
          <a:xfrm>
            <a:off x="457200" y="1371600"/>
            <a:ext cx="822960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6" name="Text 4"/>
          <p:cNvSpPr/>
          <p:nvPr/>
        </p:nvSpPr>
        <p:spPr>
          <a:xfrm>
            <a:off x="640080" y="1417320"/>
            <a:ext cx="7863840" cy="365760"/>
          </a:xfrm>
          <a:prstGeom prst="rect">
            <a:avLst/>
          </a:prstGeom>
          <a:noFill/>
          <a:ln/>
        </p:spPr>
        <p:txBody>
          <a:bodyPr wrap="square" lIns="0" tIns="0" rIns="0" bIns="0" rtlCol="0" anchor="ctr"/>
          <a:lstStyle/>
          <a:p>
            <a:pPr indent="0" marL="0">
              <a:buNone/>
            </a:pPr>
            <a:r>
              <a:rPr lang="en-US" sz="1600" b="1" dirty="0">
                <a:solidFill>
                  <a:srgbClr val="0E1C42"/>
                </a:solidFill>
                <a:latin typeface="Calibri" pitchFamily="34" charset="0"/>
                <a:ea typeface="Calibri" pitchFamily="34" charset="-122"/>
                <a:cs typeface="Calibri" pitchFamily="34" charset="-120"/>
              </a:rPr>
              <a:t>port</a:t>
            </a:r>
            <a:pPr indent="0" marL="0">
              <a:buNone/>
            </a:pPr>
            <a:r>
              <a:rPr lang="en-US" sz="1400" dirty="0">
                <a:solidFill>
                  <a:srgbClr val="64748B"/>
                </a:solidFill>
                <a:latin typeface="Calibri" pitchFamily="34" charset="0"/>
                <a:ea typeface="Calibri" pitchFamily="34" charset="-122"/>
                <a:cs typeface="Calibri" pitchFamily="34" charset="-120"/>
              </a:rPr>
              <a:t>  ·  — carry across</a:t>
            </a:r>
            <a:endParaRPr lang="en-US" sz="1600" dirty="0"/>
          </a:p>
        </p:txBody>
      </p:sp>
      <p:sp>
        <p:nvSpPr>
          <p:cNvPr id="7" name="Shape 5"/>
          <p:cNvSpPr/>
          <p:nvPr/>
        </p:nvSpPr>
        <p:spPr>
          <a:xfrm>
            <a:off x="457200" y="1901952"/>
            <a:ext cx="822960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8" name="Text 6"/>
          <p:cNvSpPr/>
          <p:nvPr/>
        </p:nvSpPr>
        <p:spPr>
          <a:xfrm>
            <a:off x="640080" y="1947672"/>
            <a:ext cx="7863840" cy="365760"/>
          </a:xfrm>
          <a:prstGeom prst="rect">
            <a:avLst/>
          </a:prstGeom>
          <a:noFill/>
          <a:ln/>
        </p:spPr>
        <p:txBody>
          <a:bodyPr wrap="square" lIns="0" tIns="0" rIns="0" bIns="0" rtlCol="0" anchor="ctr"/>
          <a:lstStyle/>
          <a:p>
            <a:pPr indent="0" marL="0">
              <a:buNone/>
            </a:pPr>
            <a:r>
              <a:rPr lang="en-US" sz="1600" b="1" dirty="0">
                <a:solidFill>
                  <a:srgbClr val="0E1C42"/>
                </a:solidFill>
                <a:latin typeface="Calibri" pitchFamily="34" charset="0"/>
                <a:ea typeface="Calibri" pitchFamily="34" charset="-122"/>
                <a:cs typeface="Calibri" pitchFamily="34" charset="-120"/>
              </a:rPr>
              <a:t>port</a:t>
            </a:r>
            <a:pPr indent="0" marL="0">
              <a:buNone/>
            </a:pPr>
            <a:r>
              <a:rPr lang="en-US" sz="1400" dirty="0">
                <a:solidFill>
                  <a:srgbClr val="64748B"/>
                </a:solidFill>
                <a:latin typeface="Calibri" pitchFamily="34" charset="0"/>
                <a:ea typeface="Calibri" pitchFamily="34" charset="-122"/>
                <a:cs typeface="Calibri" pitchFamily="34" charset="-120"/>
              </a:rPr>
              <a:t>  ·  — carry in from another place</a:t>
            </a:r>
            <a:endParaRPr lang="en-US" sz="1600" dirty="0"/>
          </a:p>
        </p:txBody>
      </p:sp>
      <p:sp>
        <p:nvSpPr>
          <p:cNvPr id="9" name="Shape 7"/>
          <p:cNvSpPr/>
          <p:nvPr/>
        </p:nvSpPr>
        <p:spPr>
          <a:xfrm>
            <a:off x="457200" y="2432304"/>
            <a:ext cx="822960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10" name="Text 8"/>
          <p:cNvSpPr/>
          <p:nvPr/>
        </p:nvSpPr>
        <p:spPr>
          <a:xfrm>
            <a:off x="640080" y="2478024"/>
            <a:ext cx="7863840" cy="365760"/>
          </a:xfrm>
          <a:prstGeom prst="rect">
            <a:avLst/>
          </a:prstGeom>
          <a:noFill/>
          <a:ln/>
        </p:spPr>
        <p:txBody>
          <a:bodyPr wrap="square" lIns="0" tIns="0" rIns="0" bIns="0" rtlCol="0" anchor="ctr"/>
          <a:lstStyle/>
          <a:p>
            <a:pPr indent="0" marL="0">
              <a:buNone/>
            </a:pPr>
            <a:r>
              <a:rPr lang="en-US" sz="1600" b="1" dirty="0">
                <a:solidFill>
                  <a:srgbClr val="0E1C42"/>
                </a:solidFill>
                <a:latin typeface="Calibri" pitchFamily="34" charset="0"/>
                <a:ea typeface="Calibri" pitchFamily="34" charset="-122"/>
                <a:cs typeface="Calibri" pitchFamily="34" charset="-120"/>
              </a:rPr>
              <a:t>spect</a:t>
            </a:r>
            <a:pPr indent="0" marL="0">
              <a:buNone/>
            </a:pPr>
            <a:r>
              <a:rPr lang="en-US" sz="1400" dirty="0">
                <a:solidFill>
                  <a:srgbClr val="64748B"/>
                </a:solidFill>
                <a:latin typeface="Calibri" pitchFamily="34" charset="0"/>
                <a:ea typeface="Calibri" pitchFamily="34" charset="-122"/>
                <a:cs typeface="Calibri" pitchFamily="34" charset="-120"/>
              </a:rPr>
              <a:t>  ·  — to look at with admiration</a:t>
            </a:r>
            <a:endParaRPr lang="en-US" sz="1600" dirty="0"/>
          </a:p>
        </p:txBody>
      </p:sp>
      <p:sp>
        <p:nvSpPr>
          <p:cNvPr id="11" name="Shape 9"/>
          <p:cNvSpPr/>
          <p:nvPr/>
        </p:nvSpPr>
        <p:spPr>
          <a:xfrm>
            <a:off x="457200" y="2962656"/>
            <a:ext cx="822960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12" name="Text 10"/>
          <p:cNvSpPr/>
          <p:nvPr/>
        </p:nvSpPr>
        <p:spPr>
          <a:xfrm>
            <a:off x="640080" y="3008376"/>
            <a:ext cx="7863840" cy="365760"/>
          </a:xfrm>
          <a:prstGeom prst="rect">
            <a:avLst/>
          </a:prstGeom>
          <a:noFill/>
          <a:ln/>
        </p:spPr>
        <p:txBody>
          <a:bodyPr wrap="square" lIns="0" tIns="0" rIns="0" bIns="0" rtlCol="0" anchor="ctr"/>
          <a:lstStyle/>
          <a:p>
            <a:pPr indent="0" marL="0">
              <a:buNone/>
            </a:pPr>
            <a:r>
              <a:rPr lang="en-US" sz="1600" b="1" dirty="0">
                <a:solidFill>
                  <a:srgbClr val="0E1C42"/>
                </a:solidFill>
                <a:latin typeface="Calibri" pitchFamily="34" charset="0"/>
                <a:ea typeface="Calibri" pitchFamily="34" charset="-122"/>
                <a:cs typeface="Calibri" pitchFamily="34" charset="-120"/>
              </a:rPr>
              <a:t>pect</a:t>
            </a:r>
            <a:pPr indent="0" marL="0">
              <a:buNone/>
            </a:pPr>
            <a:r>
              <a:rPr lang="en-US" sz="1400" dirty="0">
                <a:solidFill>
                  <a:srgbClr val="64748B"/>
                </a:solidFill>
                <a:latin typeface="Calibri" pitchFamily="34" charset="0"/>
                <a:ea typeface="Calibri" pitchFamily="34" charset="-122"/>
                <a:cs typeface="Calibri" pitchFamily="34" charset="-120"/>
              </a:rPr>
              <a:t>  ·  — to look at with doubt</a:t>
            </a:r>
            <a:endParaRPr lang="en-US" sz="1600" dirty="0"/>
          </a:p>
        </p:txBody>
      </p:sp>
      <p:sp>
        <p:nvSpPr>
          <p:cNvPr id="13" name="Text 11"/>
          <p:cNvSpPr/>
          <p:nvPr/>
        </p:nvSpPr>
        <p:spPr>
          <a:xfrm>
            <a:off x="457200" y="3493008"/>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CONCEPT EXAMPLES</a:t>
            </a:r>
            <a:endParaRPr lang="en-US" sz="1100" dirty="0"/>
          </a:p>
        </p:txBody>
      </p:sp>
      <p:sp>
        <p:nvSpPr>
          <p:cNvPr id="14" name="Text 12"/>
          <p:cNvSpPr/>
          <p:nvPr/>
        </p:nvSpPr>
        <p:spPr>
          <a:xfrm>
            <a:off x="640080" y="3813048"/>
            <a:ext cx="7863840" cy="320040"/>
          </a:xfrm>
          <a:prstGeom prst="rect">
            <a:avLst/>
          </a:prstGeom>
          <a:noFill/>
          <a:ln/>
        </p:spPr>
        <p:txBody>
          <a:bodyPr wrap="square" lIns="0" tIns="0" rIns="0" bIns="0" rtlCol="0" anchor="ctr"/>
          <a:lstStyle/>
          <a:p>
            <a:pPr indent="0" marL="0">
              <a:buNone/>
            </a:pPr>
            <a:r>
              <a:rPr lang="en-US" sz="1300" dirty="0">
                <a:solidFill>
                  <a:srgbClr val="1E293B"/>
                </a:solidFill>
                <a:latin typeface="Calibri" pitchFamily="34" charset="0"/>
                <a:ea typeface="Calibri" pitchFamily="34" charset="-122"/>
                <a:cs typeface="Calibri" pitchFamily="34" charset="-120"/>
              </a:rPr>
              <a:t>• 📌 Examples</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Vocabulary</a:t>
            </a:r>
            <a:endParaRPr lang="en-US" sz="28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Shape 2"/>
          <p:cNvSpPr/>
          <p:nvPr/>
        </p:nvSpPr>
        <p:spPr>
          <a:xfrm>
            <a:off x="457200" y="1005840"/>
            <a:ext cx="3840480" cy="640080"/>
          </a:xfrm>
          <a:prstGeom prst="roundRect">
            <a:avLst>
              <a:gd name="adj" fmla="val 14286"/>
            </a:avLst>
          </a:prstGeom>
          <a:solidFill>
            <a:srgbClr val="FEF6E8"/>
          </a:solidFill>
          <a:ln/>
          <a:effectLst>
            <a:outerShdw sx="100000" sy="100000" kx="0" ky="0" algn="bl" rotWithShape="0" blurRad="101600" dist="38100" dir="2700000">
              <a:srgbClr val="000000">
                <a:alpha val="12000"/>
              </a:srgbClr>
            </a:outerShdw>
          </a:effectLst>
        </p:spPr>
      </p:sp>
      <p:sp>
        <p:nvSpPr>
          <p:cNvPr id="5" name="Text 3"/>
          <p:cNvSpPr/>
          <p:nvPr/>
        </p:nvSpPr>
        <p:spPr>
          <a:xfrm>
            <a:off x="594360" y="1060704"/>
            <a:ext cx="3566160" cy="530352"/>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transform</a:t>
            </a:r>
            <a:pPr indent="0" marL="0">
              <a:buNone/>
            </a:pPr>
            <a:endParaRPr lang="en-US" sz="1500" dirty="0"/>
          </a:p>
          <a:p>
            <a:pPr indent="0" marL="0">
              <a:buNone/>
            </a:pPr>
            <a:r>
              <a:rPr lang="en-US" sz="1200" dirty="0">
                <a:solidFill>
                  <a:srgbClr val="1E293B"/>
                </a:solidFill>
                <a:latin typeface="Calibri" pitchFamily="34" charset="0"/>
                <a:ea typeface="Calibri" pitchFamily="34" charset="-122"/>
                <a:cs typeface="Calibri" pitchFamily="34" charset="-120"/>
              </a:rPr>
              <a:t>To completely change from one form into another.</a:t>
            </a:r>
            <a:endParaRPr lang="en-US" sz="1500" dirty="0"/>
          </a:p>
        </p:txBody>
      </p:sp>
      <p:sp>
        <p:nvSpPr>
          <p:cNvPr id="6" name="Shape 4"/>
          <p:cNvSpPr/>
          <p:nvPr/>
        </p:nvSpPr>
        <p:spPr>
          <a:xfrm>
            <a:off x="4572000" y="1005840"/>
            <a:ext cx="3840480" cy="640080"/>
          </a:xfrm>
          <a:prstGeom prst="roundRect">
            <a:avLst>
              <a:gd name="adj" fmla="val 14286"/>
            </a:avLst>
          </a:prstGeom>
          <a:solidFill>
            <a:srgbClr val="FEF6E8"/>
          </a:solidFill>
          <a:ln/>
          <a:effectLst>
            <a:outerShdw sx="100000" sy="100000" kx="0" ky="0" algn="bl" rotWithShape="0" blurRad="101600" dist="38100" dir="2700000">
              <a:srgbClr val="000000">
                <a:alpha val="12000"/>
              </a:srgbClr>
            </a:outerShdw>
          </a:effectLst>
        </p:spPr>
      </p:sp>
      <p:sp>
        <p:nvSpPr>
          <p:cNvPr id="7" name="Text 5"/>
          <p:cNvSpPr/>
          <p:nvPr/>
        </p:nvSpPr>
        <p:spPr>
          <a:xfrm>
            <a:off x="4709160" y="1060704"/>
            <a:ext cx="3566160" cy="530352"/>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compare</a:t>
            </a:r>
            <a:pPr indent="0" marL="0">
              <a:buNone/>
            </a:pPr>
            <a:endParaRPr lang="en-US" sz="1500" dirty="0"/>
          </a:p>
          <a:p>
            <a:pPr indent="0" marL="0">
              <a:buNone/>
            </a:pPr>
            <a:r>
              <a:rPr lang="en-US" sz="1200" dirty="0">
                <a:solidFill>
                  <a:srgbClr val="1E293B"/>
                </a:solidFill>
                <a:latin typeface="Calibri" pitchFamily="34" charset="0"/>
                <a:ea typeface="Calibri" pitchFamily="34" charset="-122"/>
                <a:cs typeface="Calibri" pitchFamily="34" charset="-120"/>
              </a:rPr>
              <a:t>To look at two things side by side for sameness and difference.</a:t>
            </a:r>
            <a:endParaRPr lang="en-US" sz="1500" dirty="0"/>
          </a:p>
        </p:txBody>
      </p:sp>
      <p:sp>
        <p:nvSpPr>
          <p:cNvPr id="8" name="Shape 6"/>
          <p:cNvSpPr/>
          <p:nvPr/>
        </p:nvSpPr>
        <p:spPr>
          <a:xfrm>
            <a:off x="457200" y="1755648"/>
            <a:ext cx="3840480" cy="640080"/>
          </a:xfrm>
          <a:prstGeom prst="roundRect">
            <a:avLst>
              <a:gd name="adj" fmla="val 14286"/>
            </a:avLst>
          </a:prstGeom>
          <a:solidFill>
            <a:srgbClr val="FEF6E8"/>
          </a:solidFill>
          <a:ln/>
          <a:effectLst>
            <a:outerShdw sx="100000" sy="100000" kx="0" ky="0" algn="bl" rotWithShape="0" blurRad="101600" dist="38100" dir="2700000">
              <a:srgbClr val="000000">
                <a:alpha val="12000"/>
              </a:srgbClr>
            </a:outerShdw>
          </a:effectLst>
        </p:spPr>
      </p:sp>
      <p:sp>
        <p:nvSpPr>
          <p:cNvPr id="9" name="Text 7"/>
          <p:cNvSpPr/>
          <p:nvPr/>
        </p:nvSpPr>
        <p:spPr>
          <a:xfrm>
            <a:off x="594360" y="1810512"/>
            <a:ext cx="3566160" cy="530352"/>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contrast</a:t>
            </a:r>
            <a:pPr indent="0" marL="0">
              <a:buNone/>
            </a:pPr>
            <a:endParaRPr lang="en-US" sz="1500" dirty="0"/>
          </a:p>
          <a:p>
            <a:pPr indent="0" marL="0">
              <a:buNone/>
            </a:pPr>
            <a:r>
              <a:rPr lang="en-US" sz="1200" dirty="0">
                <a:solidFill>
                  <a:srgbClr val="1E293B"/>
                </a:solidFill>
                <a:latin typeface="Calibri" pitchFamily="34" charset="0"/>
                <a:ea typeface="Calibri" pitchFamily="34" charset="-122"/>
                <a:cs typeface="Calibri" pitchFamily="34" charset="-120"/>
              </a:rPr>
              <a:t>To point out the differences between two things.</a:t>
            </a:r>
            <a:endParaRPr lang="en-US" sz="1500" dirty="0"/>
          </a:p>
        </p:txBody>
      </p:sp>
      <p:sp>
        <p:nvSpPr>
          <p:cNvPr id="10" name="Shape 8"/>
          <p:cNvSpPr/>
          <p:nvPr/>
        </p:nvSpPr>
        <p:spPr>
          <a:xfrm>
            <a:off x="4572000" y="1755648"/>
            <a:ext cx="3840480" cy="640080"/>
          </a:xfrm>
          <a:prstGeom prst="roundRect">
            <a:avLst>
              <a:gd name="adj" fmla="val 14286"/>
            </a:avLst>
          </a:prstGeom>
          <a:solidFill>
            <a:srgbClr val="FEF6E8"/>
          </a:solidFill>
          <a:ln/>
          <a:effectLst>
            <a:outerShdw sx="100000" sy="100000" kx="0" ky="0" algn="bl" rotWithShape="0" blurRad="101600" dist="38100" dir="2700000">
              <a:srgbClr val="000000">
                <a:alpha val="12000"/>
              </a:srgbClr>
            </a:outerShdw>
          </a:effectLst>
        </p:spPr>
      </p:sp>
      <p:sp>
        <p:nvSpPr>
          <p:cNvPr id="11" name="Text 9"/>
          <p:cNvSpPr/>
          <p:nvPr/>
        </p:nvSpPr>
        <p:spPr>
          <a:xfrm>
            <a:off x="4709160" y="1810512"/>
            <a:ext cx="3566160" cy="530352"/>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develop</a:t>
            </a:r>
            <a:pPr indent="0" marL="0">
              <a:buNone/>
            </a:pPr>
            <a:endParaRPr lang="en-US" sz="1500" dirty="0"/>
          </a:p>
          <a:p>
            <a:pPr indent="0" marL="0">
              <a:buNone/>
            </a:pPr>
            <a:r>
              <a:rPr lang="en-US" sz="1200" dirty="0">
                <a:solidFill>
                  <a:srgbClr val="1E293B"/>
                </a:solidFill>
                <a:latin typeface="Calibri" pitchFamily="34" charset="0"/>
                <a:ea typeface="Calibri" pitchFamily="34" charset="-122"/>
                <a:cs typeface="Calibri" pitchFamily="34" charset="-120"/>
              </a:rPr>
              <a:t>To grow and change over time; how a character develops.</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Grammar: Pronoun Review (Day 1: Define and identify)</a:t>
            </a:r>
            <a:endParaRPr lang="en-US" sz="2800" dirty="0"/>
          </a:p>
        </p:txBody>
      </p:sp>
      <p:sp>
        <p:nvSpPr>
          <p:cNvPr id="3" name="Shape 1"/>
          <p:cNvSpPr/>
          <p:nvPr/>
        </p:nvSpPr>
        <p:spPr>
          <a:xfrm>
            <a:off x="365760" y="749808"/>
            <a:ext cx="8412480" cy="0"/>
          </a:xfrm>
          <a:prstGeom prst="line">
            <a:avLst/>
          </a:prstGeom>
          <a:noFill/>
          <a:ln w="19050">
            <a:solidFill>
              <a:srgbClr val="D2691E"/>
            </a:solidFill>
            <a:prstDash val="solid"/>
          </a:ln>
        </p:spPr>
      </p:sp>
      <p:sp>
        <p:nvSpPr>
          <p:cNvPr id="4" name="Shape 2"/>
          <p:cNvSpPr/>
          <p:nvPr/>
        </p:nvSpPr>
        <p:spPr>
          <a:xfrm>
            <a:off x="6492240" y="173736"/>
            <a:ext cx="2286000" cy="502920"/>
          </a:xfrm>
          <a:prstGeom prst="roundRect">
            <a:avLst>
              <a:gd name="adj" fmla="val 21818"/>
            </a:avLst>
          </a:prstGeom>
          <a:solidFill>
            <a:srgbClr val="D2691E"/>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Shape 4"/>
          <p:cNvSpPr/>
          <p:nvPr/>
        </p:nvSpPr>
        <p:spPr>
          <a:xfrm>
            <a:off x="457200" y="1005840"/>
            <a:ext cx="8229600" cy="502920"/>
          </a:xfrm>
          <a:prstGeom prst="roundRect">
            <a:avLst>
              <a:gd name="adj" fmla="val 18182"/>
            </a:avLst>
          </a:prstGeom>
          <a:solidFill>
            <a:srgbClr val="F8FAFC"/>
          </a:solidFill>
          <a:ln/>
          <a:effectLst>
            <a:outerShdw sx="100000" sy="100000" kx="0" ky="0" algn="bl" rotWithShape="0" blurRad="101600" dist="38100" dir="2700000">
              <a:srgbClr val="000000">
                <a:alpha val="12000"/>
              </a:srgbClr>
            </a:outerShdw>
          </a:effectLst>
        </p:spPr>
      </p:sp>
      <p:sp>
        <p:nvSpPr>
          <p:cNvPr id="7" name="Text 5"/>
          <p:cNvSpPr/>
          <p:nvPr/>
        </p:nvSpPr>
        <p:spPr>
          <a:xfrm>
            <a:off x="594360" y="1078992"/>
            <a:ext cx="7863840" cy="356616"/>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Jemmy called to him , but the prince kept walking.</a:t>
            </a:r>
            <a:endParaRPr lang="en-US" sz="1500" dirty="0"/>
          </a:p>
        </p:txBody>
      </p:sp>
      <p:sp>
        <p:nvSpPr>
          <p:cNvPr id="8" name="Shape 6"/>
          <p:cNvSpPr/>
          <p:nvPr/>
        </p:nvSpPr>
        <p:spPr>
          <a:xfrm>
            <a:off x="457200" y="1600200"/>
            <a:ext cx="8229600" cy="502920"/>
          </a:xfrm>
          <a:prstGeom prst="roundRect">
            <a:avLst>
              <a:gd name="adj" fmla="val 18182"/>
            </a:avLst>
          </a:prstGeom>
          <a:solidFill>
            <a:srgbClr val="F8FAFC"/>
          </a:solidFill>
          <a:ln/>
          <a:effectLst>
            <a:outerShdw sx="100000" sy="100000" kx="0" ky="0" algn="bl" rotWithShape="0" blurRad="101600" dist="38100" dir="2700000">
              <a:srgbClr val="000000">
                <a:alpha val="12000"/>
              </a:srgbClr>
            </a:outerShdw>
          </a:effectLst>
        </p:spPr>
      </p:sp>
      <p:sp>
        <p:nvSpPr>
          <p:cNvPr id="9" name="Text 7"/>
          <p:cNvSpPr/>
          <p:nvPr/>
        </p:nvSpPr>
        <p:spPr>
          <a:xfrm>
            <a:off x="594360" y="1673352"/>
            <a:ext cx="7863840" cy="356616"/>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They reached the city by afternoon.</a:t>
            </a:r>
            <a:endParaRPr lang="en-US" sz="1500" dirty="0"/>
          </a:p>
        </p:txBody>
      </p:sp>
      <p:sp>
        <p:nvSpPr>
          <p:cNvPr id="10" name="Shape 8"/>
          <p:cNvSpPr/>
          <p:nvPr/>
        </p:nvSpPr>
        <p:spPr>
          <a:xfrm>
            <a:off x="457200" y="2194560"/>
            <a:ext cx="8229600" cy="502920"/>
          </a:xfrm>
          <a:prstGeom prst="roundRect">
            <a:avLst>
              <a:gd name="adj" fmla="val 18182"/>
            </a:avLst>
          </a:prstGeom>
          <a:solidFill>
            <a:srgbClr val="F8FAFC"/>
          </a:solidFill>
          <a:ln/>
          <a:effectLst>
            <a:outerShdw sx="100000" sy="100000" kx="0" ky="0" algn="bl" rotWithShape="0" blurRad="101600" dist="38100" dir="2700000">
              <a:srgbClr val="000000">
                <a:alpha val="12000"/>
              </a:srgbClr>
            </a:outerShdw>
          </a:effectLst>
        </p:spPr>
      </p:sp>
      <p:sp>
        <p:nvSpPr>
          <p:cNvPr id="11" name="Text 9"/>
          <p:cNvSpPr/>
          <p:nvPr/>
        </p:nvSpPr>
        <p:spPr>
          <a:xfrm>
            <a:off x="594360" y="2267712"/>
            <a:ext cx="7863840" cy="356616"/>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She trained her bear to obey a whistle.</a:t>
            </a:r>
            <a:endParaRPr lang="en-US" sz="1500" dirty="0"/>
          </a:p>
        </p:txBody>
      </p:sp>
      <p:sp>
        <p:nvSpPr>
          <p:cNvPr id="12" name="Shape 10"/>
          <p:cNvSpPr/>
          <p:nvPr/>
        </p:nvSpPr>
        <p:spPr>
          <a:xfrm>
            <a:off x="457200" y="2788920"/>
            <a:ext cx="8229600" cy="502920"/>
          </a:xfrm>
          <a:prstGeom prst="roundRect">
            <a:avLst>
              <a:gd name="adj" fmla="val 18182"/>
            </a:avLst>
          </a:prstGeom>
          <a:solidFill>
            <a:srgbClr val="F8FAFC"/>
          </a:solidFill>
          <a:ln/>
          <a:effectLst>
            <a:outerShdw sx="100000" sy="100000" kx="0" ky="0" algn="bl" rotWithShape="0" blurRad="101600" dist="38100" dir="2700000">
              <a:srgbClr val="000000">
                <a:alpha val="12000"/>
              </a:srgbClr>
            </a:outerShdw>
          </a:effectLst>
        </p:spPr>
      </p:sp>
      <p:sp>
        <p:nvSpPr>
          <p:cNvPr id="13" name="Text 11"/>
          <p:cNvSpPr/>
          <p:nvPr/>
        </p:nvSpPr>
        <p:spPr>
          <a:xfrm>
            <a:off x="594360" y="2862072"/>
            <a:ext cx="7863840" cy="356616"/>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They shook hands, which was not allowed.</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Grammar: Pronoun Review (Day 1: Define and identify) — Answers</a:t>
            </a:r>
            <a:endParaRPr lang="en-US" sz="2800" dirty="0"/>
          </a:p>
        </p:txBody>
      </p:sp>
      <p:sp>
        <p:nvSpPr>
          <p:cNvPr id="3" name="Shape 1"/>
          <p:cNvSpPr/>
          <p:nvPr/>
        </p:nvSpPr>
        <p:spPr>
          <a:xfrm>
            <a:off x="365760" y="749808"/>
            <a:ext cx="8412480" cy="0"/>
          </a:xfrm>
          <a:prstGeom prst="line">
            <a:avLst/>
          </a:prstGeom>
          <a:noFill/>
          <a:ln w="19050">
            <a:solidFill>
              <a:srgbClr val="D2691E"/>
            </a:solidFill>
            <a:prstDash val="solid"/>
          </a:ln>
        </p:spPr>
      </p:sp>
      <p:sp>
        <p:nvSpPr>
          <p:cNvPr id="4" name="Shape 2"/>
          <p:cNvSpPr/>
          <p:nvPr/>
        </p:nvSpPr>
        <p:spPr>
          <a:xfrm>
            <a:off x="6492240" y="173736"/>
            <a:ext cx="2286000" cy="502920"/>
          </a:xfrm>
          <a:prstGeom prst="roundRect">
            <a:avLst>
              <a:gd name="adj" fmla="val 21818"/>
            </a:avLst>
          </a:prstGeom>
          <a:solidFill>
            <a:srgbClr val="D2691E"/>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Shape 4"/>
          <p:cNvSpPr/>
          <p:nvPr/>
        </p:nvSpPr>
        <p:spPr>
          <a:xfrm>
            <a:off x="457200" y="1005840"/>
            <a:ext cx="8229600" cy="502920"/>
          </a:xfrm>
          <a:prstGeom prst="roundRect">
            <a:avLst>
              <a:gd name="adj" fmla="val 18182"/>
            </a:avLst>
          </a:prstGeom>
          <a:solidFill>
            <a:srgbClr val="F8FAFC"/>
          </a:solidFill>
          <a:ln/>
          <a:effectLst>
            <a:outerShdw sx="100000" sy="100000" kx="0" ky="0" algn="bl" rotWithShape="0" blurRad="101600" dist="38100" dir="2700000">
              <a:srgbClr val="000000">
                <a:alpha val="12000"/>
              </a:srgbClr>
            </a:outerShdw>
          </a:effectLst>
        </p:spPr>
      </p:sp>
      <p:sp>
        <p:nvSpPr>
          <p:cNvPr id="7" name="Text 5"/>
          <p:cNvSpPr/>
          <p:nvPr/>
        </p:nvSpPr>
        <p:spPr>
          <a:xfrm>
            <a:off x="594360" y="1078992"/>
            <a:ext cx="7863840" cy="356616"/>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Jemmy</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called</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to</a:t>
            </a:r>
            <a:pPr indent="0" marL="0">
              <a:buNone/>
            </a:pPr>
            <a:r>
              <a:rPr lang="en-US" sz="1500" dirty="0">
                <a:solidFill>
                  <a:srgbClr val="000000"/>
                </a:solidFill>
              </a:rPr>
              <a:t> </a:t>
            </a:r>
            <a:pPr indent="0" marL="0">
              <a:buNone/>
            </a:pPr>
            <a:r>
              <a:rPr lang="en-US" sz="1500" b="1" u="sng" dirty="0">
                <a:solidFill>
                  <a:srgbClr val="34B76F"/>
                </a:solidFill>
                <a:latin typeface="Calibri" pitchFamily="34" charset="0"/>
                <a:ea typeface="Calibri" pitchFamily="34" charset="-122"/>
                <a:cs typeface="Calibri" pitchFamily="34" charset="-120"/>
              </a:rPr>
              <a:t>him ,</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but</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the</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prince</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kept</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walking.</a:t>
            </a:r>
            <a:endParaRPr lang="en-US" sz="1500" dirty="0"/>
          </a:p>
        </p:txBody>
      </p:sp>
      <p:sp>
        <p:nvSpPr>
          <p:cNvPr id="8" name="Shape 6"/>
          <p:cNvSpPr/>
          <p:nvPr/>
        </p:nvSpPr>
        <p:spPr>
          <a:xfrm>
            <a:off x="457200" y="1600200"/>
            <a:ext cx="8229600" cy="502920"/>
          </a:xfrm>
          <a:prstGeom prst="roundRect">
            <a:avLst>
              <a:gd name="adj" fmla="val 18182"/>
            </a:avLst>
          </a:prstGeom>
          <a:solidFill>
            <a:srgbClr val="F8FAFC"/>
          </a:solidFill>
          <a:ln/>
          <a:effectLst>
            <a:outerShdw sx="100000" sy="100000" kx="0" ky="0" algn="bl" rotWithShape="0" blurRad="101600" dist="38100" dir="2700000">
              <a:srgbClr val="000000">
                <a:alpha val="12000"/>
              </a:srgbClr>
            </a:outerShdw>
          </a:effectLst>
        </p:spPr>
      </p:sp>
      <p:sp>
        <p:nvSpPr>
          <p:cNvPr id="9" name="Text 7"/>
          <p:cNvSpPr/>
          <p:nvPr/>
        </p:nvSpPr>
        <p:spPr>
          <a:xfrm>
            <a:off x="594360" y="1673352"/>
            <a:ext cx="7863840" cy="356616"/>
          </a:xfrm>
          <a:prstGeom prst="rect">
            <a:avLst/>
          </a:prstGeom>
          <a:noFill/>
          <a:ln/>
        </p:spPr>
        <p:txBody>
          <a:bodyPr wrap="square" lIns="0" tIns="0" rIns="0" bIns="0" rtlCol="0" anchor="ctr"/>
          <a:lstStyle/>
          <a:p>
            <a:pPr indent="0" marL="0">
              <a:buNone/>
            </a:pPr>
            <a:r>
              <a:rPr lang="en-US" sz="1500" b="1" u="sng" dirty="0">
                <a:solidFill>
                  <a:srgbClr val="34B76F"/>
                </a:solidFill>
                <a:latin typeface="Calibri" pitchFamily="34" charset="0"/>
                <a:ea typeface="Calibri" pitchFamily="34" charset="-122"/>
                <a:cs typeface="Calibri" pitchFamily="34" charset="-120"/>
              </a:rPr>
              <a:t>They</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reached</a:t>
            </a:r>
            <a:pPr indent="0" marL="0">
              <a:buNone/>
            </a:pPr>
            <a:r>
              <a:rPr lang="en-US" sz="1500" dirty="0">
                <a:solidFill>
                  <a:srgbClr val="000000"/>
                </a:solidFill>
              </a:rPr>
              <a:t> </a:t>
            </a:r>
            <a:pPr indent="0" marL="0">
              <a:buNone/>
            </a:pPr>
            <a:r>
              <a:rPr lang="en-US" sz="1500" b="1" u="sng" dirty="0">
                <a:solidFill>
                  <a:srgbClr val="34B76F"/>
                </a:solidFill>
                <a:latin typeface="Calibri" pitchFamily="34" charset="0"/>
                <a:ea typeface="Calibri" pitchFamily="34" charset="-122"/>
                <a:cs typeface="Calibri" pitchFamily="34" charset="-120"/>
              </a:rPr>
              <a:t>the</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city</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by</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afternoon.</a:t>
            </a:r>
            <a:endParaRPr lang="en-US" sz="1500" dirty="0"/>
          </a:p>
        </p:txBody>
      </p:sp>
      <p:sp>
        <p:nvSpPr>
          <p:cNvPr id="10" name="Shape 8"/>
          <p:cNvSpPr/>
          <p:nvPr/>
        </p:nvSpPr>
        <p:spPr>
          <a:xfrm>
            <a:off x="457200" y="2194560"/>
            <a:ext cx="8229600" cy="502920"/>
          </a:xfrm>
          <a:prstGeom prst="roundRect">
            <a:avLst>
              <a:gd name="adj" fmla="val 18182"/>
            </a:avLst>
          </a:prstGeom>
          <a:solidFill>
            <a:srgbClr val="F8FAFC"/>
          </a:solidFill>
          <a:ln/>
          <a:effectLst>
            <a:outerShdw sx="100000" sy="100000" kx="0" ky="0" algn="bl" rotWithShape="0" blurRad="101600" dist="38100" dir="2700000">
              <a:srgbClr val="000000">
                <a:alpha val="12000"/>
              </a:srgbClr>
            </a:outerShdw>
          </a:effectLst>
        </p:spPr>
      </p:sp>
      <p:sp>
        <p:nvSpPr>
          <p:cNvPr id="11" name="Text 9"/>
          <p:cNvSpPr/>
          <p:nvPr/>
        </p:nvSpPr>
        <p:spPr>
          <a:xfrm>
            <a:off x="594360" y="2267712"/>
            <a:ext cx="7863840" cy="356616"/>
          </a:xfrm>
          <a:prstGeom prst="rect">
            <a:avLst/>
          </a:prstGeom>
          <a:noFill/>
          <a:ln/>
        </p:spPr>
        <p:txBody>
          <a:bodyPr wrap="square" lIns="0" tIns="0" rIns="0" bIns="0" rtlCol="0" anchor="ctr"/>
          <a:lstStyle/>
          <a:p>
            <a:pPr indent="0" marL="0">
              <a:buNone/>
            </a:pPr>
            <a:r>
              <a:rPr lang="en-US" sz="1500" b="1" u="sng" dirty="0">
                <a:solidFill>
                  <a:srgbClr val="34B76F"/>
                </a:solidFill>
                <a:latin typeface="Calibri" pitchFamily="34" charset="0"/>
                <a:ea typeface="Calibri" pitchFamily="34" charset="-122"/>
                <a:cs typeface="Calibri" pitchFamily="34" charset="-120"/>
              </a:rPr>
              <a:t>She</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trained</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her</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bear</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to</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obey</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a</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whistle.</a:t>
            </a:r>
            <a:endParaRPr lang="en-US" sz="1500" dirty="0"/>
          </a:p>
        </p:txBody>
      </p:sp>
      <p:sp>
        <p:nvSpPr>
          <p:cNvPr id="12" name="Shape 10"/>
          <p:cNvSpPr/>
          <p:nvPr/>
        </p:nvSpPr>
        <p:spPr>
          <a:xfrm>
            <a:off x="457200" y="2788920"/>
            <a:ext cx="8229600" cy="502920"/>
          </a:xfrm>
          <a:prstGeom prst="roundRect">
            <a:avLst>
              <a:gd name="adj" fmla="val 18182"/>
            </a:avLst>
          </a:prstGeom>
          <a:solidFill>
            <a:srgbClr val="F8FAFC"/>
          </a:solidFill>
          <a:ln/>
          <a:effectLst>
            <a:outerShdw sx="100000" sy="100000" kx="0" ky="0" algn="bl" rotWithShape="0" blurRad="101600" dist="38100" dir="2700000">
              <a:srgbClr val="000000">
                <a:alpha val="12000"/>
              </a:srgbClr>
            </a:outerShdw>
          </a:effectLst>
        </p:spPr>
      </p:sp>
      <p:sp>
        <p:nvSpPr>
          <p:cNvPr id="13" name="Text 11"/>
          <p:cNvSpPr/>
          <p:nvPr/>
        </p:nvSpPr>
        <p:spPr>
          <a:xfrm>
            <a:off x="594360" y="2862072"/>
            <a:ext cx="7863840" cy="356616"/>
          </a:xfrm>
          <a:prstGeom prst="rect">
            <a:avLst/>
          </a:prstGeom>
          <a:noFill/>
          <a:ln/>
        </p:spPr>
        <p:txBody>
          <a:bodyPr wrap="square" lIns="0" tIns="0" rIns="0" bIns="0" rtlCol="0" anchor="ctr"/>
          <a:lstStyle/>
          <a:p>
            <a:pPr indent="0" marL="0">
              <a:buNone/>
            </a:pPr>
            <a:r>
              <a:rPr lang="en-US" sz="1500" b="1" u="sng" dirty="0">
                <a:solidFill>
                  <a:srgbClr val="34B76F"/>
                </a:solidFill>
                <a:latin typeface="Calibri" pitchFamily="34" charset="0"/>
                <a:ea typeface="Calibri" pitchFamily="34" charset="-122"/>
                <a:cs typeface="Calibri" pitchFamily="34" charset="-120"/>
              </a:rPr>
              <a:t>They</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shook</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hands,</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which</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was</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not</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allowed.</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Spelling: Multisyllabic Decoding (Day 1: Divide and decode)</a:t>
            </a:r>
            <a:endParaRPr lang="en-US" sz="2800" dirty="0"/>
          </a:p>
        </p:txBody>
      </p:sp>
      <p:sp>
        <p:nvSpPr>
          <p:cNvPr id="3" name="Shape 1"/>
          <p:cNvSpPr/>
          <p:nvPr/>
        </p:nvSpPr>
        <p:spPr>
          <a:xfrm>
            <a:off x="365760" y="749808"/>
            <a:ext cx="8412480" cy="0"/>
          </a:xfrm>
          <a:prstGeom prst="line">
            <a:avLst/>
          </a:prstGeom>
          <a:noFill/>
          <a:ln w="19050">
            <a:solidFill>
              <a:srgbClr val="D2691E"/>
            </a:solidFill>
            <a:prstDash val="solid"/>
          </a:ln>
        </p:spPr>
      </p:sp>
      <p:sp>
        <p:nvSpPr>
          <p:cNvPr id="4" name="Shape 2"/>
          <p:cNvSpPr/>
          <p:nvPr/>
        </p:nvSpPr>
        <p:spPr>
          <a:xfrm>
            <a:off x="6492240" y="173736"/>
            <a:ext cx="2286000" cy="502920"/>
          </a:xfrm>
          <a:prstGeom prst="roundRect">
            <a:avLst>
              <a:gd name="adj" fmla="val 21818"/>
            </a:avLst>
          </a:prstGeom>
          <a:solidFill>
            <a:srgbClr val="D2691E"/>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457200" y="100584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WORD BANK — Sort these words!</a:t>
            </a:r>
            <a:endParaRPr lang="en-US" sz="1100" dirty="0"/>
          </a:p>
        </p:txBody>
      </p:sp>
      <p:sp>
        <p:nvSpPr>
          <p:cNvPr id="7" name="Shape 5"/>
          <p:cNvSpPr/>
          <p:nvPr/>
        </p:nvSpPr>
        <p:spPr>
          <a:xfrm>
            <a:off x="457200" y="1371600"/>
            <a:ext cx="8229600" cy="914400"/>
          </a:xfrm>
          <a:prstGeom prst="roundRect">
            <a:avLst>
              <a:gd name="adj" fmla="val 10000"/>
            </a:avLst>
          </a:prstGeom>
          <a:solidFill>
            <a:srgbClr val="FEF6E8"/>
          </a:solidFill>
          <a:ln/>
          <a:effectLst>
            <a:outerShdw sx="100000" sy="100000" kx="0" ky="0" algn="bl" rotWithShape="0" blurRad="101600" dist="38100" dir="2700000">
              <a:srgbClr val="000000">
                <a:alpha val="12000"/>
              </a:srgbClr>
            </a:outerShdw>
          </a:effectLst>
        </p:spPr>
      </p:sp>
      <p:sp>
        <p:nvSpPr>
          <p:cNvPr id="8" name="Text 6"/>
          <p:cNvSpPr/>
          <p:nvPr/>
        </p:nvSpPr>
        <p:spPr>
          <a:xfrm>
            <a:off x="640080" y="1463040"/>
            <a:ext cx="7863840" cy="731520"/>
          </a:xfrm>
          <a:prstGeom prst="rect">
            <a:avLst/>
          </a:prstGeom>
          <a:noFill/>
          <a:ln/>
        </p:spPr>
        <p:txBody>
          <a:bodyPr wrap="square" lIns="0" tIns="0" rIns="0" bIns="0" rtlCol="0" anchor="ctr"/>
          <a:lstStyle/>
          <a:p>
            <a:pPr algn="ctr" indent="0" marL="0">
              <a:buNone/>
            </a:pPr>
            <a:r>
              <a:rPr lang="en-US" sz="1600" dirty="0">
                <a:solidFill>
                  <a:srgbClr val="0E1C42"/>
                </a:solidFill>
                <a:latin typeface="Calibri" pitchFamily="34" charset="0"/>
                <a:ea typeface="Calibri" pitchFamily="34" charset="-122"/>
                <a:cs typeface="Calibri" pitchFamily="34" charset="-120"/>
              </a:rPr>
              <a:t>forgotten     servant     determined     expected     powerful     adventure</a:t>
            </a:r>
            <a:endParaRPr lang="en-US" sz="1600" dirty="0"/>
          </a:p>
        </p:txBody>
      </p:sp>
      <p:sp>
        <p:nvSpPr>
          <p:cNvPr id="9" name="Shape 7"/>
          <p:cNvSpPr/>
          <p:nvPr/>
        </p:nvSpPr>
        <p:spPr>
          <a:xfrm>
            <a:off x="457200" y="2468880"/>
            <a:ext cx="379476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10" name="Text 8"/>
          <p:cNvSpPr/>
          <p:nvPr/>
        </p:nvSpPr>
        <p:spPr>
          <a:xfrm>
            <a:off x="548640" y="2514600"/>
            <a:ext cx="3611880" cy="365760"/>
          </a:xfrm>
          <a:prstGeom prst="rect">
            <a:avLst/>
          </a:prstGeom>
          <a:noFill/>
          <a:ln/>
        </p:spPr>
        <p:txBody>
          <a:bodyPr wrap="square" lIns="0" tIns="0" rIns="0" bIns="0" rtlCol="0" anchor="ctr"/>
          <a:lstStyle/>
          <a:p>
            <a:pPr algn="ctr" indent="0" marL="0">
              <a:buNone/>
            </a:pPr>
            <a:r>
              <a:rPr lang="en-US" sz="1400" b="1" dirty="0">
                <a:solidFill>
                  <a:srgbClr val="0E1C42"/>
                </a:solidFill>
                <a:latin typeface="Calibri" pitchFamily="34" charset="0"/>
                <a:ea typeface="Calibri" pitchFamily="34" charset="-122"/>
                <a:cs typeface="Calibri" pitchFamily="34" charset="-120"/>
              </a:rPr>
              <a:t>Mostly closed/r-controlled syllables</a:t>
            </a:r>
            <a:endParaRPr lang="en-US" sz="1400" dirty="0"/>
          </a:p>
        </p:txBody>
      </p:sp>
      <p:sp>
        <p:nvSpPr>
          <p:cNvPr id="11" name="Shape 9"/>
          <p:cNvSpPr/>
          <p:nvPr/>
        </p:nvSpPr>
        <p:spPr>
          <a:xfrm>
            <a:off x="4480560" y="2468880"/>
            <a:ext cx="379476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12" name="Text 10"/>
          <p:cNvSpPr/>
          <p:nvPr/>
        </p:nvSpPr>
        <p:spPr>
          <a:xfrm>
            <a:off x="4572000" y="2514600"/>
            <a:ext cx="3611880" cy="365760"/>
          </a:xfrm>
          <a:prstGeom prst="rect">
            <a:avLst/>
          </a:prstGeom>
          <a:noFill/>
          <a:ln/>
        </p:spPr>
        <p:txBody>
          <a:bodyPr wrap="square" lIns="0" tIns="0" rIns="0" bIns="0" rtlCol="0" anchor="ctr"/>
          <a:lstStyle/>
          <a:p>
            <a:pPr algn="ctr" indent="0" marL="0">
              <a:buNone/>
            </a:pPr>
            <a:r>
              <a:rPr lang="en-US" sz="1400" b="1" dirty="0">
                <a:solidFill>
                  <a:srgbClr val="0E1C42"/>
                </a:solidFill>
                <a:latin typeface="Calibri" pitchFamily="34" charset="0"/>
                <a:ea typeface="Calibri" pitchFamily="34" charset="-122"/>
                <a:cs typeface="Calibri" pitchFamily="34" charset="-120"/>
              </a:rPr>
              <a:t>Contains open or silent-e</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Spelling: Multisyllabic Decoding (Day 1: Divide and decode) — Sorted</a:t>
            </a:r>
            <a:endParaRPr lang="en-US" sz="2800" dirty="0"/>
          </a:p>
        </p:txBody>
      </p:sp>
      <p:sp>
        <p:nvSpPr>
          <p:cNvPr id="3" name="Shape 1"/>
          <p:cNvSpPr/>
          <p:nvPr/>
        </p:nvSpPr>
        <p:spPr>
          <a:xfrm>
            <a:off x="365760" y="749808"/>
            <a:ext cx="8412480" cy="0"/>
          </a:xfrm>
          <a:prstGeom prst="line">
            <a:avLst/>
          </a:prstGeom>
          <a:noFill/>
          <a:ln w="19050">
            <a:solidFill>
              <a:srgbClr val="D2691E"/>
            </a:solidFill>
            <a:prstDash val="solid"/>
          </a:ln>
        </p:spPr>
      </p:sp>
      <p:sp>
        <p:nvSpPr>
          <p:cNvPr id="4" name="Shape 2"/>
          <p:cNvSpPr/>
          <p:nvPr/>
        </p:nvSpPr>
        <p:spPr>
          <a:xfrm>
            <a:off x="6492240" y="173736"/>
            <a:ext cx="2286000" cy="502920"/>
          </a:xfrm>
          <a:prstGeom prst="roundRect">
            <a:avLst>
              <a:gd name="adj" fmla="val 21818"/>
            </a:avLst>
          </a:prstGeom>
          <a:solidFill>
            <a:srgbClr val="D2691E"/>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Shape 4"/>
          <p:cNvSpPr/>
          <p:nvPr/>
        </p:nvSpPr>
        <p:spPr>
          <a:xfrm>
            <a:off x="457200" y="1005840"/>
            <a:ext cx="379476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7" name="Text 5"/>
          <p:cNvSpPr/>
          <p:nvPr/>
        </p:nvSpPr>
        <p:spPr>
          <a:xfrm>
            <a:off x="548640" y="1051560"/>
            <a:ext cx="3611880" cy="365760"/>
          </a:xfrm>
          <a:prstGeom prst="rect">
            <a:avLst/>
          </a:prstGeom>
          <a:noFill/>
          <a:ln/>
        </p:spPr>
        <p:txBody>
          <a:bodyPr wrap="square" lIns="0" tIns="0" rIns="0" bIns="0" rtlCol="0" anchor="ctr"/>
          <a:lstStyle/>
          <a:p>
            <a:pPr algn="ctr" indent="0" marL="0">
              <a:buNone/>
            </a:pPr>
            <a:r>
              <a:rPr lang="en-US" sz="1400" b="1" dirty="0">
                <a:solidFill>
                  <a:srgbClr val="0E1C42"/>
                </a:solidFill>
                <a:latin typeface="Calibri" pitchFamily="34" charset="0"/>
                <a:ea typeface="Calibri" pitchFamily="34" charset="-122"/>
                <a:cs typeface="Calibri" pitchFamily="34" charset="-120"/>
              </a:rPr>
              <a:t>Mostly closed/r-controlled syllables</a:t>
            </a:r>
            <a:endParaRPr lang="en-US" sz="1400" dirty="0"/>
          </a:p>
        </p:txBody>
      </p:sp>
      <p:sp>
        <p:nvSpPr>
          <p:cNvPr id="8" name="Text 6"/>
          <p:cNvSpPr/>
          <p:nvPr/>
        </p:nvSpPr>
        <p:spPr>
          <a:xfrm>
            <a:off x="548640" y="1554480"/>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forgotten</a:t>
            </a:r>
            <a:endParaRPr lang="en-US" sz="1400" dirty="0"/>
          </a:p>
        </p:txBody>
      </p:sp>
      <p:sp>
        <p:nvSpPr>
          <p:cNvPr id="9" name="Text 7"/>
          <p:cNvSpPr/>
          <p:nvPr/>
        </p:nvSpPr>
        <p:spPr>
          <a:xfrm>
            <a:off x="548640" y="1901952"/>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servant</a:t>
            </a:r>
            <a:endParaRPr lang="en-US" sz="1400" dirty="0"/>
          </a:p>
        </p:txBody>
      </p:sp>
      <p:sp>
        <p:nvSpPr>
          <p:cNvPr id="10" name="Text 8"/>
          <p:cNvSpPr/>
          <p:nvPr/>
        </p:nvSpPr>
        <p:spPr>
          <a:xfrm>
            <a:off x="548640" y="2249424"/>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determined</a:t>
            </a:r>
            <a:endParaRPr lang="en-US" sz="1400" dirty="0"/>
          </a:p>
        </p:txBody>
      </p:sp>
      <p:sp>
        <p:nvSpPr>
          <p:cNvPr id="11" name="Shape 9"/>
          <p:cNvSpPr/>
          <p:nvPr/>
        </p:nvSpPr>
        <p:spPr>
          <a:xfrm>
            <a:off x="4480560" y="1005840"/>
            <a:ext cx="379476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12" name="Text 10"/>
          <p:cNvSpPr/>
          <p:nvPr/>
        </p:nvSpPr>
        <p:spPr>
          <a:xfrm>
            <a:off x="4572000" y="1051560"/>
            <a:ext cx="3611880" cy="365760"/>
          </a:xfrm>
          <a:prstGeom prst="rect">
            <a:avLst/>
          </a:prstGeom>
          <a:noFill/>
          <a:ln/>
        </p:spPr>
        <p:txBody>
          <a:bodyPr wrap="square" lIns="0" tIns="0" rIns="0" bIns="0" rtlCol="0" anchor="ctr"/>
          <a:lstStyle/>
          <a:p>
            <a:pPr algn="ctr" indent="0" marL="0">
              <a:buNone/>
            </a:pPr>
            <a:r>
              <a:rPr lang="en-US" sz="1400" b="1" dirty="0">
                <a:solidFill>
                  <a:srgbClr val="0E1C42"/>
                </a:solidFill>
                <a:latin typeface="Calibri" pitchFamily="34" charset="0"/>
                <a:ea typeface="Calibri" pitchFamily="34" charset="-122"/>
                <a:cs typeface="Calibri" pitchFamily="34" charset="-120"/>
              </a:rPr>
              <a:t>Contains open or silent-e</a:t>
            </a:r>
            <a:endParaRPr lang="en-US" sz="1400" dirty="0"/>
          </a:p>
        </p:txBody>
      </p:sp>
      <p:sp>
        <p:nvSpPr>
          <p:cNvPr id="13" name="Text 11"/>
          <p:cNvSpPr/>
          <p:nvPr/>
        </p:nvSpPr>
        <p:spPr>
          <a:xfrm>
            <a:off x="4572000" y="1554480"/>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expected</a:t>
            </a:r>
            <a:endParaRPr lang="en-US" sz="1400" dirty="0"/>
          </a:p>
        </p:txBody>
      </p:sp>
      <p:sp>
        <p:nvSpPr>
          <p:cNvPr id="14" name="Text 12"/>
          <p:cNvSpPr/>
          <p:nvPr/>
        </p:nvSpPr>
        <p:spPr>
          <a:xfrm>
            <a:off x="4572000" y="1901952"/>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powerful</a:t>
            </a:r>
            <a:endParaRPr lang="en-US" sz="1400" dirty="0"/>
          </a:p>
        </p:txBody>
      </p:sp>
      <p:sp>
        <p:nvSpPr>
          <p:cNvPr id="15" name="Text 13"/>
          <p:cNvSpPr/>
          <p:nvPr/>
        </p:nvSpPr>
        <p:spPr>
          <a:xfrm>
            <a:off x="4572000" y="2249424"/>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adventure</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Reading Focus</a:t>
            </a:r>
            <a:endParaRPr lang="en-US" sz="28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Text 2"/>
          <p:cNvSpPr/>
          <p:nvPr/>
        </p:nvSpPr>
        <p:spPr>
          <a:xfrm>
            <a:off x="457200" y="1005840"/>
            <a:ext cx="8046720" cy="292608"/>
          </a:xfrm>
          <a:prstGeom prst="rect">
            <a:avLst/>
          </a:prstGeom>
          <a:noFill/>
          <a:ln/>
        </p:spPr>
        <p:txBody>
          <a:bodyPr wrap="square" lIns="0" tIns="0" rIns="0" bIns="0" rtlCol="0" anchor="ctr"/>
          <a:lstStyle/>
          <a:p>
            <a:pPr indent="0" marL="0">
              <a:buNone/>
            </a:pPr>
            <a:r>
              <a:rPr lang="en-US" sz="1100" b="1" spc="200" kern="0" dirty="0">
                <a:solidFill>
                  <a:srgbClr val="55C8E8"/>
                </a:solidFill>
                <a:latin typeface="Calibri" pitchFamily="34" charset="0"/>
                <a:ea typeface="Calibri" pitchFamily="34" charset="-122"/>
                <a:cs typeface="Calibri" pitchFamily="34" charset="-120"/>
              </a:rPr>
              <a:t>PAUSE &amp; THINK</a:t>
            </a:r>
            <a:endParaRPr lang="en-US" sz="1100" dirty="0"/>
          </a:p>
        </p:txBody>
      </p:sp>
      <p:sp>
        <p:nvSpPr>
          <p:cNvPr id="5" name="Text 3"/>
          <p:cNvSpPr/>
          <p:nvPr/>
        </p:nvSpPr>
        <p:spPr>
          <a:xfrm>
            <a:off x="640080" y="1325880"/>
            <a:ext cx="7863840" cy="548640"/>
          </a:xfrm>
          <a:prstGeom prst="rect">
            <a:avLst/>
          </a:prstGeom>
          <a:noFill/>
          <a:ln/>
        </p:spPr>
        <p:txBody>
          <a:bodyPr wrap="square" lIns="0" tIns="0" rIns="0" bIns="0" rtlCol="0" anchor="ctr"/>
          <a:lstStyle/>
          <a:p>
            <a:pPr indent="0" marL="0">
              <a:buNone/>
            </a:pPr>
            <a:r>
              <a:rPr lang="en-US" sz="1400" i="1" dirty="0">
                <a:solidFill>
                  <a:srgbClr val="1E293B"/>
                </a:solidFill>
                <a:latin typeface="Calibri" pitchFamily="34" charset="0"/>
                <a:ea typeface="Calibri" pitchFamily="34" charset="-122"/>
                <a:cs typeface="Calibri" pitchFamily="34" charset="-120"/>
              </a:rPr>
              <a:t>Look at the letters around the dot in each word. Count: vowel, consonant, consonant, vowel. That's the VCCV pattern .</a:t>
            </a:r>
            <a:endParaRPr lang="en-US" sz="1400" dirty="0"/>
          </a:p>
        </p:txBody>
      </p:sp>
      <p:sp>
        <p:nvSpPr>
          <p:cNvPr id="6" name="Text 4"/>
          <p:cNvSpPr/>
          <p:nvPr/>
        </p:nvSpPr>
        <p:spPr>
          <a:xfrm>
            <a:off x="640080" y="1965960"/>
            <a:ext cx="7863840" cy="548640"/>
          </a:xfrm>
          <a:prstGeom prst="rect">
            <a:avLst/>
          </a:prstGeom>
          <a:noFill/>
          <a:ln/>
        </p:spPr>
        <p:txBody>
          <a:bodyPr wrap="square" lIns="0" tIns="0" rIns="0" bIns="0" rtlCol="0" anchor="ctr"/>
          <a:lstStyle/>
          <a:p>
            <a:pPr indent="0" marL="0">
              <a:buNone/>
            </a:pPr>
            <a:r>
              <a:rPr lang="en-US" sz="1400" i="1" dirty="0">
                <a:solidFill>
                  <a:srgbClr val="1E293B"/>
                </a:solidFill>
                <a:latin typeface="Calibri" pitchFamily="34" charset="0"/>
                <a:ea typeface="Calibri" pitchFamily="34" charset="-122"/>
                <a:cs typeface="Calibri" pitchFamily="34" charset="-120"/>
              </a:rPr>
              <a:t>Where does the dot fall — before, between, or after the two consonants?</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Writer’s Workshop: Week 22 · Compare &amp; Present</a:t>
            </a:r>
            <a:endParaRPr lang="en-US" sz="2800" dirty="0"/>
          </a:p>
        </p:txBody>
      </p:sp>
      <p:sp>
        <p:nvSpPr>
          <p:cNvPr id="3" name="Shape 1"/>
          <p:cNvSpPr/>
          <p:nvPr/>
        </p:nvSpPr>
        <p:spPr>
          <a:xfrm>
            <a:off x="365760" y="749808"/>
            <a:ext cx="8412480" cy="0"/>
          </a:xfrm>
          <a:prstGeom prst="line">
            <a:avLst/>
          </a:prstGeom>
          <a:noFill/>
          <a:ln w="19050">
            <a:solidFill>
              <a:srgbClr val="34B76F"/>
            </a:solidFill>
            <a:prstDash val="solid"/>
          </a:ln>
        </p:spPr>
      </p:sp>
      <p:sp>
        <p:nvSpPr>
          <p:cNvPr id="4" name="Text 2"/>
          <p:cNvSpPr/>
          <p:nvPr/>
        </p:nvSpPr>
        <p:spPr>
          <a:xfrm>
            <a:off x="640080" y="1371600"/>
            <a:ext cx="7863840" cy="457200"/>
          </a:xfrm>
          <a:prstGeom prst="rect">
            <a:avLst/>
          </a:prstGeom>
          <a:noFill/>
          <a:ln/>
        </p:spPr>
        <p:txBody>
          <a:bodyPr wrap="square" lIns="0" tIns="0" rIns="0" bIns="0" rtlCol="0" anchor="ctr"/>
          <a:lstStyle/>
          <a:p>
            <a:pPr indent="0" marL="0">
              <a:buNone/>
            </a:pPr>
            <a:r>
              <a:rPr lang="en-US" sz="1600" dirty="0">
                <a:solidFill>
                  <a:srgbClr val="1E293B"/>
                </a:solidFill>
                <a:latin typeface="Calibri" pitchFamily="34" charset="0"/>
                <a:ea typeface="Calibri" pitchFamily="34" charset="-122"/>
                <a:cs typeface="Calibri" pitchFamily="34" charset="-120"/>
              </a:rPr>
              <a:t>Open your writing assignment in Canvas.</a:t>
            </a:r>
            <a:endParaRPr lang="en-US" sz="1600" dirty="0"/>
          </a:p>
        </p:txBody>
      </p:sp>
      <p:sp>
        <p:nvSpPr>
          <p:cNvPr id="5" name="Text 3"/>
          <p:cNvSpPr/>
          <p:nvPr/>
        </p:nvSpPr>
        <p:spPr>
          <a:xfrm>
            <a:off x="640080" y="2011680"/>
            <a:ext cx="7863840" cy="457200"/>
          </a:xfrm>
          <a:prstGeom prst="rect">
            <a:avLst/>
          </a:prstGeom>
          <a:noFill/>
          <a:ln/>
        </p:spPr>
        <p:txBody>
          <a:bodyPr wrap="square" lIns="0" tIns="0" rIns="0" bIns="0" rtlCol="0" anchor="ctr"/>
          <a:lstStyle/>
          <a:p>
            <a:pPr indent="0" marL="0">
              <a:buNone/>
            </a:pPr>
            <a:r>
              <a:rPr lang="en-US" sz="1400" dirty="0">
                <a:solidFill>
                  <a:srgbClr val="64748B"/>
                </a:solidFill>
                <a:latin typeface="Calibri" pitchFamily="34" charset="0"/>
                <a:ea typeface="Calibri" pitchFamily="34" charset="-122"/>
                <a:cs typeface="Calibri" pitchFamily="34" charset="-120"/>
              </a:rPr>
              <a:t>Follow the writing prompt for today's workshop.</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2026-07-11T14:32:39Z</dcterms:created>
  <dcterms:modified xsi:type="dcterms:W3CDTF">2026-07-11T14:32:39Z</dcterms:modified>
</cp:coreProperties>
</file>