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12.4. Reading: Ch. 37–38.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pay attention to setting. Places shape what characters feel and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king came down to the dungeon and saw his daughter, and the tears came into his eyes at last.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king came down to the dungeon and saw his daughter, and the tears came into his eyes at last.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a character speaks, the words they say go inside quotation marks. A comma separates the spoken words from the tag that says who spoke — and that comma goes inside the closing quotation mark.
The comma sits inside the quotation marks, and said is not capitalized.
When the tag comes first, the comma goes after it and the spoken words start with a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a character speaks, the words they say go inside quotation marks. A comma separates the spoken words from the tag that says who spoke — and that comma goes inside the closing quotation mark.
The comma sits inside the quotation marks, and said is not capitalized.
When the tag comes first, the comma goes after it and the spoken words start with a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basket”,, said, “i, smelling.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basket”,, said, “i, smelling.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Long words get short fast when you find the base word first, then peel off the suffix: darkness = dark + -ness. Suffixes that start with a consonant (-ful, -less, -ly, -ness) usually leave the base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12.4  ·  Ch. 37–38</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Pea wakes to find someone standing over her bed with a knife. Write about the scariest moment in a story you have read.</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Pea wakes to find someone standing over her bed with a knife. Write about the scariest moment in a story you have read.</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for every name?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37–38</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does the dungeon do to the characters inside it?</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pay attention to setting. Places shape what characters feel and do.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 ran down the steps, and the guards followed him into the dark.</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a comma comes before and because it joins two complete sentences. King stays lowercase here because it is not being used with his name. A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 came down to the dungeon and saw his daughter and the tears came into his eyes at last</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 came down to the dungeon and saw his daughter and the tears came into his eyes at last</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The king came down to the dungeon and saw his daughter, and the tears came into his eyes at last.</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BASE + SUFFIX</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base + suffix means a base word plus an ending that changes its job.</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slowly = tells how something was done · quietly = tells how something was done · action = names the thing that is done</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Dice Roll Challenge! Roll a word, then say out loud what it means and how the word part changed it. Tap to check yourself.</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armor  </a:t>
            </a:r>
            <a:pPr indent="0" marL="0">
              <a:buNone/>
            </a:pPr>
            <a:r>
              <a:rPr lang="en-US" sz="1400" dirty="0">
                <a:solidFill>
                  <a:srgbClr val="1E293B"/>
                </a:solidFill>
                <a:latin typeface="Calibri" pitchFamily="34" charset="0"/>
                <a:ea typeface="Calibri" pitchFamily="34" charset="-122"/>
                <a:cs typeface="Calibri" pitchFamily="34" charset="-120"/>
              </a:rPr>
              <a:t>Metal covering worn to protect the body in battle.</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foolish  </a:t>
            </a:r>
            <a:pPr indent="0" marL="0">
              <a:buNone/>
            </a:pPr>
            <a:r>
              <a:rPr lang="en-US" sz="1400" dirty="0">
                <a:solidFill>
                  <a:srgbClr val="1E293B"/>
                </a:solidFill>
                <a:latin typeface="Calibri" pitchFamily="34" charset="0"/>
                <a:ea typeface="Calibri" pitchFamily="34" charset="-122"/>
                <a:cs typeface="Calibri" pitchFamily="34" charset="-120"/>
              </a:rPr>
              <a:t>Silly or unwise; showing poor judgment.</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jailer  </a:t>
            </a:r>
            <a:pPr indent="0" marL="0">
              <a:buNone/>
            </a:pPr>
            <a:r>
              <a:rPr lang="en-US" sz="1400" dirty="0">
                <a:solidFill>
                  <a:srgbClr val="1E293B"/>
                </a:solidFill>
                <a:latin typeface="Calibri" pitchFamily="34" charset="0"/>
                <a:ea typeface="Calibri" pitchFamily="34" charset="-122"/>
                <a:cs typeface="Calibri" pitchFamily="34" charset="-120"/>
              </a:rPr>
              <a:t>The person who guards prisoners in a jail or dungeon.</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advanced  </a:t>
            </a:r>
            <a:pPr indent="0" marL="0">
              <a:buNone/>
            </a:pPr>
            <a:r>
              <a:rPr lang="en-US" sz="1400" dirty="0">
                <a:solidFill>
                  <a:srgbClr val="1E293B"/>
                </a:solidFill>
                <a:latin typeface="Calibri" pitchFamily="34" charset="0"/>
                <a:ea typeface="Calibri" pitchFamily="34" charset="-122"/>
                <a:cs typeface="Calibri" pitchFamily="34" charset="-120"/>
              </a:rPr>
              <a:t>Moved forward, especially toward someone.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Both sentences say the same thing. The author punctuated them differently. Look at the marks, not the words.</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Find the comma in each sentence. Is it inside the quotation marks or outside?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One of the sentences has a lowercase word right after a quotation mark. Why is it not capitalized?</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What has to change when the speaker's name moves to the front?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Both sentences say the same thing. The author punctuated them differently. Look at the marks, not the words.</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When a character speaks, the words they say go inside quotation marks. A comma separates the spoken words from the tag that says who spoke — and that comma goes inside the closing quotation mark.</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The comma sits inside the quotation marks, and said is not capitalized.</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When the tag comes first, the comma goes after it and the spoken words start with a capital.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“Carry the basket”, said Roscuro.</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said “I want to be a princess.”</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“i am hungry,” the prince said.</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said, “That is soup you are smelling.</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Each sentence has exactly one mistake. This time nobody tells you what kind. Tap the word that is wrong.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PUNCTUATING DIALOGUE</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“Carry the </a:t>
            </a:r>
            <a:pPr indent="0" marL="0">
              <a:buNone/>
            </a:pPr>
            <a:r>
              <a:rPr lang="en-US" sz="1600" b="1" dirty="0">
                <a:solidFill>
                  <a:srgbClr val="34B76F"/>
                </a:solidFill>
                <a:latin typeface="Calibri" pitchFamily="34" charset="0"/>
                <a:ea typeface="Calibri" pitchFamily="34" charset="-122"/>
                <a:cs typeface="Calibri" pitchFamily="34" charset="-120"/>
              </a:rPr>
              <a:t>basket”,</a:t>
            </a:r>
            <a:pPr indent="0" marL="0">
              <a:buNone/>
            </a:pPr>
            <a:r>
              <a:rPr lang="en-US" sz="1600" dirty="0">
                <a:solidFill>
                  <a:srgbClr val="1E293B"/>
                </a:solidFill>
                <a:latin typeface="Calibri" pitchFamily="34" charset="0"/>
                <a:ea typeface="Calibri" pitchFamily="34" charset="-122"/>
                <a:cs typeface="Calibri" pitchFamily="34" charset="-120"/>
              </a:rPr>
              <a:t> said Roscuro.</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a:t>
            </a:r>
            <a:pPr indent="0" marL="0">
              <a:buNone/>
            </a:pPr>
            <a:r>
              <a:rPr lang="en-US" sz="1600" b="1" dirty="0">
                <a:solidFill>
                  <a:srgbClr val="34B76F"/>
                </a:solidFill>
                <a:latin typeface="Calibri" pitchFamily="34" charset="0"/>
                <a:ea typeface="Calibri" pitchFamily="34" charset="-122"/>
                <a:cs typeface="Calibri" pitchFamily="34" charset="-120"/>
              </a:rPr>
              <a:t>said</a:t>
            </a:r>
            <a:pPr indent="0" marL="0">
              <a:buNone/>
            </a:pPr>
            <a:r>
              <a:rPr lang="en-US" sz="1600" dirty="0">
                <a:solidFill>
                  <a:srgbClr val="1E293B"/>
                </a:solidFill>
                <a:latin typeface="Calibri" pitchFamily="34" charset="0"/>
                <a:ea typeface="Calibri" pitchFamily="34" charset="-122"/>
                <a:cs typeface="Calibri" pitchFamily="34" charset="-120"/>
              </a:rPr>
              <a:t> “I want to be a princess.”</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“i</a:t>
            </a:r>
            <a:pPr indent="0" marL="0">
              <a:buNone/>
            </a:pPr>
            <a:r>
              <a:rPr lang="en-US" sz="1600" dirty="0">
                <a:solidFill>
                  <a:srgbClr val="1E293B"/>
                </a:solidFill>
                <a:latin typeface="Calibri" pitchFamily="34" charset="0"/>
                <a:ea typeface="Calibri" pitchFamily="34" charset="-122"/>
                <a:cs typeface="Calibri" pitchFamily="34" charset="-120"/>
              </a:rPr>
              <a:t> am hungry,” the prince said.</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said, “That is soup you are </a:t>
            </a:r>
            <a:pPr indent="0" marL="0">
              <a:buNone/>
            </a:pPr>
            <a:r>
              <a:rPr lang="en-US" sz="1600" b="1" dirty="0">
                <a:solidFill>
                  <a:srgbClr val="34B76F"/>
                </a:solidFill>
                <a:latin typeface="Calibri" pitchFamily="34" charset="0"/>
                <a:ea typeface="Calibri" pitchFamily="34" charset="-122"/>
                <a:cs typeface="Calibri" pitchFamily="34" charset="-120"/>
              </a:rPr>
              <a:t>smelling.</a:t>
            </a:r>
            <a:endParaRPr lang="en-US" sz="1600" dirty="0"/>
          </a:p>
        </p:txBody>
      </p:sp>
      <p:sp>
        <p:nvSpPr>
          <p:cNvPr id="13" name="Text 11"/>
          <p:cNvSpPr/>
          <p:nvPr/>
        </p:nvSpPr>
        <p:spPr>
          <a:xfrm>
            <a:off x="365760" y="4050792"/>
            <a:ext cx="8412480" cy="841248"/>
          </a:xfrm>
          <a:prstGeom prst="rect">
            <a:avLst/>
          </a:prstGeom>
          <a:noFill/>
          <a:ln/>
        </p:spPr>
        <p:txBody>
          <a:bodyPr wrap="square" lIns="0" tIns="0" rIns="0" bIns="0" rtlCol="0" anchor="t">
            <a:normAutofit/>
          </a:bodyPr>
          <a:lstStyle/>
          <a:p>
            <a:pPr indent="0" marL="0">
              <a:buNone/>
            </a:pPr>
            <a:r>
              <a:rPr lang="en-US" sz="1200" dirty="0">
                <a:solidFill>
                  <a:srgbClr val="34B76F"/>
                </a:solidFill>
                <a:latin typeface="Calibri" pitchFamily="34" charset="0"/>
                <a:ea typeface="Calibri" pitchFamily="34" charset="-122"/>
                <a:cs typeface="Calibri" pitchFamily="34" charset="-120"/>
              </a:rPr>
              <a:t>basket”, → basket,” The comma goes inside the closing quotation mark.</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said → said, A comma is needed before the speech begins.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“i → “I Speech starts with a capital letter, just like a sentence.</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smelling. → smelling.” The closing quotation mark is missing altogether.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MULTISYLLABIC WORDS WITH FAMILIAR SUFFIXES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Long words get short fast when you find the base word first, then peel off the suffix: darkness = dark + -ness. Suffixes that start with a consonant (-ful, -less, -ly, -ness) usually leave the base alone.</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Find the Base Dice! Roll a word, say it out loud, decide — then tap to check yourself.</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37–38</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“But as soon as the princess said this, her mother was gone. She disappeared and the bowl and the soupspoon disappeared along with her.”</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The king sees his daughter. What does this moment represent beyond the physical reunion?</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The story ties up. Who gets what they deserve — and who does not? Is that fair?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REVISE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Final description polish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