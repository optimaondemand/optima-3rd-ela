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3.4. Reading: Whole Book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Give students a moment to think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of sustained writing. Stamina over polish. Do not correct spelling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fix only. Editing is conventions; revision is ideas. Name which one you are asking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or three volunteers. Praise something specific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lens: Good readers pay attention to how events affect characters . When something important happens, it changes what a character feels, thinks, or decides to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Corrected: 
Look for: “Stanley, I want to be round again ,” he cried . “ I don’t want to be flat anymore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Corrected: 
Look for: “Stanley, I want to be round again ,” he cried . “ I don’t want to be flat anymore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word into base + word part. Ask what the part adds to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word appears in the chapters read this week, in the author’s own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envelope, Arthur, policemen, Stanley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envelope, Arthur, policemen, Stanley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chapters, then return to the pause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stage for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0" y="822960"/>
            <a:ext cx="914400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3" name="Text 1"/>
          <p:cNvSpPr/>
          <p:nvPr/>
        </p:nvSpPr>
        <p:spPr>
          <a:xfrm>
            <a:off x="457200" y="1691640"/>
            <a:ext cx="8229600" cy="566928"/>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Flat Stanley</a:t>
            </a:r>
            <a:endParaRPr lang="en-US" sz="3400" dirty="0"/>
          </a:p>
        </p:txBody>
      </p:sp>
      <p:sp>
        <p:nvSpPr>
          <p:cNvPr id="4" name="Text 2"/>
          <p:cNvSpPr/>
          <p:nvPr/>
        </p:nvSpPr>
        <p:spPr>
          <a:xfrm>
            <a:off x="457200" y="2331720"/>
            <a:ext cx="8229600" cy="411480"/>
          </a:xfrm>
          <a:prstGeom prst="rect">
            <a:avLst/>
          </a:prstGeom>
          <a:noFill/>
          <a:ln/>
        </p:spPr>
        <p:txBody>
          <a:bodyPr wrap="square" lIns="0" tIns="0" rIns="0" bIns="0" rtlCol="0" anchor="ctr"/>
          <a:lstStyle/>
          <a:p>
            <a:pPr algn="ctr" indent="0" marL="0">
              <a:buNone/>
            </a:pPr>
            <a:r>
              <a:rPr lang="en-US" sz="2000" dirty="0">
                <a:solidFill>
                  <a:srgbClr val="55C8E8"/>
                </a:solidFill>
                <a:latin typeface="Calibri" pitchFamily="34" charset="0"/>
                <a:ea typeface="Calibri" pitchFamily="34" charset="-122"/>
                <a:cs typeface="Calibri" pitchFamily="34" charset="-120"/>
              </a:rPr>
              <a:t>Lesson 3.4  ·  Whole Book Review</a:t>
            </a:r>
            <a:endParaRPr lang="en-US" sz="2000" dirty="0"/>
          </a:p>
        </p:txBody>
      </p:sp>
      <p:sp>
        <p:nvSpPr>
          <p:cNvPr id="5" name="Text 3"/>
          <p:cNvSpPr/>
          <p:nvPr/>
        </p:nvSpPr>
        <p:spPr>
          <a:xfrm>
            <a:off x="457200" y="2880360"/>
            <a:ext cx="8229600" cy="320040"/>
          </a:xfrm>
          <a:prstGeom prst="rect">
            <a:avLst/>
          </a:prstGeom>
          <a:noFill/>
          <a:ln/>
        </p:spPr>
        <p:txBody>
          <a:bodyPr wrap="square" lIns="0" tIns="0" rIns="0" bIns="0" rtlCol="0" anchor="ctr"/>
          <a:lstStyle/>
          <a:p>
            <a:pPr algn="ctr" indent="0" marL="0">
              <a:buNone/>
            </a:pPr>
            <a:r>
              <a:rPr lang="en-US" sz="1400" dirty="0">
                <a:solidFill>
                  <a:srgbClr val="C9BCE4"/>
                </a:solidFill>
                <a:latin typeface="Calibri" pitchFamily="34" charset="0"/>
                <a:ea typeface="Calibri" pitchFamily="34" charset="-122"/>
                <a:cs typeface="Calibri" pitchFamily="34" charset="-120"/>
              </a:rPr>
              <a:t>Grade 3 ELA  ·  Virtue: Courage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10-Minute Write</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READ THE PROMPT — 1 MINUTE</a:t>
            </a:r>
            <a:endParaRPr lang="en-US" sz="1100" dirty="0"/>
          </a:p>
        </p:txBody>
      </p:sp>
      <p:sp>
        <p:nvSpPr>
          <p:cNvPr id="5" name="Shape 3"/>
          <p:cNvSpPr/>
          <p:nvPr/>
        </p:nvSpPr>
        <p:spPr>
          <a:xfrm>
            <a:off x="365760" y="1143000"/>
            <a:ext cx="8412480" cy="1737360"/>
          </a:xfrm>
          <a:prstGeom prst="roundRect">
            <a:avLst>
              <a:gd name="adj" fmla="val 5263"/>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71016"/>
            <a:ext cx="7955280" cy="14813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Which part of Flat Stanley would you tell a friend about first? Write about why that part.</a:t>
            </a:r>
            <a:endParaRPr lang="en-US" sz="1700" dirty="0"/>
          </a:p>
        </p:txBody>
      </p:sp>
      <p:sp>
        <p:nvSpPr>
          <p:cNvPr id="7" name="Text 5"/>
          <p:cNvSpPr/>
          <p:nvPr/>
        </p:nvSpPr>
        <p:spPr>
          <a:xfrm>
            <a:off x="365760" y="3063240"/>
            <a:ext cx="8412480" cy="36576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Think first. You will have five minutes to write.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Writing Time</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5 minutes — keep your pencil moving!</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YOUR PROMPT</a:t>
            </a:r>
            <a:endParaRPr lang="en-US" sz="1100" dirty="0"/>
          </a:p>
        </p:txBody>
      </p:sp>
      <p:sp>
        <p:nvSpPr>
          <p:cNvPr id="6" name="Shape 4"/>
          <p:cNvSpPr/>
          <p:nvPr/>
        </p:nvSpPr>
        <p:spPr>
          <a:xfrm>
            <a:off x="365760" y="1737360"/>
            <a:ext cx="8412480" cy="1417320"/>
          </a:xfrm>
          <a:prstGeom prst="roundRect">
            <a:avLst>
              <a:gd name="adj" fmla="val 6452"/>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65376"/>
            <a:ext cx="7955280" cy="11612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Which part of Flat Stanley would you tell a friend about first? Write about why that part.</a:t>
            </a:r>
            <a:endParaRPr lang="en-US" sz="1700" dirty="0"/>
          </a:p>
        </p:txBody>
      </p:sp>
      <p:sp>
        <p:nvSpPr>
          <p:cNvPr id="8" name="Text 6"/>
          <p:cNvSpPr/>
          <p:nvPr/>
        </p:nvSpPr>
        <p:spPr>
          <a:xfrm>
            <a:off x="365760" y="3291840"/>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Do not stop to erase. If you get stuck, write the last word again and keep going.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Edit &amp; Revise</a:t>
            </a:r>
            <a:endParaRPr lang="en-US" sz="2200" dirty="0"/>
          </a:p>
        </p:txBody>
      </p:sp>
      <p:sp>
        <p:nvSpPr>
          <p:cNvPr id="4" name="Text 2"/>
          <p:cNvSpPr/>
          <p:nvPr/>
        </p:nvSpPr>
        <p:spPr>
          <a:xfrm>
            <a:off x="365760" y="868680"/>
            <a:ext cx="8412480" cy="457200"/>
          </a:xfrm>
          <a:prstGeom prst="rect">
            <a:avLst/>
          </a:prstGeom>
          <a:noFill/>
          <a:ln/>
        </p:spPr>
        <p:txBody>
          <a:bodyPr wrap="square" lIns="0" tIns="0" rIns="0" bIns="0" rtlCol="0" anchor="ctr"/>
          <a:lstStyle/>
          <a:p>
            <a:pPr indent="0" marL="0">
              <a:buNone/>
            </a:pPr>
            <a:r>
              <a:rPr lang="en-US" sz="2400" b="1" dirty="0">
                <a:solidFill>
                  <a:srgbClr val="0E1C42"/>
                </a:solidFill>
                <a:latin typeface="Calibri" pitchFamily="34" charset="0"/>
                <a:ea typeface="Calibri" pitchFamily="34" charset="-122"/>
                <a:cs typeface="Calibri" pitchFamily="34" charset="-120"/>
              </a:rPr>
              <a:t>1 minute — pick ONE thing to fix.</a:t>
            </a:r>
            <a:endParaRPr lang="en-US" sz="2400" dirty="0"/>
          </a:p>
        </p:txBody>
      </p:sp>
      <p:sp>
        <p:nvSpPr>
          <p:cNvPr id="5" name="Text 3"/>
          <p:cNvSpPr/>
          <p:nvPr/>
        </p:nvSpPr>
        <p:spPr>
          <a:xfrm>
            <a:off x="365760" y="141732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TODAY'S EDIT FOCUS</a:t>
            </a:r>
            <a:endParaRPr lang="en-US" sz="1100" dirty="0"/>
          </a:p>
        </p:txBody>
      </p:sp>
      <p:sp>
        <p:nvSpPr>
          <p:cNvPr id="6" name="Shape 4"/>
          <p:cNvSpPr/>
          <p:nvPr/>
        </p:nvSpPr>
        <p:spPr>
          <a:xfrm>
            <a:off x="365760" y="1691640"/>
            <a:ext cx="841248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965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Did I read my writing out loud to check that it makes sense?</a:t>
            </a:r>
            <a:endParaRPr lang="en-US" sz="1700" dirty="0"/>
          </a:p>
        </p:txBody>
      </p:sp>
      <p:sp>
        <p:nvSpPr>
          <p:cNvPr id="8" name="Text 6"/>
          <p:cNvSpPr/>
          <p:nvPr/>
        </p:nvSpPr>
        <p:spPr>
          <a:xfrm>
            <a:off x="365760" y="2651760"/>
            <a:ext cx="841248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Quick check:  </a:t>
            </a:r>
            <a:pPr indent="0" marL="0">
              <a:buNone/>
            </a:pPr>
            <a:r>
              <a:rPr lang="en-US" sz="1500" dirty="0">
                <a:solidFill>
                  <a:srgbClr val="1E293B"/>
                </a:solidFill>
                <a:latin typeface="Calibri" pitchFamily="34" charset="0"/>
                <a:ea typeface="Calibri" pitchFamily="34" charset="-122"/>
                <a:cs typeface="Calibri" pitchFamily="34" charset="-120"/>
              </a:rPr>
              <a:t>capitals  ·  end punctuation  ·  circle a word you are unsure of  ·  read it aloud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Share Time</a:t>
            </a:r>
            <a:endParaRPr lang="en-US" sz="2200" dirty="0"/>
          </a:p>
        </p:txBody>
      </p:sp>
      <p:sp>
        <p:nvSpPr>
          <p:cNvPr id="4" name="Text 2"/>
          <p:cNvSpPr/>
          <p:nvPr/>
        </p:nvSpPr>
        <p:spPr>
          <a:xfrm>
            <a:off x="365760" y="1005840"/>
            <a:ext cx="8412480" cy="54864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3 minutes — let's hear your writing!</a:t>
            </a:r>
            <a:endParaRPr lang="en-US" sz="2600" dirty="0"/>
          </a:p>
        </p:txBody>
      </p:sp>
      <p:sp>
        <p:nvSpPr>
          <p:cNvPr id="5" name="Text 3"/>
          <p:cNvSpPr/>
          <p:nvPr/>
        </p:nvSpPr>
        <p:spPr>
          <a:xfrm>
            <a:off x="365760" y="1691640"/>
            <a:ext cx="8412480" cy="457200"/>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Raise your hand  ·  paste it in the chat  ·  or hold your paper up to the camera</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Today</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READING</a:t>
            </a:r>
            <a:endParaRPr lang="en-US" sz="1100" dirty="0"/>
          </a:p>
        </p:txBody>
      </p:sp>
      <p:sp>
        <p:nvSpPr>
          <p:cNvPr id="5" name="Text 3"/>
          <p:cNvSpPr/>
          <p:nvPr/>
        </p:nvSpPr>
        <p:spPr>
          <a:xfrm>
            <a:off x="365760" y="1014984"/>
            <a:ext cx="84124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Whole Book Review</a:t>
            </a:r>
            <a:endParaRPr lang="en-US" sz="2000" dirty="0"/>
          </a:p>
        </p:txBody>
      </p:sp>
      <p:sp>
        <p:nvSpPr>
          <p:cNvPr id="6" name="Text 4"/>
          <p:cNvSpPr/>
          <p:nvPr/>
        </p:nvSpPr>
        <p:spPr>
          <a:xfrm>
            <a:off x="365760" y="15087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BIG QUESTION</a:t>
            </a:r>
            <a:endParaRPr lang="en-US" sz="1100" dirty="0"/>
          </a:p>
        </p:txBody>
      </p:sp>
      <p:sp>
        <p:nvSpPr>
          <p:cNvPr id="7" name="Shape 5"/>
          <p:cNvSpPr/>
          <p:nvPr/>
        </p:nvSpPr>
        <p:spPr>
          <a:xfrm>
            <a:off x="365760" y="1746504"/>
            <a:ext cx="8412480" cy="731520"/>
          </a:xfrm>
          <a:prstGeom prst="roundRect">
            <a:avLst>
              <a:gd name="adj" fmla="val 12500"/>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1874520"/>
            <a:ext cx="7955280" cy="4754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Stop after Arthur digs the old bicycle pump out of the storage box. Arthur has been jealous of Stanley since Chapter 2. What changed him into the brother who fixes things?</a:t>
            </a:r>
            <a:endParaRPr lang="en-US" sz="1700" dirty="0"/>
          </a:p>
        </p:txBody>
      </p:sp>
      <p:sp>
        <p:nvSpPr>
          <p:cNvPr id="9" name="Text 7"/>
          <p:cNvSpPr/>
          <p:nvPr/>
        </p:nvSpPr>
        <p:spPr>
          <a:xfrm>
            <a:off x="365760" y="260604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READING LENS</a:t>
            </a:r>
            <a:endParaRPr lang="en-US" sz="1100" dirty="0"/>
          </a:p>
        </p:txBody>
      </p:sp>
      <p:sp>
        <p:nvSpPr>
          <p:cNvPr id="10" name="Text 8"/>
          <p:cNvSpPr/>
          <p:nvPr/>
        </p:nvSpPr>
        <p:spPr>
          <a:xfrm>
            <a:off x="365760" y="2843784"/>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Good readers pay attention to how events affect characters . When something important happens, it changes what a character feels, thinks, or decides to do next.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FIX THESE SENTENCES</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“GEORGE!” said Mrs. Lambchop. “Stanley’s round again! And Arthur did it!”</a:t>
            </a:r>
            <a:endParaRPr lang="en-US" sz="1700" dirty="0"/>
          </a:p>
        </p:txBody>
      </p:sp>
      <p:sp>
        <p:nvSpPr>
          <p:cNvPr id="7" name="Shape 5"/>
          <p:cNvSpPr/>
          <p:nvPr/>
        </p:nvSpPr>
        <p:spPr>
          <a:xfrm>
            <a:off x="365760" y="1874520"/>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200253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stanley i want to be round again he cried i dont want to be flat anymore</a:t>
            </a:r>
            <a:endParaRPr lang="en-US" sz="1700" dirty="0"/>
          </a:p>
        </p:txBody>
      </p:sp>
      <p:sp>
        <p:nvSpPr>
          <p:cNvPr id="9" name="Text 7"/>
          <p:cNvSpPr/>
          <p:nvPr/>
        </p:nvSpPr>
        <p:spPr>
          <a:xfrm>
            <a:off x="365760" y="2788920"/>
            <a:ext cx="8412480" cy="36576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Rewrite both sentences correctly in your notebook.</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FIX THESE SENTENCES</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“GEORGE!” said Mrs. Lambchop. “Stanley’s round again! And Arthur did it!”</a:t>
            </a:r>
            <a:endParaRPr lang="en-US" sz="1700" dirty="0"/>
          </a:p>
        </p:txBody>
      </p:sp>
      <p:sp>
        <p:nvSpPr>
          <p:cNvPr id="7" name="Shape 5"/>
          <p:cNvSpPr/>
          <p:nvPr/>
        </p:nvSpPr>
        <p:spPr>
          <a:xfrm>
            <a:off x="365760" y="1874520"/>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200253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stanley i want to be round again he cried i dont want to be flat anymore</a:t>
            </a:r>
            <a:endParaRPr lang="en-US" sz="1700" dirty="0"/>
          </a:p>
        </p:txBody>
      </p:sp>
      <p:sp>
        <p:nvSpPr>
          <p:cNvPr id="9" name="Shape 7"/>
          <p:cNvSpPr/>
          <p:nvPr/>
        </p:nvSpPr>
        <p:spPr>
          <a:xfrm>
            <a:off x="365760" y="2743200"/>
            <a:ext cx="8412480" cy="1417320"/>
          </a:xfrm>
          <a:prstGeom prst="roundRect">
            <a:avLst>
              <a:gd name="adj" fmla="val 6452"/>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66928" y="2816352"/>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1" name="Text 9"/>
          <p:cNvSpPr/>
          <p:nvPr/>
        </p:nvSpPr>
        <p:spPr>
          <a:xfrm>
            <a:off x="566928" y="3072384"/>
            <a:ext cx="8010144" cy="68580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Corrected:</a:t>
            </a:r>
            <a:endParaRPr lang="en-US" sz="1400" dirty="0"/>
          </a:p>
          <a:p>
            <a:pPr indent="0" marL="0">
              <a:buNone/>
            </a:pPr>
            <a:endParaRPr lang="en-US" sz="1400" dirty="0"/>
          </a:p>
        </p:txBody>
      </p:sp>
      <p:sp>
        <p:nvSpPr>
          <p:cNvPr id="12" name="Text 10"/>
          <p:cNvSpPr/>
          <p:nvPr/>
        </p:nvSpPr>
        <p:spPr>
          <a:xfrm>
            <a:off x="566928" y="3767328"/>
            <a:ext cx="8010144"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“Stanley, I want to be round again ,” he cried . “ I don’t want to be flat anymore !”</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Morphology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PREFIX UN- MEANS NOT</a:t>
            </a:r>
            <a:endParaRPr lang="en-US" sz="1100" dirty="0"/>
          </a:p>
        </p:txBody>
      </p:sp>
      <p:sp>
        <p:nvSpPr>
          <p:cNvPr id="5" name="Shape 3"/>
          <p:cNvSpPr/>
          <p:nvPr/>
        </p:nvSpPr>
        <p:spPr>
          <a:xfrm>
            <a:off x="365760" y="1097280"/>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16152"/>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un- means not . When you add un- to a word, it means the opposite!</a:t>
            </a:r>
            <a:endParaRPr lang="en-US" sz="1500" dirty="0"/>
          </a:p>
        </p:txBody>
      </p:sp>
      <p:sp>
        <p:nvSpPr>
          <p:cNvPr id="7" name="Shape 5"/>
          <p:cNvSpPr/>
          <p:nvPr/>
        </p:nvSpPr>
        <p:spPr>
          <a:xfrm>
            <a:off x="365760" y="1792224"/>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11096"/>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unhappy = not happy · unfair = not fair · unsafe = not safe</a:t>
            </a:r>
            <a:endParaRPr lang="en-US" sz="1500" dirty="0"/>
          </a:p>
        </p:txBody>
      </p:sp>
      <p:sp>
        <p:nvSpPr>
          <p:cNvPr id="9" name="Shape 7"/>
          <p:cNvSpPr/>
          <p:nvPr/>
        </p:nvSpPr>
        <p:spPr>
          <a:xfrm>
            <a:off x="365760" y="2487168"/>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06040"/>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Dice Roll Challenge! Roll the dice to get a word. Then explain what the un- prefix does to change its meaning.</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Vocabulary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THIS WEEK'S WORDS</a:t>
            </a:r>
            <a:endParaRPr lang="en-US" sz="1100" dirty="0"/>
          </a:p>
        </p:txBody>
      </p:sp>
      <p:sp>
        <p:nvSpPr>
          <p:cNvPr id="5" name="Shape 3"/>
          <p:cNvSpPr/>
          <p:nvPr/>
        </p:nvSpPr>
        <p:spPr>
          <a:xfrm>
            <a:off x="365760" y="109728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gloomy  </a:t>
            </a:r>
            <a:pPr indent="0" marL="0">
              <a:buNone/>
            </a:pPr>
            <a:r>
              <a:rPr lang="en-US" sz="1400" dirty="0">
                <a:solidFill>
                  <a:srgbClr val="1E293B"/>
                </a:solidFill>
                <a:latin typeface="Calibri" pitchFamily="34" charset="0"/>
                <a:ea typeface="Calibri" pitchFamily="34" charset="-122"/>
                <a:cs typeface="Calibri" pitchFamily="34" charset="-120"/>
              </a:rPr>
              <a:t>Sad and dark, without hope.</a:t>
            </a:r>
            <a:endParaRPr lang="en-US" sz="1700" dirty="0"/>
          </a:p>
        </p:txBody>
      </p:sp>
      <p:sp>
        <p:nvSpPr>
          <p:cNvPr id="7" name="Shape 5"/>
          <p:cNvSpPr/>
          <p:nvPr/>
        </p:nvSpPr>
        <p:spPr>
          <a:xfrm>
            <a:off x="365760" y="18288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brave  </a:t>
            </a:r>
            <a:pPr indent="0" marL="0">
              <a:buNone/>
            </a:pPr>
            <a:r>
              <a:rPr lang="en-US" sz="1400" dirty="0">
                <a:solidFill>
                  <a:srgbClr val="1E293B"/>
                </a:solidFill>
                <a:latin typeface="Calibri" pitchFamily="34" charset="0"/>
                <a:ea typeface="Calibri" pitchFamily="34" charset="-122"/>
                <a:cs typeface="Calibri" pitchFamily="34" charset="-120"/>
              </a:rPr>
              <a:t>Ready to face something scary or hard.</a:t>
            </a:r>
            <a:endParaRPr lang="en-US" sz="1700" dirty="0"/>
          </a:p>
        </p:txBody>
      </p:sp>
      <p:sp>
        <p:nvSpPr>
          <p:cNvPr id="9" name="Shape 7"/>
          <p:cNvSpPr/>
          <p:nvPr/>
        </p:nvSpPr>
        <p:spPr>
          <a:xfrm>
            <a:off x="365760" y="256032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pump  </a:t>
            </a:r>
            <a:pPr indent="0" marL="0">
              <a:buNone/>
            </a:pPr>
            <a:r>
              <a:rPr lang="en-US" sz="1400" dirty="0">
                <a:solidFill>
                  <a:srgbClr val="1E293B"/>
                </a:solidFill>
                <a:latin typeface="Calibri" pitchFamily="34" charset="0"/>
                <a:ea typeface="Calibri" pitchFamily="34" charset="-122"/>
                <a:cs typeface="Calibri" pitchFamily="34" charset="-120"/>
              </a:rPr>
              <a:t>A tool that pushes air into something.</a:t>
            </a:r>
            <a:endParaRPr lang="en-US" sz="1700" dirty="0"/>
          </a:p>
        </p:txBody>
      </p:sp>
      <p:sp>
        <p:nvSpPr>
          <p:cNvPr id="11" name="Shape 9"/>
          <p:cNvSpPr/>
          <p:nvPr/>
        </p:nvSpPr>
        <p:spPr>
          <a:xfrm>
            <a:off x="365760" y="329184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celebrate  </a:t>
            </a:r>
            <a:pPr indent="0" marL="0">
              <a:buNone/>
            </a:pPr>
            <a:r>
              <a:rPr lang="en-US" sz="1400" dirty="0">
                <a:solidFill>
                  <a:srgbClr val="1E293B"/>
                </a:solidFill>
                <a:latin typeface="Calibri" pitchFamily="34" charset="0"/>
                <a:ea typeface="Calibri" pitchFamily="34" charset="-122"/>
                <a:cs typeface="Calibri" pitchFamily="34" charset="-120"/>
              </a:rPr>
              <a:t>To do something special because of good news.</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SUBJECT AND PREDICATE</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envelope travelled all the way to California.</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Arthur was jealous of his brother.</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policemen listened to the rule.</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Stanley became famous for a while.</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Your turn. Tap the subject . Be ready to say what the predicate tells you. Tap to check — green means you got it.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SUBJECT AND PREDICATE</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a:t>
            </a:r>
            <a:pPr indent="0" marL="0">
              <a:buNone/>
            </a:pPr>
            <a:r>
              <a:rPr lang="en-US" sz="1600" b="1" dirty="0">
                <a:solidFill>
                  <a:srgbClr val="34B76F"/>
                </a:solidFill>
                <a:latin typeface="Calibri" pitchFamily="34" charset="0"/>
                <a:ea typeface="Calibri" pitchFamily="34" charset="-122"/>
                <a:cs typeface="Calibri" pitchFamily="34" charset="-120"/>
              </a:rPr>
              <a:t>envelope</a:t>
            </a:r>
            <a:pPr indent="0" marL="0">
              <a:buNone/>
            </a:pPr>
            <a:r>
              <a:rPr lang="en-US" sz="1600" dirty="0">
                <a:solidFill>
                  <a:srgbClr val="1E293B"/>
                </a:solidFill>
                <a:latin typeface="Calibri" pitchFamily="34" charset="0"/>
                <a:ea typeface="Calibri" pitchFamily="34" charset="-122"/>
                <a:cs typeface="Calibri" pitchFamily="34" charset="-120"/>
              </a:rPr>
              <a:t> travelled all the way to California.</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b="1" dirty="0">
                <a:solidFill>
                  <a:srgbClr val="34B76F"/>
                </a:solidFill>
                <a:latin typeface="Calibri" pitchFamily="34" charset="0"/>
                <a:ea typeface="Calibri" pitchFamily="34" charset="-122"/>
                <a:cs typeface="Calibri" pitchFamily="34" charset="-120"/>
              </a:rPr>
              <a:t>Arthur</a:t>
            </a:r>
            <a:pPr indent="0" marL="0">
              <a:buNone/>
            </a:pPr>
            <a:r>
              <a:rPr lang="en-US" sz="1600" dirty="0">
                <a:solidFill>
                  <a:srgbClr val="1E293B"/>
                </a:solidFill>
                <a:latin typeface="Calibri" pitchFamily="34" charset="0"/>
                <a:ea typeface="Calibri" pitchFamily="34" charset="-122"/>
                <a:cs typeface="Calibri" pitchFamily="34" charset="-120"/>
              </a:rPr>
              <a:t> was jealous of his brother.</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a:t>
            </a:r>
            <a:pPr indent="0" marL="0">
              <a:buNone/>
            </a:pPr>
            <a:r>
              <a:rPr lang="en-US" sz="1600" b="1" dirty="0">
                <a:solidFill>
                  <a:srgbClr val="34B76F"/>
                </a:solidFill>
                <a:latin typeface="Calibri" pitchFamily="34" charset="0"/>
                <a:ea typeface="Calibri" pitchFamily="34" charset="-122"/>
                <a:cs typeface="Calibri" pitchFamily="34" charset="-120"/>
              </a:rPr>
              <a:t>policemen</a:t>
            </a:r>
            <a:pPr indent="0" marL="0">
              <a:buNone/>
            </a:pPr>
            <a:r>
              <a:rPr lang="en-US" sz="1600" dirty="0">
                <a:solidFill>
                  <a:srgbClr val="1E293B"/>
                </a:solidFill>
                <a:latin typeface="Calibri" pitchFamily="34" charset="0"/>
                <a:ea typeface="Calibri" pitchFamily="34" charset="-122"/>
                <a:cs typeface="Calibri" pitchFamily="34" charset="-120"/>
              </a:rPr>
              <a:t> listened to the rule.</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b="1" dirty="0">
                <a:solidFill>
                  <a:srgbClr val="34B76F"/>
                </a:solidFill>
                <a:latin typeface="Calibri" pitchFamily="34" charset="0"/>
                <a:ea typeface="Calibri" pitchFamily="34" charset="-122"/>
                <a:cs typeface="Calibri" pitchFamily="34" charset="-120"/>
              </a:rPr>
              <a:t>Stanley</a:t>
            </a:r>
            <a:pPr indent="0" marL="0">
              <a:buNone/>
            </a:pPr>
            <a:r>
              <a:rPr lang="en-US" sz="1600" dirty="0">
                <a:solidFill>
                  <a:srgbClr val="1E293B"/>
                </a:solidFill>
                <a:latin typeface="Calibri" pitchFamily="34" charset="0"/>
                <a:ea typeface="Calibri" pitchFamily="34" charset="-122"/>
                <a:cs typeface="Calibri" pitchFamily="34" charset="-120"/>
              </a:rPr>
              <a:t> became famous for a while.</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b="1" dirty="0">
                <a:solidFill>
                  <a:srgbClr val="34B76F"/>
                </a:solidFill>
                <a:latin typeface="Calibri" pitchFamily="34" charset="0"/>
                <a:ea typeface="Calibri" pitchFamily="34" charset="-122"/>
                <a:cs typeface="Calibri" pitchFamily="34" charset="-120"/>
              </a:rPr>
              <a:t>✅  Answers revealed</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Read</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Whole Book Review</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Text 4"/>
          <p:cNvSpPr/>
          <p:nvPr/>
        </p:nvSpPr>
        <p:spPr>
          <a:xfrm>
            <a:off x="365760" y="1719072"/>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Stop after Arthur digs the old bicycle pump out of the storage box. Arthur has been jealous of Stanley since Chapter 2. What changed him into the brother who fixes things?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Writer’s Workshop</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THIS WEEK’S STAGE</a:t>
            </a:r>
            <a:endParaRPr lang="en-US" sz="1100" dirty="0"/>
          </a:p>
        </p:txBody>
      </p:sp>
      <p:sp>
        <p:nvSpPr>
          <p:cNvPr id="5" name="Text 3"/>
          <p:cNvSpPr/>
          <p:nvPr/>
        </p:nvSpPr>
        <p:spPr>
          <a:xfrm>
            <a:off x="365760" y="1078992"/>
            <a:ext cx="8412480" cy="548640"/>
          </a:xfrm>
          <a:prstGeom prst="rect">
            <a:avLst/>
          </a:prstGeom>
          <a:noFill/>
          <a:ln/>
        </p:spPr>
        <p:txBody>
          <a:bodyPr wrap="square" lIns="0" tIns="0" rIns="0" bIns="0" rtlCol="0" anchor="ctr"/>
          <a:lstStyle/>
          <a:p>
            <a:pPr indent="0" marL="0">
              <a:buNone/>
            </a:pPr>
            <a:r>
              <a:rPr lang="en-US" sz="3000" b="1" dirty="0">
                <a:solidFill>
                  <a:srgbClr val="0E1C42"/>
                </a:solidFill>
                <a:latin typeface="Calibri" pitchFamily="34" charset="0"/>
                <a:ea typeface="Calibri" pitchFamily="34" charset="-122"/>
                <a:cs typeface="Calibri" pitchFamily="34" charset="-120"/>
              </a:rPr>
              <a:t>ADD CRAFT</a:t>
            </a:r>
            <a:endParaRPr lang="en-US" sz="3000" dirty="0"/>
          </a:p>
        </p:txBody>
      </p:sp>
      <p:sp>
        <p:nvSpPr>
          <p:cNvPr id="6" name="Text 4"/>
          <p:cNvSpPr/>
          <p:nvPr/>
        </p:nvSpPr>
        <p:spPr>
          <a:xfrm>
            <a:off x="365760" y="1691640"/>
            <a:ext cx="8412480" cy="457200"/>
          </a:xfrm>
          <a:prstGeom prst="rect">
            <a:avLst/>
          </a:prstGeom>
          <a:noFill/>
          <a:ln/>
        </p:spPr>
        <p:txBody>
          <a:bodyPr wrap="square" lIns="0" tIns="0" rIns="0" bIns="0" rtlCol="0" anchor="ctr"/>
          <a:lstStyle/>
          <a:p>
            <a:pPr indent="0" marL="0">
              <a:buNone/>
            </a:pPr>
            <a:r>
              <a:rPr lang="en-US" sz="1800" dirty="0">
                <a:solidFill>
                  <a:srgbClr val="1E293B"/>
                </a:solidFill>
                <a:latin typeface="Calibri" pitchFamily="34" charset="0"/>
                <a:ea typeface="Calibri" pitchFamily="34" charset="-122"/>
                <a:cs typeface="Calibri" pitchFamily="34" charset="-120"/>
              </a:rPr>
              <a:t>Add craft: sensory details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2026-09-08T13:30:00Z</dcterms:created>
  <dcterms:modified xsi:type="dcterms:W3CDTF">2026-09-08T13:30:00Z</dcterms:modified>
</cp:coreProperties>
</file>