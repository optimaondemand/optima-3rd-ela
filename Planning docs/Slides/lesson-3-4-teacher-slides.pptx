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3 Day 4. Flat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give a real reason for my choice, not just say 'because it would be fun'?.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8A317"/>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3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F5D76E"/>
                </a:solidFill>
                <a:latin typeface="Calibri" pitchFamily="34" charset="0"/>
                <a:ea typeface="Calibri" pitchFamily="34" charset="-122"/>
                <a:cs typeface="Calibri" pitchFamily="34" charset="-120"/>
              </a:rPr>
              <a:t>Flat Stanley — Lesson 3.4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had to choose: stay flat and keep the adventures, or go back to normal. If you had to give up something cool to go back to regular life, would you do it? Why or why not? Start with: 'If I were Stanley, I would choose to... because...'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Stanley had to choose: stay flat and keep the adventures, or go back to normal. If you had to give up something cool to go back to regular life, would you do it? Why or why not? Start with: 'If I were Stanley, I would choose to... because...'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give a real reason for my choice, not just say 'because it would be fun'?</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Think about Stanley at the beginning vs. the end. What is the most important thing that happened in this whole book?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“GEORGE!” said Mrs. Lambchop. “Stanley’s round again! And Arthur did it!”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 had been a long and tiring day and very soon all the lambchops were fast asleep</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 had been a long and tiring day and very soon all the lambchops were fast asleep</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It had been a long and tiring day , and very soon all the Lambchops were fast asleep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un- means not</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MATCH THE WORDS</a:t>
            </a:r>
            <a:endParaRPr lang="en-US" sz="1100" dirty="0"/>
          </a:p>
        </p:txBody>
      </p:sp>
      <p:sp>
        <p:nvSpPr>
          <p:cNvPr id="5" name="Shape 3"/>
          <p:cNvSpPr/>
          <p:nvPr/>
        </p:nvSpPr>
        <p:spPr>
          <a:xfrm>
            <a:off x="457200" y="1371600"/>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unroll → roll</a:t>
            </a:r>
            <a:endParaRPr lang="en-US" sz="1500" dirty="0"/>
          </a:p>
        </p:txBody>
      </p:sp>
      <p:sp>
        <p:nvSpPr>
          <p:cNvPr id="7" name="Shape 5"/>
          <p:cNvSpPr/>
          <p:nvPr/>
        </p:nvSpPr>
        <p:spPr>
          <a:xfrm>
            <a:off x="457200" y="1847088"/>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892808"/>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replay → play</a:t>
            </a:r>
            <a:endParaRPr lang="en-US" sz="1500" dirty="0"/>
          </a:p>
        </p:txBody>
      </p:sp>
      <p:sp>
        <p:nvSpPr>
          <p:cNvPr id="9" name="Shape 7"/>
          <p:cNvSpPr/>
          <p:nvPr/>
        </p:nvSpPr>
        <p:spPr>
          <a:xfrm>
            <a:off x="457200" y="2322576"/>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368296"/>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unkind → kind</a:t>
            </a:r>
            <a:endParaRPr lang="en-US" sz="1500" dirty="0"/>
          </a:p>
        </p:txBody>
      </p:sp>
      <p:sp>
        <p:nvSpPr>
          <p:cNvPr id="11" name="Shape 9"/>
          <p:cNvSpPr/>
          <p:nvPr/>
        </p:nvSpPr>
        <p:spPr>
          <a:xfrm>
            <a:off x="457200" y="2798064"/>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2843784"/>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rebuild → build</a:t>
            </a:r>
            <a:endParaRPr lang="en-US" sz="1500" dirty="0"/>
          </a:p>
        </p:txBody>
      </p:sp>
      <p:sp>
        <p:nvSpPr>
          <p:cNvPr id="13" name="Text 11"/>
          <p:cNvSpPr/>
          <p:nvPr/>
        </p:nvSpPr>
        <p:spPr>
          <a:xfrm>
            <a:off x="457200" y="327355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593592"/>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gloomy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Sad and dark, without hope.</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brave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Ready to face something scary or hard.</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pump</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tool that pushes air into something.</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celebrate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do something special because of good news.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Long vowels and silent-e review</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brave     kite     stone     frame     jump     think     shelf     cross</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Long vowels and silent-e review — Sorted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brave</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kite</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stone</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frame</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jump</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think</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shelf</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cross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did not mind much, being flat.”</a:t>
            </a:r>
            <a:endParaRPr lang="en-US" sz="1800" dirty="0"/>
          </a:p>
        </p:txBody>
      </p:sp>
      <p:sp>
        <p:nvSpPr>
          <p:cNvPr id="6" name="Shape 4"/>
          <p:cNvSpPr/>
          <p:nvPr/>
        </p:nvSpPr>
        <p:spPr>
          <a:xfrm>
            <a:off x="457200" y="164592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640080" y="169164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Now that you’ve read the whole book, think back. Did Stanley  really  not mind? When did he mind? When didn’t he? What does this sentence show about who Stanley is as a character?</a:t>
            </a:r>
            <a:endParaRPr lang="en-US" sz="1400" dirty="0"/>
          </a:p>
        </p:txBody>
      </p:sp>
      <p:sp>
        <p:nvSpPr>
          <p:cNvPr id="8" name="Shape 6"/>
          <p:cNvSpPr/>
          <p:nvPr/>
        </p:nvSpPr>
        <p:spPr>
          <a:xfrm>
            <a:off x="457200" y="230428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640080" y="235000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Notice how the author put  “being flat”  at the very end with a comma — almost like an afterthought. Compare:  “Being flat didn’t really bother Stanley.”  The author’s version tucks the most important detail at the end. How does that change how it feels?</a:t>
            </a:r>
            <a:endParaRPr lang="en-US" sz="1400" dirty="0"/>
          </a:p>
        </p:txBody>
      </p:sp>
      <p:sp>
        <p:nvSpPr>
          <p:cNvPr id="10" name="Shape 8"/>
          <p:cNvSpPr/>
          <p:nvPr/>
        </p:nvSpPr>
        <p:spPr>
          <a:xfrm>
            <a:off x="457200" y="296265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640080" y="300837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about something you don’t mind much — or something that does bother you — using the same pattern: [person] did not mind much, [doing or being something].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