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10 Day 3. The Tale of Despereaux.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write in a storytelling voice, not just a regular summary voice?.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vocabulary word. For flip cards, have students guess the definition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identify the correct answer before revealing. Use chat or cold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Discuss WHY each answer is correct — what rule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sort the words. Use the chat or paper to organize.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column. Ask: what pattern do you see in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RWM: Read the mentor sentence. Discuss as a Reader (what happens?), Writer (what craft did the author use?), then Mimic (write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1A6B"/>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10 · Day 3</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8B6FC0"/>
                </a:solidFill>
                <a:latin typeface="Calibri" pitchFamily="34" charset="0"/>
                <a:ea typeface="Calibri" pitchFamily="34" charset="-122"/>
                <a:cs typeface="Calibri" pitchFamily="34" charset="-120"/>
              </a:rPr>
              <a:t>The Tale of Despereaux — Lesson 10.3</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narrator in this book talks directly to the reader, saying things like 'Reader, I must tell you...' Pretend YOU are the narrator of your own life story. Tell the reader about something that happened to you recently. Use 'Reader' at least once. Start with: 'Reader, I have something to tell you...'</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The narrator in this book talks directly to the reader, saying things like 'Reader, I must tell you...' Pretend YOU are the narrator of your own life story. Tell the reader about something that happened to you recently. Use 'Reader' at least once. Start with: 'Reader, I have something to tell you...'</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write in a storytelling voice, not just a regular summary voice?</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What do Despereaux, Roscuro, and Mig each want right now?</a:t>
            </a:r>
            <a:endParaRPr lang="en-US" sz="1800" dirty="0"/>
          </a:p>
        </p:txBody>
      </p:sp>
      <p:sp>
        <p:nvSpPr>
          <p:cNvPr id="9" name="Shape 7"/>
          <p:cNvSpPr/>
          <p:nvPr/>
        </p:nvSpPr>
        <p:spPr>
          <a:xfrm>
            <a:off x="457200" y="196596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0756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How might their wants collide?</a:t>
            </a:r>
            <a:endParaRPr lang="en-US" sz="1800" dirty="0"/>
          </a:p>
        </p:txBody>
      </p:sp>
      <p:sp>
        <p:nvSpPr>
          <p:cNvPr id="11" name="Shape 9"/>
          <p:cNvSpPr/>
          <p:nvPr/>
        </p:nvSpPr>
        <p:spPr>
          <a:xfrm>
            <a:off x="457200" y="269748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640080" y="280720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Which character do you feel most sympathy for, and why?</a:t>
            </a:r>
            <a:endParaRPr lang="en-US" sz="1800" dirty="0"/>
          </a:p>
        </p:txBody>
      </p:sp>
      <p:sp>
        <p:nvSpPr>
          <p:cNvPr id="13" name="Text 11"/>
          <p:cNvSpPr/>
          <p:nvPr/>
        </p:nvSpPr>
        <p:spPr>
          <a:xfrm>
            <a:off x="45720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READING LENS</a:t>
            </a:r>
            <a:endParaRPr lang="en-US" sz="1100" dirty="0"/>
          </a:p>
        </p:txBody>
      </p:sp>
      <p:sp>
        <p:nvSpPr>
          <p:cNvPr id="14" name="Text 12"/>
          <p:cNvSpPr/>
          <p:nvPr/>
        </p:nvSpPr>
        <p:spPr>
          <a:xfrm>
            <a:off x="640080" y="3749040"/>
            <a:ext cx="7863840" cy="7315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explain different characters' perspectives . Each character sees the same events through their own eyes, wants, and fears.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1. miggery sow and roscuro moved together through the dark castle halls toward the princess</a:t>
            </a:r>
            <a:endParaRPr lang="en-US" sz="1800" dirty="0"/>
          </a:p>
        </p:txBody>
      </p:sp>
      <p:sp>
        <p:nvSpPr>
          <p:cNvPr id="8" name="Shape 6"/>
          <p:cNvSpPr/>
          <p:nvPr/>
        </p:nvSpPr>
        <p:spPr>
          <a:xfrm>
            <a:off x="457200" y="173736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18470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2. neither of them stopped to think about what the princess might want or how she might feel</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1. miggery sow and roscuro moved together through the dark castle halls toward the princess</a:t>
            </a:r>
            <a:endParaRPr lang="en-US" sz="1800" dirty="0"/>
          </a:p>
        </p:txBody>
      </p:sp>
      <p:sp>
        <p:nvSpPr>
          <p:cNvPr id="8" name="Shape 6"/>
          <p:cNvSpPr/>
          <p:nvPr/>
        </p:nvSpPr>
        <p:spPr>
          <a:xfrm>
            <a:off x="457200" y="173736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18470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2. neither of them stopped to think about what the princess might want or how she might feel</a:t>
            </a:r>
            <a:endParaRPr lang="en-US" sz="1800" dirty="0"/>
          </a:p>
        </p:txBody>
      </p:sp>
      <p:sp>
        <p:nvSpPr>
          <p:cNvPr id="10" name="Text 8"/>
          <p:cNvSpPr/>
          <p:nvPr/>
        </p:nvSpPr>
        <p:spPr>
          <a:xfrm>
            <a:off x="457200" y="24688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11" name="Text 9"/>
          <p:cNvSpPr/>
          <p:nvPr/>
        </p:nvSpPr>
        <p:spPr>
          <a:xfrm>
            <a:off x="640080" y="274320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1. Miggery Sow and Roscuro moved together through the dark castle halls toward the princess.</a:t>
            </a:r>
            <a:endParaRPr lang="en-US" sz="1300" dirty="0"/>
          </a:p>
        </p:txBody>
      </p:sp>
      <p:sp>
        <p:nvSpPr>
          <p:cNvPr id="12" name="Text 10"/>
          <p:cNvSpPr/>
          <p:nvPr/>
        </p:nvSpPr>
        <p:spPr>
          <a:xfrm>
            <a:off x="640080" y="329184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2. Neither of them stopped to think about what the princess might want or how she might feel.</a:t>
            </a:r>
            <a:endParaRPr lang="en-US" sz="1300" dirty="0"/>
          </a:p>
        </p:txBody>
      </p:sp>
      <p:sp>
        <p:nvSpPr>
          <p:cNvPr id="13" name="Text 11"/>
          <p:cNvSpPr/>
          <p:nvPr/>
        </p:nvSpPr>
        <p:spPr>
          <a:xfrm>
            <a:off x="640080" y="384048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Did you catch the proper nouns (Miggery Sow, Roscuro), capital letters, and the subject-verb agreement with "neither"?</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The Suffix  -ness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WORD BUILDING</a:t>
            </a:r>
            <a:endParaRPr lang="en-US" sz="1100" dirty="0"/>
          </a:p>
        </p:txBody>
      </p:sp>
      <p:sp>
        <p:nvSpPr>
          <p:cNvPr id="5" name="Shape 3"/>
          <p:cNvSpPr/>
          <p:nvPr/>
        </p:nvSpPr>
        <p:spPr>
          <a:xfrm>
            <a:off x="457200" y="1371600"/>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17320"/>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shine</a:t>
            </a:r>
            <a:pPr indent="0" marL="0">
              <a:buNone/>
            </a:pPr>
            <a:r>
              <a:rPr lang="en-US" sz="1400" dirty="0">
                <a:solidFill>
                  <a:srgbClr val="64748B"/>
                </a:solidFill>
                <a:latin typeface="Calibri" pitchFamily="34" charset="0"/>
                <a:ea typeface="Calibri" pitchFamily="34" charset="-122"/>
                <a:cs typeface="Calibri" pitchFamily="34" charset="-120"/>
              </a:rPr>
              <a:t>  ·  shin ing  (the sun was shining)</a:t>
            </a:r>
            <a:endParaRPr lang="en-US" sz="1600" dirty="0"/>
          </a:p>
        </p:txBody>
      </p:sp>
      <p:sp>
        <p:nvSpPr>
          <p:cNvPr id="7" name="Shape 5"/>
          <p:cNvSpPr/>
          <p:nvPr/>
        </p:nvSpPr>
        <p:spPr>
          <a:xfrm>
            <a:off x="457200" y="1901952"/>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947672"/>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stare</a:t>
            </a:r>
            <a:pPr indent="0" marL="0">
              <a:buNone/>
            </a:pPr>
            <a:r>
              <a:rPr lang="en-US" sz="1400" dirty="0">
                <a:solidFill>
                  <a:srgbClr val="64748B"/>
                </a:solidFill>
                <a:latin typeface="Calibri" pitchFamily="34" charset="0"/>
                <a:ea typeface="Calibri" pitchFamily="34" charset="-122"/>
                <a:cs typeface="Calibri" pitchFamily="34" charset="-120"/>
              </a:rPr>
              <a:t>  ·  star ing  (he was staring at the light)</a:t>
            </a:r>
            <a:endParaRPr lang="en-US" sz="1600" dirty="0"/>
          </a:p>
        </p:txBody>
      </p:sp>
      <p:sp>
        <p:nvSpPr>
          <p:cNvPr id="9" name="Shape 7"/>
          <p:cNvSpPr/>
          <p:nvPr/>
        </p:nvSpPr>
        <p:spPr>
          <a:xfrm>
            <a:off x="457200" y="2432304"/>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478024"/>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sniff</a:t>
            </a:r>
            <a:pPr indent="0" marL="0">
              <a:buNone/>
            </a:pPr>
            <a:r>
              <a:rPr lang="en-US" sz="1400" dirty="0">
                <a:solidFill>
                  <a:srgbClr val="64748B"/>
                </a:solidFill>
                <a:latin typeface="Calibri" pitchFamily="34" charset="0"/>
                <a:ea typeface="Calibri" pitchFamily="34" charset="-122"/>
                <a:cs typeface="Calibri" pitchFamily="34" charset="-120"/>
              </a:rPr>
              <a:t>  ·  sniff ing  (she was sniffing)</a:t>
            </a:r>
            <a:endParaRPr lang="en-US" sz="1600" dirty="0"/>
          </a:p>
        </p:txBody>
      </p:sp>
      <p:sp>
        <p:nvSpPr>
          <p:cNvPr id="11" name="Shape 9"/>
          <p:cNvSpPr/>
          <p:nvPr/>
        </p:nvSpPr>
        <p:spPr>
          <a:xfrm>
            <a:off x="457200" y="2962656"/>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008376"/>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hold</a:t>
            </a:r>
            <a:pPr indent="0" marL="0">
              <a:buNone/>
            </a:pPr>
            <a:r>
              <a:rPr lang="en-US" sz="1400" dirty="0">
                <a:solidFill>
                  <a:srgbClr val="64748B"/>
                </a:solidFill>
                <a:latin typeface="Calibri" pitchFamily="34" charset="0"/>
                <a:ea typeface="Calibri" pitchFamily="34" charset="-122"/>
                <a:cs typeface="Calibri" pitchFamily="34" charset="-120"/>
              </a:rPr>
              <a:t>  ·  hold ing  (he was holding a handkerchief)</a:t>
            </a:r>
            <a:endParaRPr lang="en-US" sz="1600" dirty="0"/>
          </a:p>
        </p:txBody>
      </p:sp>
      <p:sp>
        <p:nvSpPr>
          <p:cNvPr id="13" name="Text 11"/>
          <p:cNvSpPr/>
          <p:nvPr/>
        </p:nvSpPr>
        <p:spPr>
          <a:xfrm>
            <a:off x="457200" y="3493008"/>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14" name="Text 12"/>
          <p:cNvSpPr/>
          <p:nvPr/>
        </p:nvSpPr>
        <p:spPr>
          <a:xfrm>
            <a:off x="640080" y="3813048"/>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Examples from the Novel</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4572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disappointment</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feeling of sadness when something does not turn out the way you hoped.</a:t>
            </a:r>
            <a:endParaRPr lang="en-US" sz="1500" dirty="0"/>
          </a:p>
        </p:txBody>
      </p:sp>
      <p:sp>
        <p:nvSpPr>
          <p:cNvPr id="6" name="Shape 4"/>
          <p:cNvSpPr/>
          <p:nvPr/>
        </p:nvSpPr>
        <p:spPr>
          <a:xfrm>
            <a:off x="45720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7" name="Text 5"/>
          <p:cNvSpPr/>
          <p:nvPr/>
        </p:nvSpPr>
        <p:spPr>
          <a:xfrm>
            <a:off x="47091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obscenely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In a way that is shockingly large or extreme; far beyond what is normal.</a:t>
            </a:r>
            <a:endParaRPr lang="en-US" sz="1500" dirty="0"/>
          </a:p>
        </p:txBody>
      </p:sp>
      <p:sp>
        <p:nvSpPr>
          <p:cNvPr id="8" name="Shape 6"/>
          <p:cNvSpPr/>
          <p:nvPr/>
        </p:nvSpPr>
        <p:spPr>
          <a:xfrm>
            <a:off x="4572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proclaimed</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Announced something in a loud, official, or important way.</a:t>
            </a:r>
            <a:endParaRPr lang="en-US" sz="1500" dirty="0"/>
          </a:p>
        </p:txBody>
      </p:sp>
      <p:sp>
        <p:nvSpPr>
          <p:cNvPr id="10" name="Shape 8"/>
          <p:cNvSpPr/>
          <p:nvPr/>
        </p:nvSpPr>
        <p:spPr>
          <a:xfrm>
            <a:off x="45720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47091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ridiculously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In a way that seems silly or unbelievable; so much that it is hard to take seriously.</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Pronouns: He, She, It, They</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He looked up at the light.</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Gregory held it up high.</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princess she did not know.</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rats they lived in darkness.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Pronouns: He, She, It, They — Answers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b="1" u="sng" dirty="0">
                <a:solidFill>
                  <a:srgbClr val="34B76F"/>
                </a:solidFill>
                <a:latin typeface="Calibri" pitchFamily="34" charset="0"/>
                <a:ea typeface="Calibri" pitchFamily="34" charset="-122"/>
                <a:cs typeface="Calibri" pitchFamily="34" charset="-120"/>
              </a:rPr>
              <a: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looked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up</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at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light.</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Gregory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held</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it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up</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high.</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princess</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she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did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not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know.</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rats</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they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lived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in</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darkness.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"au" vs. "aw"</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WORD BANK — Sort these words!</a:t>
            </a:r>
            <a:endParaRPr lang="en-US" sz="1100" dirty="0"/>
          </a:p>
        </p:txBody>
      </p:sp>
      <p:sp>
        <p:nvSpPr>
          <p:cNvPr id="7" name="Shape 5"/>
          <p:cNvSpPr/>
          <p:nvPr/>
        </p:nvSpPr>
        <p:spPr>
          <a:xfrm>
            <a:off x="457200" y="1371600"/>
            <a:ext cx="8229600" cy="914400"/>
          </a:xfrm>
          <a:prstGeom prst="roundRect">
            <a:avLst>
              <a:gd name="adj" fmla="val 10000"/>
            </a:avLst>
          </a:prstGeom>
          <a:solidFill>
            <a:srgbClr val="FEF6E8"/>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463040"/>
            <a:ext cx="7863840" cy="731520"/>
          </a:xfrm>
          <a:prstGeom prst="rect">
            <a:avLst/>
          </a:prstGeom>
          <a:noFill/>
          <a:ln/>
        </p:spPr>
        <p:txBody>
          <a:bodyPr wrap="square" lIns="0" tIns="0" rIns="0" bIns="0" rtlCol="0" anchor="ctr"/>
          <a:lstStyle/>
          <a:p>
            <a:pPr algn="ctr" indent="0" marL="0">
              <a:buNone/>
            </a:pPr>
            <a:r>
              <a:rPr lang="en-US" sz="1600" dirty="0">
                <a:solidFill>
                  <a:srgbClr val="0E1C42"/>
                </a:solidFill>
                <a:latin typeface="Calibri" pitchFamily="34" charset="0"/>
                <a:ea typeface="Calibri" pitchFamily="34" charset="-122"/>
                <a:cs typeface="Calibri" pitchFamily="34" charset="-120"/>
              </a:rPr>
              <a:t>shining     staring     named     waved     snapped     stopped     wrapped     nodding</a:t>
            </a:r>
            <a:endParaRPr lang="en-US" sz="1600" dirty="0"/>
          </a:p>
        </p:txBody>
      </p:sp>
      <p:sp>
        <p:nvSpPr>
          <p:cNvPr id="9" name="Shape 7"/>
          <p:cNvSpPr/>
          <p:nvPr/>
        </p:nvSpPr>
        <p:spPr>
          <a:xfrm>
            <a:off x="45720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"aw"</a:t>
            </a:r>
            <a:endParaRPr lang="en-US" sz="1400" dirty="0"/>
          </a:p>
        </p:txBody>
      </p:sp>
      <p:sp>
        <p:nvSpPr>
          <p:cNvPr id="11" name="Shape 9"/>
          <p:cNvSpPr/>
          <p:nvPr/>
        </p:nvSpPr>
        <p:spPr>
          <a:xfrm>
            <a:off x="448056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"au"</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"au" vs. "aw" — Sorted</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"aw"</a:t>
            </a:r>
            <a:endParaRPr lang="en-US" sz="1400" dirty="0"/>
          </a:p>
        </p:txBody>
      </p:sp>
      <p:sp>
        <p:nvSpPr>
          <p:cNvPr id="8" name="Text 6"/>
          <p:cNvSpPr/>
          <p:nvPr/>
        </p:nvSpPr>
        <p:spPr>
          <a:xfrm>
            <a:off x="54864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shining</a:t>
            </a:r>
            <a:endParaRPr lang="en-US" sz="1400" dirty="0"/>
          </a:p>
        </p:txBody>
      </p:sp>
      <p:sp>
        <p:nvSpPr>
          <p:cNvPr id="9" name="Text 7"/>
          <p:cNvSpPr/>
          <p:nvPr/>
        </p:nvSpPr>
        <p:spPr>
          <a:xfrm>
            <a:off x="54864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staring</a:t>
            </a:r>
            <a:endParaRPr lang="en-US" sz="1400" dirty="0"/>
          </a:p>
        </p:txBody>
      </p:sp>
      <p:sp>
        <p:nvSpPr>
          <p:cNvPr id="10" name="Text 8"/>
          <p:cNvSpPr/>
          <p:nvPr/>
        </p:nvSpPr>
        <p:spPr>
          <a:xfrm>
            <a:off x="54864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named</a:t>
            </a:r>
            <a:endParaRPr lang="en-US" sz="1400" dirty="0"/>
          </a:p>
        </p:txBody>
      </p:sp>
      <p:sp>
        <p:nvSpPr>
          <p:cNvPr id="11" name="Text 9"/>
          <p:cNvSpPr/>
          <p:nvPr/>
        </p:nvSpPr>
        <p:spPr>
          <a:xfrm>
            <a:off x="54864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waved</a:t>
            </a:r>
            <a:endParaRPr lang="en-US" sz="1400" dirty="0"/>
          </a:p>
        </p:txBody>
      </p:sp>
      <p:sp>
        <p:nvSpPr>
          <p:cNvPr id="12" name="Shape 10"/>
          <p:cNvSpPr/>
          <p:nvPr/>
        </p:nvSpPr>
        <p:spPr>
          <a:xfrm>
            <a:off x="448056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457200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"au"</a:t>
            </a:r>
            <a:endParaRPr lang="en-US" sz="1400" dirty="0"/>
          </a:p>
        </p:txBody>
      </p:sp>
      <p:sp>
        <p:nvSpPr>
          <p:cNvPr id="14" name="Text 12"/>
          <p:cNvSpPr/>
          <p:nvPr/>
        </p:nvSpPr>
        <p:spPr>
          <a:xfrm>
            <a:off x="457200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snapped</a:t>
            </a:r>
            <a:endParaRPr lang="en-US" sz="1400" dirty="0"/>
          </a:p>
        </p:txBody>
      </p:sp>
      <p:sp>
        <p:nvSpPr>
          <p:cNvPr id="15" name="Text 13"/>
          <p:cNvSpPr/>
          <p:nvPr/>
        </p:nvSpPr>
        <p:spPr>
          <a:xfrm>
            <a:off x="457200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stopped</a:t>
            </a:r>
            <a:endParaRPr lang="en-US" sz="1400" dirty="0"/>
          </a:p>
        </p:txBody>
      </p:sp>
      <p:sp>
        <p:nvSpPr>
          <p:cNvPr id="16" name="Text 14"/>
          <p:cNvSpPr/>
          <p:nvPr/>
        </p:nvSpPr>
        <p:spPr>
          <a:xfrm>
            <a:off x="457200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wrapped</a:t>
            </a:r>
            <a:endParaRPr lang="en-US" sz="1400" dirty="0"/>
          </a:p>
        </p:txBody>
      </p:sp>
      <p:sp>
        <p:nvSpPr>
          <p:cNvPr id="17" name="Text 15"/>
          <p:cNvSpPr/>
          <p:nvPr/>
        </p:nvSpPr>
        <p:spPr>
          <a:xfrm>
            <a:off x="457200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nodding</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Ch. 20–21</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PAUSE &amp; THINK</a:t>
            </a:r>
            <a:endParaRPr lang="en-US" sz="1100" dirty="0"/>
          </a:p>
        </p:txBody>
      </p:sp>
      <p:sp>
        <p:nvSpPr>
          <p:cNvPr id="5" name="Text 3"/>
          <p:cNvSpPr/>
          <p:nvPr/>
        </p:nvSpPr>
        <p:spPr>
          <a:xfrm>
            <a:off x="640080" y="132588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How might their wants collide?</a:t>
            </a:r>
            <a:endParaRPr lang="en-US" sz="1400" dirty="0"/>
          </a:p>
        </p:txBody>
      </p:sp>
      <p:sp>
        <p:nvSpPr>
          <p:cNvPr id="6" name="Text 4"/>
          <p:cNvSpPr/>
          <p:nvPr/>
        </p:nvSpPr>
        <p:spPr>
          <a:xfrm>
            <a:off x="640080" y="196596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Which character do you feel most sympathy for, and why?</a:t>
            </a:r>
            <a:endParaRPr lang="en-US" sz="1400" dirty="0"/>
          </a:p>
        </p:txBody>
      </p:sp>
      <p:sp>
        <p:nvSpPr>
          <p:cNvPr id="7" name="Text 5"/>
          <p:cNvSpPr/>
          <p:nvPr/>
        </p:nvSpPr>
        <p:spPr>
          <a:xfrm>
            <a:off x="457200" y="26060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COPYWORK</a:t>
            </a:r>
            <a:endParaRPr lang="en-US" sz="1100" dirty="0"/>
          </a:p>
        </p:txBody>
      </p:sp>
      <p:sp>
        <p:nvSpPr>
          <p:cNvPr id="8" name="Shape 6"/>
          <p:cNvSpPr/>
          <p:nvPr/>
        </p:nvSpPr>
        <p:spPr>
          <a:xfrm>
            <a:off x="457200" y="2926080"/>
            <a:ext cx="8229600" cy="731520"/>
          </a:xfrm>
          <a:prstGeom prst="roundRect">
            <a:avLst>
              <a:gd name="adj" fmla="val 1250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3035808"/>
            <a:ext cx="7863840" cy="5029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Princess Pea sat in her tower and did not know that two pairs of feet — one large, one very small — were making their way toward her.</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 Write · Mimic</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457200" y="91440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02412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“Mig did not know that what she wanted and what she received would turn out to be two very different things.”</a:t>
            </a:r>
            <a:endParaRPr lang="en-US" sz="1800" dirty="0"/>
          </a:p>
        </p:txBody>
      </p:sp>
      <p:sp>
        <p:nvSpPr>
          <p:cNvPr id="6" name="Text 4"/>
          <p:cNvSpPr/>
          <p:nvPr/>
        </p:nvSpPr>
        <p:spPr>
          <a:xfrm>
            <a:off x="640080" y="1645920"/>
            <a:ext cx="7863840" cy="320040"/>
          </a:xfrm>
          <a:prstGeom prst="rect">
            <a:avLst/>
          </a:prstGeom>
          <a:noFill/>
          <a:ln/>
        </p:spPr>
        <p:txBody>
          <a:bodyPr wrap="square" lIns="0" tIns="0" rIns="0" bIns="0" rtlCol="0" anchor="ctr"/>
          <a:lstStyle/>
          <a:p>
            <a:pPr indent="0" marL="0">
              <a:buNone/>
            </a:pPr>
            <a:r>
              <a:rPr lang="en-US" sz="1300" i="1" dirty="0">
                <a:solidFill>
                  <a:srgbClr val="8B6FC0"/>
                </a:solidFill>
                <a:latin typeface="Calibri" pitchFamily="34" charset="0"/>
                <a:ea typeface="Calibri" pitchFamily="34" charset="-122"/>
                <a:cs typeface="Calibri" pitchFamily="34" charset="-120"/>
              </a:rPr>
              <a:t>📌 Craft focus: narrator foreshadowing</a:t>
            </a:r>
            <a:endParaRPr lang="en-US" sz="1300" dirty="0"/>
          </a:p>
        </p:txBody>
      </p:sp>
      <p:sp>
        <p:nvSpPr>
          <p:cNvPr id="7" name="Shape 5"/>
          <p:cNvSpPr/>
          <p:nvPr/>
        </p:nvSpPr>
        <p:spPr>
          <a:xfrm>
            <a:off x="457200" y="2057400"/>
            <a:ext cx="8229600" cy="594360"/>
          </a:xfrm>
          <a:prstGeom prst="roundRect">
            <a:avLst>
              <a:gd name="adj" fmla="val 15385"/>
            </a:avLst>
          </a:prstGeom>
          <a:solidFill>
            <a:srgbClr val="E5F7FC"/>
          </a:solidFill>
          <a:ln/>
          <a:effectLst>
            <a:outerShdw sx="100000" sy="100000" kx="0" ky="0" algn="bl" rotWithShape="0" blurRad="101600" dist="38100" dir="2700000">
              <a:srgbClr val="000000">
                <a:alpha val="12000"/>
              </a:srgbClr>
            </a:outerShdw>
          </a:effectLst>
        </p:spPr>
      </p:sp>
      <p:sp>
        <p:nvSpPr>
          <p:cNvPr id="8" name="Text 6"/>
          <p:cNvSpPr/>
          <p:nvPr/>
        </p:nvSpPr>
        <p:spPr>
          <a:xfrm>
            <a:off x="640080" y="2103120"/>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Reader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The narrator tells us something Mig doesn't know yet. Do you, the reader, know what will go wrong? What does it feel like to read a story when the narrator knows more than the character?</a:t>
            </a:r>
            <a:endParaRPr lang="en-US" sz="1400" dirty="0"/>
          </a:p>
        </p:txBody>
      </p:sp>
      <p:sp>
        <p:nvSpPr>
          <p:cNvPr id="9" name="Shape 7"/>
          <p:cNvSpPr/>
          <p:nvPr/>
        </p:nvSpPr>
        <p:spPr>
          <a:xfrm>
            <a:off x="457200" y="2715768"/>
            <a:ext cx="8229600" cy="594360"/>
          </a:xfrm>
          <a:prstGeom prst="roundRect">
            <a:avLst>
              <a:gd name="adj" fmla="val 15385"/>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761488"/>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Writer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This sentence tells us the ending before it happens — the author is hinting, or foreshadowing. Notice how it doesn't tell us  what  will happen, just that something will. Why is that more effective than telling us exactly what goes wrong?</a:t>
            </a:r>
            <a:endParaRPr lang="en-US" sz="1400" dirty="0"/>
          </a:p>
        </p:txBody>
      </p:sp>
      <p:sp>
        <p:nvSpPr>
          <p:cNvPr id="11" name="Shape 9"/>
          <p:cNvSpPr/>
          <p:nvPr/>
        </p:nvSpPr>
        <p:spPr>
          <a:xfrm>
            <a:off x="457200" y="3374136"/>
            <a:ext cx="8229600" cy="594360"/>
          </a:xfrm>
          <a:prstGeom prst="roundRect">
            <a:avLst>
              <a:gd name="adj" fmla="val 15385"/>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419856"/>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Mimic</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Write your own sentence using the same pattern as the author.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Writing Connection</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