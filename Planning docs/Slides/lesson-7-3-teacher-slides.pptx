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7.3. Reading: Interesting Places in the United States.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prompt aloud. Give students a moment to think before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minutes of sustained writing. Stamina over polish. Do not correct spelling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fix only. Editing is conventions; revision is ideas. Name which one you are asking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or three volunteers. Praise something specific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lens: Today, practice: Use text features to understand information.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Corrected: Corrected: 
Look for: The Midwest has wide-open farmland and the Great Lakes, which are five huge lakes that hold fresh water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Corrected: Corrected: 
Look for: The Midwest has wide-open farmland and the Great Lakes, which are five huge lakes that hold fresh water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the word into base + word part. Ask what the part adds to the meaning.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word appears in the chapters read this week, in the author’s own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Tampa, 8, Boise,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Tampa, 8, Boise,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double + -ed: dropped, planned, mapped, stopped | add -ed: traveled, mailed, sorted, visited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double + -ed: dropped, planned, mapped, stopped | add -ed: traveled, mailed, sorted, visited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chapters, then return to the pause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4A2E"/>
        </a:solidFill>
      </p:bgPr>
    </p:bg>
    <p:spTree>
      <p:nvGrpSpPr>
        <p:cNvPr id="1" name=""/>
        <p:cNvGrpSpPr/>
        <p:nvPr/>
      </p:nvGrpSpPr>
      <p:grpSpPr>
        <a:xfrm>
          <a:off x="0" y="0"/>
          <a:ext cx="0" cy="0"/>
          <a:chOff x="0" y="0"/>
          <a:chExt cx="0" cy="0"/>
        </a:xfrm>
      </p:grpSpPr>
      <p:sp>
        <p:nvSpPr>
          <p:cNvPr id="2" name="Text 0"/>
          <p:cNvSpPr/>
          <p:nvPr/>
        </p:nvSpPr>
        <p:spPr>
          <a:xfrm>
            <a:off x="0" y="822960"/>
            <a:ext cx="9144000" cy="822960"/>
          </a:xfrm>
          <a:prstGeom prst="rect">
            <a:avLst/>
          </a:prstGeom>
          <a:noFill/>
          <a:ln/>
        </p:spPr>
        <p:txBody>
          <a:bodyPr wrap="square" lIns="0" tIns="0" rIns="0" bIns="0" rtlCol="0" anchor="ctr"/>
          <a:lstStyle/>
          <a:p>
            <a:pPr algn="ctr" indent="0" marL="0">
              <a:buNone/>
            </a:pPr>
            <a:r>
              <a:rPr lang="en-US" sz="5200" dirty="0">
                <a:solidFill>
                  <a:srgbClr val="000000"/>
                </a:solidFill>
              </a:rPr>
              <a:t>🗺️</a:t>
            </a:r>
            <a:endParaRPr lang="en-US" sz="5200" dirty="0"/>
          </a:p>
        </p:txBody>
      </p:sp>
      <p:sp>
        <p:nvSpPr>
          <p:cNvPr id="3" name="Text 1"/>
          <p:cNvSpPr/>
          <p:nvPr/>
        </p:nvSpPr>
        <p:spPr>
          <a:xfrm>
            <a:off x="457200" y="1691640"/>
            <a:ext cx="8229600" cy="566928"/>
          </a:xfrm>
          <a:prstGeom prst="rect">
            <a:avLst/>
          </a:prstGeom>
          <a:noFill/>
          <a:ln/>
        </p:spPr>
        <p:txBody>
          <a:bodyPr wrap="square" lIns="0" tIns="0" rIns="0" bIns="0"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Nonfiction: Maps, Mail &amp; Places</a:t>
            </a:r>
            <a:endParaRPr lang="en-US" sz="2600" dirty="0"/>
          </a:p>
        </p:txBody>
      </p:sp>
      <p:sp>
        <p:nvSpPr>
          <p:cNvPr id="4" name="Text 2"/>
          <p:cNvSpPr/>
          <p:nvPr/>
        </p:nvSpPr>
        <p:spPr>
          <a:xfrm>
            <a:off x="457200" y="2331720"/>
            <a:ext cx="8229600" cy="411480"/>
          </a:xfrm>
          <a:prstGeom prst="rect">
            <a:avLst/>
          </a:prstGeom>
          <a:noFill/>
          <a:ln/>
        </p:spPr>
        <p:txBody>
          <a:bodyPr wrap="square" lIns="0" tIns="0" rIns="0" bIns="0" rtlCol="0" anchor="ctr"/>
          <a:lstStyle/>
          <a:p>
            <a:pPr algn="ctr" indent="0" marL="0">
              <a:buNone/>
            </a:pPr>
            <a:r>
              <a:rPr lang="en-US" sz="2000" dirty="0">
                <a:solidFill>
                  <a:srgbClr val="5CB85C"/>
                </a:solidFill>
                <a:latin typeface="Calibri" pitchFamily="34" charset="0"/>
                <a:ea typeface="Calibri" pitchFamily="34" charset="-122"/>
                <a:cs typeface="Calibri" pitchFamily="34" charset="-120"/>
              </a:rPr>
              <a:t>Lesson 7.3  ·  Interesting Places in the United States</a:t>
            </a:r>
            <a:endParaRPr lang="en-US" sz="2000" dirty="0"/>
          </a:p>
        </p:txBody>
      </p:sp>
      <p:sp>
        <p:nvSpPr>
          <p:cNvPr id="5" name="Text 3"/>
          <p:cNvSpPr/>
          <p:nvPr/>
        </p:nvSpPr>
        <p:spPr>
          <a:xfrm>
            <a:off x="457200" y="2880360"/>
            <a:ext cx="8229600" cy="320040"/>
          </a:xfrm>
          <a:prstGeom prst="rect">
            <a:avLst/>
          </a:prstGeom>
          <a:noFill/>
          <a:ln/>
        </p:spPr>
        <p:txBody>
          <a:bodyPr wrap="square" lIns="0" tIns="0" rIns="0" bIns="0" rtlCol="0" anchor="ctr"/>
          <a:lstStyle/>
          <a:p>
            <a:pPr algn="ctr" indent="0" marL="0">
              <a:buNone/>
            </a:pPr>
            <a:r>
              <a:rPr lang="en-US" sz="1400" dirty="0">
                <a:solidFill>
                  <a:srgbClr val="C9BCE4"/>
                </a:solidFill>
                <a:latin typeface="Calibri" pitchFamily="34" charset="0"/>
                <a:ea typeface="Calibri" pitchFamily="34" charset="-122"/>
                <a:cs typeface="Calibri" pitchFamily="34" charset="-120"/>
              </a:rPr>
              <a:t>Grade 3 ELA  ·  Virtue: Diligence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C7922C"/>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10-Minute Write</a:t>
            </a:r>
            <a:endParaRPr lang="en-US" sz="2200" dirty="0"/>
          </a:p>
        </p:txBody>
      </p:sp>
      <p:sp>
        <p:nvSpPr>
          <p:cNvPr id="4" name="Text 2"/>
          <p:cNvSpPr/>
          <p:nvPr/>
        </p:nvSpPr>
        <p:spPr>
          <a:xfrm>
            <a:off x="365760" y="82296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READ THE PROMPT — 1 MINUTE</a:t>
            </a:r>
            <a:endParaRPr lang="en-US" sz="1100" dirty="0"/>
          </a:p>
        </p:txBody>
      </p:sp>
      <p:sp>
        <p:nvSpPr>
          <p:cNvPr id="5" name="Shape 3"/>
          <p:cNvSpPr/>
          <p:nvPr/>
        </p:nvSpPr>
        <p:spPr>
          <a:xfrm>
            <a:off x="365760" y="1143000"/>
            <a:ext cx="8412480" cy="1737360"/>
          </a:xfrm>
          <a:prstGeom prst="roundRect">
            <a:avLst>
              <a:gd name="adj" fmla="val 5263"/>
            </a:avLst>
          </a:prstGeom>
          <a:solidFill>
            <a:srgbClr val="FEF6E8"/>
          </a:solidFill>
          <a:ln w="19050">
            <a:solidFill>
              <a:srgbClr val="C7922C"/>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94360" y="1271016"/>
            <a:ext cx="7955280" cy="148132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Write about a place you can find on a map that means something to you.</a:t>
            </a:r>
            <a:endParaRPr lang="en-US" sz="1700" dirty="0"/>
          </a:p>
        </p:txBody>
      </p:sp>
      <p:sp>
        <p:nvSpPr>
          <p:cNvPr id="7" name="Text 5"/>
          <p:cNvSpPr/>
          <p:nvPr/>
        </p:nvSpPr>
        <p:spPr>
          <a:xfrm>
            <a:off x="365760" y="3063240"/>
            <a:ext cx="8412480" cy="365760"/>
          </a:xfrm>
          <a:prstGeom prst="rect">
            <a:avLst/>
          </a:prstGeom>
          <a:noFill/>
          <a:ln/>
        </p:spPr>
        <p:txBody>
          <a:bodyPr wrap="square" lIns="0" tIns="0" rIns="0" bIns="0" rtlCol="0" anchor="ctr"/>
          <a:lstStyle/>
          <a:p>
            <a:pPr indent="0" marL="0">
              <a:buNone/>
            </a:pPr>
            <a:r>
              <a:rPr lang="en-US" sz="1600" i="1" dirty="0">
                <a:solidFill>
                  <a:srgbClr val="64748B"/>
                </a:solidFill>
                <a:latin typeface="Calibri" pitchFamily="34" charset="0"/>
                <a:ea typeface="Calibri" pitchFamily="34" charset="-122"/>
                <a:cs typeface="Calibri" pitchFamily="34" charset="-120"/>
              </a:rPr>
              <a:t>Think first. You will have five minutes to write.</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EF6E8"/>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C7922C"/>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Writing Time</a:t>
            </a:r>
            <a:endParaRPr lang="en-US" sz="2200" dirty="0"/>
          </a:p>
        </p:txBody>
      </p:sp>
      <p:sp>
        <p:nvSpPr>
          <p:cNvPr id="4" name="Text 2"/>
          <p:cNvSpPr/>
          <p:nvPr/>
        </p:nvSpPr>
        <p:spPr>
          <a:xfrm>
            <a:off x="365760" y="868680"/>
            <a:ext cx="8412480" cy="502920"/>
          </a:xfrm>
          <a:prstGeom prst="rect">
            <a:avLst/>
          </a:prstGeom>
          <a:noFill/>
          <a:ln/>
        </p:spPr>
        <p:txBody>
          <a:bodyPr wrap="square" lIns="0" tIns="0" rIns="0" bIns="0" rtlCol="0" anchor="ctr"/>
          <a:lstStyle/>
          <a:p>
            <a:pPr indent="0" marL="0">
              <a:buNone/>
            </a:pPr>
            <a:r>
              <a:rPr lang="en-US" sz="2600" b="1" dirty="0">
                <a:solidFill>
                  <a:srgbClr val="0E1C42"/>
                </a:solidFill>
                <a:latin typeface="Calibri" pitchFamily="34" charset="0"/>
                <a:ea typeface="Calibri" pitchFamily="34" charset="-122"/>
                <a:cs typeface="Calibri" pitchFamily="34" charset="-120"/>
              </a:rPr>
              <a:t>5 minutes — keep your pencil moving!</a:t>
            </a:r>
            <a:endParaRPr lang="en-US" sz="2600" dirty="0"/>
          </a:p>
        </p:txBody>
      </p:sp>
      <p:sp>
        <p:nvSpPr>
          <p:cNvPr id="5" name="Text 3"/>
          <p:cNvSpPr/>
          <p:nvPr/>
        </p:nvSpPr>
        <p:spPr>
          <a:xfrm>
            <a:off x="365760" y="146304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YOUR PROMPT</a:t>
            </a:r>
            <a:endParaRPr lang="en-US" sz="1100" dirty="0"/>
          </a:p>
        </p:txBody>
      </p:sp>
      <p:sp>
        <p:nvSpPr>
          <p:cNvPr id="6" name="Shape 4"/>
          <p:cNvSpPr/>
          <p:nvPr/>
        </p:nvSpPr>
        <p:spPr>
          <a:xfrm>
            <a:off x="365760" y="1737360"/>
            <a:ext cx="8412480" cy="1417320"/>
          </a:xfrm>
          <a:prstGeom prst="roundRect">
            <a:avLst>
              <a:gd name="adj" fmla="val 6452"/>
            </a:avLst>
          </a:prstGeom>
          <a:solidFill>
            <a:srgbClr val="FFFFFF"/>
          </a:solidFill>
          <a:ln w="19050">
            <a:solidFill>
              <a:srgbClr val="C7922C"/>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594360" y="1865376"/>
            <a:ext cx="7955280" cy="116128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Write about a place you can find on a map that means something to you.</a:t>
            </a:r>
            <a:endParaRPr lang="en-US" sz="1700" dirty="0"/>
          </a:p>
        </p:txBody>
      </p:sp>
      <p:sp>
        <p:nvSpPr>
          <p:cNvPr id="8" name="Text 6"/>
          <p:cNvSpPr/>
          <p:nvPr/>
        </p:nvSpPr>
        <p:spPr>
          <a:xfrm>
            <a:off x="365760" y="3291840"/>
            <a:ext cx="8412480" cy="365760"/>
          </a:xfrm>
          <a:prstGeom prst="rect">
            <a:avLst/>
          </a:prstGeom>
          <a:noFill/>
          <a:ln/>
        </p:spPr>
        <p:txBody>
          <a:bodyPr wrap="square" lIns="0" tIns="0" rIns="0" bIns="0" rtlCol="0" anchor="ctr"/>
          <a:lstStyle/>
          <a:p>
            <a:pPr indent="0" marL="0">
              <a:buNone/>
            </a:pPr>
            <a:r>
              <a:rPr lang="en-US" sz="1500" i="1" dirty="0">
                <a:solidFill>
                  <a:srgbClr val="64748B"/>
                </a:solidFill>
                <a:latin typeface="Calibri" pitchFamily="34" charset="0"/>
                <a:ea typeface="Calibri" pitchFamily="34" charset="-122"/>
                <a:cs typeface="Calibri" pitchFamily="34" charset="-120"/>
              </a:rPr>
              <a:t>Do not stop to erase. If you get stuck, write the last word again and keep going.</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8F8EF"/>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34B76F"/>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Edit &amp; Revise</a:t>
            </a:r>
            <a:endParaRPr lang="en-US" sz="2200" dirty="0"/>
          </a:p>
        </p:txBody>
      </p:sp>
      <p:sp>
        <p:nvSpPr>
          <p:cNvPr id="4" name="Text 2"/>
          <p:cNvSpPr/>
          <p:nvPr/>
        </p:nvSpPr>
        <p:spPr>
          <a:xfrm>
            <a:off x="365760" y="868680"/>
            <a:ext cx="8412480" cy="457200"/>
          </a:xfrm>
          <a:prstGeom prst="rect">
            <a:avLst/>
          </a:prstGeom>
          <a:noFill/>
          <a:ln/>
        </p:spPr>
        <p:txBody>
          <a:bodyPr wrap="square" lIns="0" tIns="0" rIns="0" bIns="0" rtlCol="0" anchor="ctr"/>
          <a:lstStyle/>
          <a:p>
            <a:pPr indent="0" marL="0">
              <a:buNone/>
            </a:pPr>
            <a:r>
              <a:rPr lang="en-US" sz="2400" b="1" dirty="0">
                <a:solidFill>
                  <a:srgbClr val="0E1C42"/>
                </a:solidFill>
                <a:latin typeface="Calibri" pitchFamily="34" charset="0"/>
                <a:ea typeface="Calibri" pitchFamily="34" charset="-122"/>
                <a:cs typeface="Calibri" pitchFamily="34" charset="-120"/>
              </a:rPr>
              <a:t>1 minute — pick ONE thing to fix.</a:t>
            </a:r>
            <a:endParaRPr lang="en-US" sz="2400" dirty="0"/>
          </a:p>
        </p:txBody>
      </p:sp>
      <p:sp>
        <p:nvSpPr>
          <p:cNvPr id="5" name="Text 3"/>
          <p:cNvSpPr/>
          <p:nvPr/>
        </p:nvSpPr>
        <p:spPr>
          <a:xfrm>
            <a:off x="365760" y="1417320"/>
            <a:ext cx="8229600" cy="237744"/>
          </a:xfrm>
          <a:prstGeom prst="rect">
            <a:avLst/>
          </a:prstGeom>
          <a:noFill/>
          <a:ln/>
        </p:spPr>
        <p:txBody>
          <a:bodyPr wrap="square" lIns="0" tIns="0" rIns="0" bIns="0" rtlCol="0" anchor="ctr"/>
          <a:lstStyle/>
          <a:p>
            <a:pPr indent="0" marL="0">
              <a:buNone/>
            </a:pPr>
            <a:r>
              <a:rPr lang="en-US" sz="1100" b="1" spc="100" kern="0" dirty="0">
                <a:solidFill>
                  <a:srgbClr val="34B76F"/>
                </a:solidFill>
                <a:latin typeface="Calibri" pitchFamily="34" charset="0"/>
                <a:ea typeface="Calibri" pitchFamily="34" charset="-122"/>
                <a:cs typeface="Calibri" pitchFamily="34" charset="-120"/>
              </a:rPr>
              <a:t>TODAY'S EDIT FOCUS</a:t>
            </a:r>
            <a:endParaRPr lang="en-US" sz="1100" dirty="0"/>
          </a:p>
        </p:txBody>
      </p:sp>
      <p:sp>
        <p:nvSpPr>
          <p:cNvPr id="6" name="Shape 4"/>
          <p:cNvSpPr/>
          <p:nvPr/>
        </p:nvSpPr>
        <p:spPr>
          <a:xfrm>
            <a:off x="365760" y="1691640"/>
            <a:ext cx="8412480" cy="777240"/>
          </a:xfrm>
          <a:prstGeom prst="roundRect">
            <a:avLst>
              <a:gd name="adj" fmla="val 11765"/>
            </a:avLst>
          </a:prstGeom>
          <a:solidFill>
            <a:srgbClr val="FFFFFF"/>
          </a:solidFill>
          <a:ln w="19050">
            <a:solidFill>
              <a:srgbClr val="34B76F"/>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594360" y="1819656"/>
            <a:ext cx="7955280" cy="52120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Did I use a capital letter for every place name?</a:t>
            </a:r>
            <a:endParaRPr lang="en-US" sz="1700" dirty="0"/>
          </a:p>
        </p:txBody>
      </p:sp>
      <p:sp>
        <p:nvSpPr>
          <p:cNvPr id="8" name="Text 6"/>
          <p:cNvSpPr/>
          <p:nvPr/>
        </p:nvSpPr>
        <p:spPr>
          <a:xfrm>
            <a:off x="365760" y="2651760"/>
            <a:ext cx="8412480" cy="365760"/>
          </a:xfrm>
          <a:prstGeom prst="rect">
            <a:avLst/>
          </a:prstGeom>
          <a:noFill/>
          <a:ln/>
        </p:spPr>
        <p:txBody>
          <a:bodyPr wrap="square" lIns="0" tIns="0" rIns="0" bIns="0" rtlCol="0" anchor="ctr"/>
          <a:lstStyle/>
          <a:p>
            <a:pPr indent="0" marL="0">
              <a:buNone/>
            </a:pPr>
            <a:r>
              <a:rPr lang="en-US" sz="1500" b="1" dirty="0">
                <a:solidFill>
                  <a:srgbClr val="1E293B"/>
                </a:solidFill>
                <a:latin typeface="Calibri" pitchFamily="34" charset="0"/>
                <a:ea typeface="Calibri" pitchFamily="34" charset="-122"/>
                <a:cs typeface="Calibri" pitchFamily="34" charset="-120"/>
              </a:rPr>
              <a:t>Quick check:  </a:t>
            </a:r>
            <a:pPr indent="0" marL="0">
              <a:buNone/>
            </a:pPr>
            <a:r>
              <a:rPr lang="en-US" sz="1500" dirty="0">
                <a:solidFill>
                  <a:srgbClr val="1E293B"/>
                </a:solidFill>
                <a:latin typeface="Calibri" pitchFamily="34" charset="0"/>
                <a:ea typeface="Calibri" pitchFamily="34" charset="-122"/>
                <a:cs typeface="Calibri" pitchFamily="34" charset="-120"/>
              </a:rPr>
              <a:t>capitals  ·  end punctuation  ·  circle a word you are unsure of  ·  read it aloud</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5F7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55C8E8"/>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Share Time</a:t>
            </a:r>
            <a:endParaRPr lang="en-US" sz="2200" dirty="0"/>
          </a:p>
        </p:txBody>
      </p:sp>
      <p:sp>
        <p:nvSpPr>
          <p:cNvPr id="4" name="Text 2"/>
          <p:cNvSpPr/>
          <p:nvPr/>
        </p:nvSpPr>
        <p:spPr>
          <a:xfrm>
            <a:off x="365760" y="1005840"/>
            <a:ext cx="8412480" cy="548640"/>
          </a:xfrm>
          <a:prstGeom prst="rect">
            <a:avLst/>
          </a:prstGeom>
          <a:noFill/>
          <a:ln/>
        </p:spPr>
        <p:txBody>
          <a:bodyPr wrap="square" lIns="0" tIns="0" rIns="0" bIns="0" rtlCol="0" anchor="ctr"/>
          <a:lstStyle/>
          <a:p>
            <a:pPr indent="0" marL="0">
              <a:buNone/>
            </a:pPr>
            <a:r>
              <a:rPr lang="en-US" sz="2600" b="1" dirty="0">
                <a:solidFill>
                  <a:srgbClr val="0E1C42"/>
                </a:solidFill>
                <a:latin typeface="Calibri" pitchFamily="34" charset="0"/>
                <a:ea typeface="Calibri" pitchFamily="34" charset="-122"/>
                <a:cs typeface="Calibri" pitchFamily="34" charset="-120"/>
              </a:rPr>
              <a:t>3 minutes — let's hear your writing!</a:t>
            </a:r>
            <a:endParaRPr lang="en-US" sz="2600" dirty="0"/>
          </a:p>
        </p:txBody>
      </p:sp>
      <p:sp>
        <p:nvSpPr>
          <p:cNvPr id="5" name="Text 3"/>
          <p:cNvSpPr/>
          <p:nvPr/>
        </p:nvSpPr>
        <p:spPr>
          <a:xfrm>
            <a:off x="365760" y="1691640"/>
            <a:ext cx="8412480" cy="457200"/>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Raise your hand  ·  paste it in the chat  ·  or hold your paper up to the camera</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5CB85C"/>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Today</a:t>
            </a:r>
            <a:endParaRPr lang="en-US" sz="2200" dirty="0"/>
          </a:p>
        </p:txBody>
      </p:sp>
      <p:sp>
        <p:nvSpPr>
          <p:cNvPr id="4" name="Text 2"/>
          <p:cNvSpPr/>
          <p:nvPr/>
        </p:nvSpPr>
        <p:spPr>
          <a:xfrm>
            <a:off x="365760" y="777240"/>
            <a:ext cx="8229600" cy="237744"/>
          </a:xfrm>
          <a:prstGeom prst="rect">
            <a:avLst/>
          </a:prstGeom>
          <a:noFill/>
          <a:ln/>
        </p:spPr>
        <p:txBody>
          <a:bodyPr wrap="square" lIns="0" tIns="0" rIns="0" bIns="0" rtlCol="0" anchor="ctr"/>
          <a:lstStyle/>
          <a:p>
            <a:pPr indent="0" marL="0">
              <a:buNone/>
            </a:pPr>
            <a:r>
              <a:rPr lang="en-US" sz="1100" b="1" spc="100" kern="0" dirty="0">
                <a:solidFill>
                  <a:srgbClr val="8B6FC0"/>
                </a:solidFill>
                <a:latin typeface="Calibri" pitchFamily="34" charset="0"/>
                <a:ea typeface="Calibri" pitchFamily="34" charset="-122"/>
                <a:cs typeface="Calibri" pitchFamily="34" charset="-120"/>
              </a:rPr>
              <a:t>READING</a:t>
            </a:r>
            <a:endParaRPr lang="en-US" sz="1100" dirty="0"/>
          </a:p>
        </p:txBody>
      </p:sp>
      <p:sp>
        <p:nvSpPr>
          <p:cNvPr id="5" name="Text 3"/>
          <p:cNvSpPr/>
          <p:nvPr/>
        </p:nvSpPr>
        <p:spPr>
          <a:xfrm>
            <a:off x="365760" y="1014984"/>
            <a:ext cx="8412480" cy="365760"/>
          </a:xfrm>
          <a:prstGeom prst="rect">
            <a:avLst/>
          </a:prstGeom>
          <a:noFill/>
          <a:ln/>
        </p:spPr>
        <p:txBody>
          <a:bodyPr wrap="square" lIns="0" tIns="0" rIns="0" bIns="0" rtlCol="0" anchor="ctr"/>
          <a:lstStyle/>
          <a:p>
            <a:pPr indent="0" marL="0">
              <a:buNone/>
            </a:pPr>
            <a:r>
              <a:rPr lang="en-US" sz="2000" b="1" dirty="0">
                <a:solidFill>
                  <a:srgbClr val="0E1C42"/>
                </a:solidFill>
                <a:latin typeface="Calibri" pitchFamily="34" charset="0"/>
                <a:ea typeface="Calibri" pitchFamily="34" charset="-122"/>
                <a:cs typeface="Calibri" pitchFamily="34" charset="-120"/>
              </a:rPr>
              <a:t>Interesting Places in the United States</a:t>
            </a:r>
            <a:endParaRPr lang="en-US" sz="2000" dirty="0"/>
          </a:p>
        </p:txBody>
      </p:sp>
      <p:sp>
        <p:nvSpPr>
          <p:cNvPr id="6" name="Text 4"/>
          <p:cNvSpPr/>
          <p:nvPr/>
        </p:nvSpPr>
        <p:spPr>
          <a:xfrm>
            <a:off x="365760" y="150876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BIG QUESTION</a:t>
            </a:r>
            <a:endParaRPr lang="en-US" sz="1100" dirty="0"/>
          </a:p>
        </p:txBody>
      </p:sp>
      <p:sp>
        <p:nvSpPr>
          <p:cNvPr id="7" name="Shape 5"/>
          <p:cNvSpPr/>
          <p:nvPr/>
        </p:nvSpPr>
        <p:spPr>
          <a:xfrm>
            <a:off x="365760" y="1746504"/>
            <a:ext cx="8412480" cy="731520"/>
          </a:xfrm>
          <a:prstGeom prst="roundRect">
            <a:avLst>
              <a:gd name="adj" fmla="val 12500"/>
            </a:avLst>
          </a:prstGeom>
          <a:solidFill>
            <a:srgbClr val="FEF6E8"/>
          </a:solidFill>
          <a:ln w="1905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94360" y="1874520"/>
            <a:ext cx="7955280" cy="47548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Stop after the midwest and the Great Lakes. The region names organize this passage the way headings do. Without reading ahead, what do you already know the last two sections will be about — and how do the region names tell you?</a:t>
            </a:r>
            <a:endParaRPr lang="en-US" sz="1700" dirty="0"/>
          </a:p>
        </p:txBody>
      </p:sp>
      <p:sp>
        <p:nvSpPr>
          <p:cNvPr id="9" name="Text 7"/>
          <p:cNvSpPr/>
          <p:nvPr/>
        </p:nvSpPr>
        <p:spPr>
          <a:xfrm>
            <a:off x="365760" y="2606040"/>
            <a:ext cx="8229600" cy="237744"/>
          </a:xfrm>
          <a:prstGeom prst="rect">
            <a:avLst/>
          </a:prstGeom>
          <a:noFill/>
          <a:ln/>
        </p:spPr>
        <p:txBody>
          <a:bodyPr wrap="square" lIns="0" tIns="0" rIns="0" bIns="0" rtlCol="0" anchor="ctr"/>
          <a:lstStyle/>
          <a:p>
            <a:pPr indent="0" marL="0">
              <a:buNone/>
            </a:pPr>
            <a:r>
              <a:rPr lang="en-US" sz="1100" b="1" spc="100" kern="0" dirty="0">
                <a:solidFill>
                  <a:srgbClr val="55C8E8"/>
                </a:solidFill>
                <a:latin typeface="Calibri" pitchFamily="34" charset="0"/>
                <a:ea typeface="Calibri" pitchFamily="34" charset="-122"/>
                <a:cs typeface="Calibri" pitchFamily="34" charset="-120"/>
              </a:rPr>
              <a:t>READING LENS</a:t>
            </a:r>
            <a:endParaRPr lang="en-US" sz="1100" dirty="0"/>
          </a:p>
        </p:txBody>
      </p:sp>
      <p:sp>
        <p:nvSpPr>
          <p:cNvPr id="10" name="Text 8"/>
          <p:cNvSpPr/>
          <p:nvPr/>
        </p:nvSpPr>
        <p:spPr>
          <a:xfrm>
            <a:off x="365760" y="2843784"/>
            <a:ext cx="8412480" cy="91440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Today, practice: Use text features to understand information.</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55C8E8"/>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Daily Oral Language</a:t>
            </a:r>
            <a:endParaRPr lang="en-US" sz="2200" dirty="0"/>
          </a:p>
        </p:txBody>
      </p:sp>
      <p:sp>
        <p:nvSpPr>
          <p:cNvPr id="4" name="Text 2"/>
          <p:cNvSpPr/>
          <p:nvPr/>
        </p:nvSpPr>
        <p:spPr>
          <a:xfrm>
            <a:off x="365760" y="749808"/>
            <a:ext cx="8229600" cy="237744"/>
          </a:xfrm>
          <a:prstGeom prst="rect">
            <a:avLst/>
          </a:prstGeom>
          <a:noFill/>
          <a:ln/>
        </p:spPr>
        <p:txBody>
          <a:bodyPr wrap="square" lIns="0" tIns="0" rIns="0" bIns="0" rtlCol="0" anchor="ctr"/>
          <a:lstStyle/>
          <a:p>
            <a:pPr indent="0" marL="0">
              <a:buNone/>
            </a:pPr>
            <a:r>
              <a:rPr lang="en-US" sz="1100" b="1" spc="100" kern="0" dirty="0">
                <a:solidFill>
                  <a:srgbClr val="55C8E8"/>
                </a:solidFill>
                <a:latin typeface="Calibri" pitchFamily="34" charset="0"/>
                <a:ea typeface="Calibri" pitchFamily="34" charset="-122"/>
                <a:cs typeface="Calibri" pitchFamily="34" charset="-120"/>
              </a:rPr>
              <a:t>FIX THESE SENTENCES</a:t>
            </a:r>
            <a:endParaRPr lang="en-US" sz="1100" dirty="0"/>
          </a:p>
        </p:txBody>
      </p:sp>
      <p:sp>
        <p:nvSpPr>
          <p:cNvPr id="5" name="Shape 3"/>
          <p:cNvSpPr/>
          <p:nvPr/>
        </p:nvSpPr>
        <p:spPr>
          <a:xfrm>
            <a:off x="365760" y="1024128"/>
            <a:ext cx="8412480" cy="777240"/>
          </a:xfrm>
          <a:prstGeom prst="roundRect">
            <a:avLst>
              <a:gd name="adj" fmla="val 11765"/>
            </a:avLst>
          </a:prstGeom>
          <a:solidFill>
            <a:srgbClr val="FFFFFF"/>
          </a:solidFill>
          <a:ln w="19050">
            <a:solidFill>
              <a:srgbClr val="55C8E8"/>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94360" y="1152144"/>
            <a:ext cx="7955280" cy="52120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In the southwest, the Grand Canyon in Arizona drops over a mile deep into the earth.</a:t>
            </a:r>
            <a:endParaRPr lang="en-US" sz="1700" dirty="0"/>
          </a:p>
        </p:txBody>
      </p:sp>
      <p:sp>
        <p:nvSpPr>
          <p:cNvPr id="7" name="Shape 5"/>
          <p:cNvSpPr/>
          <p:nvPr/>
        </p:nvSpPr>
        <p:spPr>
          <a:xfrm>
            <a:off x="365760" y="1874520"/>
            <a:ext cx="8412480" cy="777240"/>
          </a:xfrm>
          <a:prstGeom prst="roundRect">
            <a:avLst>
              <a:gd name="adj" fmla="val 11765"/>
            </a:avLst>
          </a:prstGeom>
          <a:solidFill>
            <a:srgbClr val="FFFFFF"/>
          </a:solidFill>
          <a:ln w="19050">
            <a:solidFill>
              <a:srgbClr val="55C8E8"/>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94360" y="2002536"/>
            <a:ext cx="7955280" cy="52120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the midwest has wide open farmland and the great lakes which are five huge lakes that hold fresh water</a:t>
            </a:r>
            <a:endParaRPr lang="en-US" sz="1700" dirty="0"/>
          </a:p>
        </p:txBody>
      </p:sp>
      <p:sp>
        <p:nvSpPr>
          <p:cNvPr id="9" name="Text 7"/>
          <p:cNvSpPr/>
          <p:nvPr/>
        </p:nvSpPr>
        <p:spPr>
          <a:xfrm>
            <a:off x="365760" y="2788920"/>
            <a:ext cx="841248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Rewrite both sentences correctly in your notebook.</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55C8E8"/>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Daily Oral Language</a:t>
            </a:r>
            <a:endParaRPr lang="en-US" sz="2200" dirty="0"/>
          </a:p>
        </p:txBody>
      </p:sp>
      <p:sp>
        <p:nvSpPr>
          <p:cNvPr id="4" name="Text 2"/>
          <p:cNvSpPr/>
          <p:nvPr/>
        </p:nvSpPr>
        <p:spPr>
          <a:xfrm>
            <a:off x="365760" y="749808"/>
            <a:ext cx="8229600" cy="237744"/>
          </a:xfrm>
          <a:prstGeom prst="rect">
            <a:avLst/>
          </a:prstGeom>
          <a:noFill/>
          <a:ln/>
        </p:spPr>
        <p:txBody>
          <a:bodyPr wrap="square" lIns="0" tIns="0" rIns="0" bIns="0" rtlCol="0" anchor="ctr"/>
          <a:lstStyle/>
          <a:p>
            <a:pPr indent="0" marL="0">
              <a:buNone/>
            </a:pPr>
            <a:r>
              <a:rPr lang="en-US" sz="1100" b="1" spc="100" kern="0" dirty="0">
                <a:solidFill>
                  <a:srgbClr val="55C8E8"/>
                </a:solidFill>
                <a:latin typeface="Calibri" pitchFamily="34" charset="0"/>
                <a:ea typeface="Calibri" pitchFamily="34" charset="-122"/>
                <a:cs typeface="Calibri" pitchFamily="34" charset="-120"/>
              </a:rPr>
              <a:t>FIX THESE SENTENCES</a:t>
            </a:r>
            <a:endParaRPr lang="en-US" sz="1100" dirty="0"/>
          </a:p>
        </p:txBody>
      </p:sp>
      <p:sp>
        <p:nvSpPr>
          <p:cNvPr id="5" name="Shape 3"/>
          <p:cNvSpPr/>
          <p:nvPr/>
        </p:nvSpPr>
        <p:spPr>
          <a:xfrm>
            <a:off x="365760" y="1024128"/>
            <a:ext cx="8412480" cy="777240"/>
          </a:xfrm>
          <a:prstGeom prst="roundRect">
            <a:avLst>
              <a:gd name="adj" fmla="val 11765"/>
            </a:avLst>
          </a:prstGeom>
          <a:solidFill>
            <a:srgbClr val="FFFFFF"/>
          </a:solidFill>
          <a:ln w="19050">
            <a:solidFill>
              <a:srgbClr val="55C8E8"/>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94360" y="1152144"/>
            <a:ext cx="7955280" cy="52120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In the southwest, the Grand Canyon in Arizona drops over a mile deep into the earth.</a:t>
            </a:r>
            <a:endParaRPr lang="en-US" sz="1700" dirty="0"/>
          </a:p>
        </p:txBody>
      </p:sp>
      <p:sp>
        <p:nvSpPr>
          <p:cNvPr id="7" name="Shape 5"/>
          <p:cNvSpPr/>
          <p:nvPr/>
        </p:nvSpPr>
        <p:spPr>
          <a:xfrm>
            <a:off x="365760" y="1874520"/>
            <a:ext cx="8412480" cy="777240"/>
          </a:xfrm>
          <a:prstGeom prst="roundRect">
            <a:avLst>
              <a:gd name="adj" fmla="val 11765"/>
            </a:avLst>
          </a:prstGeom>
          <a:solidFill>
            <a:srgbClr val="FFFFFF"/>
          </a:solidFill>
          <a:ln w="19050">
            <a:solidFill>
              <a:srgbClr val="55C8E8"/>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94360" y="2002536"/>
            <a:ext cx="7955280" cy="52120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the midwest has wide open farmland and the great lakes which are five huge lakes that hold fresh water</a:t>
            </a:r>
            <a:endParaRPr lang="en-US" sz="1700" dirty="0"/>
          </a:p>
        </p:txBody>
      </p:sp>
      <p:sp>
        <p:nvSpPr>
          <p:cNvPr id="9" name="Shape 7"/>
          <p:cNvSpPr/>
          <p:nvPr/>
        </p:nvSpPr>
        <p:spPr>
          <a:xfrm>
            <a:off x="365760" y="2743200"/>
            <a:ext cx="8412480" cy="1417320"/>
          </a:xfrm>
          <a:prstGeom prst="roundRect">
            <a:avLst>
              <a:gd name="adj" fmla="val 6452"/>
            </a:avLst>
          </a:prstGeom>
          <a:solidFill>
            <a:srgbClr val="E8F8EF"/>
          </a:solidFill>
          <a:ln/>
          <a:effectLst>
            <a:outerShdw sx="100000" sy="100000" kx="0" ky="0" algn="bl" rotWithShape="0" blurRad="101600" dist="38100" dir="2700000">
              <a:srgbClr val="000000">
                <a:alpha val="12000"/>
              </a:srgbClr>
            </a:outerShdw>
          </a:effectLst>
        </p:spPr>
      </p:sp>
      <p:sp>
        <p:nvSpPr>
          <p:cNvPr id="10" name="Text 8"/>
          <p:cNvSpPr/>
          <p:nvPr/>
        </p:nvSpPr>
        <p:spPr>
          <a:xfrm>
            <a:off x="566928" y="2816352"/>
            <a:ext cx="8229600" cy="237744"/>
          </a:xfrm>
          <a:prstGeom prst="rect">
            <a:avLst/>
          </a:prstGeom>
          <a:noFill/>
          <a:ln/>
        </p:spPr>
        <p:txBody>
          <a:bodyPr wrap="square" lIns="0" tIns="0" rIns="0" bIns="0" rtlCol="0" anchor="ctr"/>
          <a:lstStyle/>
          <a:p>
            <a:pPr indent="0" marL="0">
              <a:buNone/>
            </a:pPr>
            <a:r>
              <a:rPr lang="en-US" sz="1100" b="1" spc="100" kern="0" dirty="0">
                <a:solidFill>
                  <a:srgbClr val="34B76F"/>
                </a:solidFill>
                <a:latin typeface="Calibri" pitchFamily="34" charset="0"/>
                <a:ea typeface="Calibri" pitchFamily="34" charset="-122"/>
                <a:cs typeface="Calibri" pitchFamily="34" charset="-120"/>
              </a:rPr>
              <a:t>✅  CORRECTED</a:t>
            </a:r>
            <a:endParaRPr lang="en-US" sz="1100" dirty="0"/>
          </a:p>
        </p:txBody>
      </p:sp>
      <p:sp>
        <p:nvSpPr>
          <p:cNvPr id="11" name="Text 9"/>
          <p:cNvSpPr/>
          <p:nvPr/>
        </p:nvSpPr>
        <p:spPr>
          <a:xfrm>
            <a:off x="566928" y="3072384"/>
            <a:ext cx="8010144" cy="68580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Corrected:</a:t>
            </a:r>
            <a:endParaRPr lang="en-US" sz="1400" dirty="0"/>
          </a:p>
          <a:p>
            <a:pPr indent="0" marL="0">
              <a:buNone/>
            </a:pPr>
            <a:endParaRPr lang="en-US" sz="1400" dirty="0"/>
          </a:p>
        </p:txBody>
      </p:sp>
      <p:sp>
        <p:nvSpPr>
          <p:cNvPr id="12" name="Text 10"/>
          <p:cNvSpPr/>
          <p:nvPr/>
        </p:nvSpPr>
        <p:spPr>
          <a:xfrm>
            <a:off x="566928" y="3767328"/>
            <a:ext cx="8010144" cy="320040"/>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The Midwest has wide-open farmland and the Great Lakes, which are five huge lakes that hold fresh water .</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5CB85C"/>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Morphology</a:t>
            </a:r>
            <a:endParaRPr lang="en-US" sz="2200" dirty="0"/>
          </a:p>
        </p:txBody>
      </p:sp>
      <p:sp>
        <p:nvSpPr>
          <p:cNvPr id="4" name="Text 2"/>
          <p:cNvSpPr/>
          <p:nvPr/>
        </p:nvSpPr>
        <p:spPr>
          <a:xfrm>
            <a:off x="365760" y="804672"/>
            <a:ext cx="8229600" cy="237744"/>
          </a:xfrm>
          <a:prstGeom prst="rect">
            <a:avLst/>
          </a:prstGeom>
          <a:noFill/>
          <a:ln/>
        </p:spPr>
        <p:txBody>
          <a:bodyPr wrap="square" lIns="0" tIns="0" rIns="0" bIns="0" rtlCol="0" anchor="ctr"/>
          <a:lstStyle/>
          <a:p>
            <a:pPr indent="0" marL="0">
              <a:buNone/>
            </a:pPr>
            <a:r>
              <a:rPr lang="en-US" sz="1100" b="1" spc="100" kern="0" dirty="0">
                <a:solidFill>
                  <a:srgbClr val="8B6FC0"/>
                </a:solidFill>
                <a:latin typeface="Calibri" pitchFamily="34" charset="0"/>
                <a:ea typeface="Calibri" pitchFamily="34" charset="-122"/>
                <a:cs typeface="Calibri" pitchFamily="34" charset="-120"/>
              </a:rPr>
              <a:t>SUFFIX -ING SHOWS ACTION HAPPENING</a:t>
            </a:r>
            <a:endParaRPr lang="en-US" sz="1100" dirty="0"/>
          </a:p>
        </p:txBody>
      </p:sp>
      <p:sp>
        <p:nvSpPr>
          <p:cNvPr id="5" name="Shape 3"/>
          <p:cNvSpPr/>
          <p:nvPr/>
        </p:nvSpPr>
        <p:spPr>
          <a:xfrm>
            <a:off x="365760" y="1097280"/>
            <a:ext cx="8412480" cy="621792"/>
          </a:xfrm>
          <a:prstGeom prst="roundRect">
            <a:avLst>
              <a:gd name="adj" fmla="val 14706"/>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16152"/>
            <a:ext cx="7863840" cy="38404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discover + -ing = discovering — drop the e, add -ing</a:t>
            </a:r>
            <a:endParaRPr lang="en-US" sz="1500" dirty="0"/>
          </a:p>
        </p:txBody>
      </p:sp>
      <p:sp>
        <p:nvSpPr>
          <p:cNvPr id="7" name="Shape 5"/>
          <p:cNvSpPr/>
          <p:nvPr/>
        </p:nvSpPr>
        <p:spPr>
          <a:xfrm>
            <a:off x="365760" y="1792224"/>
            <a:ext cx="8412480" cy="621792"/>
          </a:xfrm>
          <a:prstGeom prst="roundRect">
            <a:avLst>
              <a:gd name="adj" fmla="val 14706"/>
            </a:avLst>
          </a:prstGeom>
          <a:solidFill>
            <a:srgbClr val="F8F4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911096"/>
            <a:ext cx="7863840" cy="38404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travel + -ing = traveling — just add -ing</a:t>
            </a:r>
            <a:endParaRPr lang="en-US" sz="1500" dirty="0"/>
          </a:p>
        </p:txBody>
      </p:sp>
      <p:sp>
        <p:nvSpPr>
          <p:cNvPr id="9" name="Shape 7"/>
          <p:cNvSpPr/>
          <p:nvPr/>
        </p:nvSpPr>
        <p:spPr>
          <a:xfrm>
            <a:off x="365760" y="2487168"/>
            <a:ext cx="8412480" cy="621792"/>
          </a:xfrm>
          <a:prstGeom prst="roundRect">
            <a:avLst>
              <a:gd name="adj" fmla="val 14706"/>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606040"/>
            <a:ext cx="7863840" cy="38404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Practice: Fill in the blank!</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55C8E8"/>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Vocabulary</a:t>
            </a:r>
            <a:endParaRPr lang="en-US" sz="2200" dirty="0"/>
          </a:p>
        </p:txBody>
      </p:sp>
      <p:sp>
        <p:nvSpPr>
          <p:cNvPr id="4" name="Text 2"/>
          <p:cNvSpPr/>
          <p:nvPr/>
        </p:nvSpPr>
        <p:spPr>
          <a:xfrm>
            <a:off x="365760" y="804672"/>
            <a:ext cx="8229600" cy="237744"/>
          </a:xfrm>
          <a:prstGeom prst="rect">
            <a:avLst/>
          </a:prstGeom>
          <a:noFill/>
          <a:ln/>
        </p:spPr>
        <p:txBody>
          <a:bodyPr wrap="square" lIns="0" tIns="0" rIns="0" bIns="0" rtlCol="0" anchor="ctr"/>
          <a:lstStyle/>
          <a:p>
            <a:pPr indent="0" marL="0">
              <a:buNone/>
            </a:pPr>
            <a:r>
              <a:rPr lang="en-US" sz="1100" b="1" spc="100" kern="0" dirty="0">
                <a:solidFill>
                  <a:srgbClr val="55C8E8"/>
                </a:solidFill>
                <a:latin typeface="Calibri" pitchFamily="34" charset="0"/>
                <a:ea typeface="Calibri" pitchFamily="34" charset="-122"/>
                <a:cs typeface="Calibri" pitchFamily="34" charset="-120"/>
              </a:rPr>
              <a:t>THIS WEEK’S WORDS</a:t>
            </a:r>
            <a:endParaRPr lang="en-US" sz="1100" dirty="0"/>
          </a:p>
        </p:txBody>
      </p:sp>
      <p:sp>
        <p:nvSpPr>
          <p:cNvPr id="5" name="Shape 3"/>
          <p:cNvSpPr/>
          <p:nvPr/>
        </p:nvSpPr>
        <p:spPr>
          <a:xfrm>
            <a:off x="365760" y="1097280"/>
            <a:ext cx="8412480" cy="658368"/>
          </a:xfrm>
          <a:prstGeom prst="roundRect">
            <a:avLst>
              <a:gd name="adj" fmla="val 13889"/>
            </a:avLst>
          </a:prstGeom>
          <a:solidFill>
            <a:srgbClr val="E5F7FC"/>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25296"/>
            <a:ext cx="7863840" cy="420624"/>
          </a:xfrm>
          <a:prstGeom prst="rect">
            <a:avLst/>
          </a:prstGeom>
          <a:noFill/>
          <a:ln/>
        </p:spPr>
        <p:txBody>
          <a:bodyPr wrap="square" lIns="0" tIns="0" rIns="0" bIns="0" rtlCol="0" anchor="ctr"/>
          <a:lstStyle/>
          <a:p>
            <a:pPr indent="0" marL="0">
              <a:buNone/>
            </a:pPr>
            <a:r>
              <a:rPr lang="en-US" sz="1700" b="1" dirty="0">
                <a:solidFill>
                  <a:srgbClr val="0E1C42"/>
                </a:solidFill>
                <a:latin typeface="Calibri" pitchFamily="34" charset="0"/>
                <a:ea typeface="Calibri" pitchFamily="34" charset="-122"/>
                <a:cs typeface="Calibri" pitchFamily="34" charset="-120"/>
              </a:rPr>
              <a:t>region  </a:t>
            </a:r>
            <a:pPr indent="0" marL="0">
              <a:buNone/>
            </a:pPr>
            <a:r>
              <a:rPr lang="en-US" sz="1400" dirty="0">
                <a:solidFill>
                  <a:srgbClr val="1E293B"/>
                </a:solidFill>
                <a:latin typeface="Calibri" pitchFamily="34" charset="0"/>
                <a:ea typeface="Calibri" pitchFamily="34" charset="-122"/>
                <a:cs typeface="Calibri" pitchFamily="34" charset="-120"/>
              </a:rPr>
              <a:t>A large area of land that shares similar features.</a:t>
            </a:r>
            <a:endParaRPr lang="en-US" sz="1700" dirty="0"/>
          </a:p>
        </p:txBody>
      </p:sp>
      <p:sp>
        <p:nvSpPr>
          <p:cNvPr id="7" name="Shape 5"/>
          <p:cNvSpPr/>
          <p:nvPr/>
        </p:nvSpPr>
        <p:spPr>
          <a:xfrm>
            <a:off x="365760" y="182880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956816"/>
            <a:ext cx="7863840" cy="420624"/>
          </a:xfrm>
          <a:prstGeom prst="rect">
            <a:avLst/>
          </a:prstGeom>
          <a:noFill/>
          <a:ln/>
        </p:spPr>
        <p:txBody>
          <a:bodyPr wrap="square" lIns="0" tIns="0" rIns="0" bIns="0" rtlCol="0" anchor="ctr"/>
          <a:lstStyle/>
          <a:p>
            <a:pPr indent="0" marL="0">
              <a:buNone/>
            </a:pPr>
            <a:r>
              <a:rPr lang="en-US" sz="1700" b="1" dirty="0">
                <a:solidFill>
                  <a:srgbClr val="0E1C42"/>
                </a:solidFill>
                <a:latin typeface="Calibri" pitchFamily="34" charset="0"/>
                <a:ea typeface="Calibri" pitchFamily="34" charset="-122"/>
                <a:cs typeface="Calibri" pitchFamily="34" charset="-120"/>
              </a:rPr>
              <a:t>climate  </a:t>
            </a:r>
            <a:pPr indent="0" marL="0">
              <a:buNone/>
            </a:pPr>
            <a:r>
              <a:rPr lang="en-US" sz="1400" dirty="0">
                <a:solidFill>
                  <a:srgbClr val="1E293B"/>
                </a:solidFill>
                <a:latin typeface="Calibri" pitchFamily="34" charset="0"/>
                <a:ea typeface="Calibri" pitchFamily="34" charset="-122"/>
                <a:cs typeface="Calibri" pitchFamily="34" charset="-120"/>
              </a:rPr>
              <a:t>The typical weather in a place over a long time.</a:t>
            </a:r>
            <a:endParaRPr lang="en-US" sz="1700" dirty="0"/>
          </a:p>
        </p:txBody>
      </p:sp>
      <p:sp>
        <p:nvSpPr>
          <p:cNvPr id="9" name="Shape 7"/>
          <p:cNvSpPr/>
          <p:nvPr/>
        </p:nvSpPr>
        <p:spPr>
          <a:xfrm>
            <a:off x="365760" y="2560320"/>
            <a:ext cx="8412480" cy="658368"/>
          </a:xfrm>
          <a:prstGeom prst="roundRect">
            <a:avLst>
              <a:gd name="adj" fmla="val 13889"/>
            </a:avLst>
          </a:prstGeom>
          <a:solidFill>
            <a:srgbClr val="E5F7FC"/>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688336"/>
            <a:ext cx="7863840" cy="420624"/>
          </a:xfrm>
          <a:prstGeom prst="rect">
            <a:avLst/>
          </a:prstGeom>
          <a:noFill/>
          <a:ln/>
        </p:spPr>
        <p:txBody>
          <a:bodyPr wrap="square" lIns="0" tIns="0" rIns="0" bIns="0" rtlCol="0" anchor="ctr"/>
          <a:lstStyle/>
          <a:p>
            <a:pPr indent="0" marL="0">
              <a:buNone/>
            </a:pPr>
            <a:r>
              <a:rPr lang="en-US" sz="1700" b="1" dirty="0">
                <a:solidFill>
                  <a:srgbClr val="0E1C42"/>
                </a:solidFill>
                <a:latin typeface="Calibri" pitchFamily="34" charset="0"/>
                <a:ea typeface="Calibri" pitchFamily="34" charset="-122"/>
                <a:cs typeface="Calibri" pitchFamily="34" charset="-120"/>
              </a:rPr>
              <a:t>geography  </a:t>
            </a:r>
            <a:pPr indent="0" marL="0">
              <a:buNone/>
            </a:pPr>
            <a:r>
              <a:rPr lang="en-US" sz="1400" dirty="0">
                <a:solidFill>
                  <a:srgbClr val="1E293B"/>
                </a:solidFill>
                <a:latin typeface="Calibri" pitchFamily="34" charset="0"/>
                <a:ea typeface="Calibri" pitchFamily="34" charset="-122"/>
                <a:cs typeface="Calibri" pitchFamily="34" charset="-120"/>
              </a:rPr>
              <a:t>The study of places, land, water, and features of the earth.</a:t>
            </a:r>
            <a:endParaRPr lang="en-US" sz="1700" dirty="0"/>
          </a:p>
        </p:txBody>
      </p:sp>
      <p:sp>
        <p:nvSpPr>
          <p:cNvPr id="11" name="Shape 9"/>
          <p:cNvSpPr/>
          <p:nvPr/>
        </p:nvSpPr>
        <p:spPr>
          <a:xfrm>
            <a:off x="365760" y="329184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419856"/>
            <a:ext cx="7863840" cy="420624"/>
          </a:xfrm>
          <a:prstGeom prst="rect">
            <a:avLst/>
          </a:prstGeom>
          <a:noFill/>
          <a:ln/>
        </p:spPr>
        <p:txBody>
          <a:bodyPr wrap="square" lIns="0" tIns="0" rIns="0" bIns="0" rtlCol="0" anchor="ctr"/>
          <a:lstStyle/>
          <a:p>
            <a:pPr indent="0" marL="0">
              <a:buNone/>
            </a:pPr>
            <a:r>
              <a:rPr lang="en-US" sz="1700" b="1" dirty="0">
                <a:solidFill>
                  <a:srgbClr val="0E1C42"/>
                </a:solidFill>
                <a:latin typeface="Calibri" pitchFamily="34" charset="0"/>
                <a:ea typeface="Calibri" pitchFamily="34" charset="-122"/>
                <a:cs typeface="Calibri" pitchFamily="34" charset="-120"/>
              </a:rPr>
              <a:t>landmark  </a:t>
            </a:r>
            <a:pPr indent="0" marL="0">
              <a:buNone/>
            </a:pPr>
            <a:r>
              <a:rPr lang="en-US" sz="1400" dirty="0">
                <a:solidFill>
                  <a:srgbClr val="1E293B"/>
                </a:solidFill>
                <a:latin typeface="Calibri" pitchFamily="34" charset="0"/>
                <a:ea typeface="Calibri" pitchFamily="34" charset="-122"/>
                <a:cs typeface="Calibri" pitchFamily="34" charset="-120"/>
              </a:rPr>
              <a:t>A well-known place or object that helps people find their way.</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C7922C"/>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Grammar</a:t>
            </a:r>
            <a:endParaRPr lang="en-US" sz="2200" dirty="0"/>
          </a:p>
        </p:txBody>
      </p:sp>
      <p:sp>
        <p:nvSpPr>
          <p:cNvPr id="4" name="Text 2"/>
          <p:cNvSpPr/>
          <p:nvPr/>
        </p:nvSpPr>
        <p:spPr>
          <a:xfrm>
            <a:off x="365760" y="77724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COMMAS IN DATES AND PLACES</a:t>
            </a:r>
            <a:endParaRPr lang="en-US" sz="1100" dirty="0"/>
          </a:p>
        </p:txBody>
      </p:sp>
      <p:sp>
        <p:nvSpPr>
          <p:cNvPr id="5" name="Shape 3"/>
          <p:cNvSpPr/>
          <p:nvPr/>
        </p:nvSpPr>
        <p:spPr>
          <a:xfrm>
            <a:off x="365760" y="1078992"/>
            <a:ext cx="8412480" cy="658368"/>
          </a:xfrm>
          <a:prstGeom prst="roundRect">
            <a:avLst>
              <a:gd name="adj" fmla="val 13889"/>
            </a:avLst>
          </a:prstGeom>
          <a:solidFill>
            <a:srgbClr val="FEF6E8"/>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2529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Write your address as Tampa Florida on the envelope.</a:t>
            </a:r>
            <a:endParaRPr lang="en-US" sz="1600" dirty="0"/>
          </a:p>
        </p:txBody>
      </p:sp>
      <p:sp>
        <p:nvSpPr>
          <p:cNvPr id="7" name="Shape 5"/>
          <p:cNvSpPr/>
          <p:nvPr/>
        </p:nvSpPr>
        <p:spPr>
          <a:xfrm>
            <a:off x="365760" y="1810512"/>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95681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The trip began on April 8 2024.</a:t>
            </a:r>
            <a:endParaRPr lang="en-US" sz="1600" dirty="0"/>
          </a:p>
        </p:txBody>
      </p:sp>
      <p:sp>
        <p:nvSpPr>
          <p:cNvPr id="9" name="Shape 7"/>
          <p:cNvSpPr/>
          <p:nvPr/>
        </p:nvSpPr>
        <p:spPr>
          <a:xfrm>
            <a:off x="365760" y="2542032"/>
            <a:ext cx="8412480" cy="658368"/>
          </a:xfrm>
          <a:prstGeom prst="roundRect">
            <a:avLst>
              <a:gd name="adj" fmla="val 13889"/>
            </a:avLst>
          </a:prstGeom>
          <a:solidFill>
            <a:srgbClr val="FEF6E8"/>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68833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Send the package to Boise Idaho by Friday.</a:t>
            </a:r>
            <a:endParaRPr lang="en-US" sz="1600" dirty="0"/>
          </a:p>
        </p:txBody>
      </p:sp>
      <p:sp>
        <p:nvSpPr>
          <p:cNvPr id="11" name="Shape 9"/>
          <p:cNvSpPr/>
          <p:nvPr/>
        </p:nvSpPr>
        <p:spPr>
          <a:xfrm>
            <a:off x="365760" y="3273552"/>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41985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The museum opened on May 1 1965.</a:t>
            </a:r>
            <a:endParaRPr lang="en-US" sz="1600" dirty="0"/>
          </a:p>
        </p:txBody>
      </p:sp>
      <p:sp>
        <p:nvSpPr>
          <p:cNvPr id="13" name="Text 11"/>
          <p:cNvSpPr/>
          <p:nvPr/>
        </p:nvSpPr>
        <p:spPr>
          <a:xfrm>
            <a:off x="365760" y="4050792"/>
            <a:ext cx="8412480" cy="365760"/>
          </a:xfrm>
          <a:prstGeom prst="rect">
            <a:avLst/>
          </a:prstGeom>
          <a:noFill/>
          <a:ln/>
        </p:spPr>
        <p:txBody>
          <a:bodyPr wrap="square" lIns="0" tIns="0" rIns="0" bIns="0" rtlCol="0" anchor="ctr"/>
          <a:lstStyle/>
          <a:p>
            <a:pPr indent="0" marL="0">
              <a:buNone/>
            </a:pPr>
            <a:r>
              <a:rPr lang="en-US" sz="1500" i="1" dirty="0">
                <a:solidFill>
                  <a:srgbClr val="64748B"/>
                </a:solidFill>
                <a:latin typeface="Calibri" pitchFamily="34" charset="0"/>
                <a:ea typeface="Calibri" pitchFamily="34" charset="-122"/>
                <a:cs typeface="Calibri" pitchFamily="34" charset="-120"/>
              </a:rPr>
              <a:t>Your turn. Tap the word that a comma should come right after. Tap a word to check — green means you got it.</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C7922C"/>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Grammar</a:t>
            </a:r>
            <a:endParaRPr lang="en-US" sz="2200" dirty="0"/>
          </a:p>
        </p:txBody>
      </p:sp>
      <p:sp>
        <p:nvSpPr>
          <p:cNvPr id="4" name="Text 2"/>
          <p:cNvSpPr/>
          <p:nvPr/>
        </p:nvSpPr>
        <p:spPr>
          <a:xfrm>
            <a:off x="365760" y="77724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COMMAS IN DATES AND PLACES</a:t>
            </a:r>
            <a:endParaRPr lang="en-US" sz="1100" dirty="0"/>
          </a:p>
        </p:txBody>
      </p:sp>
      <p:sp>
        <p:nvSpPr>
          <p:cNvPr id="5" name="Shape 3"/>
          <p:cNvSpPr/>
          <p:nvPr/>
        </p:nvSpPr>
        <p:spPr>
          <a:xfrm>
            <a:off x="365760" y="1078992"/>
            <a:ext cx="8412480" cy="658368"/>
          </a:xfrm>
          <a:prstGeom prst="roundRect">
            <a:avLst>
              <a:gd name="adj" fmla="val 13889"/>
            </a:avLst>
          </a:prstGeom>
          <a:solidFill>
            <a:srgbClr val="FEF6E8"/>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2529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Write your address as </a:t>
            </a:r>
            <a:pPr indent="0" marL="0">
              <a:buNone/>
            </a:pPr>
            <a:r>
              <a:rPr lang="en-US" sz="1600" b="1" dirty="0">
                <a:solidFill>
                  <a:srgbClr val="34B76F"/>
                </a:solidFill>
                <a:latin typeface="Calibri" pitchFamily="34" charset="0"/>
                <a:ea typeface="Calibri" pitchFamily="34" charset="-122"/>
                <a:cs typeface="Calibri" pitchFamily="34" charset="-120"/>
              </a:rPr>
              <a:t>Tampa</a:t>
            </a:r>
            <a:pPr indent="0" marL="0">
              <a:buNone/>
            </a:pPr>
            <a:r>
              <a:rPr lang="en-US" sz="1600" dirty="0">
                <a:solidFill>
                  <a:srgbClr val="1E293B"/>
                </a:solidFill>
                <a:latin typeface="Calibri" pitchFamily="34" charset="0"/>
                <a:ea typeface="Calibri" pitchFamily="34" charset="-122"/>
                <a:cs typeface="Calibri" pitchFamily="34" charset="-120"/>
              </a:rPr>
              <a:t> Florida on the envelope.</a:t>
            </a:r>
            <a:endParaRPr lang="en-US" sz="1600" dirty="0"/>
          </a:p>
        </p:txBody>
      </p:sp>
      <p:sp>
        <p:nvSpPr>
          <p:cNvPr id="7" name="Shape 5"/>
          <p:cNvSpPr/>
          <p:nvPr/>
        </p:nvSpPr>
        <p:spPr>
          <a:xfrm>
            <a:off x="365760" y="1810512"/>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95681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The trip began on April </a:t>
            </a:r>
            <a:pPr indent="0" marL="0">
              <a:buNone/>
            </a:pPr>
            <a:r>
              <a:rPr lang="en-US" sz="1600" b="1" dirty="0">
                <a:solidFill>
                  <a:srgbClr val="34B76F"/>
                </a:solidFill>
                <a:latin typeface="Calibri" pitchFamily="34" charset="0"/>
                <a:ea typeface="Calibri" pitchFamily="34" charset="-122"/>
                <a:cs typeface="Calibri" pitchFamily="34" charset="-120"/>
              </a:rPr>
              <a:t>8</a:t>
            </a:r>
            <a:pPr indent="0" marL="0">
              <a:buNone/>
            </a:pPr>
            <a:r>
              <a:rPr lang="en-US" sz="1600" dirty="0">
                <a:solidFill>
                  <a:srgbClr val="1E293B"/>
                </a:solidFill>
                <a:latin typeface="Calibri" pitchFamily="34" charset="0"/>
                <a:ea typeface="Calibri" pitchFamily="34" charset="-122"/>
                <a:cs typeface="Calibri" pitchFamily="34" charset="-120"/>
              </a:rPr>
              <a:t> 2024.</a:t>
            </a:r>
            <a:endParaRPr lang="en-US" sz="1600" dirty="0"/>
          </a:p>
        </p:txBody>
      </p:sp>
      <p:sp>
        <p:nvSpPr>
          <p:cNvPr id="9" name="Shape 7"/>
          <p:cNvSpPr/>
          <p:nvPr/>
        </p:nvSpPr>
        <p:spPr>
          <a:xfrm>
            <a:off x="365760" y="2542032"/>
            <a:ext cx="8412480" cy="658368"/>
          </a:xfrm>
          <a:prstGeom prst="roundRect">
            <a:avLst>
              <a:gd name="adj" fmla="val 13889"/>
            </a:avLst>
          </a:prstGeom>
          <a:solidFill>
            <a:srgbClr val="FEF6E8"/>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68833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Send the package to </a:t>
            </a:r>
            <a:pPr indent="0" marL="0">
              <a:buNone/>
            </a:pPr>
            <a:r>
              <a:rPr lang="en-US" sz="1600" b="1" dirty="0">
                <a:solidFill>
                  <a:srgbClr val="34B76F"/>
                </a:solidFill>
                <a:latin typeface="Calibri" pitchFamily="34" charset="0"/>
                <a:ea typeface="Calibri" pitchFamily="34" charset="-122"/>
                <a:cs typeface="Calibri" pitchFamily="34" charset="-120"/>
              </a:rPr>
              <a:t>Boise</a:t>
            </a:r>
            <a:pPr indent="0" marL="0">
              <a:buNone/>
            </a:pPr>
            <a:r>
              <a:rPr lang="en-US" sz="1600" dirty="0">
                <a:solidFill>
                  <a:srgbClr val="1E293B"/>
                </a:solidFill>
                <a:latin typeface="Calibri" pitchFamily="34" charset="0"/>
                <a:ea typeface="Calibri" pitchFamily="34" charset="-122"/>
                <a:cs typeface="Calibri" pitchFamily="34" charset="-120"/>
              </a:rPr>
              <a:t> Idaho by Friday.</a:t>
            </a:r>
            <a:endParaRPr lang="en-US" sz="1600" dirty="0"/>
          </a:p>
        </p:txBody>
      </p:sp>
      <p:sp>
        <p:nvSpPr>
          <p:cNvPr id="11" name="Shape 9"/>
          <p:cNvSpPr/>
          <p:nvPr/>
        </p:nvSpPr>
        <p:spPr>
          <a:xfrm>
            <a:off x="365760" y="3273552"/>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41985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The museum opened on May </a:t>
            </a:r>
            <a:pPr indent="0" marL="0">
              <a:buNone/>
            </a:pPr>
            <a:r>
              <a:rPr lang="en-US" sz="1600" b="1" dirty="0">
                <a:solidFill>
                  <a:srgbClr val="34B76F"/>
                </a:solidFill>
                <a:latin typeface="Calibri" pitchFamily="34" charset="0"/>
                <a:ea typeface="Calibri" pitchFamily="34" charset="-122"/>
                <a:cs typeface="Calibri" pitchFamily="34" charset="-120"/>
              </a:rPr>
              <a:t>1</a:t>
            </a:r>
            <a:pPr indent="0" marL="0">
              <a:buNone/>
            </a:pPr>
            <a:r>
              <a:rPr lang="en-US" sz="1600" dirty="0">
                <a:solidFill>
                  <a:srgbClr val="1E293B"/>
                </a:solidFill>
                <a:latin typeface="Calibri" pitchFamily="34" charset="0"/>
                <a:ea typeface="Calibri" pitchFamily="34" charset="-122"/>
                <a:cs typeface="Calibri" pitchFamily="34" charset="-120"/>
              </a:rPr>
              <a:t> </a:t>
            </a:r>
            <a:pPr indent="0" marL="0">
              <a:buNone/>
            </a:pPr>
            <a:r>
              <a:rPr lang="en-US" sz="1600" b="1" dirty="0">
                <a:solidFill>
                  <a:srgbClr val="34B76F"/>
                </a:solidFill>
                <a:latin typeface="Calibri" pitchFamily="34" charset="0"/>
                <a:ea typeface="Calibri" pitchFamily="34" charset="-122"/>
                <a:cs typeface="Calibri" pitchFamily="34" charset="-120"/>
              </a:rPr>
              <a:t>1</a:t>
            </a:r>
            <a:pPr indent="0" marL="0">
              <a:buNone/>
            </a:pPr>
            <a:r>
              <a:rPr lang="en-US" sz="1600" dirty="0">
                <a:solidFill>
                  <a:srgbClr val="1E293B"/>
                </a:solidFill>
                <a:latin typeface="Calibri" pitchFamily="34" charset="0"/>
                <a:ea typeface="Calibri" pitchFamily="34" charset="-122"/>
                <a:cs typeface="Calibri" pitchFamily="34" charset="-120"/>
              </a:rPr>
              <a:t>965.</a:t>
            </a:r>
            <a:endParaRPr lang="en-US" sz="1600" dirty="0"/>
          </a:p>
        </p:txBody>
      </p:sp>
      <p:sp>
        <p:nvSpPr>
          <p:cNvPr id="13" name="Text 11"/>
          <p:cNvSpPr/>
          <p:nvPr/>
        </p:nvSpPr>
        <p:spPr>
          <a:xfrm>
            <a:off x="365760" y="4050792"/>
            <a:ext cx="8412480" cy="365760"/>
          </a:xfrm>
          <a:prstGeom prst="rect">
            <a:avLst/>
          </a:prstGeom>
          <a:noFill/>
          <a:ln/>
        </p:spPr>
        <p:txBody>
          <a:bodyPr wrap="square" lIns="0" tIns="0" rIns="0" bIns="0" rtlCol="0" anchor="ctr"/>
          <a:lstStyle/>
          <a:p>
            <a:pPr indent="0" marL="0">
              <a:buNone/>
            </a:pPr>
            <a:r>
              <a:rPr lang="en-US" sz="1500" b="1" dirty="0">
                <a:solidFill>
                  <a:srgbClr val="34B76F"/>
                </a:solidFill>
                <a:latin typeface="Calibri" pitchFamily="34" charset="0"/>
                <a:ea typeface="Calibri" pitchFamily="34" charset="-122"/>
                <a:cs typeface="Calibri" pitchFamily="34" charset="-120"/>
              </a:rPr>
              <a:t>✅  Answers revealed</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0E1C42"/>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Spelling</a:t>
            </a:r>
            <a:endParaRPr lang="en-US" sz="2200" dirty="0"/>
          </a:p>
        </p:txBody>
      </p:sp>
      <p:sp>
        <p:nvSpPr>
          <p:cNvPr id="4" name="Text 2"/>
          <p:cNvSpPr/>
          <p:nvPr/>
        </p:nvSpPr>
        <p:spPr>
          <a:xfrm>
            <a:off x="365760" y="777240"/>
            <a:ext cx="8229600" cy="237744"/>
          </a:xfrm>
          <a:prstGeom prst="rect">
            <a:avLst/>
          </a:prstGeom>
          <a:noFill/>
          <a:ln/>
        </p:spPr>
        <p:txBody>
          <a:bodyPr wrap="square" lIns="0" tIns="0" rIns="0" bIns="0" rtlCol="0" anchor="ctr"/>
          <a:lstStyle/>
          <a:p>
            <a:pPr indent="0" marL="0">
              <a:buNone/>
            </a:pPr>
            <a:r>
              <a:rPr lang="en-US" sz="1100" b="1" spc="100" kern="0" dirty="0">
                <a:solidFill>
                  <a:srgbClr val="0E1C42"/>
                </a:solidFill>
                <a:latin typeface="Calibri" pitchFamily="34" charset="0"/>
                <a:ea typeface="Calibri" pitchFamily="34" charset="-122"/>
                <a:cs typeface="Calibri" pitchFamily="34" charset="-120"/>
              </a:rPr>
              <a:t>ADDING -ED AND -ING TO BASE WORDS</a:t>
            </a:r>
            <a:endParaRPr lang="en-US" sz="1100" dirty="0"/>
          </a:p>
        </p:txBody>
      </p:sp>
      <p:sp>
        <p:nvSpPr>
          <p:cNvPr id="5" name="Text 3"/>
          <p:cNvSpPr/>
          <p:nvPr/>
        </p:nvSpPr>
        <p:spPr>
          <a:xfrm>
            <a:off x="365760" y="1078992"/>
            <a:ext cx="8229600" cy="237744"/>
          </a:xfrm>
          <a:prstGeom prst="rect">
            <a:avLst/>
          </a:prstGeom>
          <a:noFill/>
          <a:ln/>
        </p:spPr>
        <p:txBody>
          <a:bodyPr wrap="square" lIns="0" tIns="0" rIns="0" bIns="0" rtlCol="0" anchor="ctr"/>
          <a:lstStyle/>
          <a:p>
            <a:pPr indent="0" marL="0">
              <a:buNone/>
            </a:pPr>
            <a:r>
              <a:rPr lang="en-US" sz="1100" b="1" spc="100" kern="0" dirty="0">
                <a:solidFill>
                  <a:srgbClr val="64748B"/>
                </a:solidFill>
                <a:latin typeface="Calibri" pitchFamily="34" charset="0"/>
                <a:ea typeface="Calibri" pitchFamily="34" charset="-122"/>
                <a:cs typeface="Calibri" pitchFamily="34" charset="-120"/>
              </a:rPr>
              <a:t>WORD BANK</a:t>
            </a:r>
            <a:endParaRPr lang="en-US" sz="1100" dirty="0"/>
          </a:p>
        </p:txBody>
      </p:sp>
      <p:sp>
        <p:nvSpPr>
          <p:cNvPr id="6" name="Shape 4"/>
          <p:cNvSpPr/>
          <p:nvPr/>
        </p:nvSpPr>
        <p:spPr>
          <a:xfrm>
            <a:off x="365760" y="1353312"/>
            <a:ext cx="8412480" cy="1005840"/>
          </a:xfrm>
          <a:prstGeom prst="roundRect">
            <a:avLst>
              <a:gd name="adj" fmla="val 9091"/>
            </a:avLst>
          </a:prstGeom>
          <a:solidFill>
            <a:srgbClr val="FFFFFF"/>
          </a:solidFill>
          <a:ln w="19050">
            <a:solidFill>
              <a:srgbClr val="0E1C42"/>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594360" y="1481328"/>
            <a:ext cx="7955280" cy="749808"/>
          </a:xfrm>
          <a:prstGeom prst="rect">
            <a:avLst/>
          </a:prstGeom>
          <a:noFill/>
          <a:ln/>
        </p:spPr>
        <p:txBody>
          <a:bodyPr wrap="square" lIns="0" tIns="0" rIns="0" bIns="0" rtlCol="0" anchor="ctr"/>
          <a:lstStyle/>
          <a:p>
            <a:pPr indent="0" marL="0">
              <a:buNone/>
            </a:pPr>
            <a:r>
              <a:rPr lang="en-US" sz="1700" dirty="0">
                <a:solidFill>
                  <a:srgbClr val="0E1C42"/>
                </a:solidFill>
                <a:latin typeface="Calibri" pitchFamily="34" charset="0"/>
                <a:ea typeface="Calibri" pitchFamily="34" charset="-122"/>
                <a:cs typeface="Calibri" pitchFamily="34" charset="-120"/>
              </a:rPr>
              <a:t>dropped   ·   planned   ·   mapped   ·   stopped   ·   traveled   ·   mailed   ·   sorted   ·   visited</a:t>
            </a:r>
            <a:endParaRPr lang="en-US" sz="1700" dirty="0"/>
          </a:p>
        </p:txBody>
      </p:sp>
      <p:sp>
        <p:nvSpPr>
          <p:cNvPr id="8" name="Text 6"/>
          <p:cNvSpPr/>
          <p:nvPr/>
        </p:nvSpPr>
        <p:spPr>
          <a:xfrm>
            <a:off x="365760" y="2514600"/>
            <a:ext cx="8412480" cy="457200"/>
          </a:xfrm>
          <a:prstGeom prst="rect">
            <a:avLst/>
          </a:prstGeom>
          <a:noFill/>
          <a:ln/>
        </p:spPr>
        <p:txBody>
          <a:bodyPr wrap="square" lIns="0" tIns="0" rIns="0" bIns="0" rtlCol="0" anchor="ctr"/>
          <a:lstStyle/>
          <a:p>
            <a:pPr indent="0" marL="0">
              <a:buNone/>
            </a:pPr>
            <a:r>
              <a:rPr lang="en-US" sz="1500" i="1" dirty="0">
                <a:solidFill>
                  <a:srgbClr val="64748B"/>
                </a:solidFill>
                <a:latin typeface="Calibri" pitchFamily="34" charset="0"/>
                <a:ea typeface="Calibri" pitchFamily="34" charset="-122"/>
                <a:cs typeface="Calibri" pitchFamily="34" charset="-120"/>
              </a:rPr>
              <a:t>Which column does each word belong in?  Columns: double + -ed  |  add -ed</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0E1C42"/>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Spelling</a:t>
            </a:r>
            <a:endParaRPr lang="en-US" sz="2200" dirty="0"/>
          </a:p>
        </p:txBody>
      </p:sp>
      <p:sp>
        <p:nvSpPr>
          <p:cNvPr id="4" name="Text 2"/>
          <p:cNvSpPr/>
          <p:nvPr/>
        </p:nvSpPr>
        <p:spPr>
          <a:xfrm>
            <a:off x="365760" y="777240"/>
            <a:ext cx="8229600" cy="237744"/>
          </a:xfrm>
          <a:prstGeom prst="rect">
            <a:avLst/>
          </a:prstGeom>
          <a:noFill/>
          <a:ln/>
        </p:spPr>
        <p:txBody>
          <a:bodyPr wrap="square" lIns="0" tIns="0" rIns="0" bIns="0" rtlCol="0" anchor="ctr"/>
          <a:lstStyle/>
          <a:p>
            <a:pPr indent="0" marL="0">
              <a:buNone/>
            </a:pPr>
            <a:r>
              <a:rPr lang="en-US" sz="1100" b="1" spc="100" kern="0" dirty="0">
                <a:solidFill>
                  <a:srgbClr val="0E1C42"/>
                </a:solidFill>
                <a:latin typeface="Calibri" pitchFamily="34" charset="0"/>
                <a:ea typeface="Calibri" pitchFamily="34" charset="-122"/>
                <a:cs typeface="Calibri" pitchFamily="34" charset="-120"/>
              </a:rPr>
              <a:t>ADDING -ED AND -ING TO BASE WORDS</a:t>
            </a:r>
            <a:endParaRPr lang="en-US" sz="1100" dirty="0"/>
          </a:p>
        </p:txBody>
      </p:sp>
      <p:sp>
        <p:nvSpPr>
          <p:cNvPr id="5" name="Shape 3"/>
          <p:cNvSpPr/>
          <p:nvPr/>
        </p:nvSpPr>
        <p:spPr>
          <a:xfrm>
            <a:off x="411480" y="1078992"/>
            <a:ext cx="4114800" cy="457200"/>
          </a:xfrm>
          <a:prstGeom prst="roundRect">
            <a:avLst>
              <a:gd name="adj" fmla="val 16000"/>
            </a:avLst>
          </a:prstGeom>
          <a:solidFill>
            <a:srgbClr val="0E1C42"/>
          </a:solidFill>
          <a:ln/>
        </p:spPr>
      </p:sp>
      <p:sp>
        <p:nvSpPr>
          <p:cNvPr id="6" name="Text 4"/>
          <p:cNvSpPr/>
          <p:nvPr/>
        </p:nvSpPr>
        <p:spPr>
          <a:xfrm>
            <a:off x="457200" y="1133856"/>
            <a:ext cx="4023360"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double + -ed</a:t>
            </a:r>
            <a:endParaRPr lang="en-US" sz="1300" dirty="0"/>
          </a:p>
        </p:txBody>
      </p:sp>
      <p:sp>
        <p:nvSpPr>
          <p:cNvPr id="7" name="Shape 5"/>
          <p:cNvSpPr/>
          <p:nvPr/>
        </p:nvSpPr>
        <p:spPr>
          <a:xfrm>
            <a:off x="411480" y="1591056"/>
            <a:ext cx="4114800" cy="2103120"/>
          </a:xfrm>
          <a:prstGeom prst="roundRect">
            <a:avLst>
              <a:gd name="adj" fmla="val 4348"/>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502920" y="1700784"/>
            <a:ext cx="3931920" cy="1883664"/>
          </a:xfrm>
          <a:prstGeom prst="rect">
            <a:avLst/>
          </a:prstGeom>
          <a:noFill/>
          <a:ln/>
        </p:spPr>
        <p:txBody>
          <a:bodyPr wrap="square" lIns="0" tIns="0" rIns="0" bIns="0" rtlCol="0" anchor="ctr"/>
          <a:lstStyle/>
          <a:p>
            <a:pPr algn="ctr" indent="0" marL="0">
              <a:buNone/>
            </a:pPr>
            <a:r>
              <a:rPr lang="en-US" sz="1400" dirty="0">
                <a:solidFill>
                  <a:srgbClr val="1E293B"/>
                </a:solidFill>
                <a:latin typeface="Calibri" pitchFamily="34" charset="0"/>
                <a:ea typeface="Calibri" pitchFamily="34" charset="-122"/>
                <a:cs typeface="Calibri" pitchFamily="34" charset="-120"/>
              </a:rPr>
              <a:t>dropped</a:t>
            </a:r>
            <a:endParaRPr lang="en-US" sz="1400" dirty="0"/>
          </a:p>
          <a:p>
            <a:pPr algn="ctr" indent="0" marL="0">
              <a:buNone/>
            </a:pPr>
            <a:r>
              <a:rPr lang="en-US" sz="1400" dirty="0">
                <a:solidFill>
                  <a:srgbClr val="1E293B"/>
                </a:solidFill>
                <a:latin typeface="Calibri" pitchFamily="34" charset="0"/>
                <a:ea typeface="Calibri" pitchFamily="34" charset="-122"/>
                <a:cs typeface="Calibri" pitchFamily="34" charset="-120"/>
              </a:rPr>
              <a:t>planned</a:t>
            </a:r>
            <a:endParaRPr lang="en-US" sz="1400" dirty="0"/>
          </a:p>
          <a:p>
            <a:pPr algn="ctr" indent="0" marL="0">
              <a:buNone/>
            </a:pPr>
            <a:r>
              <a:rPr lang="en-US" sz="1400" dirty="0">
                <a:solidFill>
                  <a:srgbClr val="1E293B"/>
                </a:solidFill>
                <a:latin typeface="Calibri" pitchFamily="34" charset="0"/>
                <a:ea typeface="Calibri" pitchFamily="34" charset="-122"/>
                <a:cs typeface="Calibri" pitchFamily="34" charset="-120"/>
              </a:rPr>
              <a:t>mapped</a:t>
            </a:r>
            <a:endParaRPr lang="en-US" sz="1400" dirty="0"/>
          </a:p>
          <a:p>
            <a:pPr algn="ctr" indent="0" marL="0">
              <a:buNone/>
            </a:pPr>
            <a:r>
              <a:rPr lang="en-US" sz="1400" dirty="0">
                <a:solidFill>
                  <a:srgbClr val="1E293B"/>
                </a:solidFill>
                <a:latin typeface="Calibri" pitchFamily="34" charset="0"/>
                <a:ea typeface="Calibri" pitchFamily="34" charset="-122"/>
                <a:cs typeface="Calibri" pitchFamily="34" charset="-120"/>
              </a:rPr>
              <a:t>stopped</a:t>
            </a:r>
            <a:endParaRPr lang="en-US" sz="1400" dirty="0"/>
          </a:p>
        </p:txBody>
      </p:sp>
      <p:sp>
        <p:nvSpPr>
          <p:cNvPr id="9" name="Shape 7"/>
          <p:cNvSpPr/>
          <p:nvPr/>
        </p:nvSpPr>
        <p:spPr>
          <a:xfrm>
            <a:off x="4617720" y="1078992"/>
            <a:ext cx="4114800" cy="457200"/>
          </a:xfrm>
          <a:prstGeom prst="roundRect">
            <a:avLst>
              <a:gd name="adj" fmla="val 16000"/>
            </a:avLst>
          </a:prstGeom>
          <a:solidFill>
            <a:srgbClr val="0E1C42"/>
          </a:solidFill>
          <a:ln/>
        </p:spPr>
      </p:sp>
      <p:sp>
        <p:nvSpPr>
          <p:cNvPr id="10" name="Text 8"/>
          <p:cNvSpPr/>
          <p:nvPr/>
        </p:nvSpPr>
        <p:spPr>
          <a:xfrm>
            <a:off x="4663440" y="1133856"/>
            <a:ext cx="4023360"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add -ed</a:t>
            </a:r>
            <a:endParaRPr lang="en-US" sz="1300" dirty="0"/>
          </a:p>
        </p:txBody>
      </p:sp>
      <p:sp>
        <p:nvSpPr>
          <p:cNvPr id="11" name="Shape 9"/>
          <p:cNvSpPr/>
          <p:nvPr/>
        </p:nvSpPr>
        <p:spPr>
          <a:xfrm>
            <a:off x="4617720" y="1591056"/>
            <a:ext cx="4114800" cy="2103120"/>
          </a:xfrm>
          <a:prstGeom prst="roundRect">
            <a:avLst>
              <a:gd name="adj" fmla="val 4348"/>
            </a:avLst>
          </a:prstGeom>
          <a:solidFill>
            <a:srgbClr val="FFFFFF"/>
          </a:solidFill>
          <a:ln/>
          <a:effectLst>
            <a:outerShdw sx="100000" sy="100000" kx="0" ky="0" algn="bl" rotWithShape="0" blurRad="101600" dist="38100" dir="2700000">
              <a:srgbClr val="000000">
                <a:alpha val="12000"/>
              </a:srgbClr>
            </a:outerShdw>
          </a:effectLst>
        </p:spPr>
      </p:sp>
      <p:sp>
        <p:nvSpPr>
          <p:cNvPr id="12" name="Text 10"/>
          <p:cNvSpPr/>
          <p:nvPr/>
        </p:nvSpPr>
        <p:spPr>
          <a:xfrm>
            <a:off x="4709160" y="1700784"/>
            <a:ext cx="3931920" cy="1883664"/>
          </a:xfrm>
          <a:prstGeom prst="rect">
            <a:avLst/>
          </a:prstGeom>
          <a:noFill/>
          <a:ln/>
        </p:spPr>
        <p:txBody>
          <a:bodyPr wrap="square" lIns="0" tIns="0" rIns="0" bIns="0" rtlCol="0" anchor="ctr"/>
          <a:lstStyle/>
          <a:p>
            <a:pPr algn="ctr" indent="0" marL="0">
              <a:buNone/>
            </a:pPr>
            <a:r>
              <a:rPr lang="en-US" sz="1400" dirty="0">
                <a:solidFill>
                  <a:srgbClr val="1E293B"/>
                </a:solidFill>
                <a:latin typeface="Calibri" pitchFamily="34" charset="0"/>
                <a:ea typeface="Calibri" pitchFamily="34" charset="-122"/>
                <a:cs typeface="Calibri" pitchFamily="34" charset="-120"/>
              </a:rPr>
              <a:t>traveled</a:t>
            </a:r>
            <a:endParaRPr lang="en-US" sz="1400" dirty="0"/>
          </a:p>
          <a:p>
            <a:pPr algn="ctr" indent="0" marL="0">
              <a:buNone/>
            </a:pPr>
            <a:r>
              <a:rPr lang="en-US" sz="1400" dirty="0">
                <a:solidFill>
                  <a:srgbClr val="1E293B"/>
                </a:solidFill>
                <a:latin typeface="Calibri" pitchFamily="34" charset="0"/>
                <a:ea typeface="Calibri" pitchFamily="34" charset="-122"/>
                <a:cs typeface="Calibri" pitchFamily="34" charset="-120"/>
              </a:rPr>
              <a:t>mailed</a:t>
            </a:r>
            <a:endParaRPr lang="en-US" sz="1400" dirty="0"/>
          </a:p>
          <a:p>
            <a:pPr algn="ctr" indent="0" marL="0">
              <a:buNone/>
            </a:pPr>
            <a:r>
              <a:rPr lang="en-US" sz="1400" dirty="0">
                <a:solidFill>
                  <a:srgbClr val="1E293B"/>
                </a:solidFill>
                <a:latin typeface="Calibri" pitchFamily="34" charset="0"/>
                <a:ea typeface="Calibri" pitchFamily="34" charset="-122"/>
                <a:cs typeface="Calibri" pitchFamily="34" charset="-120"/>
              </a:rPr>
              <a:t>sorted</a:t>
            </a:r>
            <a:endParaRPr lang="en-US" sz="1400" dirty="0"/>
          </a:p>
          <a:p>
            <a:pPr algn="ctr" indent="0" marL="0">
              <a:buNone/>
            </a:pPr>
            <a:r>
              <a:rPr lang="en-US" sz="1400" dirty="0">
                <a:solidFill>
                  <a:srgbClr val="1E293B"/>
                </a:solidFill>
                <a:latin typeface="Calibri" pitchFamily="34" charset="0"/>
                <a:ea typeface="Calibri" pitchFamily="34" charset="-122"/>
                <a:cs typeface="Calibri" pitchFamily="34" charset="-120"/>
              </a:rPr>
              <a:t>visited</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5CB85C"/>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Read</a:t>
            </a:r>
            <a:endParaRPr lang="en-US" sz="2200" dirty="0"/>
          </a:p>
        </p:txBody>
      </p:sp>
      <p:sp>
        <p:nvSpPr>
          <p:cNvPr id="4" name="Text 2"/>
          <p:cNvSpPr/>
          <p:nvPr/>
        </p:nvSpPr>
        <p:spPr>
          <a:xfrm>
            <a:off x="365760" y="868680"/>
            <a:ext cx="8412480" cy="502920"/>
          </a:xfrm>
          <a:prstGeom prst="rect">
            <a:avLst/>
          </a:prstGeom>
          <a:noFill/>
          <a:ln/>
        </p:spPr>
        <p:txBody>
          <a:bodyPr wrap="square" lIns="0" tIns="0" rIns="0" bIns="0" rtlCol="0" anchor="ctr"/>
          <a:lstStyle/>
          <a:p>
            <a:pPr indent="0" marL="0">
              <a:buNone/>
            </a:pPr>
            <a:r>
              <a:rPr lang="en-US" sz="2600" b="1" dirty="0">
                <a:solidFill>
                  <a:srgbClr val="0E1C42"/>
                </a:solidFill>
                <a:latin typeface="Calibri" pitchFamily="34" charset="0"/>
                <a:ea typeface="Calibri" pitchFamily="34" charset="-122"/>
                <a:cs typeface="Calibri" pitchFamily="34" charset="-120"/>
              </a:rPr>
              <a:t>Interesting Places in the United States</a:t>
            </a:r>
            <a:endParaRPr lang="en-US" sz="2600" dirty="0"/>
          </a:p>
        </p:txBody>
      </p:sp>
      <p:sp>
        <p:nvSpPr>
          <p:cNvPr id="5" name="Text 3"/>
          <p:cNvSpPr/>
          <p:nvPr/>
        </p:nvSpPr>
        <p:spPr>
          <a:xfrm>
            <a:off x="365760" y="1463040"/>
            <a:ext cx="8229600" cy="237744"/>
          </a:xfrm>
          <a:prstGeom prst="rect">
            <a:avLst/>
          </a:prstGeom>
          <a:noFill/>
          <a:ln/>
        </p:spPr>
        <p:txBody>
          <a:bodyPr wrap="square" lIns="0" tIns="0" rIns="0" bIns="0" rtlCol="0" anchor="ctr"/>
          <a:lstStyle/>
          <a:p>
            <a:pPr indent="0" marL="0">
              <a:buNone/>
            </a:pPr>
            <a:r>
              <a:rPr lang="en-US" sz="1100" b="1" spc="100" kern="0" dirty="0">
                <a:solidFill>
                  <a:srgbClr val="8B6FC0"/>
                </a:solidFill>
                <a:latin typeface="Calibri" pitchFamily="34" charset="0"/>
                <a:ea typeface="Calibri" pitchFamily="34" charset="-122"/>
                <a:cs typeface="Calibri" pitchFamily="34" charset="-120"/>
              </a:rPr>
              <a:t>COPYWORK — FROM THE NOVEL</a:t>
            </a:r>
            <a:endParaRPr lang="en-US" sz="1100" dirty="0"/>
          </a:p>
        </p:txBody>
      </p:sp>
      <p:sp>
        <p:nvSpPr>
          <p:cNvPr id="6" name="Shape 4"/>
          <p:cNvSpPr/>
          <p:nvPr/>
        </p:nvSpPr>
        <p:spPr>
          <a:xfrm>
            <a:off x="365760" y="1719072"/>
            <a:ext cx="8412480" cy="1143000"/>
          </a:xfrm>
          <a:prstGeom prst="roundRect">
            <a:avLst>
              <a:gd name="adj" fmla="val 8000"/>
            </a:avLst>
          </a:prstGeom>
          <a:solidFill>
            <a:srgbClr val="F0E8FF"/>
          </a:solidFill>
          <a:ln w="19050">
            <a:solidFill>
              <a:srgbClr val="8B6FC0"/>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594360" y="1847088"/>
            <a:ext cx="7955280" cy="88696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“No matter where you travel in the United States, you will find something different — a new climate, new food, and new history to discover.”</a:t>
            </a:r>
            <a:endParaRPr lang="en-US" sz="1700" dirty="0"/>
          </a:p>
        </p:txBody>
      </p:sp>
      <p:sp>
        <p:nvSpPr>
          <p:cNvPr id="8" name="Text 6"/>
          <p:cNvSpPr/>
          <p:nvPr/>
        </p:nvSpPr>
        <p:spPr>
          <a:xfrm>
            <a:off x="365760" y="301752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PAUSE &amp; THINK</a:t>
            </a:r>
            <a:endParaRPr lang="en-US" sz="1100" dirty="0"/>
          </a:p>
        </p:txBody>
      </p:sp>
      <p:sp>
        <p:nvSpPr>
          <p:cNvPr id="9" name="Text 7"/>
          <p:cNvSpPr/>
          <p:nvPr/>
        </p:nvSpPr>
        <p:spPr>
          <a:xfrm>
            <a:off x="365760" y="3273552"/>
            <a:ext cx="8412480" cy="91440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Stop after the midwest and the Great Lakes. The region names organize this passage the way headings do. Without reading ahead, what do you already know the last two sections will be about — and how do the region names tell you?</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Optima Academy Online</dc:creator>
  <cp:lastModifiedBy>Optima Academy Online</cp:lastModifiedBy>
  <cp:revision>1</cp:revision>
  <dcterms:created xsi:type="dcterms:W3CDTF">2026-09-09T02:48:06Z</dcterms:created>
  <dcterms:modified xsi:type="dcterms:W3CDTF">2026-09-09T02:48:06Z</dcterms:modified>
</cp:coreProperties>
</file>