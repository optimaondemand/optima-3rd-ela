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7.3. Reading: Interesting Places in the United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Today, practice: Use text features to understand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The Midwest has wide-open farmland and the Great Lakes, which are five huge lakes that hold fresh water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The Midwest has wide-open farmland and the Great Lakes, which are five huge lakes that hold fresh water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Tampa, 8, Boise,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Tampa, 8, Boise,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 -ed: dropped, planned, mapped, stopped | add -ed: traveled, mailed, sorted, 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 -ed: dropped, planned, mapped, stopped | add -ed: traveled, mailed, sorted, 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Nonfiction: Maps, Mail &amp; Places</a:t>
            </a:r>
            <a:endParaRPr lang="en-US" sz="26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CB85C"/>
                </a:solidFill>
                <a:latin typeface="Calibri" pitchFamily="34" charset="0"/>
                <a:ea typeface="Calibri" pitchFamily="34" charset="-122"/>
                <a:cs typeface="Calibri" pitchFamily="34" charset="-120"/>
              </a:rPr>
              <a:t>Lesson 7.3  ·  Interesting Places in the United States</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Diligence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a place you can find on a map that means something to you.</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a place you can find on a map that means something to you.</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for every place name?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CB85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Interesting Places in the United States</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Stop after the midwest and the Great Lakes. The region names organize this passage the way headings do. Without reading ahead, what do you already know the last two sections will be about — and how do the region names tell you?</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Today, practice: Use text features to understand information.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In the southwest, the Grand Canyon in Arizona drops over a mile deep into the earth.</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midwest has wide open farmland and the great lakes which are five huge lakes that hold fresh water</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In the southwest, the Grand Canyon in Arizona drops over a mile deep into the earth.</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midwest has wide open farmland and the great lakes which are five huge lakes that hold fresh water</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The Midwest has wide-open farmland and the Great Lakes, which are five huge lakes that hold fresh water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CB85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SUFFIX -ING SHOWS ACTION HAPPENING</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discover + -ing = discovering — drop the e, add -ing</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travel + -ing = traveling — just add -ing</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Fill in the blank!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THIS WEEK’S WORDS</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region  </a:t>
            </a:r>
            <a:pPr indent="0" marL="0">
              <a:buNone/>
            </a:pPr>
            <a:r>
              <a:rPr lang="en-US" sz="1400" dirty="0">
                <a:solidFill>
                  <a:srgbClr val="1E293B"/>
                </a:solidFill>
                <a:latin typeface="Calibri" pitchFamily="34" charset="0"/>
                <a:ea typeface="Calibri" pitchFamily="34" charset="-122"/>
                <a:cs typeface="Calibri" pitchFamily="34" charset="-120"/>
              </a:rPr>
              <a:t>A large area of land that shares similar features.</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climate  </a:t>
            </a:r>
            <a:pPr indent="0" marL="0">
              <a:buNone/>
            </a:pPr>
            <a:r>
              <a:rPr lang="en-US" sz="1400" dirty="0">
                <a:solidFill>
                  <a:srgbClr val="1E293B"/>
                </a:solidFill>
                <a:latin typeface="Calibri" pitchFamily="34" charset="0"/>
                <a:ea typeface="Calibri" pitchFamily="34" charset="-122"/>
                <a:cs typeface="Calibri" pitchFamily="34" charset="-120"/>
              </a:rPr>
              <a:t>The typical weather in a place over a long time.</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geography  </a:t>
            </a:r>
            <a:pPr indent="0" marL="0">
              <a:buNone/>
            </a:pPr>
            <a:r>
              <a:rPr lang="en-US" sz="1400" dirty="0">
                <a:solidFill>
                  <a:srgbClr val="1E293B"/>
                </a:solidFill>
                <a:latin typeface="Calibri" pitchFamily="34" charset="0"/>
                <a:ea typeface="Calibri" pitchFamily="34" charset="-122"/>
                <a:cs typeface="Calibri" pitchFamily="34" charset="-120"/>
              </a:rPr>
              <a:t>The study of places, land, water, and features of the earth.</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landmark  </a:t>
            </a:r>
            <a:pPr indent="0" marL="0">
              <a:buNone/>
            </a:pPr>
            <a:r>
              <a:rPr lang="en-US" sz="1400" dirty="0">
                <a:solidFill>
                  <a:srgbClr val="1E293B"/>
                </a:solidFill>
                <a:latin typeface="Calibri" pitchFamily="34" charset="0"/>
                <a:ea typeface="Calibri" pitchFamily="34" charset="-122"/>
                <a:cs typeface="Calibri" pitchFamily="34" charset="-120"/>
              </a:rPr>
              <a:t>A well-known place or object that helps people find their way.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DATES AND PLACES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Write your address as Tampa Florida on the envelope.</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trip began on April 8 2024.</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Send the package to Boise Idaho by Friday.</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museum opened on May 1 1965.</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the word that a comma should come right after. Tap a word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DATES AND PLACES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Write your address as </a:t>
            </a:r>
            <a:pPr indent="0" marL="0">
              <a:buNone/>
            </a:pPr>
            <a:r>
              <a:rPr lang="en-US" sz="1600" b="1" dirty="0">
                <a:solidFill>
                  <a:srgbClr val="34B76F"/>
                </a:solidFill>
                <a:latin typeface="Calibri" pitchFamily="34" charset="0"/>
                <a:ea typeface="Calibri" pitchFamily="34" charset="-122"/>
                <a:cs typeface="Calibri" pitchFamily="34" charset="-120"/>
              </a:rPr>
              <a:t>Tampa</a:t>
            </a:r>
            <a:pPr indent="0" marL="0">
              <a:buNone/>
            </a:pPr>
            <a:r>
              <a:rPr lang="en-US" sz="1600" dirty="0">
                <a:solidFill>
                  <a:srgbClr val="1E293B"/>
                </a:solidFill>
                <a:latin typeface="Calibri" pitchFamily="34" charset="0"/>
                <a:ea typeface="Calibri" pitchFamily="34" charset="-122"/>
                <a:cs typeface="Calibri" pitchFamily="34" charset="-120"/>
              </a:rPr>
              <a:t> Florida on the envelope.</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trip began on April </a:t>
            </a:r>
            <a:pPr indent="0" marL="0">
              <a:buNone/>
            </a:pPr>
            <a:r>
              <a:rPr lang="en-US" sz="1600" b="1" dirty="0">
                <a:solidFill>
                  <a:srgbClr val="34B76F"/>
                </a:solidFill>
                <a:latin typeface="Calibri" pitchFamily="34" charset="0"/>
                <a:ea typeface="Calibri" pitchFamily="34" charset="-122"/>
                <a:cs typeface="Calibri" pitchFamily="34" charset="-120"/>
              </a:rPr>
              <a:t>8</a:t>
            </a:r>
            <a:pPr indent="0" marL="0">
              <a:buNone/>
            </a:pPr>
            <a:r>
              <a:rPr lang="en-US" sz="1600" dirty="0">
                <a:solidFill>
                  <a:srgbClr val="1E293B"/>
                </a:solidFill>
                <a:latin typeface="Calibri" pitchFamily="34" charset="0"/>
                <a:ea typeface="Calibri" pitchFamily="34" charset="-122"/>
                <a:cs typeface="Calibri" pitchFamily="34" charset="-120"/>
              </a:rPr>
              <a:t> 2024.</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Send the package to </a:t>
            </a:r>
            <a:pPr indent="0" marL="0">
              <a:buNone/>
            </a:pPr>
            <a:r>
              <a:rPr lang="en-US" sz="1600" b="1" dirty="0">
                <a:solidFill>
                  <a:srgbClr val="34B76F"/>
                </a:solidFill>
                <a:latin typeface="Calibri" pitchFamily="34" charset="0"/>
                <a:ea typeface="Calibri" pitchFamily="34" charset="-122"/>
                <a:cs typeface="Calibri" pitchFamily="34" charset="-120"/>
              </a:rPr>
              <a:t>Boise</a:t>
            </a:r>
            <a:pPr indent="0" marL="0">
              <a:buNone/>
            </a:pPr>
            <a:r>
              <a:rPr lang="en-US" sz="1600" dirty="0">
                <a:solidFill>
                  <a:srgbClr val="1E293B"/>
                </a:solidFill>
                <a:latin typeface="Calibri" pitchFamily="34" charset="0"/>
                <a:ea typeface="Calibri" pitchFamily="34" charset="-122"/>
                <a:cs typeface="Calibri" pitchFamily="34" charset="-120"/>
              </a:rPr>
              <a:t> Idaho by Friday.</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museum opened on May </a:t>
            </a:r>
            <a:pPr indent="0" marL="0">
              <a:buNone/>
            </a:pPr>
            <a:r>
              <a:rPr lang="en-US" sz="1600" b="1" dirty="0">
                <a:solidFill>
                  <a:srgbClr val="34B76F"/>
                </a:solidFill>
                <a:latin typeface="Calibri" pitchFamily="34" charset="0"/>
                <a:ea typeface="Calibri" pitchFamily="34" charset="-122"/>
                <a:cs typeface="Calibri" pitchFamily="34" charset="-120"/>
              </a:rPr>
              <a:t>1</a:t>
            </a:r>
            <a:pPr indent="0" marL="0">
              <a:buNone/>
            </a:pPr>
            <a:r>
              <a:rPr lang="en-US" sz="1600" dirty="0">
                <a:solidFill>
                  <a:srgbClr val="1E293B"/>
                </a:solidFill>
                <a:latin typeface="Calibri" pitchFamily="34" charset="0"/>
                <a:ea typeface="Calibri" pitchFamily="34" charset="-122"/>
                <a:cs typeface="Calibri" pitchFamily="34" charset="-120"/>
              </a:rPr>
              <a:t> </a:t>
            </a:r>
            <a:pPr indent="0" marL="0">
              <a:buNone/>
            </a:pPr>
            <a:r>
              <a:rPr lang="en-US" sz="1600" b="1" dirty="0">
                <a:solidFill>
                  <a:srgbClr val="34B76F"/>
                </a:solidFill>
                <a:latin typeface="Calibri" pitchFamily="34" charset="0"/>
                <a:ea typeface="Calibri" pitchFamily="34" charset="-122"/>
                <a:cs typeface="Calibri" pitchFamily="34" charset="-120"/>
              </a:rPr>
              <a:t>1</a:t>
            </a:r>
            <a:pPr indent="0" marL="0">
              <a:buNone/>
            </a:pPr>
            <a:r>
              <a:rPr lang="en-US" sz="1600" dirty="0">
                <a:solidFill>
                  <a:srgbClr val="1E293B"/>
                </a:solidFill>
                <a:latin typeface="Calibri" pitchFamily="34" charset="0"/>
                <a:ea typeface="Calibri" pitchFamily="34" charset="-122"/>
                <a:cs typeface="Calibri" pitchFamily="34" charset="-120"/>
              </a:rPr>
              <a:t>965.</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ADDING -ED AND -ING TO BASE WORDS</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dropped   ·   planned   ·   mapped   ·   stopped   ·   traveled   ·   mailed   ·   sorted   ·   visited</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double + -ed  |  add -ed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ADDING -ED AND -ING TO BASE WORDS</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double + -ed</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dropped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planned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mapped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stopped</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 -ed</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traveled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mailed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sorted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visited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CB85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Interesting Places in the United States</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“No matter where you travel in the United States, you will find something different — a new climate, new food, and new history to discover.”</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Stop after the midwest and the Great Lakes. The region names organize this passage the way headings do. Without reading ahead, what do you already know the last two sections will be about — and how do the region names tell you?</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2026-09-08T13:30:00Z</dcterms:created>
  <dcterms:modified xsi:type="dcterms:W3CDTF">2026-09-08T13:30:00Z</dcterms:modified>
</cp:coreProperties>
</file>