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slide for Week 28 Day 2. The Lion, the Witch and the Wardrobe.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prompt aloud once. Give students about 1 minute to read it again silently and think. Remind them: there is no wrong answer — just write what comes to mind. Advance to the writing slide when ready.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a 5-minute timer. Walk the room quietly. If a student stops, gently encourage them: "Keep writing — even one more sentence." The goal is sustained writing, not perfection. Do not interrupt to correct spelling or grammar during this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a 1-minute timer. Remind students: we are only fixing ONE thing today — Did I explain what I think the words mean?. They should also do a quick conventions check (capitals, punctuation, spelling). They do NOT need to rewrite — just fix and improve. Revision = improving ideas; Editing = fixing conventions. Keep them separate in your language.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Call on 3-5 students to share. Respond with genuine interest: "I love how you described that" or "That's a really interesting idea." Avoid correcting grammar or spelling during share time — this is about celebrating writing. If time is short, have 2-3 students share in chat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the big question and reading lens with students before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model sentence aloud. Ask students: what do you notice about the punctuation and capitalization?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students 1-2 minutes to fix the sentence. Walk the room and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the corrected version. Point out each fix: capitalization, punctuation, spelling.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morphology focus. Have students identify the base word and affix in each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vocabulary word. For flip cards, have students guess the definition before revealing.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focus slide. Use pause-and-think questions during reading. Copywork can be done after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to the writing workshop assignment in Canvas.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3A5C"/>
        </a:solidFill>
      </p:bgPr>
    </p:bg>
    <p:spTree>
      <p:nvGrpSpPr>
        <p:cNvPr id="1" name=""/>
        <p:cNvGrpSpPr/>
        <p:nvPr/>
      </p:nvGrpSpPr>
      <p:grpSpPr>
        <a:xfrm>
          <a:off x="0" y="0"/>
          <a:ext cx="0" cy="0"/>
          <a:chOff x="0" y="0"/>
          <a:chExt cx="0" cy="0"/>
        </a:xfrm>
      </p:grpSpPr>
      <p:sp>
        <p:nvSpPr>
          <p:cNvPr id="2" name="Text 0"/>
          <p:cNvSpPr/>
          <p:nvPr/>
        </p:nvSpPr>
        <p:spPr>
          <a:xfrm>
            <a:off x="457200" y="914400"/>
            <a:ext cx="8229600" cy="1097280"/>
          </a:xfrm>
          <a:prstGeom prst="rect">
            <a:avLst/>
          </a:prstGeom>
          <a:noFill/>
          <a:ln/>
        </p:spPr>
        <p:txBody>
          <a:bodyPr wrap="square" lIns="0" tIns="0" rIns="0" bIns="0" rtlCol="0" anchor="ctr"/>
          <a:lstStyle/>
          <a:p>
            <a:pPr algn="ctr" indent="0" marL="0">
              <a:buNone/>
            </a:pPr>
            <a:r>
              <a:rPr lang="en-US" sz="4000" b="1" dirty="0">
                <a:solidFill>
                  <a:srgbClr val="FFFFFF"/>
                </a:solidFill>
                <a:latin typeface="Calibri" pitchFamily="34" charset="0"/>
                <a:ea typeface="Calibri" pitchFamily="34" charset="-122"/>
                <a:cs typeface="Calibri" pitchFamily="34" charset="-120"/>
              </a:rPr>
              <a:t>🦁  Week 28 · Day 2</a:t>
            </a:r>
            <a:endParaRPr lang="en-US" sz="4000" dirty="0"/>
          </a:p>
        </p:txBody>
      </p:sp>
      <p:sp>
        <p:nvSpPr>
          <p:cNvPr id="3" name="Text 1"/>
          <p:cNvSpPr/>
          <p:nvPr/>
        </p:nvSpPr>
        <p:spPr>
          <a:xfrm>
            <a:off x="457200" y="2103120"/>
            <a:ext cx="8229600" cy="731520"/>
          </a:xfrm>
          <a:prstGeom prst="rect">
            <a:avLst/>
          </a:prstGeom>
          <a:noFill/>
          <a:ln/>
        </p:spPr>
        <p:txBody>
          <a:bodyPr wrap="square" lIns="0" tIns="0" rIns="0" bIns="0" rtlCol="0" anchor="ctr"/>
          <a:lstStyle/>
          <a:p>
            <a:pPr algn="ctr" indent="0" marL="0">
              <a:buNone/>
            </a:pPr>
            <a:r>
              <a:rPr lang="en-US" sz="1800" dirty="0">
                <a:solidFill>
                  <a:srgbClr val="4A90D9"/>
                </a:solidFill>
                <a:latin typeface="Calibri" pitchFamily="34" charset="0"/>
                <a:ea typeface="Calibri" pitchFamily="34" charset="-122"/>
                <a:cs typeface="Calibri" pitchFamily="34" charset="-120"/>
              </a:rPr>
              <a:t>The Lion, the Witch and the Wardrobe — Lesson 28.2</a:t>
            </a:r>
            <a:endParaRPr lang="en-US" sz="1800" dirty="0"/>
          </a:p>
        </p:txBody>
      </p:sp>
      <p:sp>
        <p:nvSpPr>
          <p:cNvPr id="4" name="Text 2"/>
          <p:cNvSpPr/>
          <p:nvPr/>
        </p:nvSpPr>
        <p:spPr>
          <a:xfrm>
            <a:off x="457200" y="4114800"/>
            <a:ext cx="8229600" cy="457200"/>
          </a:xfrm>
          <a:prstGeom prst="rect">
            <a:avLst/>
          </a:prstGeom>
          <a:noFill/>
          <a:ln/>
        </p:spPr>
        <p:txBody>
          <a:bodyPr wrap="square" lIns="0" tIns="0" rIns="0" bIns="0" rtlCol="0" anchor="ctr"/>
          <a:lstStyle/>
          <a:p>
            <a:pPr algn="ctr" indent="0" marL="0">
              <a:buNone/>
            </a:pPr>
            <a:r>
              <a:rPr lang="en-US" sz="1300" dirty="0">
                <a:solidFill>
                  <a:srgbClr val="AAAAAA"/>
                </a:solidFill>
                <a:latin typeface="Calibri" pitchFamily="34" charset="0"/>
                <a:ea typeface="Calibri" pitchFamily="34" charset="-122"/>
                <a:cs typeface="Calibri" pitchFamily="34" charset="-120"/>
              </a:rPr>
              <a:t>Optima Academy Online · 3rd Grade ELA</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10-Minute Write</a:t>
            </a:r>
            <a:endParaRPr lang="en-US" sz="2800" dirty="0"/>
          </a:p>
        </p:txBody>
      </p:sp>
      <p:sp>
        <p:nvSpPr>
          <p:cNvPr id="3" name="Shape 1"/>
          <p:cNvSpPr/>
          <p:nvPr/>
        </p:nvSpPr>
        <p:spPr>
          <a:xfrm>
            <a:off x="365760" y="749808"/>
            <a:ext cx="8412480" cy="0"/>
          </a:xfrm>
          <a:prstGeom prst="line">
            <a:avLst/>
          </a:prstGeom>
          <a:noFill/>
          <a:ln w="19050">
            <a:solidFill>
              <a:srgbClr val="C7922C"/>
            </a:solidFill>
            <a:prstDash val="solid"/>
          </a:ln>
        </p:spPr>
      </p:sp>
      <p:sp>
        <p:nvSpPr>
          <p:cNvPr id="4" name="Text 2"/>
          <p:cNvSpPr/>
          <p:nvPr/>
        </p:nvSpPr>
        <p:spPr>
          <a:xfrm>
            <a:off x="457200" y="100584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 READ THE PROMPT — 1 MINUTE</a:t>
            </a:r>
            <a:endParaRPr lang="en-US" sz="1100" dirty="0"/>
          </a:p>
        </p:txBody>
      </p:sp>
      <p:sp>
        <p:nvSpPr>
          <p:cNvPr id="5" name="Shape 3"/>
          <p:cNvSpPr/>
          <p:nvPr/>
        </p:nvSpPr>
        <p:spPr>
          <a:xfrm>
            <a:off x="457200" y="1417320"/>
            <a:ext cx="8229600" cy="1645920"/>
          </a:xfrm>
          <a:prstGeom prst="roundRect">
            <a:avLst>
              <a:gd name="adj" fmla="val 5556"/>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640080" y="1527048"/>
            <a:ext cx="7863840" cy="141732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Aslan is described as good but not safe. What do you think it means for someone to be good but not safe? Can you think of an example from real life?</a:t>
            </a:r>
            <a:endParaRPr lang="en-US" sz="1800" dirty="0"/>
          </a:p>
        </p:txBody>
      </p:sp>
      <p:sp>
        <p:nvSpPr>
          <p:cNvPr id="7" name="Text 5"/>
          <p:cNvSpPr/>
          <p:nvPr/>
        </p:nvSpPr>
        <p:spPr>
          <a:xfrm>
            <a:off x="640080" y="3246120"/>
            <a:ext cx="7863840" cy="457200"/>
          </a:xfrm>
          <a:prstGeom prst="rect">
            <a:avLst/>
          </a:prstGeom>
          <a:noFill/>
          <a:ln/>
        </p:spPr>
        <p:txBody>
          <a:bodyPr wrap="square" lIns="0" tIns="0" rIns="0" bIns="0" rtlCol="0" anchor="ctr"/>
          <a:lstStyle/>
          <a:p>
            <a:pPr indent="0" marL="0">
              <a:buNone/>
            </a:pPr>
            <a:r>
              <a:rPr lang="en-US" sz="1400" b="1" dirty="0">
                <a:solidFill>
                  <a:srgbClr val="0E1C42"/>
                </a:solidFill>
                <a:latin typeface="Calibri" pitchFamily="34" charset="0"/>
                <a:ea typeface="Calibri" pitchFamily="34" charset="-122"/>
                <a:cs typeface="Calibri" pitchFamily="34" charset="-120"/>
              </a:rPr>
              <a:t>Type in the chat </a:t>
            </a:r>
            <a:pPr indent="0" marL="0">
              <a:buNone/>
            </a:pPr>
            <a:r>
              <a:rPr lang="en-US" sz="1400" dirty="0">
                <a:solidFill>
                  <a:srgbClr val="1E293B"/>
                </a:solidFill>
                <a:latin typeface="Calibri" pitchFamily="34" charset="0"/>
                <a:ea typeface="Calibri" pitchFamily="34" charset="-122"/>
                <a:cs typeface="Calibri" pitchFamily="34" charset="-120"/>
              </a:rPr>
              <a:t>or </a:t>
            </a:r>
            <a:pPr indent="0" marL="0">
              <a:buNone/>
            </a:pPr>
            <a:r>
              <a:rPr lang="en-US" sz="1400" b="1" dirty="0">
                <a:solidFill>
                  <a:srgbClr val="0E1C42"/>
                </a:solidFill>
                <a:latin typeface="Calibri" pitchFamily="34" charset="0"/>
                <a:ea typeface="Calibri" pitchFamily="34" charset="-122"/>
                <a:cs typeface="Calibri" pitchFamily="34" charset="-120"/>
              </a:rPr>
              <a:t>write on paper</a:t>
            </a:r>
            <a:pPr indent="0" marL="0">
              <a:buNone/>
            </a:pPr>
            <a:r>
              <a:rPr lang="en-US" sz="1400" dirty="0">
                <a:solidFill>
                  <a:srgbClr val="1E293B"/>
                </a:solidFill>
                <a:latin typeface="Calibri" pitchFamily="34" charset="0"/>
                <a:ea typeface="Calibri" pitchFamily="34" charset="-122"/>
                <a:cs typeface="Calibri" pitchFamily="34" charset="-120"/>
              </a:rPr>
              <a:t> to hold up when we share.</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EF6E8"/>
        </a:solidFill>
      </p:bgPr>
    </p:bg>
    <p:spTree>
      <p:nvGrpSpPr>
        <p:cNvPr id="1" name=""/>
        <p:cNvGrpSpPr/>
        <p:nvPr/>
      </p:nvGrpSpPr>
      <p:grpSpPr>
        <a:xfrm>
          <a:off x="0" y="0"/>
          <a:ext cx="0" cy="0"/>
          <a:chOff x="0" y="0"/>
          <a:chExt cx="0" cy="0"/>
        </a:xfrm>
      </p:grpSpPr>
      <p:sp>
        <p:nvSpPr>
          <p:cNvPr id="2" name="Text 0"/>
          <p:cNvSpPr/>
          <p:nvPr/>
        </p:nvSpPr>
        <p:spPr>
          <a:xfrm>
            <a:off x="457200" y="228600"/>
            <a:ext cx="8229600" cy="640080"/>
          </a:xfrm>
          <a:prstGeom prst="rect">
            <a:avLst/>
          </a:prstGeom>
          <a:noFill/>
          <a:ln/>
        </p:spPr>
        <p:txBody>
          <a:bodyPr wrap="square" lIns="0" tIns="0" rIns="0" bIns="0" rtlCol="0" anchor="ctr"/>
          <a:lstStyle/>
          <a:p>
            <a:pPr algn="ctr" indent="0" marL="0">
              <a:buNone/>
            </a:pPr>
            <a:r>
              <a:rPr lang="en-US" sz="3200" b="1" dirty="0">
                <a:solidFill>
                  <a:srgbClr val="0E1C42"/>
                </a:solidFill>
                <a:latin typeface="Calibri" pitchFamily="34" charset="0"/>
                <a:ea typeface="Calibri" pitchFamily="34" charset="-122"/>
                <a:cs typeface="Calibri" pitchFamily="34" charset="-120"/>
              </a:rPr>
              <a:t>✏️  Writing Time</a:t>
            </a:r>
            <a:endParaRPr lang="en-US" sz="3200" dirty="0"/>
          </a:p>
        </p:txBody>
      </p:sp>
      <p:sp>
        <p:nvSpPr>
          <p:cNvPr id="3" name="Text 1"/>
          <p:cNvSpPr/>
          <p:nvPr/>
        </p:nvSpPr>
        <p:spPr>
          <a:xfrm>
            <a:off x="914400" y="822960"/>
            <a:ext cx="7315200" cy="365760"/>
          </a:xfrm>
          <a:prstGeom prst="rect">
            <a:avLst/>
          </a:prstGeom>
          <a:noFill/>
          <a:ln/>
        </p:spPr>
        <p:txBody>
          <a:bodyPr wrap="square" lIns="0" tIns="0" rIns="0" bIns="0" rtlCol="0" anchor="ctr"/>
          <a:lstStyle/>
          <a:p>
            <a:pPr algn="ctr" indent="0" marL="0">
              <a:buNone/>
            </a:pPr>
            <a:r>
              <a:rPr lang="en-US" sz="1600" dirty="0">
                <a:solidFill>
                  <a:srgbClr val="C7922C"/>
                </a:solidFill>
                <a:latin typeface="Calibri" pitchFamily="34" charset="0"/>
                <a:ea typeface="Calibri" pitchFamily="34" charset="-122"/>
                <a:cs typeface="Calibri" pitchFamily="34" charset="-120"/>
              </a:rPr>
              <a:t>5 minutes — keep your pencil moving!</a:t>
            </a:r>
            <a:endParaRPr lang="en-US" sz="1600" dirty="0"/>
          </a:p>
        </p:txBody>
      </p:sp>
      <p:sp>
        <p:nvSpPr>
          <p:cNvPr id="4" name="Shape 2"/>
          <p:cNvSpPr/>
          <p:nvPr/>
        </p:nvSpPr>
        <p:spPr>
          <a:xfrm>
            <a:off x="457200" y="1371600"/>
            <a:ext cx="8229600" cy="1280160"/>
          </a:xfrm>
          <a:prstGeom prst="roundRect">
            <a:avLst>
              <a:gd name="adj" fmla="val 7143"/>
            </a:avLst>
          </a:prstGeom>
          <a:solidFill>
            <a:srgbClr val="FFFFFF"/>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5" name="Text 3"/>
          <p:cNvSpPr/>
          <p:nvPr/>
        </p:nvSpPr>
        <p:spPr>
          <a:xfrm>
            <a:off x="640080" y="1417320"/>
            <a:ext cx="7863840" cy="1188720"/>
          </a:xfrm>
          <a:prstGeom prst="rect">
            <a:avLst/>
          </a:prstGeom>
          <a:noFill/>
          <a:ln/>
        </p:spPr>
        <p:txBody>
          <a:bodyPr wrap="square" lIns="0" tIns="0" rIns="0" bIns="0" rtlCol="0" anchor="t"/>
          <a:lstStyle/>
          <a:p>
            <a:pPr indent="0" marL="0">
              <a:buNone/>
            </a:pPr>
            <a:r>
              <a:rPr lang="en-US" sz="1200" b="1" dirty="0">
                <a:solidFill>
                  <a:srgbClr val="C7922C"/>
                </a:solidFill>
                <a:latin typeface="Calibri" pitchFamily="34" charset="0"/>
                <a:ea typeface="Calibri" pitchFamily="34" charset="-122"/>
                <a:cs typeface="Calibri" pitchFamily="34" charset="-120"/>
              </a:rPr>
              <a:t>📖 Prompt: </a:t>
            </a:r>
            <a:pPr indent="0" marL="0">
              <a:buNone/>
            </a:pPr>
            <a:r>
              <a:rPr lang="en-US" sz="1200" i="1" dirty="0">
                <a:solidFill>
                  <a:srgbClr val="1E293B"/>
                </a:solidFill>
                <a:latin typeface="Calibri" pitchFamily="34" charset="0"/>
                <a:ea typeface="Calibri" pitchFamily="34" charset="-122"/>
                <a:cs typeface="Calibri" pitchFamily="34" charset="-120"/>
              </a:rPr>
              <a:t>Aslan is described as good but not safe. What do you think it means for someone to be good but not safe? Can you think of an example from real life?</a:t>
            </a:r>
            <a:endParaRPr lang="en-US" sz="1200" dirty="0"/>
          </a:p>
        </p:txBody>
      </p:sp>
      <p:sp>
        <p:nvSpPr>
          <p:cNvPr id="6" name="Shape 4"/>
          <p:cNvSpPr/>
          <p:nvPr/>
        </p:nvSpPr>
        <p:spPr>
          <a:xfrm>
            <a:off x="2286000" y="2926080"/>
            <a:ext cx="4572000" cy="1280160"/>
          </a:xfrm>
          <a:prstGeom prst="roundRect">
            <a:avLst>
              <a:gd name="adj" fmla="val 8571"/>
            </a:avLst>
          </a:prstGeom>
          <a:solidFill>
            <a:srgbClr val="FFFFFF"/>
          </a:solidFill>
          <a:ln/>
          <a:effectLst>
            <a:outerShdw sx="100000" sy="100000" kx="0" ky="0" algn="bl" rotWithShape="0" blurRad="101600" dist="38100" dir="2700000">
              <a:srgbClr val="000000">
                <a:alpha val="12000"/>
              </a:srgbClr>
            </a:outerShdw>
          </a:effectLst>
        </p:spPr>
      </p:sp>
      <p:sp>
        <p:nvSpPr>
          <p:cNvPr id="7" name="Text 5"/>
          <p:cNvSpPr/>
          <p:nvPr/>
        </p:nvSpPr>
        <p:spPr>
          <a:xfrm>
            <a:off x="2468880" y="3017520"/>
            <a:ext cx="4206240" cy="1097280"/>
          </a:xfrm>
          <a:prstGeom prst="rect">
            <a:avLst/>
          </a:prstGeom>
          <a:noFill/>
          <a:ln/>
        </p:spPr>
        <p:txBody>
          <a:bodyPr wrap="square" lIns="0" tIns="0" rIns="0" bIns="0" rtlCol="0" anchor="t"/>
          <a:lstStyle/>
          <a:p>
            <a:pPr indent="0" marL="0">
              <a:buNone/>
            </a:pPr>
            <a:r>
              <a:rPr lang="en-US" sz="1400" b="1" dirty="0">
                <a:solidFill>
                  <a:srgbClr val="0E1C42"/>
                </a:solidFill>
                <a:latin typeface="Calibri" pitchFamily="34" charset="0"/>
                <a:ea typeface="Calibri" pitchFamily="34" charset="-122"/>
                <a:cs typeface="Calibri" pitchFamily="34" charset="-120"/>
              </a:rPr>
              <a:t>If you get stuck:
</a:t>
            </a:r>
            <a:pPr indent="0" marL="0">
              <a:buNone/>
            </a:pPr>
            <a:r>
              <a:rPr lang="en-US" sz="1300" dirty="0">
                <a:solidFill>
                  <a:srgbClr val="1E293B"/>
                </a:solidFill>
                <a:latin typeface="Calibri" pitchFamily="34" charset="0"/>
                <a:ea typeface="Calibri" pitchFamily="34" charset="-122"/>
                <a:cs typeface="Calibri" pitchFamily="34" charset="-120"/>
              </a:rPr>
              <a:t>• Reread the prompt above
</a:t>
            </a:r>
            <a:pPr indent="0" marL="0">
              <a:buNone/>
            </a:pPr>
            <a:r>
              <a:rPr lang="en-US" sz="1300" dirty="0">
                <a:solidFill>
                  <a:srgbClr val="1E293B"/>
                </a:solidFill>
                <a:latin typeface="Calibri" pitchFamily="34" charset="0"/>
                <a:ea typeface="Calibri" pitchFamily="34" charset="-122"/>
                <a:cs typeface="Calibri" pitchFamily="34" charset="-120"/>
              </a:rPr>
              <a:t>• Write "I'm thinking..." until a new idea comes
</a:t>
            </a:r>
            <a:pPr indent="0" marL="0">
              <a:buNone/>
            </a:pPr>
            <a:r>
              <a:rPr lang="en-US" sz="1300" dirty="0">
                <a:solidFill>
                  <a:srgbClr val="1E293B"/>
                </a:solidFill>
                <a:latin typeface="Calibri" pitchFamily="34" charset="0"/>
                <a:ea typeface="Calibri" pitchFamily="34" charset="-122"/>
                <a:cs typeface="Calibri" pitchFamily="34" charset="-120"/>
              </a:rPr>
              <a:t>• Keep going — don't erase!</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8F8EF"/>
        </a:solidFill>
      </p:bgPr>
    </p:bg>
    <p:spTree>
      <p:nvGrpSpPr>
        <p:cNvPr id="1" name=""/>
        <p:cNvGrpSpPr/>
        <p:nvPr/>
      </p:nvGrpSpPr>
      <p:grpSpPr>
        <a:xfrm>
          <a:off x="0" y="0"/>
          <a:ext cx="0" cy="0"/>
          <a:chOff x="0" y="0"/>
          <a:chExt cx="0" cy="0"/>
        </a:xfrm>
      </p:grpSpPr>
      <p:sp>
        <p:nvSpPr>
          <p:cNvPr id="2" name="Text 0"/>
          <p:cNvSpPr/>
          <p:nvPr/>
        </p:nvSpPr>
        <p:spPr>
          <a:xfrm>
            <a:off x="3657600" y="365760"/>
            <a:ext cx="1828800" cy="640080"/>
          </a:xfrm>
          <a:prstGeom prst="rect">
            <a:avLst/>
          </a:prstGeom>
          <a:noFill/>
          <a:ln/>
        </p:spPr>
        <p:txBody>
          <a:bodyPr wrap="square" lIns="0" tIns="0" rIns="0" bIns="0" rtlCol="0" anchor="ctr"/>
          <a:lstStyle/>
          <a:p>
            <a:pPr algn="ctr" indent="0" marL="0">
              <a:buNone/>
            </a:pPr>
            <a:r>
              <a:rPr lang="en-US" sz="4000" dirty="0">
                <a:solidFill>
                  <a:srgbClr val="000000"/>
                </a:solidFill>
              </a:rPr>
              <a:t>🔍</a:t>
            </a:r>
            <a:endParaRPr lang="en-US" sz="4000" dirty="0"/>
          </a:p>
        </p:txBody>
      </p:sp>
      <p:sp>
        <p:nvSpPr>
          <p:cNvPr id="3" name="Text 1"/>
          <p:cNvSpPr/>
          <p:nvPr/>
        </p:nvSpPr>
        <p:spPr>
          <a:xfrm>
            <a:off x="914400" y="914400"/>
            <a:ext cx="7315200" cy="640080"/>
          </a:xfrm>
          <a:prstGeom prst="rect">
            <a:avLst/>
          </a:prstGeom>
          <a:noFill/>
          <a:ln/>
        </p:spPr>
        <p:txBody>
          <a:bodyPr wrap="square" lIns="0" tIns="0" rIns="0" bIns="0" rtlCol="0" anchor="ctr"/>
          <a:lstStyle/>
          <a:p>
            <a:pPr algn="ctr" indent="0" marL="0">
              <a:buNone/>
            </a:pPr>
            <a:r>
              <a:rPr lang="en-US" sz="3200" b="1" dirty="0">
                <a:solidFill>
                  <a:srgbClr val="0E1C42"/>
                </a:solidFill>
                <a:latin typeface="Calibri" pitchFamily="34" charset="0"/>
                <a:ea typeface="Calibri" pitchFamily="34" charset="-122"/>
                <a:cs typeface="Calibri" pitchFamily="34" charset="-120"/>
              </a:rPr>
              <a:t>Edit &amp; Revise</a:t>
            </a:r>
            <a:endParaRPr lang="en-US" sz="3200" dirty="0"/>
          </a:p>
        </p:txBody>
      </p:sp>
      <p:sp>
        <p:nvSpPr>
          <p:cNvPr id="4" name="Text 2"/>
          <p:cNvSpPr/>
          <p:nvPr/>
        </p:nvSpPr>
        <p:spPr>
          <a:xfrm>
            <a:off x="914400" y="1508760"/>
            <a:ext cx="7315200" cy="457200"/>
          </a:xfrm>
          <a:prstGeom prst="rect">
            <a:avLst/>
          </a:prstGeom>
          <a:noFill/>
          <a:ln/>
        </p:spPr>
        <p:txBody>
          <a:bodyPr wrap="square" lIns="0" tIns="0" rIns="0" bIns="0" rtlCol="0" anchor="ctr"/>
          <a:lstStyle/>
          <a:p>
            <a:pPr algn="ctr" indent="0" marL="0">
              <a:buNone/>
            </a:pPr>
            <a:r>
              <a:rPr lang="en-US" sz="1600" dirty="0">
                <a:solidFill>
                  <a:srgbClr val="34B76F"/>
                </a:solidFill>
                <a:latin typeface="Calibri" pitchFamily="34" charset="0"/>
                <a:ea typeface="Calibri" pitchFamily="34" charset="-122"/>
                <a:cs typeface="Calibri" pitchFamily="34" charset="-120"/>
              </a:rPr>
              <a:t>1 minute — pick ONE thing to fix</a:t>
            </a:r>
            <a:endParaRPr lang="en-US" sz="1600" dirty="0"/>
          </a:p>
        </p:txBody>
      </p:sp>
      <p:sp>
        <p:nvSpPr>
          <p:cNvPr id="5" name="Shape 3"/>
          <p:cNvSpPr/>
          <p:nvPr/>
        </p:nvSpPr>
        <p:spPr>
          <a:xfrm>
            <a:off x="1371600" y="2103120"/>
            <a:ext cx="6400800" cy="640080"/>
          </a:xfrm>
          <a:prstGeom prst="roundRect">
            <a:avLst>
              <a:gd name="adj" fmla="val 14286"/>
            </a:avLst>
          </a:prstGeom>
          <a:solidFill>
            <a:srgbClr val="FFFFFF"/>
          </a:solidFill>
          <a:ln w="19050">
            <a:solidFill>
              <a:srgbClr val="34B76F"/>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1554480" y="2148840"/>
            <a:ext cx="6035040" cy="548640"/>
          </a:xfrm>
          <a:prstGeom prst="rect">
            <a:avLst/>
          </a:prstGeom>
          <a:noFill/>
          <a:ln/>
        </p:spPr>
        <p:txBody>
          <a:bodyPr wrap="square" lIns="0" tIns="0" rIns="0" bIns="0" rtlCol="0" anchor="ctr"/>
          <a:lstStyle/>
          <a:p>
            <a:pPr indent="0" marL="0">
              <a:buNone/>
            </a:pPr>
            <a:r>
              <a:rPr lang="en-US" sz="1400" b="1" dirty="0">
                <a:solidFill>
                  <a:srgbClr val="34B76F"/>
                </a:solidFill>
                <a:latin typeface="Calibri" pitchFamily="34" charset="0"/>
                <a:ea typeface="Calibri" pitchFamily="34" charset="-122"/>
                <a:cs typeface="Calibri" pitchFamily="34" charset="-120"/>
              </a:rPr>
              <a:t>Today's check: </a:t>
            </a:r>
            <a:pPr indent="0" marL="0">
              <a:buNone/>
            </a:pPr>
            <a:r>
              <a:rPr lang="en-US" sz="1400" dirty="0">
                <a:solidFill>
                  <a:srgbClr val="1E293B"/>
                </a:solidFill>
                <a:latin typeface="Calibri" pitchFamily="34" charset="0"/>
                <a:ea typeface="Calibri" pitchFamily="34" charset="-122"/>
                <a:cs typeface="Calibri" pitchFamily="34" charset="-120"/>
              </a:rPr>
              <a:t>Did I explain what I think the words mean?</a:t>
            </a:r>
            <a:endParaRPr lang="en-US" sz="1400" dirty="0"/>
          </a:p>
        </p:txBody>
      </p:sp>
      <p:sp>
        <p:nvSpPr>
          <p:cNvPr id="7" name="Shape 5"/>
          <p:cNvSpPr/>
          <p:nvPr/>
        </p:nvSpPr>
        <p:spPr>
          <a:xfrm>
            <a:off x="1371600" y="2926080"/>
            <a:ext cx="6400800" cy="1463040"/>
          </a:xfrm>
          <a:prstGeom prst="roundRect">
            <a:avLst>
              <a:gd name="adj" fmla="val 6250"/>
            </a:avLst>
          </a:prstGeom>
          <a:solidFill>
            <a:srgbClr val="FFFFFF"/>
          </a:solidFill>
          <a:ln/>
          <a:effectLst>
            <a:outerShdw sx="100000" sy="100000" kx="0" ky="0" algn="bl" rotWithShape="0" blurRad="101600" dist="38100" dir="2700000">
              <a:srgbClr val="000000">
                <a:alpha val="12000"/>
              </a:srgbClr>
            </a:outerShdw>
          </a:effectLst>
        </p:spPr>
      </p:sp>
      <p:sp>
        <p:nvSpPr>
          <p:cNvPr id="8" name="Text 6"/>
          <p:cNvSpPr/>
          <p:nvPr/>
        </p:nvSpPr>
        <p:spPr>
          <a:xfrm>
            <a:off x="1554480" y="3017520"/>
            <a:ext cx="6035040" cy="1280160"/>
          </a:xfrm>
          <a:prstGeom prst="rect">
            <a:avLst/>
          </a:prstGeom>
          <a:noFill/>
          <a:ln/>
        </p:spPr>
        <p:txBody>
          <a:bodyPr wrap="square" lIns="0" tIns="0" rIns="0" bIns="0" rtlCol="0" anchor="t"/>
          <a:lstStyle/>
          <a:p>
            <a:pPr indent="0" marL="0">
              <a:spcAft>
                <a:spcPts val="200"/>
              </a:spcAft>
              <a:buNone/>
            </a:pPr>
            <a:r>
              <a:rPr lang="en-US" sz="1300" b="1" dirty="0">
                <a:solidFill>
                  <a:srgbClr val="0E1C42"/>
                </a:solidFill>
                <a:latin typeface="Calibri" pitchFamily="34" charset="0"/>
                <a:ea typeface="Calibri" pitchFamily="34" charset="-122"/>
                <a:cs typeface="Calibri" pitchFamily="34" charset="-120"/>
              </a:rPr>
              <a:t>Quick check:
</a:t>
            </a:r>
            <a:pPr indent="0" marL="0">
              <a:spcAft>
                <a:spcPts val="200"/>
              </a:spcAft>
              <a:buNone/>
            </a:pPr>
            <a:r>
              <a:rPr lang="en-US" sz="1200" dirty="0">
                <a:solidFill>
                  <a:srgbClr val="1E293B"/>
                </a:solidFill>
                <a:latin typeface="Calibri" pitchFamily="34" charset="0"/>
                <a:ea typeface="Calibri" pitchFamily="34" charset="-122"/>
                <a:cs typeface="Calibri" pitchFamily="34" charset="-120"/>
              </a:rPr>
              <a:t>□ Capital letters at the start of every sentence
</a:t>
            </a:r>
            <a:pPr indent="0" marL="0">
              <a:spcAft>
                <a:spcPts val="200"/>
              </a:spcAft>
              <a:buNone/>
            </a:pPr>
            <a:r>
              <a:rPr lang="en-US" sz="1200" dirty="0">
                <a:solidFill>
                  <a:srgbClr val="1E293B"/>
                </a:solidFill>
                <a:latin typeface="Calibri" pitchFamily="34" charset="0"/>
                <a:ea typeface="Calibri" pitchFamily="34" charset="-122"/>
                <a:cs typeface="Calibri" pitchFamily="34" charset="-120"/>
              </a:rPr>
              <a:t>□ End punctuation ( .  ?  ! )
</a:t>
            </a:r>
            <a:pPr indent="0" marL="0">
              <a:spcAft>
                <a:spcPts val="200"/>
              </a:spcAft>
              <a:buNone/>
            </a:pPr>
            <a:r>
              <a:rPr lang="en-US" sz="1200" dirty="0">
                <a:solidFill>
                  <a:srgbClr val="1E293B"/>
                </a:solidFill>
                <a:latin typeface="Calibri" pitchFamily="34" charset="0"/>
                <a:ea typeface="Calibri" pitchFamily="34" charset="-122"/>
                <a:cs typeface="Calibri" pitchFamily="34" charset="-120"/>
              </a:rPr>
              <a:t>□ Spelling — circle any words that look wrong
</a:t>
            </a:r>
            <a:pPr indent="0" marL="0">
              <a:spcAft>
                <a:spcPts val="200"/>
              </a:spcAft>
              <a:buNone/>
            </a:pPr>
            <a:r>
              <a:rPr lang="en-US" sz="1200" dirty="0">
                <a:solidFill>
                  <a:srgbClr val="1E293B"/>
                </a:solidFill>
                <a:latin typeface="Calibri" pitchFamily="34" charset="0"/>
                <a:ea typeface="Calibri" pitchFamily="34" charset="-122"/>
                <a:cs typeface="Calibri" pitchFamily="34" charset="-120"/>
              </a:rPr>
              <a:t>□ Read it quietly to yourself — does it sound right?</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0" y="457200"/>
            <a:ext cx="1828800" cy="731520"/>
          </a:xfrm>
          <a:prstGeom prst="rect">
            <a:avLst/>
          </a:prstGeom>
          <a:noFill/>
          <a:ln/>
        </p:spPr>
        <p:txBody>
          <a:bodyPr wrap="square" lIns="0" tIns="0" rIns="0" bIns="0" rtlCol="0" anchor="ctr"/>
          <a:lstStyle/>
          <a:p>
            <a:pPr algn="ctr" indent="0" marL="0">
              <a:buNone/>
            </a:pPr>
            <a:r>
              <a:rPr lang="en-US" sz="4400" dirty="0">
                <a:solidFill>
                  <a:srgbClr val="000000"/>
                </a:solidFill>
              </a:rPr>
              <a:t>🗣️</a:t>
            </a:r>
            <a:endParaRPr lang="en-US" sz="4400" dirty="0"/>
          </a:p>
        </p:txBody>
      </p:sp>
      <p:sp>
        <p:nvSpPr>
          <p:cNvPr id="3" name="Text 1"/>
          <p:cNvSpPr/>
          <p:nvPr/>
        </p:nvSpPr>
        <p:spPr>
          <a:xfrm>
            <a:off x="914400" y="1097280"/>
            <a:ext cx="7315200" cy="640080"/>
          </a:xfrm>
          <a:prstGeom prst="rect">
            <a:avLst/>
          </a:prstGeom>
          <a:noFill/>
          <a:ln/>
        </p:spPr>
        <p:txBody>
          <a:bodyPr wrap="square" lIns="0" tIns="0" rIns="0" bIns="0" rtlCol="0" anchor="ctr"/>
          <a:lstStyle/>
          <a:p>
            <a:pPr algn="ctr" indent="0" marL="0">
              <a:buNone/>
            </a:pPr>
            <a:r>
              <a:rPr lang="en-US" sz="3400" b="1" dirty="0">
                <a:solidFill>
                  <a:srgbClr val="0E1C42"/>
                </a:solidFill>
                <a:latin typeface="Calibri" pitchFamily="34" charset="0"/>
                <a:ea typeface="Calibri" pitchFamily="34" charset="-122"/>
                <a:cs typeface="Calibri" pitchFamily="34" charset="-120"/>
              </a:rPr>
              <a:t>Share Time</a:t>
            </a:r>
            <a:endParaRPr lang="en-US" sz="3400" dirty="0"/>
          </a:p>
        </p:txBody>
      </p:sp>
      <p:sp>
        <p:nvSpPr>
          <p:cNvPr id="4" name="Text 2"/>
          <p:cNvSpPr/>
          <p:nvPr/>
        </p:nvSpPr>
        <p:spPr>
          <a:xfrm>
            <a:off x="914400" y="1737360"/>
            <a:ext cx="7315200" cy="457200"/>
          </a:xfrm>
          <a:prstGeom prst="rect">
            <a:avLst/>
          </a:prstGeom>
          <a:noFill/>
          <a:ln/>
        </p:spPr>
        <p:txBody>
          <a:bodyPr wrap="square" lIns="0" tIns="0" rIns="0" bIns="0" rtlCol="0" anchor="ctr"/>
          <a:lstStyle/>
          <a:p>
            <a:pPr algn="ctr" indent="0" marL="0">
              <a:buNone/>
            </a:pPr>
            <a:r>
              <a:rPr lang="en-US" sz="1700" dirty="0">
                <a:solidFill>
                  <a:srgbClr val="55C8E8"/>
                </a:solidFill>
                <a:latin typeface="Calibri" pitchFamily="34" charset="0"/>
                <a:ea typeface="Calibri" pitchFamily="34" charset="-122"/>
                <a:cs typeface="Calibri" pitchFamily="34" charset="-120"/>
              </a:rPr>
              <a:t>3 minutes — let's hear your writing!</a:t>
            </a:r>
            <a:endParaRPr lang="en-US" sz="1700" dirty="0"/>
          </a:p>
        </p:txBody>
      </p:sp>
      <p:sp>
        <p:nvSpPr>
          <p:cNvPr id="5" name="Shape 3"/>
          <p:cNvSpPr/>
          <p:nvPr/>
        </p:nvSpPr>
        <p:spPr>
          <a:xfrm>
            <a:off x="1828800" y="2468880"/>
            <a:ext cx="5486400" cy="1645920"/>
          </a:xfrm>
          <a:prstGeom prst="roundRect">
            <a:avLst>
              <a:gd name="adj" fmla="val 6667"/>
            </a:avLst>
          </a:prstGeom>
          <a:solidFill>
            <a:srgbClr val="FFFFFF"/>
          </a:solidFill>
          <a:ln/>
          <a:effectLst>
            <a:outerShdw sx="100000" sy="100000" kx="0" ky="0" algn="bl" rotWithShape="0" blurRad="101600" dist="38100" dir="2700000">
              <a:srgbClr val="000000">
                <a:alpha val="12000"/>
              </a:srgbClr>
            </a:outerShdw>
          </a:effectLst>
        </p:spPr>
      </p:sp>
      <p:sp>
        <p:nvSpPr>
          <p:cNvPr id="6" name="Text 4"/>
          <p:cNvSpPr/>
          <p:nvPr/>
        </p:nvSpPr>
        <p:spPr>
          <a:xfrm>
            <a:off x="2103120" y="2560320"/>
            <a:ext cx="4937760" cy="1463040"/>
          </a:xfrm>
          <a:prstGeom prst="rect">
            <a:avLst/>
          </a:prstGeom>
          <a:noFill/>
          <a:ln/>
        </p:spPr>
        <p:txBody>
          <a:bodyPr wrap="square" lIns="0" tIns="0" rIns="0" bIns="0" rtlCol="0" anchor="t"/>
          <a:lstStyle/>
          <a:p>
            <a:pPr indent="0" marL="0">
              <a:spcAft>
                <a:spcPts val="200"/>
              </a:spcAft>
              <a:buNone/>
            </a:pPr>
            <a:r>
              <a:rPr lang="en-US" sz="1400" b="1" dirty="0">
                <a:solidFill>
                  <a:srgbClr val="0E1C42"/>
                </a:solidFill>
                <a:latin typeface="Calibri" pitchFamily="34" charset="0"/>
                <a:ea typeface="Calibri" pitchFamily="34" charset="-122"/>
                <a:cs typeface="Calibri" pitchFamily="34" charset="-120"/>
              </a:rPr>
              <a:t>How to share:
</a:t>
            </a:r>
            <a:pPr indent="0" marL="0">
              <a:spcAft>
                <a:spcPts val="200"/>
              </a:spcAft>
              <a:buNone/>
            </a:pPr>
            <a:r>
              <a:rPr lang="en-US" sz="1300" dirty="0">
                <a:solidFill>
                  <a:srgbClr val="1E293B"/>
                </a:solidFill>
                <a:latin typeface="Calibri" pitchFamily="34" charset="0"/>
                <a:ea typeface="Calibri" pitchFamily="34" charset="-122"/>
                <a:cs typeface="Calibri" pitchFamily="34" charset="-120"/>
              </a:rPr>
              <a:t>✋ Raise your hand if you want to read yours aloud
</a:t>
            </a:r>
            <a:pPr indent="0" marL="0">
              <a:spcAft>
                <a:spcPts val="200"/>
              </a:spcAft>
              <a:buNone/>
            </a:pPr>
            <a:r>
              <a:rPr lang="en-US" sz="1300" dirty="0">
                <a:solidFill>
                  <a:srgbClr val="1E293B"/>
                </a:solidFill>
                <a:latin typeface="Calibri" pitchFamily="34" charset="0"/>
                <a:ea typeface="Calibri" pitchFamily="34" charset="-122"/>
                <a:cs typeface="Calibri" pitchFamily="34" charset="-120"/>
              </a:rPr>
              <a:t>💬 Or paste your writing in the chat
</a:t>
            </a:r>
            <a:pPr indent="0" marL="0">
              <a:spcAft>
                <a:spcPts val="200"/>
              </a:spcAft>
              <a:buNone/>
            </a:pPr>
            <a:r>
              <a:rPr lang="en-US" sz="1300" dirty="0">
                <a:solidFill>
                  <a:srgbClr val="1E293B"/>
                </a:solidFill>
                <a:latin typeface="Calibri" pitchFamily="34" charset="0"/>
                <a:ea typeface="Calibri" pitchFamily="34" charset="-122"/>
                <a:cs typeface="Calibri" pitchFamily="34" charset="-120"/>
              </a:rPr>
              <a:t>👂 Listen respectfully when others share
</a:t>
            </a:r>
            <a:pPr indent="0" marL="0">
              <a:spcAft>
                <a:spcPts val="200"/>
              </a:spcAft>
              <a:buNone/>
            </a:pPr>
            <a:r>
              <a:rPr lang="en-US" sz="1200" i="1" dirty="0">
                <a:solidFill>
                  <a:srgbClr val="64748B"/>
                </a:solidFill>
                <a:latin typeface="Calibri" pitchFamily="34" charset="0"/>
                <a:ea typeface="Calibri" pitchFamily="34" charset="-122"/>
                <a:cs typeface="Calibri" pitchFamily="34" charset="-120"/>
              </a:rPr>
              <a:t>Every writer's ideas matter — there are no wrong answers.</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Today's Focus</a:t>
            </a:r>
            <a:endParaRPr lang="en-US" sz="2800" dirty="0"/>
          </a:p>
        </p:txBody>
      </p:sp>
      <p:sp>
        <p:nvSpPr>
          <p:cNvPr id="3" name="Shape 1"/>
          <p:cNvSpPr/>
          <p:nvPr/>
        </p:nvSpPr>
        <p:spPr>
          <a:xfrm>
            <a:off x="365760" y="749808"/>
            <a:ext cx="8412480" cy="0"/>
          </a:xfrm>
          <a:prstGeom prst="line">
            <a:avLst/>
          </a:prstGeom>
          <a:noFill/>
          <a:ln w="19050">
            <a:solidFill>
              <a:srgbClr val="4A90D9"/>
            </a:solidFill>
            <a:prstDash val="solid"/>
          </a:ln>
        </p:spPr>
      </p:sp>
      <p:sp>
        <p:nvSpPr>
          <p:cNvPr id="4" name="Shape 2"/>
          <p:cNvSpPr/>
          <p:nvPr/>
        </p:nvSpPr>
        <p:spPr>
          <a:xfrm>
            <a:off x="6492240" y="173736"/>
            <a:ext cx="2286000" cy="502920"/>
          </a:xfrm>
          <a:prstGeom prst="roundRect">
            <a:avLst>
              <a:gd name="adj" fmla="val 21818"/>
            </a:avLst>
          </a:prstGeom>
          <a:solidFill>
            <a:srgbClr val="4A90D9"/>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457200" y="91440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BIG QUESTION</a:t>
            </a:r>
            <a:endParaRPr lang="en-US" sz="1100" dirty="0"/>
          </a:p>
        </p:txBody>
      </p:sp>
      <p:sp>
        <p:nvSpPr>
          <p:cNvPr id="7" name="Shape 5"/>
          <p:cNvSpPr/>
          <p:nvPr/>
        </p:nvSpPr>
        <p:spPr>
          <a:xfrm>
            <a:off x="457200" y="1234440"/>
            <a:ext cx="8229600" cy="640080"/>
          </a:xfrm>
          <a:prstGeom prst="roundRect">
            <a:avLst>
              <a:gd name="adj" fmla="val 14286"/>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640080" y="134416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Notice symbolism and repeated ideas.</a:t>
            </a:r>
            <a:endParaRPr lang="en-US" sz="1800" dirty="0"/>
          </a:p>
        </p:txBody>
      </p:sp>
      <p:sp>
        <p:nvSpPr>
          <p:cNvPr id="9" name="Shape 7"/>
          <p:cNvSpPr/>
          <p:nvPr/>
        </p:nvSpPr>
        <p:spPr>
          <a:xfrm>
            <a:off x="457200" y="1965960"/>
            <a:ext cx="8229600" cy="640080"/>
          </a:xfrm>
          <a:prstGeom prst="roundRect">
            <a:avLst>
              <a:gd name="adj" fmla="val 14286"/>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10" name="Text 8"/>
          <p:cNvSpPr/>
          <p:nvPr/>
        </p:nvSpPr>
        <p:spPr>
          <a:xfrm>
            <a:off x="640080" y="207568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As you read today, ask yourself: How do you recognize a symbol — something that stands for more than just itself?</a:t>
            </a:r>
            <a:endParaRPr lang="en-US" sz="1800" dirty="0"/>
          </a:p>
        </p:txBody>
      </p:sp>
      <p:sp>
        <p:nvSpPr>
          <p:cNvPr id="11" name="Shape 9"/>
          <p:cNvSpPr/>
          <p:nvPr/>
        </p:nvSpPr>
        <p:spPr>
          <a:xfrm>
            <a:off x="457200" y="2697480"/>
            <a:ext cx="8229600" cy="640080"/>
          </a:xfrm>
          <a:prstGeom prst="roundRect">
            <a:avLst>
              <a:gd name="adj" fmla="val 14286"/>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12" name="Text 10"/>
          <p:cNvSpPr/>
          <p:nvPr/>
        </p:nvSpPr>
        <p:spPr>
          <a:xfrm>
            <a:off x="640080" y="280720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How does the White Witch respond when the snow starts to melt? What does her response tell you about her character?</a:t>
            </a:r>
            <a:endParaRPr lang="en-US" sz="1800" dirty="0"/>
          </a:p>
        </p:txBody>
      </p:sp>
      <p:sp>
        <p:nvSpPr>
          <p:cNvPr id="13" name="Text 11"/>
          <p:cNvSpPr/>
          <p:nvPr/>
        </p:nvSpPr>
        <p:spPr>
          <a:xfrm>
            <a:off x="457200" y="3429000"/>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READING LENS</a:t>
            </a:r>
            <a:endParaRPr lang="en-US" sz="1100" dirty="0"/>
          </a:p>
        </p:txBody>
      </p:sp>
      <p:sp>
        <p:nvSpPr>
          <p:cNvPr id="14" name="Text 12"/>
          <p:cNvSpPr/>
          <p:nvPr/>
        </p:nvSpPr>
        <p:spPr>
          <a:xfrm>
            <a:off x="640080" y="3749040"/>
            <a:ext cx="7863840" cy="731520"/>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Good readers in a fantasy story slow down and pay attention to how the author builds the world . Details of setting, character, and pattern all work together to create meaning.</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Model Sentence — Study What's Right</a:t>
            </a:r>
            <a:endParaRPr lang="en-US" sz="2800" dirty="0"/>
          </a:p>
        </p:txBody>
      </p:sp>
      <p:sp>
        <p:nvSpPr>
          <p:cNvPr id="3" name="Shape 1"/>
          <p:cNvSpPr/>
          <p:nvPr/>
        </p:nvSpPr>
        <p:spPr>
          <a:xfrm>
            <a:off x="365760" y="749808"/>
            <a:ext cx="8412480" cy="0"/>
          </a:xfrm>
          <a:prstGeom prst="line">
            <a:avLst/>
          </a:prstGeom>
          <a:noFill/>
          <a:ln w="19050">
            <a:solidFill>
              <a:srgbClr val="34B76F"/>
            </a:solidFill>
            <a:prstDash val="solid"/>
          </a:ln>
        </p:spPr>
      </p:sp>
      <p:sp>
        <p:nvSpPr>
          <p:cNvPr id="4" name="Shape 2"/>
          <p:cNvSpPr/>
          <p:nvPr/>
        </p:nvSpPr>
        <p:spPr>
          <a:xfrm>
            <a:off x="457200" y="1097280"/>
            <a:ext cx="8229600" cy="914400"/>
          </a:xfrm>
          <a:prstGeom prst="roundRect">
            <a:avLst>
              <a:gd name="adj" fmla="val 10000"/>
            </a:avLst>
          </a:prstGeom>
          <a:solidFill>
            <a:srgbClr val="E8F8EF"/>
          </a:solidFill>
          <a:ln w="12700">
            <a:solidFill>
              <a:srgbClr val="34B76F"/>
            </a:solidFill>
            <a:prstDash val="solid"/>
          </a:ln>
          <a:effectLst>
            <a:outerShdw sx="100000" sy="100000" kx="0" ky="0" algn="bl" rotWithShape="0" blurRad="101600" dist="38100" dir="2700000">
              <a:srgbClr val="000000">
                <a:alpha val="12000"/>
              </a:srgbClr>
            </a:outerShdw>
          </a:effectLst>
        </p:spPr>
      </p:sp>
      <p:sp>
        <p:nvSpPr>
          <p:cNvPr id="5" name="Text 3"/>
          <p:cNvSpPr/>
          <p:nvPr/>
        </p:nvSpPr>
        <p:spPr>
          <a:xfrm>
            <a:off x="640080" y="1207008"/>
            <a:ext cx="7863840" cy="68580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Aslan's wasn't Edmund expected.</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Fix-It Sentence — Now You Try</a:t>
            </a:r>
            <a:endParaRPr lang="en-US" sz="2800" dirty="0"/>
          </a:p>
        </p:txBody>
      </p:sp>
      <p:sp>
        <p:nvSpPr>
          <p:cNvPr id="3" name="Shape 1"/>
          <p:cNvSpPr/>
          <p:nvPr/>
        </p:nvSpPr>
        <p:spPr>
          <a:xfrm>
            <a:off x="365760" y="749808"/>
            <a:ext cx="8412480" cy="0"/>
          </a:xfrm>
          <a:prstGeom prst="line">
            <a:avLst/>
          </a:prstGeom>
          <a:noFill/>
          <a:ln w="19050">
            <a:solidFill>
              <a:srgbClr val="4A90D9"/>
            </a:solidFill>
            <a:prstDash val="solid"/>
          </a:ln>
        </p:spPr>
      </p:sp>
      <p:sp>
        <p:nvSpPr>
          <p:cNvPr id="4" name="Shape 2"/>
          <p:cNvSpPr/>
          <p:nvPr/>
        </p:nvSpPr>
        <p:spPr>
          <a:xfrm>
            <a:off x="6492240" y="173736"/>
            <a:ext cx="2286000" cy="502920"/>
          </a:xfrm>
          <a:prstGeom prst="roundRect">
            <a:avLst>
              <a:gd name="adj" fmla="val 21818"/>
            </a:avLst>
          </a:prstGeom>
          <a:solidFill>
            <a:srgbClr val="4A90D9"/>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Shape 4"/>
          <p:cNvSpPr/>
          <p:nvPr/>
        </p:nvSpPr>
        <p:spPr>
          <a:xfrm>
            <a:off x="457200" y="1005840"/>
            <a:ext cx="8229600" cy="640080"/>
          </a:xfrm>
          <a:prstGeom prst="roundRect">
            <a:avLst>
              <a:gd name="adj" fmla="val 14286"/>
            </a:avLst>
          </a:prstGeom>
          <a:solidFill>
            <a:srgbClr val="F8FAFC"/>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7" name="Text 5"/>
          <p:cNvSpPr/>
          <p:nvPr/>
        </p:nvSpPr>
        <p:spPr>
          <a:xfrm>
            <a:off x="640080" y="111556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the witchs sledge couldnt move because the snow had melted and her reindeers hooves sank in the mud</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Fix-It Sentence — Answer Revealed</a:t>
            </a:r>
            <a:endParaRPr lang="en-US" sz="2800" dirty="0"/>
          </a:p>
        </p:txBody>
      </p:sp>
      <p:sp>
        <p:nvSpPr>
          <p:cNvPr id="3" name="Shape 1"/>
          <p:cNvSpPr/>
          <p:nvPr/>
        </p:nvSpPr>
        <p:spPr>
          <a:xfrm>
            <a:off x="365760" y="749808"/>
            <a:ext cx="8412480" cy="0"/>
          </a:xfrm>
          <a:prstGeom prst="line">
            <a:avLst/>
          </a:prstGeom>
          <a:noFill/>
          <a:ln w="19050">
            <a:solidFill>
              <a:srgbClr val="4A90D9"/>
            </a:solidFill>
            <a:prstDash val="solid"/>
          </a:ln>
        </p:spPr>
      </p:sp>
      <p:sp>
        <p:nvSpPr>
          <p:cNvPr id="4" name="Shape 2"/>
          <p:cNvSpPr/>
          <p:nvPr/>
        </p:nvSpPr>
        <p:spPr>
          <a:xfrm>
            <a:off x="6492240" y="173736"/>
            <a:ext cx="2286000" cy="502920"/>
          </a:xfrm>
          <a:prstGeom prst="roundRect">
            <a:avLst>
              <a:gd name="adj" fmla="val 21818"/>
            </a:avLst>
          </a:prstGeom>
          <a:solidFill>
            <a:srgbClr val="4A90D9"/>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Shape 4"/>
          <p:cNvSpPr/>
          <p:nvPr/>
        </p:nvSpPr>
        <p:spPr>
          <a:xfrm>
            <a:off x="457200" y="1005840"/>
            <a:ext cx="8229600" cy="640080"/>
          </a:xfrm>
          <a:prstGeom prst="roundRect">
            <a:avLst>
              <a:gd name="adj" fmla="val 14286"/>
            </a:avLst>
          </a:prstGeom>
          <a:solidFill>
            <a:srgbClr val="F8FAFC"/>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7" name="Text 5"/>
          <p:cNvSpPr/>
          <p:nvPr/>
        </p:nvSpPr>
        <p:spPr>
          <a:xfrm>
            <a:off x="640080" y="111556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the witchs sledge couldnt move because the snow had melted and her reindeers hooves sank in the mud</a:t>
            </a:r>
            <a:endParaRPr lang="en-US" sz="1800" dirty="0"/>
          </a:p>
        </p:txBody>
      </p:sp>
      <p:sp>
        <p:nvSpPr>
          <p:cNvPr id="8" name="Text 6"/>
          <p:cNvSpPr/>
          <p:nvPr/>
        </p:nvSpPr>
        <p:spPr>
          <a:xfrm>
            <a:off x="457200" y="173736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WHY</a:t>
            </a:r>
            <a:endParaRPr lang="en-US" sz="1100" dirty="0"/>
          </a:p>
        </p:txBody>
      </p:sp>
      <p:sp>
        <p:nvSpPr>
          <p:cNvPr id="9" name="Text 7"/>
          <p:cNvSpPr/>
          <p:nvPr/>
        </p:nvSpPr>
        <p:spPr>
          <a:xfrm>
            <a:off x="640080" y="2011680"/>
            <a:ext cx="7863840" cy="502920"/>
          </a:xfrm>
          <a:prstGeom prst="rect">
            <a:avLst/>
          </a:prstGeom>
          <a:noFill/>
          <a:ln/>
        </p:spPr>
        <p:txBody>
          <a:bodyPr wrap="square" lIns="0" tIns="0" rIns="0" bIns="0" rtlCol="0" anchor="ctr"/>
          <a:lstStyle/>
          <a:p>
            <a:pPr indent="0" marL="0">
              <a:buNone/>
            </a:pPr>
            <a:r>
              <a:rPr lang="en-US" sz="1300" i="1" dirty="0">
                <a:solidFill>
                  <a:srgbClr val="64748B"/>
                </a:solidFill>
                <a:latin typeface="Calibri" pitchFamily="34" charset="0"/>
                <a:ea typeface="Calibri" pitchFamily="34" charset="-122"/>
                <a:cs typeface="Calibri" pitchFamily="34" charset="-120"/>
              </a:rPr>
              <a:t>Witch's = possessive; couldn't = contraction (could not); comma before and; reindeer's = possessive; period ends.</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Morphology: Root/base: script/scribe means write</a:t>
            </a:r>
            <a:endParaRPr lang="en-US" sz="2800" dirty="0"/>
          </a:p>
        </p:txBody>
      </p:sp>
      <p:sp>
        <p:nvSpPr>
          <p:cNvPr id="3" name="Shape 1"/>
          <p:cNvSpPr/>
          <p:nvPr/>
        </p:nvSpPr>
        <p:spPr>
          <a:xfrm>
            <a:off x="365760" y="749808"/>
            <a:ext cx="8412480" cy="0"/>
          </a:xfrm>
          <a:prstGeom prst="line">
            <a:avLst/>
          </a:prstGeom>
          <a:noFill/>
          <a:ln w="19050">
            <a:solidFill>
              <a:srgbClr val="8B6FC0"/>
            </a:solidFill>
            <a:prstDash val="solid"/>
          </a:ln>
        </p:spPr>
      </p:sp>
      <p:sp>
        <p:nvSpPr>
          <p:cNvPr id="4" name="Text 2"/>
          <p:cNvSpPr/>
          <p:nvPr/>
        </p:nvSpPr>
        <p:spPr>
          <a:xfrm>
            <a:off x="457200" y="100584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CONCEPT EXAMPLES</a:t>
            </a:r>
            <a:endParaRPr lang="en-US" sz="1100" dirty="0"/>
          </a:p>
        </p:txBody>
      </p:sp>
      <p:sp>
        <p:nvSpPr>
          <p:cNvPr id="5" name="Text 3"/>
          <p:cNvSpPr/>
          <p:nvPr/>
        </p:nvSpPr>
        <p:spPr>
          <a:xfrm>
            <a:off x="640080" y="1325880"/>
            <a:ext cx="7863840" cy="320040"/>
          </a:xfrm>
          <a:prstGeom prst="rect">
            <a:avLst/>
          </a:prstGeom>
          <a:noFill/>
          <a:ln/>
        </p:spPr>
        <p:txBody>
          <a:bodyPr wrap="square" lIns="0" tIns="0" rIns="0" bIns="0" rtlCol="0" anchor="ctr"/>
          <a:lstStyle/>
          <a:p>
            <a:pPr indent="0" marL="0">
              <a:buNone/>
            </a:pPr>
            <a:r>
              <a:rPr lang="en-US" sz="1300" dirty="0">
                <a:solidFill>
                  <a:srgbClr val="1E293B"/>
                </a:solidFill>
                <a:latin typeface="Calibri" pitchFamily="34" charset="0"/>
                <a:ea typeface="Calibri" pitchFamily="34" charset="-122"/>
                <a:cs typeface="Calibri" pitchFamily="34" charset="-120"/>
              </a:rPr>
              <a:t>• 📌 Identify: Does this word use script/scribe ?</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Vocabulary</a:t>
            </a:r>
            <a:endParaRPr lang="en-US" sz="28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Shape 2"/>
          <p:cNvSpPr/>
          <p:nvPr/>
        </p:nvSpPr>
        <p:spPr>
          <a:xfrm>
            <a:off x="457200" y="1005840"/>
            <a:ext cx="3840480" cy="640080"/>
          </a:xfrm>
          <a:prstGeom prst="roundRect">
            <a:avLst>
              <a:gd name="adj" fmla="val 14286"/>
            </a:avLst>
          </a:prstGeom>
          <a:solidFill>
            <a:srgbClr val="FEF6E8"/>
          </a:solidFill>
          <a:ln/>
          <a:effectLst>
            <a:outerShdw sx="100000" sy="100000" kx="0" ky="0" algn="bl" rotWithShape="0" blurRad="101600" dist="38100" dir="2700000">
              <a:srgbClr val="000000">
                <a:alpha val="12000"/>
              </a:srgbClr>
            </a:outerShdw>
          </a:effectLst>
        </p:spPr>
      </p:sp>
      <p:sp>
        <p:nvSpPr>
          <p:cNvPr id="5" name="Text 3"/>
          <p:cNvSpPr/>
          <p:nvPr/>
        </p:nvSpPr>
        <p:spPr>
          <a:xfrm>
            <a:off x="594360" y="1060704"/>
            <a:ext cx="3566160" cy="530352"/>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renewed</a:t>
            </a:r>
            <a:pPr indent="0" marL="0">
              <a:buNone/>
            </a:pPr>
            <a:endParaRPr lang="en-US" sz="1500" dirty="0"/>
          </a:p>
          <a:p>
            <a:pPr indent="0" marL="0">
              <a:buNone/>
            </a:pPr>
            <a:r>
              <a:rPr lang="en-US" sz="1200" dirty="0">
                <a:solidFill>
                  <a:srgbClr val="1E293B"/>
                </a:solidFill>
                <a:latin typeface="Calibri" pitchFamily="34" charset="0"/>
                <a:ea typeface="Calibri" pitchFamily="34" charset="-122"/>
                <a:cs typeface="Calibri" pitchFamily="34" charset="-120"/>
              </a:rPr>
              <a:t>Made new again; restored to a fresh state.</a:t>
            </a:r>
            <a:endParaRPr lang="en-US" sz="1500" dirty="0"/>
          </a:p>
        </p:txBody>
      </p:sp>
      <p:sp>
        <p:nvSpPr>
          <p:cNvPr id="6" name="Shape 4"/>
          <p:cNvSpPr/>
          <p:nvPr/>
        </p:nvSpPr>
        <p:spPr>
          <a:xfrm>
            <a:off x="4572000" y="1005840"/>
            <a:ext cx="3840480" cy="640080"/>
          </a:xfrm>
          <a:prstGeom prst="roundRect">
            <a:avLst>
              <a:gd name="adj" fmla="val 14286"/>
            </a:avLst>
          </a:prstGeom>
          <a:solidFill>
            <a:srgbClr val="FEF6E8"/>
          </a:solidFill>
          <a:ln/>
          <a:effectLst>
            <a:outerShdw sx="100000" sy="100000" kx="0" ky="0" algn="bl" rotWithShape="0" blurRad="101600" dist="38100" dir="2700000">
              <a:srgbClr val="000000">
                <a:alpha val="12000"/>
              </a:srgbClr>
            </a:outerShdw>
          </a:effectLst>
        </p:spPr>
      </p:sp>
      <p:sp>
        <p:nvSpPr>
          <p:cNvPr id="7" name="Text 5"/>
          <p:cNvSpPr/>
          <p:nvPr/>
        </p:nvSpPr>
        <p:spPr>
          <a:xfrm>
            <a:off x="4709160" y="1060704"/>
            <a:ext cx="3566160" cy="530352"/>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herald</a:t>
            </a:r>
            <a:pPr indent="0" marL="0">
              <a:buNone/>
            </a:pPr>
            <a:endParaRPr lang="en-US" sz="1500" dirty="0"/>
          </a:p>
          <a:p>
            <a:pPr indent="0" marL="0">
              <a:buNone/>
            </a:pPr>
            <a:r>
              <a:rPr lang="en-US" sz="1200" dirty="0">
                <a:solidFill>
                  <a:srgbClr val="1E293B"/>
                </a:solidFill>
                <a:latin typeface="Calibri" pitchFamily="34" charset="0"/>
                <a:ea typeface="Calibri" pitchFamily="34" charset="-122"/>
                <a:cs typeface="Calibri" pitchFamily="34" charset="-120"/>
              </a:rPr>
              <a:t>A person or thing that announces something important is coming.</a:t>
            </a:r>
            <a:endParaRPr lang="en-US" sz="1500" dirty="0"/>
          </a:p>
        </p:txBody>
      </p:sp>
      <p:sp>
        <p:nvSpPr>
          <p:cNvPr id="8" name="Shape 6"/>
          <p:cNvSpPr/>
          <p:nvPr/>
        </p:nvSpPr>
        <p:spPr>
          <a:xfrm>
            <a:off x="457200" y="1755648"/>
            <a:ext cx="3840480" cy="640080"/>
          </a:xfrm>
          <a:prstGeom prst="roundRect">
            <a:avLst>
              <a:gd name="adj" fmla="val 14286"/>
            </a:avLst>
          </a:prstGeom>
          <a:solidFill>
            <a:srgbClr val="FEF6E8"/>
          </a:solidFill>
          <a:ln/>
          <a:effectLst>
            <a:outerShdw sx="100000" sy="100000" kx="0" ky="0" algn="bl" rotWithShape="0" blurRad="101600" dist="38100" dir="2700000">
              <a:srgbClr val="000000">
                <a:alpha val="12000"/>
              </a:srgbClr>
            </a:outerShdw>
          </a:effectLst>
        </p:spPr>
      </p:sp>
      <p:sp>
        <p:nvSpPr>
          <p:cNvPr id="9" name="Text 7"/>
          <p:cNvSpPr/>
          <p:nvPr/>
        </p:nvSpPr>
        <p:spPr>
          <a:xfrm>
            <a:off x="594360" y="1810512"/>
            <a:ext cx="3566160" cy="530352"/>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solemn</a:t>
            </a:r>
            <a:pPr indent="0" marL="0">
              <a:buNone/>
            </a:pPr>
            <a:endParaRPr lang="en-US" sz="1500" dirty="0"/>
          </a:p>
          <a:p>
            <a:pPr indent="0" marL="0">
              <a:buNone/>
            </a:pPr>
            <a:r>
              <a:rPr lang="en-US" sz="1200" dirty="0">
                <a:solidFill>
                  <a:srgbClr val="1E293B"/>
                </a:solidFill>
                <a:latin typeface="Calibri" pitchFamily="34" charset="0"/>
                <a:ea typeface="Calibri" pitchFamily="34" charset="-122"/>
                <a:cs typeface="Calibri" pitchFamily="34" charset="-120"/>
              </a:rPr>
              <a:t>Serious, formal, and sincere.</a:t>
            </a:r>
            <a:endParaRPr lang="en-US" sz="1500" dirty="0"/>
          </a:p>
        </p:txBody>
      </p:sp>
      <p:sp>
        <p:nvSpPr>
          <p:cNvPr id="10" name="Shape 8"/>
          <p:cNvSpPr/>
          <p:nvPr/>
        </p:nvSpPr>
        <p:spPr>
          <a:xfrm>
            <a:off x="4572000" y="1755648"/>
            <a:ext cx="3840480" cy="640080"/>
          </a:xfrm>
          <a:prstGeom prst="roundRect">
            <a:avLst>
              <a:gd name="adj" fmla="val 14286"/>
            </a:avLst>
          </a:prstGeom>
          <a:solidFill>
            <a:srgbClr val="FEF6E8"/>
          </a:solidFill>
          <a:ln/>
          <a:effectLst>
            <a:outerShdw sx="100000" sy="100000" kx="0" ky="0" algn="bl" rotWithShape="0" blurRad="101600" dist="38100" dir="2700000">
              <a:srgbClr val="000000">
                <a:alpha val="12000"/>
              </a:srgbClr>
            </a:outerShdw>
          </a:effectLst>
        </p:spPr>
      </p:sp>
      <p:sp>
        <p:nvSpPr>
          <p:cNvPr id="11" name="Text 9"/>
          <p:cNvSpPr/>
          <p:nvPr/>
        </p:nvSpPr>
        <p:spPr>
          <a:xfrm>
            <a:off x="4709160" y="1810512"/>
            <a:ext cx="3566160" cy="530352"/>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jovial</a:t>
            </a:r>
            <a:pPr indent="0" marL="0">
              <a:buNone/>
            </a:pPr>
            <a:endParaRPr lang="en-US" sz="1500" dirty="0"/>
          </a:p>
          <a:p>
            <a:pPr indent="0" marL="0">
              <a:buNone/>
            </a:pPr>
            <a:r>
              <a:rPr lang="en-US" sz="1200" dirty="0">
                <a:solidFill>
                  <a:srgbClr val="1E293B"/>
                </a:solidFill>
                <a:latin typeface="Calibri" pitchFamily="34" charset="0"/>
                <a:ea typeface="Calibri" pitchFamily="34" charset="-122"/>
                <a:cs typeface="Calibri" pitchFamily="34" charset="-120"/>
              </a:rPr>
              <a:t>Cheerful and friendly; in high spirits.</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Reading: Ch. 10–12</a:t>
            </a:r>
            <a:endParaRPr lang="en-US" sz="28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Text 2"/>
          <p:cNvSpPr/>
          <p:nvPr/>
        </p:nvSpPr>
        <p:spPr>
          <a:xfrm>
            <a:off x="457200" y="1005840"/>
            <a:ext cx="8046720" cy="292608"/>
          </a:xfrm>
          <a:prstGeom prst="rect">
            <a:avLst/>
          </a:prstGeom>
          <a:noFill/>
          <a:ln/>
        </p:spPr>
        <p:txBody>
          <a:bodyPr wrap="square" lIns="0" tIns="0" rIns="0" bIns="0" rtlCol="0" anchor="ctr"/>
          <a:lstStyle/>
          <a:p>
            <a:pPr indent="0" marL="0">
              <a:buNone/>
            </a:pPr>
            <a:r>
              <a:rPr lang="en-US" sz="1100" b="1" spc="200" kern="0" dirty="0">
                <a:solidFill>
                  <a:srgbClr val="55C8E8"/>
                </a:solidFill>
                <a:latin typeface="Calibri" pitchFamily="34" charset="0"/>
                <a:ea typeface="Calibri" pitchFamily="34" charset="-122"/>
                <a:cs typeface="Calibri" pitchFamily="34" charset="-120"/>
              </a:rPr>
              <a:t>PAUSE &amp; THINK</a:t>
            </a:r>
            <a:endParaRPr lang="en-US" sz="1100" dirty="0"/>
          </a:p>
        </p:txBody>
      </p:sp>
      <p:sp>
        <p:nvSpPr>
          <p:cNvPr id="5" name="Text 3"/>
          <p:cNvSpPr/>
          <p:nvPr/>
        </p:nvSpPr>
        <p:spPr>
          <a:xfrm>
            <a:off x="640080" y="1325880"/>
            <a:ext cx="7863840" cy="548640"/>
          </a:xfrm>
          <a:prstGeom prst="rect">
            <a:avLst/>
          </a:prstGeom>
          <a:noFill/>
          <a:ln/>
        </p:spPr>
        <p:txBody>
          <a:bodyPr wrap="square" lIns="0" tIns="0" rIns="0" bIns="0" rtlCol="0" anchor="ctr"/>
          <a:lstStyle/>
          <a:p>
            <a:pPr indent="0" marL="0">
              <a:buNone/>
            </a:pPr>
            <a:r>
              <a:rPr lang="en-US" sz="1400" i="1" dirty="0">
                <a:solidFill>
                  <a:srgbClr val="1E293B"/>
                </a:solidFill>
                <a:latin typeface="Calibri" pitchFamily="34" charset="0"/>
                <a:ea typeface="Calibri" pitchFamily="34" charset="-122"/>
                <a:cs typeface="Calibri" pitchFamily="34" charset="-120"/>
              </a:rPr>
              <a:t>As you read today, ask yourself: How do you recognize a symbol — something that stands for more than just itself?</a:t>
            </a:r>
            <a:endParaRPr lang="en-US" sz="1400" dirty="0"/>
          </a:p>
        </p:txBody>
      </p:sp>
      <p:sp>
        <p:nvSpPr>
          <p:cNvPr id="6" name="Text 4"/>
          <p:cNvSpPr/>
          <p:nvPr/>
        </p:nvSpPr>
        <p:spPr>
          <a:xfrm>
            <a:off x="640080" y="1965960"/>
            <a:ext cx="7863840" cy="548640"/>
          </a:xfrm>
          <a:prstGeom prst="rect">
            <a:avLst/>
          </a:prstGeom>
          <a:noFill/>
          <a:ln/>
        </p:spPr>
        <p:txBody>
          <a:bodyPr wrap="square" lIns="0" tIns="0" rIns="0" bIns="0" rtlCol="0" anchor="ctr"/>
          <a:lstStyle/>
          <a:p>
            <a:pPr indent="0" marL="0">
              <a:buNone/>
            </a:pPr>
            <a:r>
              <a:rPr lang="en-US" sz="1400" i="1" dirty="0">
                <a:solidFill>
                  <a:srgbClr val="1E293B"/>
                </a:solidFill>
                <a:latin typeface="Calibri" pitchFamily="34" charset="0"/>
                <a:ea typeface="Calibri" pitchFamily="34" charset="-122"/>
                <a:cs typeface="Calibri" pitchFamily="34" charset="-120"/>
              </a:rPr>
              <a:t>How does the White Witch respond when the snow starts to melt? What does her response tell you about her character?</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Writer’s Workshop: Week 28 · REVISE with Precise Language</a:t>
            </a:r>
            <a:endParaRPr lang="en-US" sz="2800" dirty="0"/>
          </a:p>
        </p:txBody>
      </p:sp>
      <p:sp>
        <p:nvSpPr>
          <p:cNvPr id="3" name="Shape 1"/>
          <p:cNvSpPr/>
          <p:nvPr/>
        </p:nvSpPr>
        <p:spPr>
          <a:xfrm>
            <a:off x="365760" y="749808"/>
            <a:ext cx="8412480" cy="0"/>
          </a:xfrm>
          <a:prstGeom prst="line">
            <a:avLst/>
          </a:prstGeom>
          <a:noFill/>
          <a:ln w="19050">
            <a:solidFill>
              <a:srgbClr val="34B76F"/>
            </a:solidFill>
            <a:prstDash val="solid"/>
          </a:ln>
        </p:spPr>
      </p:sp>
      <p:sp>
        <p:nvSpPr>
          <p:cNvPr id="4" name="Text 2"/>
          <p:cNvSpPr/>
          <p:nvPr/>
        </p:nvSpPr>
        <p:spPr>
          <a:xfrm>
            <a:off x="640080" y="1371600"/>
            <a:ext cx="7863840" cy="457200"/>
          </a:xfrm>
          <a:prstGeom prst="rect">
            <a:avLst/>
          </a:prstGeom>
          <a:noFill/>
          <a:ln/>
        </p:spPr>
        <p:txBody>
          <a:bodyPr wrap="square" lIns="0" tIns="0" rIns="0" bIns="0" rtlCol="0" anchor="ctr"/>
          <a:lstStyle/>
          <a:p>
            <a:pPr indent="0" marL="0">
              <a:buNone/>
            </a:pPr>
            <a:r>
              <a:rPr lang="en-US" sz="1600" dirty="0">
                <a:solidFill>
                  <a:srgbClr val="1E293B"/>
                </a:solidFill>
                <a:latin typeface="Calibri" pitchFamily="34" charset="0"/>
                <a:ea typeface="Calibri" pitchFamily="34" charset="-122"/>
                <a:cs typeface="Calibri" pitchFamily="34" charset="-120"/>
              </a:rPr>
              <a:t>Open your writing assignment in Canvas.</a:t>
            </a:r>
            <a:endParaRPr lang="en-US" sz="1600" dirty="0"/>
          </a:p>
        </p:txBody>
      </p:sp>
      <p:sp>
        <p:nvSpPr>
          <p:cNvPr id="5" name="Text 3"/>
          <p:cNvSpPr/>
          <p:nvPr/>
        </p:nvSpPr>
        <p:spPr>
          <a:xfrm>
            <a:off x="640080" y="2011680"/>
            <a:ext cx="7863840" cy="457200"/>
          </a:xfrm>
          <a:prstGeom prst="rect">
            <a:avLst/>
          </a:prstGeom>
          <a:noFill/>
          <a:ln/>
        </p:spPr>
        <p:txBody>
          <a:bodyPr wrap="square" lIns="0" tIns="0" rIns="0" bIns="0" rtlCol="0" anchor="ctr"/>
          <a:lstStyle/>
          <a:p>
            <a:pPr indent="0" marL="0">
              <a:buNone/>
            </a:pPr>
            <a:r>
              <a:rPr lang="en-US" sz="1400" dirty="0">
                <a:solidFill>
                  <a:srgbClr val="64748B"/>
                </a:solidFill>
                <a:latin typeface="Calibri" pitchFamily="34" charset="0"/>
                <a:ea typeface="Calibri" pitchFamily="34" charset="-122"/>
                <a:cs typeface="Calibri" pitchFamily="34" charset="-120"/>
              </a:rPr>
              <a:t>Follow the writing prompt for today's workshop.</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2026-07-11T14:32:39Z</dcterms:created>
  <dcterms:modified xsi:type="dcterms:W3CDTF">2026-07-11T14:32:39Z</dcterms:modified>
</cp:coreProperties>
</file>