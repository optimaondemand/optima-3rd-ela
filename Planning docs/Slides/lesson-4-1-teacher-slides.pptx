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W4D1: Reading: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We finished Flat Stanley! We reviewed the whole story — from the bulletin board to the bicycle pump. What a journey.
Today: Read extension text about letters and airmail — how real mail travel works.
Big Q: Thomas Jeffrey writes "Valuable" and "Fragile" on Stanley's envelope. What do those words mean about how he sees Stanley?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 Model: Thomas Jeffrey had lettered it “Valuable” and “Fragile” and “This End Up” on both sides.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they had to put many stamps on the envelope to pay for airmail and insurance to california
Answer: They had to put many stamps on the envelope to pay for airmail and insurance to California.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they had to put many stamps on the envelope to pay for airmail and insurance to california
Answer: They had to put many stamps on the envelope to pay for airmail and insurance to California.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Copywork: They had to put a great many stamps on the envelope to pay for both airmail and insurance, but it was still much less expensive than a train or airplane ticket to California.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Morphology W4D1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W4D1: airmail, insurance, expensive, postcard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W4D1
Stanley → proper
boy → common
California → proper
envelope → common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W4D1
Stanley → proper
boy → common
California → proper
envelope → common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W4D1
{"ai":["mail","train","paid"],"ay":["play","stay","away"],"oa":["boat","road"]}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W4D1
{"ai":["mail","train","paid"],"ay":["play","stay","away"],"oa":["boat","road"]}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Reading: Reading:
WGRD: Think about how Stanley traveled by mail. What is the same and different between Stanley’s trip and how real mail travels?
Pause: Think about how Stanley traveled by mail. What is the same and different between Stanley’s trip and how real mail travels?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Comprehension:
Q1: What did the Jeffreys do to make sure Stanley was safe in the mail? List the details.
Q2: How is a letter different from a chapter in a story? Name two differences.
Q3: If you could mail yourself anywhere like Stanley, where would you go and why?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Writing W4D1: REVISE &amp; EDIT
Today: REVISE. Read your narrative aloud. Does every event connect to the next? Move or remove anything that doesn't fit your small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69080"/>
            <a:ext cx="9144000" cy="1097280"/>
          </a:xfrm>
          <a:prstGeom prst="rect">
            <a:avLst/>
          </a:prstGeom>
          <a:solidFill>
            <a:srgbClr val="55C8E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 ·  DAY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  ·  Jeff Brown  ·  3rd Grade ELA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 ·  Virtue: Curiosity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to Week 4!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extension text about letters and airmail — how real mail travel works.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186537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 — CHAT ABOUT THIS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139696"/>
            <a:ext cx="8412480" cy="841248"/>
          </a:xfrm>
          <a:prstGeom prst="roundRect">
            <a:avLst>
              <a:gd name="adj" fmla="val 1087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12848"/>
            <a:ext cx="7863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Jeffrey writes "Valuable" and "Fragile" on Stanley's envelope. What do those words mean about how he sees Stanley?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Model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WHAT'S DONE RIGHT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Jeffrey had lettered it “Valuable” and “Fragile” and “This End Up” on both sides.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65760" y="2212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487168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Thomas Jeffrey is capitalized as a proper noun. The words on the envelope are in quotation marks because they are exact labels.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had to put many stamps on the envelope to pay for airmail and insurance to california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had to put many stamps on the envelope to pay for airmail and insurance to california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2788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3639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had to put many stamps on the envelope to pay for airmail and insurance to California.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62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THIS CAREFULLY INTO YOUR JOURNAL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554480"/>
          </a:xfrm>
          <a:prstGeom prst="roundRect">
            <a:avLst>
              <a:gd name="adj" fmla="val 5882"/>
            </a:avLst>
          </a:prstGeom>
          <a:solidFill>
            <a:srgbClr val="FFF0F4"/>
          </a:solidFill>
          <a:ln w="12700">
            <a:solidFill>
              <a:srgbClr val="C7627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had to put a great many stamps on the envelope to pay for both airmail and insurance, but it was still much less expensive than a train or airplane ticket to California.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long sentence! Notice how commas help break it into parts you can understand.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— Define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EACH WORD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 + test =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205740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16712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 + school =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301752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312724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 + heat =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5760" y="397764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408736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 + pay =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— Decode &amp; Discover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VOCABULARY — from Flat Stanley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20624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30352" y="1170432"/>
            <a:ext cx="3877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airmail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30352" y="1581912"/>
            <a:ext cx="38770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sent by airplane so it arrives faster.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800600" y="1078992"/>
            <a:ext cx="420624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65192" y="1170432"/>
            <a:ext cx="3877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65192" y="1581912"/>
            <a:ext cx="38770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way to protect something in case it gets lost or broken.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3072384"/>
            <a:ext cx="420624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30352" y="3163824"/>
            <a:ext cx="3877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30352" y="3575304"/>
            <a:ext cx="38770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Costing a lot of money.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800600" y="3072384"/>
            <a:ext cx="420624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65192" y="3163824"/>
            <a:ext cx="3877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postcard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965192" y="3575304"/>
            <a:ext cx="38770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you mail to someone, usually with a picture on one side.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Proper nouns and capitalization (Define)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066544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157984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054096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45536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California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4133088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Proper nouns and capitalization (Define)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720840" y="1078992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720840" y="1078992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66544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15798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720840" y="2066544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0840" y="2066544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054096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3145536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California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720840" y="3054096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20840" y="3054096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041648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13308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720840" y="4041648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20840" y="404164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576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788920"/>
            <a:ext cx="266700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788920"/>
            <a:ext cx="2484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 train  paid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16992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169920" y="2788920"/>
            <a:ext cx="2667000" cy="960120"/>
          </a:xfrm>
          <a:prstGeom prst="roundRect">
            <a:avLst>
              <a:gd name="adj" fmla="val 9524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261360" y="2788920"/>
            <a:ext cx="2484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 stay  away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97408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74080" y="2788920"/>
            <a:ext cx="2667000" cy="960120"/>
          </a:xfrm>
          <a:prstGeom prst="roundRect">
            <a:avLst>
              <a:gd name="adj" fmla="val 9524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065520" y="2788920"/>
            <a:ext cx="2484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  road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— Reading: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READERS DO — Keep this in mind as you read: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how Stanley traveled by mail. What is the same and different between Stanley’s trip and how real mail travels?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42316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249631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how Stanley traveled by mail. What is the same and different between Stanley’s trip and how real mail travels?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Comprehension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 COMPLETE SENTENCES — USE TEXT EVIDENCE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1170432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the Jeffreys do to make sure Stanley was safe in the mail? List the details.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26700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651760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is a letter different from a chapter in a story? Name two differences.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2920" y="4151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97280" y="4133088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mail yourself anywhere like Stanley, where would you go and why?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Writer's Workshop — REVISE &amp; EDIT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Seed Ideas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810512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10512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Plan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55264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55264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Draft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0016" y="822960"/>
            <a:ext cx="1060704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822960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Add Craft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88736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C7922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88736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Revise &amp; Edit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406640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06640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Publish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2801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1316736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for organization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20848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WRITING TASK — IN YOUR JOURNAL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359152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245059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REVISE. Read your narrative aloud. Does every event connect to the next? Move or remove anything that doesn't fit your small moment.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2026-07-10T22:22:36Z</dcterms:created>
  <dcterms:modified xsi:type="dcterms:W3CDTF">2026-07-10T22:22:36Z</dcterms:modified>
</cp:coreProperties>
</file>