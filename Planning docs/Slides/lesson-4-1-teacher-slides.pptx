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4.1. Reading: Extension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compare a story with related informational text . When you read a made-up story and a real article about the same topic, you can find what is the same and what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They had to put many stamps on the envelope to pay for airmail and insurance to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They had to put many stamps on the envelope to pay for airmail and insurance to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California, Every, Stanley, The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California, Every, Stanley, The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mail, train, paid | ay: play, stay, away | oa: boat, road, coat | ow: grow, show,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mail, train, paid | ay: play, stay, away | oa: boat, road, coat | ow: grow, show,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Flat Stanley</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55C8E8"/>
                </a:solidFill>
                <a:latin typeface="Calibri" pitchFamily="34" charset="0"/>
                <a:ea typeface="Calibri" pitchFamily="34" charset="-122"/>
                <a:cs typeface="Calibri" pitchFamily="34" charset="-120"/>
              </a:rPr>
              <a:t>Lesson 4.1  ·  Extension Text</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 short letter to someone you miss. Tell them one thing that happened this week.</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 short letter to someone you miss. Tell them one thing that happened this week.</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put a comma between the city and the state?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Extension Text</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Today you’ll read about how real mail travels. What do you think will be the same and different between Stanley’s trip and how real mail is sent?</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compare a story with related informational text . When you read a made-up story and a real article about the same topic, you can find what is the same and what is different.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Thomas Jeffrey had lettered it “Valuable” and “Fragile” and “This End Up” on both sides.</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they had to put many stamps on the envelope to pay for airmail and insurance to california</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Thomas Jeffrey had lettered it “Valuable” and “Fragile” and “This End Up” on both sides.</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they had to put many stamps on the envelope to pay for airmail and insurance to california</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Corrected:</a:t>
            </a:r>
            <a:endParaRPr lang="en-US" sz="1400" dirty="0"/>
          </a:p>
          <a:p>
            <a:pPr indent="0" marL="0">
              <a:buNone/>
            </a:pP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They had to put many stamps on the envelope to pay for airmail and insurance to California.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PREFIX PRE- MEANS BEFORE</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pre- + test =pretest</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pre- + school =preschool</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pre- + heat =preheat</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pre- + pay =prepay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THIS WEEK'S WORDS</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airmail  </a:t>
            </a:r>
            <a:pPr indent="0" marL="0">
              <a:buNone/>
            </a:pPr>
            <a:r>
              <a:rPr lang="en-US" sz="1400" dirty="0">
                <a:solidFill>
                  <a:srgbClr val="1E293B"/>
                </a:solidFill>
                <a:latin typeface="Calibri" pitchFamily="34" charset="0"/>
                <a:ea typeface="Calibri" pitchFamily="34" charset="-122"/>
                <a:cs typeface="Calibri" pitchFamily="34" charset="-120"/>
              </a:rPr>
              <a:t>Mail sent by airplane so it arrives faster.</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insurance  </a:t>
            </a:r>
            <a:pPr indent="0" marL="0">
              <a:buNone/>
            </a:pPr>
            <a:r>
              <a:rPr lang="en-US" sz="1400" dirty="0">
                <a:solidFill>
                  <a:srgbClr val="1E293B"/>
                </a:solidFill>
                <a:latin typeface="Calibri" pitchFamily="34" charset="0"/>
                <a:ea typeface="Calibri" pitchFamily="34" charset="-122"/>
                <a:cs typeface="Calibri" pitchFamily="34" charset="-120"/>
              </a:rPr>
              <a:t>A way to protect something in case it gets lost or broken.</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expensive  </a:t>
            </a:r>
            <a:pPr indent="0" marL="0">
              <a:buNone/>
            </a:pPr>
            <a:r>
              <a:rPr lang="en-US" sz="1400" dirty="0">
                <a:solidFill>
                  <a:srgbClr val="1E293B"/>
                </a:solidFill>
                <a:latin typeface="Calibri" pitchFamily="34" charset="0"/>
                <a:ea typeface="Calibri" pitchFamily="34" charset="-122"/>
                <a:cs typeface="Calibri" pitchFamily="34" charset="-120"/>
              </a:rPr>
              <a:t>Costing a lot of money.</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envelope  </a:t>
            </a:r>
            <a:pPr indent="0" marL="0">
              <a:buNone/>
            </a:pPr>
            <a:r>
              <a:rPr lang="en-US" sz="1400" dirty="0">
                <a:solidFill>
                  <a:srgbClr val="1E293B"/>
                </a:solidFill>
                <a:latin typeface="Calibri" pitchFamily="34" charset="0"/>
                <a:ea typeface="Calibri" pitchFamily="34" charset="-122"/>
                <a:cs typeface="Calibri" pitchFamily="34" charset="-120"/>
              </a:rPr>
              <a:t>A paper cover for sending mail — here, big enough to mail Stanley.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PROPER NOUNS AND CAPITALIZATION</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letter went to California by airmail.</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Every boy in the family helped.</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Stanley folded himself up carefully.</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museum in the city was famous.</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Tap the proper noun — the one that names a specific person or place and begins with a capital letter. Tap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PROPER NOUNS AND CAPITALIZATION</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letter went to </a:t>
            </a:r>
            <a:pPr indent="0" marL="0">
              <a:buNone/>
            </a:pPr>
            <a:r>
              <a:rPr lang="en-US" sz="1600" b="1" dirty="0">
                <a:solidFill>
                  <a:srgbClr val="34B76F"/>
                </a:solidFill>
                <a:latin typeface="Calibri" pitchFamily="34" charset="0"/>
                <a:ea typeface="Calibri" pitchFamily="34" charset="-122"/>
                <a:cs typeface="Calibri" pitchFamily="34" charset="-120"/>
              </a:rPr>
              <a:t>California</a:t>
            </a:r>
            <a:pPr indent="0" marL="0">
              <a:buNone/>
            </a:pPr>
            <a:r>
              <a:rPr lang="en-US" sz="1600" dirty="0">
                <a:solidFill>
                  <a:srgbClr val="1E293B"/>
                </a:solidFill>
                <a:latin typeface="Calibri" pitchFamily="34" charset="0"/>
                <a:ea typeface="Calibri" pitchFamily="34" charset="-122"/>
                <a:cs typeface="Calibri" pitchFamily="34" charset="-120"/>
              </a:rPr>
              <a:t> by airmail.</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Every</a:t>
            </a:r>
            <a:pPr indent="0" marL="0">
              <a:buNone/>
            </a:pPr>
            <a:r>
              <a:rPr lang="en-US" sz="1600" dirty="0">
                <a:solidFill>
                  <a:srgbClr val="1E293B"/>
                </a:solidFill>
                <a:latin typeface="Calibri" pitchFamily="34" charset="0"/>
                <a:ea typeface="Calibri" pitchFamily="34" charset="-122"/>
                <a:cs typeface="Calibri" pitchFamily="34" charset="-120"/>
              </a:rPr>
              <a:t> boy in the family helped.</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Stanley</a:t>
            </a:r>
            <a:pPr indent="0" marL="0">
              <a:buNone/>
            </a:pPr>
            <a:r>
              <a:rPr lang="en-US" sz="1600" dirty="0">
                <a:solidFill>
                  <a:srgbClr val="1E293B"/>
                </a:solidFill>
                <a:latin typeface="Calibri" pitchFamily="34" charset="0"/>
                <a:ea typeface="Calibri" pitchFamily="34" charset="-122"/>
                <a:cs typeface="Calibri" pitchFamily="34" charset="-120"/>
              </a:rPr>
              <a:t> folded himself up carefully.</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The</a:t>
            </a:r>
            <a:pPr indent="0" marL="0">
              <a:buNone/>
            </a:pPr>
            <a:r>
              <a:rPr lang="en-US" sz="1600" dirty="0">
                <a:solidFill>
                  <a:srgbClr val="1E293B"/>
                </a:solidFill>
                <a:latin typeface="Calibri" pitchFamily="34" charset="0"/>
                <a:ea typeface="Calibri" pitchFamily="34" charset="-122"/>
                <a:cs typeface="Calibri" pitchFamily="34" charset="-120"/>
              </a:rPr>
              <a:t> museum in the city was famous.</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VOWEL TEAMS AI/AY AND OA/OW</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mail   ·   train   ·   paid   ·   play   ·   stay   ·   away   ·   boat   ·   road   ·   coat   ·   grow   ·   show   ·   slow</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ai  |  ay  |  oa  |  ow</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VOWEL TEAMS AI/AY AND OA/OW</a:t>
            </a:r>
            <a:endParaRPr lang="en-US" sz="1100" dirty="0"/>
          </a:p>
        </p:txBody>
      </p:sp>
      <p:sp>
        <p:nvSpPr>
          <p:cNvPr id="5" name="Shape 3"/>
          <p:cNvSpPr/>
          <p:nvPr/>
        </p:nvSpPr>
        <p:spPr>
          <a:xfrm>
            <a:off x="411480" y="1078992"/>
            <a:ext cx="2011680" cy="457200"/>
          </a:xfrm>
          <a:prstGeom prst="roundRect">
            <a:avLst>
              <a:gd name="adj" fmla="val 16000"/>
            </a:avLst>
          </a:prstGeom>
          <a:solidFill>
            <a:srgbClr val="0E1C42"/>
          </a:solidFill>
          <a:ln/>
        </p:spPr>
      </p:sp>
      <p:sp>
        <p:nvSpPr>
          <p:cNvPr id="6" name="Text 4"/>
          <p:cNvSpPr/>
          <p:nvPr/>
        </p:nvSpPr>
        <p:spPr>
          <a:xfrm>
            <a:off x="457200" y="1133856"/>
            <a:ext cx="192024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ai</a:t>
            </a:r>
            <a:endParaRPr lang="en-US" sz="1300" dirty="0"/>
          </a:p>
        </p:txBody>
      </p:sp>
      <p:sp>
        <p:nvSpPr>
          <p:cNvPr id="7" name="Shape 5"/>
          <p:cNvSpPr/>
          <p:nvPr/>
        </p:nvSpPr>
        <p:spPr>
          <a:xfrm>
            <a:off x="411480" y="1591056"/>
            <a:ext cx="2011680" cy="2103120"/>
          </a:xfrm>
          <a:prstGeom prst="roundRect">
            <a:avLst>
              <a:gd name="adj" fmla="val 4545"/>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182880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mail</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train</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paid</a:t>
            </a:r>
            <a:endParaRPr lang="en-US" sz="1400" dirty="0"/>
          </a:p>
        </p:txBody>
      </p:sp>
      <p:sp>
        <p:nvSpPr>
          <p:cNvPr id="9" name="Shape 7"/>
          <p:cNvSpPr/>
          <p:nvPr/>
        </p:nvSpPr>
        <p:spPr>
          <a:xfrm>
            <a:off x="2514600" y="1078992"/>
            <a:ext cx="2011680" cy="457200"/>
          </a:xfrm>
          <a:prstGeom prst="roundRect">
            <a:avLst>
              <a:gd name="adj" fmla="val 16000"/>
            </a:avLst>
          </a:prstGeom>
          <a:solidFill>
            <a:srgbClr val="0E1C42"/>
          </a:solidFill>
          <a:ln/>
        </p:spPr>
      </p:sp>
      <p:sp>
        <p:nvSpPr>
          <p:cNvPr id="10" name="Text 8"/>
          <p:cNvSpPr/>
          <p:nvPr/>
        </p:nvSpPr>
        <p:spPr>
          <a:xfrm>
            <a:off x="2560320" y="1133856"/>
            <a:ext cx="192024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ay</a:t>
            </a:r>
            <a:endParaRPr lang="en-US" sz="1300" dirty="0"/>
          </a:p>
        </p:txBody>
      </p:sp>
      <p:sp>
        <p:nvSpPr>
          <p:cNvPr id="11" name="Shape 9"/>
          <p:cNvSpPr/>
          <p:nvPr/>
        </p:nvSpPr>
        <p:spPr>
          <a:xfrm>
            <a:off x="2514600" y="1591056"/>
            <a:ext cx="2011680" cy="2103120"/>
          </a:xfrm>
          <a:prstGeom prst="roundRect">
            <a:avLst>
              <a:gd name="adj" fmla="val 4545"/>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2606040" y="1700784"/>
            <a:ext cx="182880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play</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stay</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away</a:t>
            </a:r>
            <a:endParaRPr lang="en-US" sz="1400" dirty="0"/>
          </a:p>
        </p:txBody>
      </p:sp>
      <p:sp>
        <p:nvSpPr>
          <p:cNvPr id="13" name="Shape 11"/>
          <p:cNvSpPr/>
          <p:nvPr/>
        </p:nvSpPr>
        <p:spPr>
          <a:xfrm>
            <a:off x="4617720" y="1078992"/>
            <a:ext cx="2011680" cy="457200"/>
          </a:xfrm>
          <a:prstGeom prst="roundRect">
            <a:avLst>
              <a:gd name="adj" fmla="val 16000"/>
            </a:avLst>
          </a:prstGeom>
          <a:solidFill>
            <a:srgbClr val="0E1C42"/>
          </a:solidFill>
          <a:ln/>
        </p:spPr>
      </p:sp>
      <p:sp>
        <p:nvSpPr>
          <p:cNvPr id="14" name="Text 12"/>
          <p:cNvSpPr/>
          <p:nvPr/>
        </p:nvSpPr>
        <p:spPr>
          <a:xfrm>
            <a:off x="4663440" y="1133856"/>
            <a:ext cx="192024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oa</a:t>
            </a:r>
            <a:endParaRPr lang="en-US" sz="1300" dirty="0"/>
          </a:p>
        </p:txBody>
      </p:sp>
      <p:sp>
        <p:nvSpPr>
          <p:cNvPr id="15" name="Shape 13"/>
          <p:cNvSpPr/>
          <p:nvPr/>
        </p:nvSpPr>
        <p:spPr>
          <a:xfrm>
            <a:off x="4617720" y="1591056"/>
            <a:ext cx="2011680" cy="2103120"/>
          </a:xfrm>
          <a:prstGeom prst="roundRect">
            <a:avLst>
              <a:gd name="adj" fmla="val 4545"/>
            </a:avLst>
          </a:prstGeom>
          <a:solidFill>
            <a:srgbClr val="FFFFFF"/>
          </a:solidFill>
          <a:ln/>
          <a:effectLst>
            <a:outerShdw sx="100000" sy="100000" kx="0" ky="0" algn="bl" rotWithShape="0" blurRad="101600" dist="38100" dir="2700000">
              <a:srgbClr val="000000">
                <a:alpha val="12000"/>
              </a:srgbClr>
            </a:outerShdw>
          </a:effectLst>
        </p:spPr>
      </p:sp>
      <p:sp>
        <p:nvSpPr>
          <p:cNvPr id="16" name="Text 14"/>
          <p:cNvSpPr/>
          <p:nvPr/>
        </p:nvSpPr>
        <p:spPr>
          <a:xfrm>
            <a:off x="4709160" y="1700784"/>
            <a:ext cx="182880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boat</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road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coat</a:t>
            </a:r>
            <a:endParaRPr lang="en-US" sz="1400" dirty="0"/>
          </a:p>
        </p:txBody>
      </p:sp>
      <p:sp>
        <p:nvSpPr>
          <p:cNvPr id="17" name="Shape 15"/>
          <p:cNvSpPr/>
          <p:nvPr/>
        </p:nvSpPr>
        <p:spPr>
          <a:xfrm>
            <a:off x="6720840" y="1078992"/>
            <a:ext cx="2011680" cy="457200"/>
          </a:xfrm>
          <a:prstGeom prst="roundRect">
            <a:avLst>
              <a:gd name="adj" fmla="val 16000"/>
            </a:avLst>
          </a:prstGeom>
          <a:solidFill>
            <a:srgbClr val="0E1C42"/>
          </a:solidFill>
          <a:ln/>
        </p:spPr>
      </p:sp>
      <p:sp>
        <p:nvSpPr>
          <p:cNvPr id="18" name="Text 16"/>
          <p:cNvSpPr/>
          <p:nvPr/>
        </p:nvSpPr>
        <p:spPr>
          <a:xfrm>
            <a:off x="6766560" y="1133856"/>
            <a:ext cx="192024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ow</a:t>
            </a:r>
            <a:endParaRPr lang="en-US" sz="1300" dirty="0"/>
          </a:p>
        </p:txBody>
      </p:sp>
      <p:sp>
        <p:nvSpPr>
          <p:cNvPr id="19" name="Shape 17"/>
          <p:cNvSpPr/>
          <p:nvPr/>
        </p:nvSpPr>
        <p:spPr>
          <a:xfrm>
            <a:off x="6720840" y="1591056"/>
            <a:ext cx="2011680" cy="2103120"/>
          </a:xfrm>
          <a:prstGeom prst="roundRect">
            <a:avLst>
              <a:gd name="adj" fmla="val 4545"/>
            </a:avLst>
          </a:prstGeom>
          <a:solidFill>
            <a:srgbClr val="FFFFFF"/>
          </a:solidFill>
          <a:ln/>
          <a:effectLst>
            <a:outerShdw sx="100000" sy="100000" kx="0" ky="0" algn="bl" rotWithShape="0" blurRad="101600" dist="38100" dir="2700000">
              <a:srgbClr val="000000">
                <a:alpha val="12000"/>
              </a:srgbClr>
            </a:outerShdw>
          </a:effectLst>
        </p:spPr>
      </p:sp>
      <p:sp>
        <p:nvSpPr>
          <p:cNvPr id="20" name="Text 18"/>
          <p:cNvSpPr/>
          <p:nvPr/>
        </p:nvSpPr>
        <p:spPr>
          <a:xfrm>
            <a:off x="6812280" y="1700784"/>
            <a:ext cx="182880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grow</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show</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slow</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Extension Text</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“They had to put a great many stamps on the envelope to pay for both airmail and insurance, but it was still much less expensive than a train or airplane ticket to California.”</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Stop after the article says the Postal Service delivers about 318 million pieces of mail every day. In the story, Stanley travels by mail. This article says people do not. Find one detail in the article that explains why the story could never really happen.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REVISE</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Reread and improve your personal narrative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2026-09-08T13:30:00Z</dcterms:created>
  <dcterms:modified xsi:type="dcterms:W3CDTF">2026-09-08T13:30:00Z</dcterms:modified>
</cp:coreProperties>
</file>