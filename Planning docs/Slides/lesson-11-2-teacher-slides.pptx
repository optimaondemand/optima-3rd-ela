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11.2. Reading: Ch. 26–27.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track cause and effect in the plot. Every event causes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Despereaux moved through the dungeon with a needle and a thread of light to guide him forward.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Despereaux moved through the dungeon with a needle and a thread of light to guide him forward.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A verb has to match its subject. One thing is, was, or runs. More than one thing are, were, or run. Find the subject first, then check the verb against it.
One girl, so was. Two girls would need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A verb has to match its subject. One thing is, was, or runs. More than one thing are, were, or run. Find the subject first, then check the verb against it.
One girl, so was. Two girls would need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mice, run, Despereaux, hears, brothers, are, Mig, stirs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mice, run, Despereaux, hears, brothers, are, Mig, stirs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Plain -s means more than one: three kings. An apostrophe + s means something belongs to: the king’s crown. If a plural already ends in s, add the apostrophe only: the girls’ room.
Answers: Stanley’s, mouse’s, king’s, princess’s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Plain -s means more than one: three kings. An apostrophe + s means something belongs to: the king’s crown. If a plural already ends in s, add the apostrophe only: the girls’ room.
Answers: Stanley’s, mouse’s, king’s, princess’s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B"/>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Tale of Despereaux</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8B6FC0"/>
                </a:solidFill>
                <a:latin typeface="Calibri" pitchFamily="34" charset="0"/>
                <a:ea typeface="Calibri" pitchFamily="34" charset="-122"/>
                <a:cs typeface="Calibri" pitchFamily="34" charset="-120"/>
              </a:rPr>
              <a:t>Lesson 11.2  ·  Ch. 26–27</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Mig sees the princess for the first time and wants to be her. Write about someone you have wanted to be like. What is it about them?</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Mig sees the princess for the first time and wants to be her. Write about someone you have wanted to be like. What is it about them?</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start each sentence with a capital letter?</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 26–27</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What caused Despereaux to end up where he is now?</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track cause and effect in the plot. Every event causes the next.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CORRECT MODEL — STUDY WHAT IS RIGHT</a:t>
            </a:r>
            <a:endParaRPr lang="en-US" sz="1100" dirty="0"/>
          </a:p>
        </p:txBody>
      </p:sp>
      <p:sp>
        <p:nvSpPr>
          <p:cNvPr id="5" name="Shape 3"/>
          <p:cNvSpPr/>
          <p:nvPr/>
        </p:nvSpPr>
        <p:spPr>
          <a:xfrm>
            <a:off x="365760" y="1078992"/>
            <a:ext cx="8412480" cy="822960"/>
          </a:xfrm>
          <a:prstGeom prst="roundRect">
            <a:avLst>
              <a:gd name="adj" fmla="val 11111"/>
            </a:avLst>
          </a:prstGeom>
          <a:solidFill>
            <a:srgbClr val="E5F7FC"/>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669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dungeon smells of old water, and the stairs creak under every step.</a:t>
            </a:r>
            <a:endParaRPr lang="en-US" sz="1700" dirty="0"/>
          </a:p>
        </p:txBody>
      </p:sp>
      <p:sp>
        <p:nvSpPr>
          <p:cNvPr id="7" name="Text 5"/>
          <p:cNvSpPr/>
          <p:nvPr/>
        </p:nvSpPr>
        <p:spPr>
          <a:xfrm>
            <a:off x="365760" y="210312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a:t>
            </a:r>
            <a:endParaRPr lang="en-US" sz="1100" dirty="0"/>
          </a:p>
        </p:txBody>
      </p:sp>
      <p:sp>
        <p:nvSpPr>
          <p:cNvPr id="8" name="Text 6"/>
          <p:cNvSpPr/>
          <p:nvPr/>
        </p:nvSpPr>
        <p:spPr>
          <a:xfrm>
            <a:off x="365760" y="2359152"/>
            <a:ext cx="8412480" cy="109728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the singular subject dungeon takes smells with an -s, but the plural subject stairs takes creak with no -s. A comma comes before and joining two complete sentences.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moved through the dungeon with a needle and a thread of light to guide him forward</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moved through the dungeon with a needle and a thread of light to guide him forward</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Despereaux moved through the dungeon with a needle and a thread of light to guide him forward.</a:t>
            </a:r>
            <a:endParaRPr lang="en-US" sz="1400" dirty="0"/>
          </a:p>
          <a:p>
            <a:pPr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-NESS</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-ness means names a quality as a thing.</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darkness = the quality of being dark · kindness = the quality of being kind · sadness = the quality of being sad</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Practice: Match the Word to Its Meaning! Tap a word, then tap what it means.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clout  </a:t>
            </a:r>
            <a:pPr indent="0" marL="0">
              <a:buNone/>
            </a:pPr>
            <a:r>
              <a:rPr lang="en-US" sz="1400" dirty="0">
                <a:solidFill>
                  <a:srgbClr val="1E293B"/>
                </a:solidFill>
                <a:latin typeface="Calibri" pitchFamily="34" charset="0"/>
                <a:ea typeface="Calibri" pitchFamily="34" charset="-122"/>
                <a:cs typeface="Calibri" pitchFamily="34" charset="-120"/>
              </a:rPr>
              <a:t>A hard hit or blow, usually with an open hand.</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deaf  </a:t>
            </a:r>
            <a:pPr indent="0" marL="0">
              <a:buNone/>
            </a:pPr>
            <a:r>
              <a:rPr lang="en-US" sz="1400" dirty="0">
                <a:solidFill>
                  <a:srgbClr val="1E293B"/>
                </a:solidFill>
                <a:latin typeface="Calibri" pitchFamily="34" charset="0"/>
                <a:ea typeface="Calibri" pitchFamily="34" charset="-122"/>
                <a:cs typeface="Calibri" pitchFamily="34" charset="-120"/>
              </a:rPr>
              <a:t>Unable to hear, or unable to hear well.</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servant  </a:t>
            </a:r>
            <a:pPr indent="0" marL="0">
              <a:buNone/>
            </a:pPr>
            <a:r>
              <a:rPr lang="en-US" sz="1400" dirty="0">
                <a:solidFill>
                  <a:srgbClr val="1E293B"/>
                </a:solidFill>
                <a:latin typeface="Calibri" pitchFamily="34" charset="0"/>
                <a:ea typeface="Calibri" pitchFamily="34" charset="-122"/>
                <a:cs typeface="Calibri" pitchFamily="34" charset="-120"/>
              </a:rPr>
              <a:t>Someone whose job is to work in another person's household.</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tablecloth  </a:t>
            </a:r>
            <a:pPr indent="0" marL="0">
              <a:buNone/>
            </a:pPr>
            <a:r>
              <a:rPr lang="en-US" sz="1400" dirty="0">
                <a:solidFill>
                  <a:srgbClr val="1E293B"/>
                </a:solidFill>
                <a:latin typeface="Calibri" pitchFamily="34" charset="0"/>
                <a:ea typeface="Calibri" pitchFamily="34" charset="-122"/>
                <a:cs typeface="Calibri" pitchFamily="34" charset="-120"/>
              </a:rPr>
              <a:t>A cloth spread over a table; here, what Mig was traded for.</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Look at the subject of each sentence and then at its verb.</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Miggery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Sow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center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it.</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clouts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were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alarmingly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frequent.</a:t>
            </a:r>
            <a:endParaRPr lang="en-US" sz="1700" dirty="0"/>
          </a:p>
        </p:txBody>
      </p:sp>
      <p:sp>
        <p:nvSpPr>
          <p:cNvPr id="12" name="Text 10"/>
          <p:cNvSpPr/>
          <p:nvPr/>
        </p:nvSpPr>
        <p:spPr>
          <a:xfrm>
            <a:off x="365760" y="3008376"/>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THINK IT THROUGH</a:t>
            </a:r>
            <a:endParaRPr lang="en-US" sz="1100" dirty="0"/>
          </a:p>
        </p:txBody>
      </p:sp>
      <p:sp>
        <p:nvSpPr>
          <p:cNvPr id="13" name="Text 11"/>
          <p:cNvSpPr/>
          <p:nvPr/>
        </p:nvSpPr>
        <p:spPr>
          <a:xfrm>
            <a:off x="365760" y="3255264"/>
            <a:ext cx="8412480" cy="1563624"/>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1.  Is the subject one thing or more than one?</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2.  What does the verb look like in each case — does it end in s or not?</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3.  It is backwards from nouns. Can you say how?</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Look at the subject of each sentence and then at its verb.</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Miggery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Sow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center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it.</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clouts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were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alarmingly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frequent.</a:t>
            </a:r>
            <a:endParaRPr lang="en-US" sz="1700" dirty="0"/>
          </a:p>
        </p:txBody>
      </p:sp>
      <p:sp>
        <p:nvSpPr>
          <p:cNvPr id="12" name="Shape 10"/>
          <p:cNvSpPr/>
          <p:nvPr/>
        </p:nvSpPr>
        <p:spPr>
          <a:xfrm>
            <a:off x="365760" y="3008376"/>
            <a:ext cx="8412480" cy="1837944"/>
          </a:xfrm>
          <a:prstGeom prst="roundRect">
            <a:avLst>
              <a:gd name="adj" fmla="val 4975"/>
            </a:avLst>
          </a:prstGeom>
          <a:solidFill>
            <a:srgbClr val="E8F8EF"/>
          </a:solidFill>
          <a:ln/>
          <a:effectLst>
            <a:outerShdw sx="100000" sy="100000" kx="0" ky="0" algn="bl" rotWithShape="0" blurRad="101600" dist="38100" dir="2700000">
              <a:srgbClr val="000000">
                <a:alpha val="12000"/>
              </a:srgbClr>
            </a:outerShdw>
          </a:effectLst>
        </p:spPr>
      </p:sp>
      <p:sp>
        <p:nvSpPr>
          <p:cNvPr id="13" name="Text 11"/>
          <p:cNvSpPr/>
          <p:nvPr/>
        </p:nvSpPr>
        <p:spPr>
          <a:xfrm>
            <a:off x="566928" y="3072384"/>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THE PATTERN</a:t>
            </a:r>
            <a:endParaRPr lang="en-US" sz="1100" dirty="0"/>
          </a:p>
        </p:txBody>
      </p:sp>
      <p:sp>
        <p:nvSpPr>
          <p:cNvPr id="14" name="Text 12"/>
          <p:cNvSpPr/>
          <p:nvPr/>
        </p:nvSpPr>
        <p:spPr>
          <a:xfrm>
            <a:off x="566928" y="3328416"/>
            <a:ext cx="8010144" cy="1380744"/>
          </a:xfrm>
          <a:prstGeom prst="rect">
            <a:avLst/>
          </a:prstGeom>
          <a:noFill/>
          <a:ln/>
        </p:spPr>
        <p:txBody>
          <a:bodyPr wrap="square" lIns="0" tIns="0" rIns="0" bIns="0" rtlCol="0" anchor="t">
            <a:normAutofit/>
          </a:bodyPr>
          <a:lstStyle/>
          <a:p>
            <a:pPr indent="0" marL="0">
              <a:buNone/>
            </a:pPr>
            <a:r>
              <a:rPr lang="en-US" sz="1300" dirty="0">
                <a:solidFill>
                  <a:srgbClr val="1E293B"/>
                </a:solidFill>
                <a:latin typeface="Calibri" pitchFamily="34" charset="0"/>
                <a:ea typeface="Calibri" pitchFamily="34" charset="-122"/>
                <a:cs typeface="Calibri" pitchFamily="34" charset="-120"/>
              </a:rPr>
              <a:t>A verb has to match its subject. One thing is, was, or runs. More than one thing are, were, or run. Find the subject first, then check the verb against it.</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One girl, so was. Two girls would need were.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mice run down the hall.</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Despereaux hears the music every night.</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brothers are afraid of the light.</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Mig stirs the soup slowly.</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Tap both the subject and the verb that goes with it. The sentence only finishes when you have found the pair.</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b="1" dirty="0">
                <a:solidFill>
                  <a:srgbClr val="34B76F"/>
                </a:solidFill>
                <a:latin typeface="Calibri" pitchFamily="34" charset="0"/>
                <a:ea typeface="Calibri" pitchFamily="34" charset="-122"/>
                <a:cs typeface="Calibri" pitchFamily="34" charset="-120"/>
              </a:rPr>
              <a:t>mice </a:t>
            </a:r>
            <a:pPr indent="0" marL="0">
              <a:buNone/>
            </a:pPr>
            <a:r>
              <a:rPr lang="en-US" sz="1600" b="1" dirty="0">
                <a:solidFill>
                  <a:srgbClr val="34B76F"/>
                </a:solidFill>
                <a:latin typeface="Calibri" pitchFamily="34" charset="0"/>
                <a:ea typeface="Calibri" pitchFamily="34" charset="-122"/>
                <a:cs typeface="Calibri" pitchFamily="34" charset="-120"/>
              </a:rPr>
              <a:t>run </a:t>
            </a:r>
            <a:pPr indent="0" marL="0">
              <a:buNone/>
            </a:pPr>
            <a:r>
              <a:rPr lang="en-US" sz="1600" dirty="0">
                <a:solidFill>
                  <a:srgbClr val="1E293B"/>
                </a:solidFill>
                <a:latin typeface="Calibri" pitchFamily="34" charset="0"/>
                <a:ea typeface="Calibri" pitchFamily="34" charset="-122"/>
                <a:cs typeface="Calibri" pitchFamily="34" charset="-120"/>
              </a:rPr>
              <a:t>down </a:t>
            </a:r>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dirty="0">
                <a:solidFill>
                  <a:srgbClr val="1E293B"/>
                </a:solidFill>
                <a:latin typeface="Calibri" pitchFamily="34" charset="0"/>
                <a:ea typeface="Calibri" pitchFamily="34" charset="-122"/>
                <a:cs typeface="Calibri" pitchFamily="34" charset="-120"/>
              </a:rPr>
              <a:t>hall.</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Despereaux </a:t>
            </a:r>
            <a:pPr indent="0" marL="0">
              <a:buNone/>
            </a:pPr>
            <a:r>
              <a:rPr lang="en-US" sz="1600" b="1" dirty="0">
                <a:solidFill>
                  <a:srgbClr val="34B76F"/>
                </a:solidFill>
                <a:latin typeface="Calibri" pitchFamily="34" charset="0"/>
                <a:ea typeface="Calibri" pitchFamily="34" charset="-122"/>
                <a:cs typeface="Calibri" pitchFamily="34" charset="-120"/>
              </a:rPr>
              <a:t>hears </a:t>
            </a:r>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dirty="0">
                <a:solidFill>
                  <a:srgbClr val="1E293B"/>
                </a:solidFill>
                <a:latin typeface="Calibri" pitchFamily="34" charset="0"/>
                <a:ea typeface="Calibri" pitchFamily="34" charset="-122"/>
                <a:cs typeface="Calibri" pitchFamily="34" charset="-120"/>
              </a:rPr>
              <a:t>music </a:t>
            </a:r>
            <a:pPr indent="0" marL="0">
              <a:buNone/>
            </a:pPr>
            <a:r>
              <a:rPr lang="en-US" sz="1600" dirty="0">
                <a:solidFill>
                  <a:srgbClr val="1E293B"/>
                </a:solidFill>
                <a:latin typeface="Calibri" pitchFamily="34" charset="0"/>
                <a:ea typeface="Calibri" pitchFamily="34" charset="-122"/>
                <a:cs typeface="Calibri" pitchFamily="34" charset="-120"/>
              </a:rPr>
              <a:t>every </a:t>
            </a:r>
            <a:pPr indent="0" marL="0">
              <a:buNone/>
            </a:pPr>
            <a:r>
              <a:rPr lang="en-US" sz="1600" dirty="0">
                <a:solidFill>
                  <a:srgbClr val="1E293B"/>
                </a:solidFill>
                <a:latin typeface="Calibri" pitchFamily="34" charset="0"/>
                <a:ea typeface="Calibri" pitchFamily="34" charset="-122"/>
                <a:cs typeface="Calibri" pitchFamily="34" charset="-120"/>
              </a:rPr>
              <a:t>night.</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b="1" dirty="0">
                <a:solidFill>
                  <a:srgbClr val="34B76F"/>
                </a:solidFill>
                <a:latin typeface="Calibri" pitchFamily="34" charset="0"/>
                <a:ea typeface="Calibri" pitchFamily="34" charset="-122"/>
                <a:cs typeface="Calibri" pitchFamily="34" charset="-120"/>
              </a:rPr>
              <a:t>brothers </a:t>
            </a:r>
            <a:pPr indent="0" marL="0">
              <a:buNone/>
            </a:pPr>
            <a:r>
              <a:rPr lang="en-US" sz="1600" b="1" dirty="0">
                <a:solidFill>
                  <a:srgbClr val="34B76F"/>
                </a:solidFill>
                <a:latin typeface="Calibri" pitchFamily="34" charset="0"/>
                <a:ea typeface="Calibri" pitchFamily="34" charset="-122"/>
                <a:cs typeface="Calibri" pitchFamily="34" charset="-120"/>
              </a:rPr>
              <a:t>are </a:t>
            </a:r>
            <a:pPr indent="0" marL="0">
              <a:buNone/>
            </a:pPr>
            <a:r>
              <a:rPr lang="en-US" sz="1600" dirty="0">
                <a:solidFill>
                  <a:srgbClr val="1E293B"/>
                </a:solidFill>
                <a:latin typeface="Calibri" pitchFamily="34" charset="0"/>
                <a:ea typeface="Calibri" pitchFamily="34" charset="-122"/>
                <a:cs typeface="Calibri" pitchFamily="34" charset="-120"/>
              </a:rPr>
              <a:t>afraid </a:t>
            </a:r>
            <a:pPr indent="0" marL="0">
              <a:buNone/>
            </a:pPr>
            <a:r>
              <a:rPr lang="en-US" sz="1600" dirty="0">
                <a:solidFill>
                  <a:srgbClr val="1E293B"/>
                </a:solidFill>
                <a:latin typeface="Calibri" pitchFamily="34" charset="0"/>
                <a:ea typeface="Calibri" pitchFamily="34" charset="-122"/>
                <a:cs typeface="Calibri" pitchFamily="34" charset="-120"/>
              </a:rPr>
              <a:t>of </a:t>
            </a:r>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dirty="0">
                <a:solidFill>
                  <a:srgbClr val="1E293B"/>
                </a:solidFill>
                <a:latin typeface="Calibri" pitchFamily="34" charset="0"/>
                <a:ea typeface="Calibri" pitchFamily="34" charset="-122"/>
                <a:cs typeface="Calibri" pitchFamily="34" charset="-120"/>
              </a:rPr>
              <a:t>light.</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Mig </a:t>
            </a:r>
            <a:pPr indent="0" marL="0">
              <a:buNone/>
            </a:pPr>
            <a:r>
              <a:rPr lang="en-US" sz="1600" b="1" dirty="0">
                <a:solidFill>
                  <a:srgbClr val="34B76F"/>
                </a:solidFill>
                <a:latin typeface="Calibri" pitchFamily="34" charset="0"/>
                <a:ea typeface="Calibri" pitchFamily="34" charset="-122"/>
                <a:cs typeface="Calibri" pitchFamily="34" charset="-120"/>
              </a:rPr>
              <a:t>stirs </a:t>
            </a:r>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dirty="0">
                <a:solidFill>
                  <a:srgbClr val="1E293B"/>
                </a:solidFill>
                <a:latin typeface="Calibri" pitchFamily="34" charset="0"/>
                <a:ea typeface="Calibri" pitchFamily="34" charset="-122"/>
                <a:cs typeface="Calibri" pitchFamily="34" charset="-120"/>
              </a:rPr>
              <a:t>soup </a:t>
            </a:r>
            <a:pPr indent="0" marL="0">
              <a:buNone/>
            </a:pPr>
            <a:r>
              <a:rPr lang="en-US" sz="1600" dirty="0">
                <a:solidFill>
                  <a:srgbClr val="1E293B"/>
                </a:solidFill>
                <a:latin typeface="Calibri" pitchFamily="34" charset="0"/>
                <a:ea typeface="Calibri" pitchFamily="34" charset="-122"/>
                <a:cs typeface="Calibri" pitchFamily="34" charset="-120"/>
              </a:rPr>
              <a:t>slowly.</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POSSESSIVES VS. PLURALS</a:t>
            </a:r>
            <a:endParaRPr lang="en-US" sz="1100" dirty="0"/>
          </a:p>
        </p:txBody>
      </p:sp>
      <p:sp>
        <p:nvSpPr>
          <p:cNvPr id="5" name="Text 3"/>
          <p:cNvSpPr/>
          <p:nvPr/>
        </p:nvSpPr>
        <p:spPr>
          <a:xfrm>
            <a:off x="365760" y="10515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  THE RULE</a:t>
            </a:r>
            <a:endParaRPr lang="en-US" sz="1100" dirty="0"/>
          </a:p>
        </p:txBody>
      </p:sp>
      <p:sp>
        <p:nvSpPr>
          <p:cNvPr id="6" name="Shape 4"/>
          <p:cNvSpPr/>
          <p:nvPr/>
        </p:nvSpPr>
        <p:spPr>
          <a:xfrm>
            <a:off x="365760" y="1298448"/>
            <a:ext cx="8412480" cy="960120"/>
          </a:xfrm>
          <a:prstGeom prst="roundRect">
            <a:avLst>
              <a:gd name="adj" fmla="val 9524"/>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26464"/>
            <a:ext cx="7955280" cy="7040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Plain -s means more than one: three kings. An apostrophe + s means something belongs to: the king’s crown. If a plural already ends in s, add the apostrophe only: the girls’ room.</a:t>
            </a:r>
            <a:endParaRPr lang="en-US" sz="1700" dirty="0"/>
          </a:p>
        </p:txBody>
      </p:sp>
      <p:sp>
        <p:nvSpPr>
          <p:cNvPr id="8" name="Text 6"/>
          <p:cNvSpPr/>
          <p:nvPr/>
        </p:nvSpPr>
        <p:spPr>
          <a:xfrm>
            <a:off x="365760" y="2395728"/>
            <a:ext cx="841248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Sound Detective! Look for the apostrophe. Only one word in each row shows belonging.</a:t>
            </a:r>
            <a:endParaRPr lang="en-US" sz="1400" dirty="0"/>
          </a:p>
        </p:txBody>
      </p:sp>
      <p:sp>
        <p:nvSpPr>
          <p:cNvPr id="9" name="Shape 7"/>
          <p:cNvSpPr/>
          <p:nvPr/>
        </p:nvSpPr>
        <p:spPr>
          <a:xfrm>
            <a:off x="365760" y="2852928"/>
            <a:ext cx="8412480" cy="438912"/>
          </a:xfrm>
          <a:prstGeom prst="roundRect">
            <a:avLst>
              <a:gd name="adj" fmla="val 20833"/>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916936"/>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Stanley’s     ·     </a:t>
            </a:r>
            <a:pPr indent="0" marL="0">
              <a:buNone/>
            </a:pPr>
            <a:r>
              <a:rPr lang="en-US" sz="1500" dirty="0">
                <a:solidFill>
                  <a:srgbClr val="1E293B"/>
                </a:solidFill>
                <a:latin typeface="Calibri" pitchFamily="34" charset="0"/>
                <a:ea typeface="Calibri" pitchFamily="34" charset="-122"/>
                <a:cs typeface="Calibri" pitchFamily="34" charset="-120"/>
              </a:rPr>
              <a:t>brothers     ·     </a:t>
            </a:r>
            <a:pPr indent="0" marL="0">
              <a:buNone/>
            </a:pPr>
            <a:r>
              <a:rPr lang="en-US" sz="1500" dirty="0">
                <a:solidFill>
                  <a:srgbClr val="1E293B"/>
                </a:solidFill>
                <a:latin typeface="Calibri" pitchFamily="34" charset="0"/>
                <a:ea typeface="Calibri" pitchFamily="34" charset="-122"/>
                <a:cs typeface="Calibri" pitchFamily="34" charset="-120"/>
              </a:rPr>
              <a:t>letters     ·     </a:t>
            </a:r>
            <a:pPr indent="0" marL="0">
              <a:buNone/>
            </a:pPr>
            <a:r>
              <a:rPr lang="en-US" sz="1500" dirty="0">
                <a:solidFill>
                  <a:srgbClr val="1E293B"/>
                </a:solidFill>
                <a:latin typeface="Calibri" pitchFamily="34" charset="0"/>
                <a:ea typeface="Calibri" pitchFamily="34" charset="-122"/>
                <a:cs typeface="Calibri" pitchFamily="34" charset="-120"/>
              </a:rPr>
              <a:t>maps</a:t>
            </a:r>
            <a:endParaRPr lang="en-US" sz="1500" dirty="0"/>
          </a:p>
        </p:txBody>
      </p:sp>
      <p:sp>
        <p:nvSpPr>
          <p:cNvPr id="11" name="Shape 9"/>
          <p:cNvSpPr/>
          <p:nvPr/>
        </p:nvSpPr>
        <p:spPr>
          <a:xfrm>
            <a:off x="365760" y="3337560"/>
            <a:ext cx="8412480" cy="438912"/>
          </a:xfrm>
          <a:prstGeom prst="roundRect">
            <a:avLst>
              <a:gd name="adj" fmla="val 208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01568"/>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mice     ·     </a:t>
            </a:r>
            <a:pPr indent="0" marL="0">
              <a:buNone/>
            </a:pPr>
            <a:r>
              <a:rPr lang="en-US" sz="1500" dirty="0">
                <a:solidFill>
                  <a:srgbClr val="1E293B"/>
                </a:solidFill>
                <a:latin typeface="Calibri" pitchFamily="34" charset="0"/>
                <a:ea typeface="Calibri" pitchFamily="34" charset="-122"/>
                <a:cs typeface="Calibri" pitchFamily="34" charset="-120"/>
              </a:rPr>
              <a:t>mouse’s     ·     </a:t>
            </a:r>
            <a:pPr indent="0" marL="0">
              <a:buNone/>
            </a:pPr>
            <a:r>
              <a:rPr lang="en-US" sz="1500" dirty="0">
                <a:solidFill>
                  <a:srgbClr val="1E293B"/>
                </a:solidFill>
                <a:latin typeface="Calibri" pitchFamily="34" charset="0"/>
                <a:ea typeface="Calibri" pitchFamily="34" charset="-122"/>
                <a:cs typeface="Calibri" pitchFamily="34" charset="-120"/>
              </a:rPr>
              <a:t>houses     ·     </a:t>
            </a:r>
            <a:pPr indent="0" marL="0">
              <a:buNone/>
            </a:pPr>
            <a:r>
              <a:rPr lang="en-US" sz="1500" dirty="0">
                <a:solidFill>
                  <a:srgbClr val="1E293B"/>
                </a:solidFill>
                <a:latin typeface="Calibri" pitchFamily="34" charset="0"/>
                <a:ea typeface="Calibri" pitchFamily="34" charset="-122"/>
                <a:cs typeface="Calibri" pitchFamily="34" charset="-120"/>
              </a:rPr>
              <a:t>boxes</a:t>
            </a:r>
            <a:endParaRPr lang="en-US" sz="1500" dirty="0"/>
          </a:p>
        </p:txBody>
      </p:sp>
      <p:sp>
        <p:nvSpPr>
          <p:cNvPr id="13" name="Shape 11"/>
          <p:cNvSpPr/>
          <p:nvPr/>
        </p:nvSpPr>
        <p:spPr>
          <a:xfrm>
            <a:off x="365760" y="3822192"/>
            <a:ext cx="8412480" cy="438912"/>
          </a:xfrm>
          <a:prstGeom prst="roundRect">
            <a:avLst>
              <a:gd name="adj" fmla="val 20833"/>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886200"/>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kings     ·     </a:t>
            </a:r>
            <a:pPr indent="0" marL="0">
              <a:buNone/>
            </a:pPr>
            <a:r>
              <a:rPr lang="en-US" sz="1500" dirty="0">
                <a:solidFill>
                  <a:srgbClr val="1E293B"/>
                </a:solidFill>
                <a:latin typeface="Calibri" pitchFamily="34" charset="0"/>
                <a:ea typeface="Calibri" pitchFamily="34" charset="-122"/>
                <a:cs typeface="Calibri" pitchFamily="34" charset="-120"/>
              </a:rPr>
              <a:t>rings     ·     </a:t>
            </a:r>
            <a:pPr indent="0" marL="0">
              <a:buNone/>
            </a:pPr>
            <a:r>
              <a:rPr lang="en-US" sz="1500" dirty="0">
                <a:solidFill>
                  <a:srgbClr val="1E293B"/>
                </a:solidFill>
                <a:latin typeface="Calibri" pitchFamily="34" charset="0"/>
                <a:ea typeface="Calibri" pitchFamily="34" charset="-122"/>
                <a:cs typeface="Calibri" pitchFamily="34" charset="-120"/>
              </a:rPr>
              <a:t>king’s     ·     </a:t>
            </a:r>
            <a:pPr indent="0" marL="0">
              <a:buNone/>
            </a:pPr>
            <a:r>
              <a:rPr lang="en-US" sz="1500" dirty="0">
                <a:solidFill>
                  <a:srgbClr val="1E293B"/>
                </a:solidFill>
                <a:latin typeface="Calibri" pitchFamily="34" charset="0"/>
                <a:ea typeface="Calibri" pitchFamily="34" charset="-122"/>
                <a:cs typeface="Calibri" pitchFamily="34" charset="-120"/>
              </a:rPr>
              <a:t>wings</a:t>
            </a:r>
            <a:endParaRPr lang="en-US" sz="1500" dirty="0"/>
          </a:p>
        </p:txBody>
      </p:sp>
      <p:sp>
        <p:nvSpPr>
          <p:cNvPr id="15" name="Shape 13"/>
          <p:cNvSpPr/>
          <p:nvPr/>
        </p:nvSpPr>
        <p:spPr>
          <a:xfrm>
            <a:off x="365760" y="4306824"/>
            <a:ext cx="8412480" cy="438912"/>
          </a:xfrm>
          <a:prstGeom prst="roundRect">
            <a:avLst>
              <a:gd name="adj" fmla="val 20833"/>
            </a:avLst>
          </a:prstGeom>
          <a:solidFill>
            <a:srgbClr val="FFFFFF"/>
          </a:solidFill>
          <a:ln/>
          <a:effectLst>
            <a:outerShdw sx="100000" sy="100000" kx="0" ky="0" algn="bl" rotWithShape="0" blurRad="101600" dist="38100" dir="2700000">
              <a:srgbClr val="000000">
                <a:alpha val="12000"/>
              </a:srgbClr>
            </a:outerShdw>
          </a:effectLst>
        </p:spPr>
      </p:sp>
      <p:sp>
        <p:nvSpPr>
          <p:cNvPr id="16" name="Text 14"/>
          <p:cNvSpPr/>
          <p:nvPr/>
        </p:nvSpPr>
        <p:spPr>
          <a:xfrm>
            <a:off x="594360" y="4370832"/>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princesses     ·     </a:t>
            </a:r>
            <a:pPr indent="0" marL="0">
              <a:buNone/>
            </a:pPr>
            <a:r>
              <a:rPr lang="en-US" sz="1500" dirty="0">
                <a:solidFill>
                  <a:srgbClr val="1E293B"/>
                </a:solidFill>
                <a:latin typeface="Calibri" pitchFamily="34" charset="0"/>
                <a:ea typeface="Calibri" pitchFamily="34" charset="-122"/>
                <a:cs typeface="Calibri" pitchFamily="34" charset="-120"/>
              </a:rPr>
              <a:t>dresses     ·     </a:t>
            </a:r>
            <a:pPr indent="0" marL="0">
              <a:buNone/>
            </a:pPr>
            <a:r>
              <a:rPr lang="en-US" sz="1500" dirty="0">
                <a:solidFill>
                  <a:srgbClr val="1E293B"/>
                </a:solidFill>
                <a:latin typeface="Calibri" pitchFamily="34" charset="0"/>
                <a:ea typeface="Calibri" pitchFamily="34" charset="-122"/>
                <a:cs typeface="Calibri" pitchFamily="34" charset="-120"/>
              </a:rPr>
              <a:t>glasses     ·     </a:t>
            </a:r>
            <a:pPr indent="0" marL="0">
              <a:buNone/>
            </a:pPr>
            <a:r>
              <a:rPr lang="en-US" sz="1500" dirty="0">
                <a:solidFill>
                  <a:srgbClr val="1E293B"/>
                </a:solidFill>
                <a:latin typeface="Calibri" pitchFamily="34" charset="0"/>
                <a:ea typeface="Calibri" pitchFamily="34" charset="-122"/>
                <a:cs typeface="Calibri" pitchFamily="34" charset="-120"/>
              </a:rPr>
              <a:t>princess’s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POSSESSIVES VS. PLURALS</a:t>
            </a:r>
            <a:endParaRPr lang="en-US" sz="1100" dirty="0"/>
          </a:p>
        </p:txBody>
      </p:sp>
      <p:sp>
        <p:nvSpPr>
          <p:cNvPr id="5" name="Text 3"/>
          <p:cNvSpPr/>
          <p:nvPr/>
        </p:nvSpPr>
        <p:spPr>
          <a:xfrm>
            <a:off x="365760" y="10515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  THE RULE</a:t>
            </a:r>
            <a:endParaRPr lang="en-US" sz="1100" dirty="0"/>
          </a:p>
        </p:txBody>
      </p:sp>
      <p:sp>
        <p:nvSpPr>
          <p:cNvPr id="6" name="Shape 4"/>
          <p:cNvSpPr/>
          <p:nvPr/>
        </p:nvSpPr>
        <p:spPr>
          <a:xfrm>
            <a:off x="365760" y="1298448"/>
            <a:ext cx="8412480" cy="960120"/>
          </a:xfrm>
          <a:prstGeom prst="roundRect">
            <a:avLst>
              <a:gd name="adj" fmla="val 9524"/>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26464"/>
            <a:ext cx="7955280" cy="7040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Plain -s means more than one: three kings. An apostrophe + s means something belongs to: the king’s crown. If a plural already ends in s, add the apostrophe only: the girls’ room.</a:t>
            </a:r>
            <a:endParaRPr lang="en-US" sz="1700" dirty="0"/>
          </a:p>
        </p:txBody>
      </p:sp>
      <p:sp>
        <p:nvSpPr>
          <p:cNvPr id="8" name="Text 6"/>
          <p:cNvSpPr/>
          <p:nvPr/>
        </p:nvSpPr>
        <p:spPr>
          <a:xfrm>
            <a:off x="365760" y="2395728"/>
            <a:ext cx="841248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Sound Detective! Look for the apostrophe. Only one word in each row shows belonging.</a:t>
            </a:r>
            <a:endParaRPr lang="en-US" sz="1400" dirty="0"/>
          </a:p>
        </p:txBody>
      </p:sp>
      <p:sp>
        <p:nvSpPr>
          <p:cNvPr id="9" name="Shape 7"/>
          <p:cNvSpPr/>
          <p:nvPr/>
        </p:nvSpPr>
        <p:spPr>
          <a:xfrm>
            <a:off x="365760" y="2852928"/>
            <a:ext cx="8412480" cy="438912"/>
          </a:xfrm>
          <a:prstGeom prst="roundRect">
            <a:avLst>
              <a:gd name="adj" fmla="val 20833"/>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916936"/>
            <a:ext cx="7863840" cy="310896"/>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Stanley’s     ·     </a:t>
            </a:r>
            <a:pPr indent="0" marL="0">
              <a:buNone/>
            </a:pPr>
            <a:r>
              <a:rPr lang="en-US" sz="1500" dirty="0">
                <a:solidFill>
                  <a:srgbClr val="1E293B"/>
                </a:solidFill>
                <a:latin typeface="Calibri" pitchFamily="34" charset="0"/>
                <a:ea typeface="Calibri" pitchFamily="34" charset="-122"/>
                <a:cs typeface="Calibri" pitchFamily="34" charset="-120"/>
              </a:rPr>
              <a:t>brothers     ·     </a:t>
            </a:r>
            <a:pPr indent="0" marL="0">
              <a:buNone/>
            </a:pPr>
            <a:r>
              <a:rPr lang="en-US" sz="1500" dirty="0">
                <a:solidFill>
                  <a:srgbClr val="1E293B"/>
                </a:solidFill>
                <a:latin typeface="Calibri" pitchFamily="34" charset="0"/>
                <a:ea typeface="Calibri" pitchFamily="34" charset="-122"/>
                <a:cs typeface="Calibri" pitchFamily="34" charset="-120"/>
              </a:rPr>
              <a:t>letters     ·     </a:t>
            </a:r>
            <a:pPr indent="0" marL="0">
              <a:buNone/>
            </a:pPr>
            <a:r>
              <a:rPr lang="en-US" sz="1500" dirty="0">
                <a:solidFill>
                  <a:srgbClr val="1E293B"/>
                </a:solidFill>
                <a:latin typeface="Calibri" pitchFamily="34" charset="0"/>
                <a:ea typeface="Calibri" pitchFamily="34" charset="-122"/>
                <a:cs typeface="Calibri" pitchFamily="34" charset="-120"/>
              </a:rPr>
              <a:t>maps</a:t>
            </a:r>
            <a:endParaRPr lang="en-US" sz="1500" dirty="0"/>
          </a:p>
        </p:txBody>
      </p:sp>
      <p:sp>
        <p:nvSpPr>
          <p:cNvPr id="11" name="Shape 9"/>
          <p:cNvSpPr/>
          <p:nvPr/>
        </p:nvSpPr>
        <p:spPr>
          <a:xfrm>
            <a:off x="365760" y="3337560"/>
            <a:ext cx="8412480" cy="438912"/>
          </a:xfrm>
          <a:prstGeom prst="roundRect">
            <a:avLst>
              <a:gd name="adj" fmla="val 208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01568"/>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mice     ·     </a:t>
            </a:r>
            <a:pPr indent="0" marL="0">
              <a:buNone/>
            </a:pPr>
            <a:r>
              <a:rPr lang="en-US" sz="1500" b="1" dirty="0">
                <a:solidFill>
                  <a:srgbClr val="34B76F"/>
                </a:solidFill>
                <a:latin typeface="Calibri" pitchFamily="34" charset="0"/>
                <a:ea typeface="Calibri" pitchFamily="34" charset="-122"/>
                <a:cs typeface="Calibri" pitchFamily="34" charset="-120"/>
              </a:rPr>
              <a:t>mouse’s     ·     </a:t>
            </a:r>
            <a:pPr indent="0" marL="0">
              <a:buNone/>
            </a:pPr>
            <a:r>
              <a:rPr lang="en-US" sz="1500" dirty="0">
                <a:solidFill>
                  <a:srgbClr val="1E293B"/>
                </a:solidFill>
                <a:latin typeface="Calibri" pitchFamily="34" charset="0"/>
                <a:ea typeface="Calibri" pitchFamily="34" charset="-122"/>
                <a:cs typeface="Calibri" pitchFamily="34" charset="-120"/>
              </a:rPr>
              <a:t>houses     ·     </a:t>
            </a:r>
            <a:pPr indent="0" marL="0">
              <a:buNone/>
            </a:pPr>
            <a:r>
              <a:rPr lang="en-US" sz="1500" dirty="0">
                <a:solidFill>
                  <a:srgbClr val="1E293B"/>
                </a:solidFill>
                <a:latin typeface="Calibri" pitchFamily="34" charset="0"/>
                <a:ea typeface="Calibri" pitchFamily="34" charset="-122"/>
                <a:cs typeface="Calibri" pitchFamily="34" charset="-120"/>
              </a:rPr>
              <a:t>boxes</a:t>
            </a:r>
            <a:endParaRPr lang="en-US" sz="1500" dirty="0"/>
          </a:p>
        </p:txBody>
      </p:sp>
      <p:sp>
        <p:nvSpPr>
          <p:cNvPr id="13" name="Shape 11"/>
          <p:cNvSpPr/>
          <p:nvPr/>
        </p:nvSpPr>
        <p:spPr>
          <a:xfrm>
            <a:off x="365760" y="3822192"/>
            <a:ext cx="8412480" cy="438912"/>
          </a:xfrm>
          <a:prstGeom prst="roundRect">
            <a:avLst>
              <a:gd name="adj" fmla="val 20833"/>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886200"/>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kings     ·     </a:t>
            </a:r>
            <a:pPr indent="0" marL="0">
              <a:buNone/>
            </a:pPr>
            <a:r>
              <a:rPr lang="en-US" sz="1500" dirty="0">
                <a:solidFill>
                  <a:srgbClr val="1E293B"/>
                </a:solidFill>
                <a:latin typeface="Calibri" pitchFamily="34" charset="0"/>
                <a:ea typeface="Calibri" pitchFamily="34" charset="-122"/>
                <a:cs typeface="Calibri" pitchFamily="34" charset="-120"/>
              </a:rPr>
              <a:t>rings     ·     </a:t>
            </a:r>
            <a:pPr indent="0" marL="0">
              <a:buNone/>
            </a:pPr>
            <a:r>
              <a:rPr lang="en-US" sz="1500" b="1" dirty="0">
                <a:solidFill>
                  <a:srgbClr val="34B76F"/>
                </a:solidFill>
                <a:latin typeface="Calibri" pitchFamily="34" charset="0"/>
                <a:ea typeface="Calibri" pitchFamily="34" charset="-122"/>
                <a:cs typeface="Calibri" pitchFamily="34" charset="-120"/>
              </a:rPr>
              <a:t>king’s     ·     </a:t>
            </a:r>
            <a:pPr indent="0" marL="0">
              <a:buNone/>
            </a:pPr>
            <a:r>
              <a:rPr lang="en-US" sz="1500" dirty="0">
                <a:solidFill>
                  <a:srgbClr val="1E293B"/>
                </a:solidFill>
                <a:latin typeface="Calibri" pitchFamily="34" charset="0"/>
                <a:ea typeface="Calibri" pitchFamily="34" charset="-122"/>
                <a:cs typeface="Calibri" pitchFamily="34" charset="-120"/>
              </a:rPr>
              <a:t>wings</a:t>
            </a:r>
            <a:endParaRPr lang="en-US" sz="1500" dirty="0"/>
          </a:p>
        </p:txBody>
      </p:sp>
      <p:sp>
        <p:nvSpPr>
          <p:cNvPr id="15" name="Shape 13"/>
          <p:cNvSpPr/>
          <p:nvPr/>
        </p:nvSpPr>
        <p:spPr>
          <a:xfrm>
            <a:off x="365760" y="4306824"/>
            <a:ext cx="8412480" cy="438912"/>
          </a:xfrm>
          <a:prstGeom prst="roundRect">
            <a:avLst>
              <a:gd name="adj" fmla="val 20833"/>
            </a:avLst>
          </a:prstGeom>
          <a:solidFill>
            <a:srgbClr val="FFFFFF"/>
          </a:solidFill>
          <a:ln/>
          <a:effectLst>
            <a:outerShdw sx="100000" sy="100000" kx="0" ky="0" algn="bl" rotWithShape="0" blurRad="101600" dist="38100" dir="2700000">
              <a:srgbClr val="000000">
                <a:alpha val="12000"/>
              </a:srgbClr>
            </a:outerShdw>
          </a:effectLst>
        </p:spPr>
      </p:sp>
      <p:sp>
        <p:nvSpPr>
          <p:cNvPr id="16" name="Text 14"/>
          <p:cNvSpPr/>
          <p:nvPr/>
        </p:nvSpPr>
        <p:spPr>
          <a:xfrm>
            <a:off x="594360" y="4370832"/>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princesses     ·     </a:t>
            </a:r>
            <a:pPr indent="0" marL="0">
              <a:buNone/>
            </a:pPr>
            <a:r>
              <a:rPr lang="en-US" sz="1500" dirty="0">
                <a:solidFill>
                  <a:srgbClr val="1E293B"/>
                </a:solidFill>
                <a:latin typeface="Calibri" pitchFamily="34" charset="0"/>
                <a:ea typeface="Calibri" pitchFamily="34" charset="-122"/>
                <a:cs typeface="Calibri" pitchFamily="34" charset="-120"/>
              </a:rPr>
              <a:t>dresses     ·     </a:t>
            </a:r>
            <a:pPr indent="0" marL="0">
              <a:buNone/>
            </a:pPr>
            <a:r>
              <a:rPr lang="en-US" sz="1500" dirty="0">
                <a:solidFill>
                  <a:srgbClr val="1E293B"/>
                </a:solidFill>
                <a:latin typeface="Calibri" pitchFamily="34" charset="0"/>
                <a:ea typeface="Calibri" pitchFamily="34" charset="-122"/>
                <a:cs typeface="Calibri" pitchFamily="34" charset="-120"/>
              </a:rPr>
              <a:t>glasses     ·     </a:t>
            </a:r>
            <a:pPr indent="0" marL="0">
              <a:buNone/>
            </a:pPr>
            <a:r>
              <a:rPr lang="en-US" sz="1500" b="1" dirty="0">
                <a:solidFill>
                  <a:srgbClr val="34B76F"/>
                </a:solidFill>
                <a:latin typeface="Calibri" pitchFamily="34" charset="0"/>
                <a:ea typeface="Calibri" pitchFamily="34" charset="-122"/>
                <a:cs typeface="Calibri" pitchFamily="34" charset="-120"/>
              </a:rPr>
              <a:t>princess’s</a:t>
            </a:r>
            <a:endParaRPr lang="en-US" sz="1500" dirty="0"/>
          </a:p>
        </p:txBody>
      </p:sp>
      <p:sp>
        <p:nvSpPr>
          <p:cNvPr id="17" name="Text 15"/>
          <p:cNvSpPr/>
          <p:nvPr/>
        </p:nvSpPr>
        <p:spPr>
          <a:xfrm>
            <a:off x="365760" y="4809744"/>
            <a:ext cx="8412480" cy="27432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Answers revealed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 26–27</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“Don’t I wish every night that I had back that good hen and that red tablecloth in place of you?””</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Despereaux goes deeper. What three sensory details does the author use to make the dungeon feel real?</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Despereaux carries something. What is it? What does it represent beyond just the object?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REVISE</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Add setting details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2026-10-19T11:55:30Z</dcterms:created>
  <dcterms:modified xsi:type="dcterms:W3CDTF">2026-10-19T11:55:30Z</dcterms:modified>
</cp:coreProperties>
</file>