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notesMasterIdLst>
    <p:notesMasterId r:id="rId18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notesMaster" Target="notesMasters/notesMaster1.xml"/><Relationship Id="rId19" Type="http://schemas.openxmlformats.org/officeDocument/2006/relationships/presProps" Target="presProps.xml"/><Relationship Id="rId20" Type="http://schemas.openxmlformats.org/officeDocument/2006/relationships/viewProps" Target="viewProps.xml"/><Relationship Id="rId21" Type="http://schemas.openxmlformats.org/officeDocument/2006/relationships/theme" Target="theme/theme1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Lesson 13.4. Reading: Ch. 45.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Read the prompt aloud. Give students a moment to think before writing.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Five minutes of sustained writing. Stamina over polish. Do not correct spelling now.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One fix only. Editing is conventions; revision is ideas. Name which one you are asking for.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Two or three volunteers. Praise something specific in each.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Reading lens: Good readers look for theme clues . A theme is a lesson the whole story teaches.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Corrected:  1. The author asks the reader to think about what it means to be brave in an ordinary and extraordinary life.
Look for: Did you catch the adjectives (brave, ordinary, extraordinary) and the -ly adverb (sweetly)?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Corrected:  1. The author asks the reader to think about what it means to be brave in an ordinary and extraordinary life.
Look for: Did you catch the adjectives (brave, ordinary, extraordinary) and the -ly adverb (sweetly)?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Break the word into base + word part. Ask what the part adds to the meaning.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Each word appears in the chapters read this week, in the author’s own sentence.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Answers: go,”, shouted,, “Gone,”, she?”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Answers: go,”, shouted,, “Gone,”, she?”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Hard (/k/ or /g/): garlic, gold, candle, Cook | Soft (/s/ or /j/): gentle, magic, prince, mice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Hard (/k/ or /g/): garlic, gold, candle, Cook | Soft (/s/ or /j/): gentle, magic, prince, mice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Read the chapters, then return to the pause questions.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Writer’s Workshop stage for the week.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3D1A6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822960"/>
            <a:ext cx="9144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dirty="0">
                <a:solidFill>
                  <a:srgbClr val="000000"/>
                </a:solidFill>
              </a:rPr>
              <a:t>🐭</a:t>
            </a:r>
            <a:endParaRPr lang="en-US" sz="5200" dirty="0"/>
          </a:p>
        </p:txBody>
      </p:sp>
      <p:sp>
        <p:nvSpPr>
          <p:cNvPr id="3" name="Text 1"/>
          <p:cNvSpPr/>
          <p:nvPr/>
        </p:nvSpPr>
        <p:spPr>
          <a:xfrm>
            <a:off x="457200" y="1691640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Tale of Despereaux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457200" y="2331720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8B6F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Lesson 13.4  ·  Ch. 45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457200" y="28803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C9BC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Grade 3 ELA  ·  Virtue: Courage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C7922C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✍️  10-Minute Write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82296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C79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THE PROMPT — 1 MINUTE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365760" y="1143000"/>
            <a:ext cx="8412480" cy="1737360"/>
          </a:xfrm>
          <a:prstGeom prst="roundRect">
            <a:avLst>
              <a:gd name="adj" fmla="val 5263"/>
            </a:avLst>
          </a:prstGeom>
          <a:solidFill>
            <a:srgbClr val="FEF6E8"/>
          </a:solidFill>
          <a:ln w="19050">
            <a:solidFill>
              <a:srgbClr val="C7922C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94360" y="1271016"/>
            <a:ext cx="7955280" cy="1481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Despereaux is given soup by someone who hates mice. Write about a time someone was kind to you when you did not expect it.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365760" y="306324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Think first. You will have five minutes to write.</a:t>
            </a:r>
            <a:endParaRPr lang="en-US" sz="16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EF6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C7922C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✍️  Writing Time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868680"/>
            <a:ext cx="8412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minutes — keep your pencil moving!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365760" y="146304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C79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PROMPT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365760" y="1737360"/>
            <a:ext cx="8412480" cy="1417320"/>
          </a:xfrm>
          <a:prstGeom prst="roundRect">
            <a:avLst>
              <a:gd name="adj" fmla="val 6452"/>
            </a:avLst>
          </a:prstGeom>
          <a:solidFill>
            <a:srgbClr val="FFFFFF"/>
          </a:solidFill>
          <a:ln w="19050">
            <a:solidFill>
              <a:srgbClr val="C7922C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594360" y="1865376"/>
            <a:ext cx="7955280" cy="11612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Despereaux is given soup by someone who hates mice. Write about a time someone was kind to you when you did not expect it.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365760" y="329184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 not stop to erase. If you get stuck, write the last word again and keep going.</a:t>
            </a:r>
            <a:endParaRPr lang="en-US" sz="15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E8F8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34B76F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🔍  Edit &amp; Revise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868680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minute — pick ONE thing to fix.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365760" y="141732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TODAY'S EDIT FOCUS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365760" y="1691640"/>
            <a:ext cx="8412480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9050">
            <a:solidFill>
              <a:srgbClr val="34B76F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594360" y="1819656"/>
            <a:ext cx="795528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Did I end each sentence with the right punctuation mark?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365760" y="265176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Quick check:  </a:t>
            </a:r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capitals  ·  end punctuation  ·  circle a word you are unsure of  ·  read it aloud</a:t>
            </a:r>
            <a:endParaRPr lang="en-US" sz="15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E5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55C8E8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🗣️  Share Time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1005840"/>
            <a:ext cx="8412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minutes — let's hear your writing!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365760" y="1691640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Raise your hand  ·  paste it in the chat  ·  or hold your paper up to the camera</a:t>
            </a:r>
            <a:endParaRPr lang="en-US" sz="17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8B6FC0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📖  Today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77724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8B6F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READING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365760" y="1014984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Ch. 45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365760" y="150876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C79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BIG QUESTION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365760" y="1746504"/>
            <a:ext cx="8412480" cy="731520"/>
          </a:xfrm>
          <a:prstGeom prst="roundRect">
            <a:avLst>
              <a:gd name="adj" fmla="val 12500"/>
            </a:avLst>
          </a:prstGeom>
          <a:solidFill>
            <a:srgbClr val="FEF6E8"/>
          </a:solidFill>
          <a:ln w="19050">
            <a:solidFill>
              <a:srgbClr val="C7922C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594360" y="1874520"/>
            <a:ext cx="7955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has each character learned by this point?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365760" y="260604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55C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READING LENS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365760" y="2843784"/>
            <a:ext cx="8412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Good readers look for theme clues . A theme is a lesson the whole story teaches.</a:t>
            </a:r>
            <a:endParaRPr lang="en-US" sz="15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55C8E8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✏️  Daily Oral Language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749808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55C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FIX THESE SENTENCES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365760" y="1024128"/>
            <a:ext cx="8412480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9050">
            <a:solidFill>
              <a:srgbClr val="55C8E8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94360" y="1152144"/>
            <a:ext cx="795528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the author asks the reader to think about what it means to be brave in an ordinary and extraordinary life</a:t>
            </a:r>
            <a:endParaRPr lang="en-US" sz="1700" dirty="0"/>
          </a:p>
        </p:txBody>
      </p:sp>
      <p:sp>
        <p:nvSpPr>
          <p:cNvPr id="7" name="Shape 5"/>
          <p:cNvSpPr/>
          <p:nvPr/>
        </p:nvSpPr>
        <p:spPr>
          <a:xfrm>
            <a:off x="365760" y="1874520"/>
            <a:ext cx="8412480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9050">
            <a:solidFill>
              <a:srgbClr val="55C8E8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594360" y="2002536"/>
            <a:ext cx="795528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she tells us that stories help us understand darkness and that light always arrives more sweetly after the dark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365760" y="278892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Rewrite both sentences correctly in your notebook.</a:t>
            </a:r>
            <a:endParaRPr lang="en-US" sz="16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55C8E8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✏️  Daily Oral Language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749808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55C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FIX THESE SENTENCES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365760" y="1024128"/>
            <a:ext cx="8412480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9050">
            <a:solidFill>
              <a:srgbClr val="55C8E8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94360" y="1152144"/>
            <a:ext cx="795528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the author asks the reader to think about what it means to be brave in an ordinary and extraordinary life</a:t>
            </a:r>
            <a:endParaRPr lang="en-US" sz="1700" dirty="0"/>
          </a:p>
        </p:txBody>
      </p:sp>
      <p:sp>
        <p:nvSpPr>
          <p:cNvPr id="7" name="Shape 5"/>
          <p:cNvSpPr/>
          <p:nvPr/>
        </p:nvSpPr>
        <p:spPr>
          <a:xfrm>
            <a:off x="365760" y="1874520"/>
            <a:ext cx="8412480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9050">
            <a:solidFill>
              <a:srgbClr val="55C8E8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594360" y="2002536"/>
            <a:ext cx="795528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she tells us that stories help us understand darkness and that light always arrives more sweetly after the dark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365760" y="2743200"/>
            <a:ext cx="8412480" cy="1417320"/>
          </a:xfrm>
          <a:prstGeom prst="roundRect">
            <a:avLst>
              <a:gd name="adj" fmla="val 6452"/>
            </a:avLst>
          </a:prstGeom>
          <a:solidFill>
            <a:srgbClr val="E8F8E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566928" y="2816352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 CORRECTED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566928" y="3072384"/>
            <a:ext cx="801014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400" dirty="0"/>
          </a:p>
          <a:p>
            <a:pPr indent="0" marL="0">
              <a:buNone/>
            </a:pPr>
            <a:r>
              <a:rPr lang="en-US" sz="14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The author asks the reader to think about what it means to be brave in an ordinary and extraordinary life.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566928" y="3767328"/>
            <a:ext cx="801014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Did you catch the adjectives (brave, ordinary, extraordinary) and the -ly adverb (sweetly)?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8B6FC0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🌱  Morphology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804672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8B6F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-TION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365760" y="1097280"/>
            <a:ext cx="8412480" cy="621792"/>
          </a:xfrm>
          <a:prstGeom prst="roundRect">
            <a:avLst>
              <a:gd name="adj" fmla="val 14706"/>
            </a:avLst>
          </a:prstGeom>
          <a:solidFill>
            <a:srgbClr val="F0E8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94360" y="1216152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🌱  action — base word: act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365760" y="1792224"/>
            <a:ext cx="8412480" cy="621792"/>
          </a:xfrm>
          <a:prstGeom prst="roundRect">
            <a:avLst>
              <a:gd name="adj" fmla="val 14706"/>
            </a:avLst>
          </a:prstGeom>
          <a:solidFill>
            <a:srgbClr val="F8F4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594360" y="1911096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🌱  direction — base word: direct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365760" y="2487168"/>
            <a:ext cx="8412480" cy="621792"/>
          </a:xfrm>
          <a:prstGeom prst="roundRect">
            <a:avLst>
              <a:gd name="adj" fmla="val 14706"/>
            </a:avLst>
          </a:prstGeom>
          <a:solidFill>
            <a:srgbClr val="F0E8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594360" y="2606040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🌱  celebration — base word: celebrate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365760" y="3182112"/>
            <a:ext cx="8412480" cy="621792"/>
          </a:xfrm>
          <a:prstGeom prst="roundRect">
            <a:avLst>
              <a:gd name="adj" fmla="val 14706"/>
            </a:avLst>
          </a:prstGeom>
          <a:solidFill>
            <a:srgbClr val="F8F4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94360" y="33009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🌱  invention — base word: invent</a:t>
            </a:r>
            <a:endParaRPr lang="en-US" sz="15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55C8E8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🔤  Vocabulary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804672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55C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VOCABULARY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365760" y="1097280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E5F7FC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94360" y="1225296"/>
            <a:ext cx="78638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needle  </a:t>
            </a:r>
            <a:pPr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thin, sharp metal tool for sewing — here, a mouse's sword.</a:t>
            </a:r>
            <a:endParaRPr lang="en-US" sz="1700" dirty="0"/>
          </a:p>
        </p:txBody>
      </p:sp>
      <p:sp>
        <p:nvSpPr>
          <p:cNvPr id="7" name="Shape 5"/>
          <p:cNvSpPr/>
          <p:nvPr/>
        </p:nvSpPr>
        <p:spPr>
          <a:xfrm>
            <a:off x="365760" y="1828800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594360" y="1956816"/>
            <a:ext cx="78638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forgiven  </a:t>
            </a:r>
            <a:pPr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longer blamed for something you did wrong.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365760" y="2560320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E5F7FC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594360" y="2688336"/>
            <a:ext cx="78638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braver  </a:t>
            </a:r>
            <a:pPr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More willing to face something frightening.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365760" y="3291840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94360" y="3419856"/>
            <a:ext cx="78638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crown  </a:t>
            </a:r>
            <a:pPr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circle of gold and jewels a king or queen wears.</a:t>
            </a:r>
            <a:endParaRPr lang="en-US" sz="17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C7922C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✏️  Grammar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77724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C79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DIALOGUE: PUTTING IT TO WORK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365760" y="1078992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FEF6E8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94360" y="1225296"/>
            <a:ext cx="7863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“I will go,” said the mouse.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365760" y="1810512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594360" y="1956816"/>
            <a:ext cx="7863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king shouted, “Find her!”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365760" y="2542032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FEF6E8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594360" y="2688336"/>
            <a:ext cx="7863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“Gone,” said Cook quietly.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365760" y="3273552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94360" y="3419856"/>
            <a:ext cx="7863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“Where is she?” asked Despereaux.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365760" y="4050792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turn. Find the punctuation mark that ends the spoken words. Tap a word to check — green means you got it.</a:t>
            </a:r>
            <a:endParaRPr lang="en-US" sz="15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C7922C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✏️  Grammar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77724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C79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DIALOGUE: PUTTING IT TO WORK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365760" y="1078992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FEF6E8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94360" y="1225296"/>
            <a:ext cx="7863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“I will </a:t>
            </a:r>
            <a:pPr indent="0" marL="0">
              <a:buNone/>
            </a:pPr>
            <a:r>
              <a:rPr lang="en-US" sz="1600" b="1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go,”</a:t>
            </a:r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said the mouse.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365760" y="1810512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594360" y="1956816"/>
            <a:ext cx="7863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king </a:t>
            </a:r>
            <a:pPr indent="0" marL="0">
              <a:buNone/>
            </a:pPr>
            <a:r>
              <a:rPr lang="en-US" sz="1600" b="1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shouted,</a:t>
            </a:r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“Find her!”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365760" y="2542032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FEF6E8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594360" y="2688336"/>
            <a:ext cx="7863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“Gone,”</a:t>
            </a:r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said Cook quietly.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365760" y="3273552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94360" y="3419856"/>
            <a:ext cx="7863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“Where is </a:t>
            </a:r>
            <a:pPr indent="0" marL="0">
              <a:buNone/>
            </a:pPr>
            <a:r>
              <a:rPr lang="en-US" sz="1600" b="1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she?”</a:t>
            </a:r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asked Despereaux.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365760" y="4050792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 Answers revealed</a:t>
            </a:r>
            <a:endParaRPr lang="en-US" sz="15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0E1C42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🔠  Spelling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77724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 C AND SOFT G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365760" y="1078992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BANK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365760" y="1353312"/>
            <a:ext cx="8412480" cy="100584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9050">
            <a:solidFill>
              <a:srgbClr val="0E1C42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594360" y="1481328"/>
            <a:ext cx="795528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garlic   ·   gold   ·   candle   ·   Cook   ·   gentle   ·   magic   ·   prince   ·   mice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365760" y="2514600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Which column does each word belong in?  Columns: Hard (/k/ or /g/)  |  Soft (/s/ or /j/)</a:t>
            </a:r>
            <a:endParaRPr lang="en-US" sz="15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0E1C42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🔠  Spelling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77724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 C AND SOFT G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411480" y="1078992"/>
            <a:ext cx="4114800" cy="457200"/>
          </a:xfrm>
          <a:prstGeom prst="roundRect">
            <a:avLst>
              <a:gd name="adj" fmla="val 16000"/>
            </a:avLst>
          </a:prstGeom>
          <a:solidFill>
            <a:srgbClr val="0E1C42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1133856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Hard (/k/ or /g/)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411480" y="1591056"/>
            <a:ext cx="4114800" cy="2103120"/>
          </a:xfrm>
          <a:prstGeom prst="roundRect">
            <a:avLst>
              <a:gd name="adj" fmla="val 434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502920" y="1700784"/>
            <a:ext cx="3931920" cy="18836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garlic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gold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candle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Cook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4617720" y="1078992"/>
            <a:ext cx="4114800" cy="457200"/>
          </a:xfrm>
          <a:prstGeom prst="roundRect">
            <a:avLst>
              <a:gd name="adj" fmla="val 16000"/>
            </a:avLst>
          </a:prstGeom>
          <a:solidFill>
            <a:srgbClr val="0E1C42"/>
          </a:solidFill>
          <a:ln/>
        </p:spPr>
      </p:sp>
      <p:sp>
        <p:nvSpPr>
          <p:cNvPr id="10" name="Text 8"/>
          <p:cNvSpPr/>
          <p:nvPr/>
        </p:nvSpPr>
        <p:spPr>
          <a:xfrm>
            <a:off x="4663440" y="1133856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 (/s/ or /j/)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4617720" y="1591056"/>
            <a:ext cx="4114800" cy="2103120"/>
          </a:xfrm>
          <a:prstGeom prst="roundRect">
            <a:avLst>
              <a:gd name="adj" fmla="val 434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4709160" y="1700784"/>
            <a:ext cx="3931920" cy="18836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gentle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magic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prince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mice</a:t>
            </a:r>
            <a:endParaRPr lang="en-US" sz="14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8B6FC0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📕  Read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868680"/>
            <a:ext cx="8412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Ch. 45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365760" y="146304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8B6F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COPYWORK — FROM THE NOVEL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365760" y="1719072"/>
            <a:ext cx="8412480" cy="1143000"/>
          </a:xfrm>
          <a:prstGeom prst="roundRect">
            <a:avLst>
              <a:gd name="adj" fmla="val 8000"/>
            </a:avLst>
          </a:prstGeom>
          <a:solidFill>
            <a:srgbClr val="F0E8FF"/>
          </a:solidFill>
          <a:ln w="19050">
            <a:solidFill>
              <a:srgbClr val="8B6FC0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594360" y="1847088"/>
            <a:ext cx="7955280" cy="8869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“Cook turned away from him. She put the candle down and picked up her spoon and started to stir.”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365760" y="301752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C79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PAUSE &amp; THINK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365760" y="3273552"/>
            <a:ext cx="8412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The author speaks directly to the reader. What is the most important thing she says? Why does she say it here, at the end?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What is the author's final message about light, stories, and courage? Write it in your own words.</a:t>
            </a:r>
            <a:endParaRPr lang="en-US" sz="15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34B76F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🪶  Writer’s Workshop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82296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WEEK’S STAGE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365760" y="1078992"/>
            <a:ext cx="8412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LITERARY RESPONSE</a:t>
            </a:r>
            <a:endParaRPr lang="en-US" sz="3000" dirty="0"/>
          </a:p>
        </p:txBody>
      </p:sp>
      <p:sp>
        <p:nvSpPr>
          <p:cNvPr id="6" name="Text 4"/>
          <p:cNvSpPr/>
          <p:nvPr/>
        </p:nvSpPr>
        <p:spPr>
          <a:xfrm>
            <a:off x="365760" y="1691640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Revise and submit your literary response</a:t>
            </a:r>
            <a:endParaRPr lang="en-US" sz="1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16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Optima Academy Online</dc:creator>
  <cp:lastModifiedBy>Optima Academy Online</cp:lastModifiedBy>
  <cp:revision>1</cp:revision>
  <dcterms:created xsi:type="dcterms:W3CDTF">2026-09-08T13:30:00Z</dcterms:created>
  <dcterms:modified xsi:type="dcterms:W3CDTF">2026-09-08T13:30:00Z</dcterms:modified>
</cp:coreProperties>
</file>