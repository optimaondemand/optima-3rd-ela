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14.4. Reading: Coda.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notice how characters change from beginning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through each highlighted word in the lesson and name what it does right before moving to the fix-it.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The Coda asks us to remember Despereaux, Roscuro, and Miggery Sow with kindness and with understanding.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The Coda asks us to remember Despereaux, Roscuro, and Miggery Sow with kindness and with understanding.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When you list three or more things, separate them with commas, and put and before the last one. The comma before and is optional in some styles — but be consistent.
Three items, two commas, and and before the last.
The same pattern, with longer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When you list three or more things, separate them with commas, and put and before the last one. The comma before and is optional in some styles — but be consistent.
Three items, two commas, and and before the last.
The same pattern, with longer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made,, and,, Despereaux,, Roscuro,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made,, and,, Despereaux,, Roscuro,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An open syllable ends in a vowel, so nothing shuts the vowel in and it says its name: ti in ti·ger, mu in mu·sic. Closed syllable, short vowel. Open syllable, long vowel.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A6B"/>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The Tale of Despereaux</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8B6FC0"/>
                </a:solidFill>
                <a:latin typeface="Calibri" pitchFamily="34" charset="0"/>
                <a:ea typeface="Calibri" pitchFamily="34" charset="-122"/>
                <a:cs typeface="Calibri" pitchFamily="34" charset="-120"/>
              </a:rPr>
              <a:t>Lesson 14.4  ·  Coda</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story ends with soup, and with almost everyone forgiven. Write about someone you would like to forgive, or ask forgiveness from.</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story ends with soup, and with almost everyone forgiven. Write about someone you would like to forgive, or ask forgiveness from.</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read my writing out loud to check that it makes sense?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Coda</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How has Despereaux changed since Chapter 1?</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notice how characters change from beginning to end.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CORRECT MODEL — STUDY WHAT IS RIGHT</a:t>
            </a:r>
            <a:endParaRPr lang="en-US" sz="1100" dirty="0"/>
          </a:p>
        </p:txBody>
      </p:sp>
      <p:sp>
        <p:nvSpPr>
          <p:cNvPr id="5" name="Shape 3"/>
          <p:cNvSpPr/>
          <p:nvPr/>
        </p:nvSpPr>
        <p:spPr>
          <a:xfrm>
            <a:off x="365760" y="1078992"/>
            <a:ext cx="8412480" cy="822960"/>
          </a:xfrm>
          <a:prstGeom prst="roundRect">
            <a:avLst>
              <a:gd name="adj" fmla="val 11111"/>
            </a:avLst>
          </a:prstGeom>
          <a:solidFill>
            <a:srgbClr val="E5F7FC"/>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669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story asks us to remember the mouse, the rat, and the girl with kindness.</a:t>
            </a:r>
            <a:endParaRPr lang="en-US" sz="1700" dirty="0"/>
          </a:p>
        </p:txBody>
      </p:sp>
      <p:sp>
        <p:nvSpPr>
          <p:cNvPr id="7" name="Text 5"/>
          <p:cNvSpPr/>
          <p:nvPr/>
        </p:nvSpPr>
        <p:spPr>
          <a:xfrm>
            <a:off x="365760" y="210312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a:t>
            </a:r>
            <a:endParaRPr lang="en-US" sz="1100" dirty="0"/>
          </a:p>
        </p:txBody>
      </p:sp>
      <p:sp>
        <p:nvSpPr>
          <p:cNvPr id="8" name="Text 6"/>
          <p:cNvSpPr/>
          <p:nvPr/>
        </p:nvSpPr>
        <p:spPr>
          <a:xfrm>
            <a:off x="365760" y="2359152"/>
            <a:ext cx="8412480" cy="109728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commas separate the three things in the series, and and comes before the last one. The sentence starts with a capital letter and ends with a period. Names would be capitalized too.</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coda asks us to remember despereaux roscuro and miggery sow with kindness and with understanding</a:t>
            </a:r>
            <a:endParaRPr lang="en-US" sz="1700" dirty="0"/>
          </a:p>
        </p:txBody>
      </p:sp>
      <p:sp>
        <p:nvSpPr>
          <p:cNvPr id="7" name="Text 5"/>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the sentence correctly in your notebook.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coda asks us to remember despereaux roscuro and miggery sow with kindness and with understanding</a:t>
            </a:r>
            <a:endParaRPr lang="en-US" sz="1700" dirty="0"/>
          </a:p>
        </p:txBody>
      </p:sp>
      <p:sp>
        <p:nvSpPr>
          <p:cNvPr id="7" name="Shape 5"/>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9" name="Text 7"/>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The Coda asks us to remember Despereaux, Roscuro, and Miggery Sow with kindness and with understanding.</a:t>
            </a:r>
            <a:endParaRPr lang="en-US" sz="1400" dirty="0"/>
          </a:p>
          <a:p>
            <a:pPr indent="0" marL="0">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OVER-</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over- means too much, or above.</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overjoyed = more than joyful · overloaded = loaded with too much · overlook = to look over and miss</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Dice Roll Challenge! Roll a word, then say out loud what it means and how the word part changed it. Tap to check yourself.</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together  </a:t>
            </a:r>
            <a:pPr indent="0" marL="0">
              <a:buNone/>
            </a:pPr>
            <a:r>
              <a:rPr lang="en-US" sz="1400" dirty="0">
                <a:solidFill>
                  <a:srgbClr val="1E293B"/>
                </a:solidFill>
                <a:latin typeface="Calibri" pitchFamily="34" charset="0"/>
                <a:ea typeface="Calibri" pitchFamily="34" charset="-122"/>
                <a:cs typeface="Calibri" pitchFamily="34" charset="-120"/>
              </a:rPr>
              <a:t>With each other; joined rather than apart.</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trembled  </a:t>
            </a:r>
            <a:pPr indent="0" marL="0">
              <a:buNone/>
            </a:pPr>
            <a:r>
              <a:rPr lang="en-US" sz="1400" dirty="0">
                <a:solidFill>
                  <a:srgbClr val="1E293B"/>
                </a:solidFill>
                <a:latin typeface="Calibri" pitchFamily="34" charset="0"/>
                <a:ea typeface="Calibri" pitchFamily="34" charset="-122"/>
                <a:cs typeface="Calibri" pitchFamily="34" charset="-120"/>
              </a:rPr>
              <a:t>Shook a little, usually from fear or cold.</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tears  </a:t>
            </a:r>
            <a:pPr indent="0" marL="0">
              <a:buNone/>
            </a:pPr>
            <a:r>
              <a:rPr lang="en-US" sz="1400" dirty="0">
                <a:solidFill>
                  <a:srgbClr val="1E293B"/>
                </a:solidFill>
                <a:latin typeface="Calibri" pitchFamily="34" charset="0"/>
                <a:ea typeface="Calibri" pitchFamily="34" charset="-122"/>
                <a:cs typeface="Calibri" pitchFamily="34" charset="-120"/>
              </a:rPr>
              <a:t>Drops of water that come from your eyes when you cry.</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happily  </a:t>
            </a:r>
            <a:pPr indent="0" marL="0">
              <a:buNone/>
            </a:pPr>
            <a:r>
              <a:rPr lang="en-US" sz="1400" dirty="0">
                <a:solidFill>
                  <a:srgbClr val="1E293B"/>
                </a:solidFill>
                <a:latin typeface="Calibri" pitchFamily="34" charset="0"/>
                <a:ea typeface="Calibri" pitchFamily="34" charset="-122"/>
                <a:cs typeface="Calibri" pitchFamily="34" charset="-120"/>
              </a:rPr>
              <a:t>In a happy way; with joy.</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Count the commas in each sentence, then count the things being listed.</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Please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over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spoons,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bowls,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kettle.</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that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floor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littered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tufts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knots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thread,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skeletons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mice.</a:t>
            </a:r>
            <a:endParaRPr lang="en-US" sz="1700" dirty="0"/>
          </a:p>
        </p:txBody>
      </p:sp>
      <p:sp>
        <p:nvSpPr>
          <p:cNvPr id="12" name="Text 10"/>
          <p:cNvSpPr/>
          <p:nvPr/>
        </p:nvSpPr>
        <p:spPr>
          <a:xfrm>
            <a:off x="365760" y="3008376"/>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THINK IT THROUGH</a:t>
            </a:r>
            <a:endParaRPr lang="en-US" sz="1100" dirty="0"/>
          </a:p>
        </p:txBody>
      </p:sp>
      <p:sp>
        <p:nvSpPr>
          <p:cNvPr id="13" name="Text 11"/>
          <p:cNvSpPr/>
          <p:nvPr/>
        </p:nvSpPr>
        <p:spPr>
          <a:xfrm>
            <a:off x="365760" y="3255264"/>
            <a:ext cx="8412480" cy="1563624"/>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1.  How many items are in each list?</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2.  How many commas are there — the same number, or one fewer?</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3.  What word shows up right before the last item?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Count the commas in each sentence, then count the things being listed.</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Please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over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spoons,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bowls,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kettle.</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that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floor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littered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tufts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knots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thread,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skeletons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mice.</a:t>
            </a:r>
            <a:endParaRPr lang="en-US" sz="1700" dirty="0"/>
          </a:p>
        </p:txBody>
      </p:sp>
      <p:sp>
        <p:nvSpPr>
          <p:cNvPr id="12" name="Shape 10"/>
          <p:cNvSpPr/>
          <p:nvPr/>
        </p:nvSpPr>
        <p:spPr>
          <a:xfrm>
            <a:off x="365760" y="3008376"/>
            <a:ext cx="8412480" cy="1837944"/>
          </a:xfrm>
          <a:prstGeom prst="roundRect">
            <a:avLst>
              <a:gd name="adj" fmla="val 4975"/>
            </a:avLst>
          </a:prstGeom>
          <a:solidFill>
            <a:srgbClr val="E8F8EF"/>
          </a:solidFill>
          <a:ln/>
          <a:effectLst>
            <a:outerShdw sx="100000" sy="100000" kx="0" ky="0" algn="bl" rotWithShape="0" blurRad="101600" dist="38100" dir="2700000">
              <a:srgbClr val="000000">
                <a:alpha val="12000"/>
              </a:srgbClr>
            </a:outerShdw>
          </a:effectLst>
        </p:spPr>
      </p:sp>
      <p:sp>
        <p:nvSpPr>
          <p:cNvPr id="13" name="Text 11"/>
          <p:cNvSpPr/>
          <p:nvPr/>
        </p:nvSpPr>
        <p:spPr>
          <a:xfrm>
            <a:off x="566928" y="3072384"/>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THE PATTERN</a:t>
            </a:r>
            <a:endParaRPr lang="en-US" sz="1100" dirty="0"/>
          </a:p>
        </p:txBody>
      </p:sp>
      <p:sp>
        <p:nvSpPr>
          <p:cNvPr id="14" name="Text 12"/>
          <p:cNvSpPr/>
          <p:nvPr/>
        </p:nvSpPr>
        <p:spPr>
          <a:xfrm>
            <a:off x="566928" y="3328416"/>
            <a:ext cx="8010144" cy="1380744"/>
          </a:xfrm>
          <a:prstGeom prst="rect">
            <a:avLst/>
          </a:prstGeom>
          <a:noFill/>
          <a:ln/>
        </p:spPr>
        <p:txBody>
          <a:bodyPr wrap="square" lIns="0" tIns="0" rIns="0" bIns="0" rtlCol="0" anchor="t">
            <a:normAutofit/>
          </a:bodyPr>
          <a:lstStyle/>
          <a:p>
            <a:pPr indent="0" marL="0">
              <a:buNone/>
            </a:pPr>
            <a:r>
              <a:rPr lang="en-US" sz="1300" dirty="0">
                <a:solidFill>
                  <a:srgbClr val="1E293B"/>
                </a:solidFill>
                <a:latin typeface="Calibri" pitchFamily="34" charset="0"/>
                <a:ea typeface="Calibri" pitchFamily="34" charset="-122"/>
                <a:cs typeface="Calibri" pitchFamily="34" charset="-120"/>
              </a:rPr>
              <a:t>When you list three or more things, separate them with commas, and put and before the last one. The comma before and is optional in some styles — but be consistent.</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Three items, two commas, and and before the last.</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The same pattern, with longer items.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Cook made, soup bread and pudding.</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thread was red, gold and, green.</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Despereaux, ran hid and waited.</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Mig Roscuro, and the prince waited.</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Each sentence has exactly one mistake. This time nobody tells you what kind. Tap the word that is wrong. Every one of these has a comma somewhere it does not belong.</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Cook </a:t>
            </a:r>
            <a:pPr indent="0" marL="0">
              <a:buNone/>
            </a:pPr>
            <a:r>
              <a:rPr lang="en-US" sz="1600" b="1" dirty="0">
                <a:solidFill>
                  <a:srgbClr val="34B76F"/>
                </a:solidFill>
                <a:latin typeface="Calibri" pitchFamily="34" charset="0"/>
                <a:ea typeface="Calibri" pitchFamily="34" charset="-122"/>
                <a:cs typeface="Calibri" pitchFamily="34" charset="-120"/>
              </a:rPr>
              <a:t>made,</a:t>
            </a:r>
            <a:pPr indent="0" marL="0">
              <a:buNone/>
            </a:pPr>
            <a:r>
              <a:rPr lang="en-US" sz="1600" dirty="0">
                <a:solidFill>
                  <a:srgbClr val="1E293B"/>
                </a:solidFill>
                <a:latin typeface="Calibri" pitchFamily="34" charset="0"/>
                <a:ea typeface="Calibri" pitchFamily="34" charset="-122"/>
                <a:cs typeface="Calibri" pitchFamily="34" charset="-120"/>
              </a:rPr>
              <a:t> soup bread and pudding.</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thread was red, gold </a:t>
            </a:r>
            <a:pPr indent="0" marL="0">
              <a:buNone/>
            </a:pPr>
            <a:r>
              <a:rPr lang="en-US" sz="1600" b="1" dirty="0">
                <a:solidFill>
                  <a:srgbClr val="34B76F"/>
                </a:solidFill>
                <a:latin typeface="Calibri" pitchFamily="34" charset="0"/>
                <a:ea typeface="Calibri" pitchFamily="34" charset="-122"/>
                <a:cs typeface="Calibri" pitchFamily="34" charset="-120"/>
              </a:rPr>
              <a:t>and,</a:t>
            </a:r>
            <a:pPr indent="0" marL="0">
              <a:buNone/>
            </a:pPr>
            <a:r>
              <a:rPr lang="en-US" sz="1600" dirty="0">
                <a:solidFill>
                  <a:srgbClr val="1E293B"/>
                </a:solidFill>
                <a:latin typeface="Calibri" pitchFamily="34" charset="0"/>
                <a:ea typeface="Calibri" pitchFamily="34" charset="-122"/>
                <a:cs typeface="Calibri" pitchFamily="34" charset="-120"/>
              </a:rPr>
              <a:t> green.</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Despereaux,</a:t>
            </a:r>
            <a:pPr indent="0" marL="0">
              <a:buNone/>
            </a:pPr>
            <a:r>
              <a:rPr lang="en-US" sz="1600" dirty="0">
                <a:solidFill>
                  <a:srgbClr val="1E293B"/>
                </a:solidFill>
                <a:latin typeface="Calibri" pitchFamily="34" charset="0"/>
                <a:ea typeface="Calibri" pitchFamily="34" charset="-122"/>
                <a:cs typeface="Calibri" pitchFamily="34" charset="-120"/>
              </a:rPr>
              <a:t> ran hid and waited.</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Mig </a:t>
            </a:r>
            <a:pPr indent="0" marL="0">
              <a:buNone/>
            </a:pPr>
            <a:r>
              <a:rPr lang="en-US" sz="1600" b="1" dirty="0">
                <a:solidFill>
                  <a:srgbClr val="34B76F"/>
                </a:solidFill>
                <a:latin typeface="Calibri" pitchFamily="34" charset="0"/>
                <a:ea typeface="Calibri" pitchFamily="34" charset="-122"/>
                <a:cs typeface="Calibri" pitchFamily="34" charset="-120"/>
              </a:rPr>
              <a:t>Roscuro,</a:t>
            </a:r>
            <a:pPr indent="0" marL="0">
              <a:buNone/>
            </a:pPr>
            <a:r>
              <a:rPr lang="en-US" sz="1600" dirty="0">
                <a:solidFill>
                  <a:srgbClr val="1E293B"/>
                </a:solidFill>
                <a:latin typeface="Calibri" pitchFamily="34" charset="0"/>
                <a:ea typeface="Calibri" pitchFamily="34" charset="-122"/>
                <a:cs typeface="Calibri" pitchFamily="34" charset="-120"/>
              </a:rPr>
              <a:t> and the prince waited.</a:t>
            </a:r>
            <a:endParaRPr lang="en-US" sz="1600" dirty="0"/>
          </a:p>
        </p:txBody>
      </p:sp>
      <p:sp>
        <p:nvSpPr>
          <p:cNvPr id="13" name="Text 11"/>
          <p:cNvSpPr/>
          <p:nvPr/>
        </p:nvSpPr>
        <p:spPr>
          <a:xfrm>
            <a:off x="365760" y="4050792"/>
            <a:ext cx="8412480" cy="841248"/>
          </a:xfrm>
          <a:prstGeom prst="rect">
            <a:avLst/>
          </a:prstGeom>
          <a:noFill/>
          <a:ln/>
        </p:spPr>
        <p:txBody>
          <a:bodyPr wrap="square" lIns="0" tIns="0" rIns="0" bIns="0" rtlCol="0" anchor="t">
            <a:normAutofit/>
          </a:bodyPr>
          <a:lstStyle/>
          <a:p>
            <a:pPr indent="0" marL="0">
              <a:buNone/>
            </a:pPr>
            <a:r>
              <a:rPr lang="en-US" sz="1200" dirty="0">
                <a:solidFill>
                  <a:srgbClr val="34B76F"/>
                </a:solidFill>
                <a:latin typeface="Calibri" pitchFamily="34" charset="0"/>
                <a:ea typeface="Calibri" pitchFamily="34" charset="-122"/>
                <a:cs typeface="Calibri" pitchFamily="34" charset="-120"/>
              </a:rPr>
              <a:t>made, — no comma between the verb and the list. It goes inside the list: soup, bread, and pudding.</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and, — the comma goes before and, never after it.</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Despereaux, — same mistake as the first: the comma belongs inside the list of actions.</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Roscuro, — that comma is right, but the one after Mig is missing. Three things means two commas.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OPEN SYLLABLES</a:t>
            </a:r>
            <a:endParaRPr lang="en-US" sz="1100" dirty="0"/>
          </a:p>
        </p:txBody>
      </p:sp>
      <p:sp>
        <p:nvSpPr>
          <p:cNvPr id="5" name="Text 3"/>
          <p:cNvSpPr/>
          <p:nvPr/>
        </p:nvSpPr>
        <p:spPr>
          <a:xfrm>
            <a:off x="365760" y="10515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  THE RULE</a:t>
            </a:r>
            <a:endParaRPr lang="en-US" sz="1100" dirty="0"/>
          </a:p>
        </p:txBody>
      </p:sp>
      <p:sp>
        <p:nvSpPr>
          <p:cNvPr id="6" name="Shape 4"/>
          <p:cNvSpPr/>
          <p:nvPr/>
        </p:nvSpPr>
        <p:spPr>
          <a:xfrm>
            <a:off x="365760" y="1298448"/>
            <a:ext cx="8412480" cy="960120"/>
          </a:xfrm>
          <a:prstGeom prst="roundRect">
            <a:avLst>
              <a:gd name="adj" fmla="val 9524"/>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26464"/>
            <a:ext cx="7955280" cy="7040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 open syllable ends in a vowel, so nothing shuts the vowel in and it says its name: ti in ti·ger, mu in mu·sic. Closed syllable, short vowel. Open syllable, long vowel.</a:t>
            </a:r>
            <a:endParaRPr lang="en-US" sz="1700" dirty="0"/>
          </a:p>
        </p:txBody>
      </p:sp>
      <p:sp>
        <p:nvSpPr>
          <p:cNvPr id="8" name="Text 6"/>
          <p:cNvSpPr/>
          <p:nvPr/>
        </p:nvSpPr>
        <p:spPr>
          <a:xfrm>
            <a:off x="365760" y="2395728"/>
            <a:ext cx="841248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Open or Closed Dice! Roll a word, say it out loud, decide — then tap to check yourself.</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Coda</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“And Roscuro led the man up out of the dungeon and to his daughter, Miggery Sow.”</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The author says goodbye to the characters. What does she ask the reader to do? Why does she end this way?</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The author speaks directly to you one last time. What is the most important thing she wants you to take away?</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PUBLISH</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Submit your published piece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2026-10-19T11:55:31Z</dcterms:created>
  <dcterms:modified xsi:type="dcterms:W3CDTF">2026-10-19T11:55:31Z</dcterms:modified>
</cp:coreProperties>
</file>