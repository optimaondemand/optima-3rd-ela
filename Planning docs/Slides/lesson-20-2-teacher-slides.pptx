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Ch. 11–12: Jemmy escaped, but he's furious about the prince's betrayal.
TODAY: Ch. 13–14: The chase is on. Watch what each character says AND how they say it.
BIG Q: Jemmy is furious that the prince gave him away. After hearing the prince's side, does anything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sentence aloud together. Ask: What capitalization rules do you see? What punctuation? Any dialogue formatting?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"the prince stumbled through the dark tangled undergrowth"
Corrected: "The prince stumbled through the dark, tangled undergrowth."
Errors: Capital T on The; comma between the two adjectives dark and tangled; period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"the prince stumbled through the dark tangled undergrowth"
Corrected: "The prince stumbled through the dark, tangled undergrowth."
Errors: Capital T on The; comma between the two adjectives dark and tangled; period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quickest — most quick | wildest — most wild | strangest — most strange | bravest — most brave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 instinct: A natural behavior that happens without thinking. | foliage: Thick leaves and branches in a forest. | tilt: At full tilt means going as fast as possible. | shrewd: Clever at understanding situations and making smart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"The bear stood [near] the roots of the tree." → near | "Jemmy hid [behind] the mossy rocks." → behind | "The prince scrambled [over] the fallen log." → over | "A voice called from [across] the river." → across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"The bear stood [near] the roots of the tree." → near | "Jemmy hid [behind] the mossy rocks." → behind | "The prince scrambled [over] the fallen log." → over | "A voice called from [across] the river." → across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ar or or: farmer, border | er, ir, or ur: servant, perfect, purple, turkey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ar or or: farmer, border | er, ir, or ur: servant, perfect, purple, turkey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Ch. 13–14
When The Whipping Boy sees Jeremy tangled in string and the cat coming, she could have run. She stays and unties him instead. Later, Nicodemus and the rats agree to move her cinderblock house — a dangerous, hours-long job — because she asked for help.
In Chapter 13, Jemmy escapes through the forest. What does the bear do, and how does it accidentally help Jemmy?
Jemmy confronts the prince for giving him away. Does the prince's response change anything for Jemmy?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stage: ✍️ Draft
Focus: Opinion: draft your full paragraph — claim + reasons + closing.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0A4A"/>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B8860B">
              <a:alpha val="20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B8860B"/>
                </a:solidFill>
                <a:latin typeface="Calibri" pitchFamily="34" charset="0"/>
                <a:ea typeface="Calibri" pitchFamily="34" charset="-122"/>
                <a:cs typeface="Calibri" pitchFamily="34" charset="-120"/>
              </a:rPr>
              <a:t>WEEK 20  ·  DAY 2</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600" b="1" dirty="0">
                <a:solidFill>
                  <a:srgbClr val="FFFFFF"/>
                </a:solidFill>
                <a:latin typeface="Calibri" pitchFamily="34" charset="0"/>
                <a:ea typeface="Calibri" pitchFamily="34" charset="-122"/>
                <a:cs typeface="Calibri" pitchFamily="34" charset="-120"/>
              </a:rPr>
              <a:t>Ch. 13–14</a:t>
            </a:r>
            <a:endParaRPr lang="en-US" sz="3600" dirty="0"/>
          </a:p>
          <a:p>
            <a:pPr algn="l" indent="0" marL="0">
              <a:buNone/>
            </a:pPr>
            <a:r>
              <a:rPr lang="en-US" sz="3600" b="1" dirty="0">
                <a:solidFill>
                  <a:srgbClr val="FFFFFF"/>
                </a:solidFill>
                <a:latin typeface="Calibri" pitchFamily="34" charset="0"/>
                <a:ea typeface="Calibri" pitchFamily="34" charset="-122"/>
                <a:cs typeface="Calibri" pitchFamily="34" charset="-120"/>
              </a:rPr>
              <a:t>The chase; In which is heard a voice in the forest</a:t>
            </a:r>
            <a:endParaRPr lang="en-US" sz="3600" dirty="0"/>
          </a:p>
        </p:txBody>
      </p:sp>
      <p:sp>
        <p:nvSpPr>
          <p:cNvPr id="5" name="Text 3"/>
          <p:cNvSpPr/>
          <p:nvPr/>
        </p:nvSpPr>
        <p:spPr>
          <a:xfrm>
            <a:off x="457200" y="2834640"/>
            <a:ext cx="8229600" cy="457200"/>
          </a:xfrm>
          <a:prstGeom prst="rect">
            <a:avLst/>
          </a:prstGeom>
          <a:noFill/>
          <a:ln/>
        </p:spPr>
        <p:txBody>
          <a:bodyPr wrap="square" lIns="0" tIns="0" rIns="0" bIns="0" rtlCol="0" anchor="ctr"/>
          <a:lstStyle/>
          <a:p>
            <a:pPr algn="l" indent="0" marL="0">
              <a:buNone/>
            </a:pPr>
            <a:r>
              <a:rPr lang="en-US" sz="1800" dirty="0">
                <a:solidFill>
                  <a:srgbClr val="B8860B"/>
                </a:solidFill>
                <a:latin typeface="Calibri" pitchFamily="34" charset="0"/>
                <a:ea typeface="Calibri" pitchFamily="34" charset="-122"/>
                <a:cs typeface="Calibri" pitchFamily="34" charset="-120"/>
              </a:rPr>
              <a:t>The Whipping Boy  ·  Sid Fleischman</a:t>
            </a:r>
            <a:endParaRPr lang="en-US" sz="1800" dirty="0"/>
          </a:p>
        </p:txBody>
      </p:sp>
      <p:sp>
        <p:nvSpPr>
          <p:cNvPr id="6" name="Text 4"/>
          <p:cNvSpPr/>
          <p:nvPr/>
        </p:nvSpPr>
        <p:spPr>
          <a:xfrm>
            <a:off x="457200" y="448056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Week 20  ·  Virtue: Perseverance  ·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Recap + Today's Focus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YESTERDAY</a:t>
            </a:r>
            <a:endParaRPr lang="en-US" sz="1100" dirty="0"/>
          </a:p>
        </p:txBody>
      </p:sp>
      <p:sp>
        <p:nvSpPr>
          <p:cNvPr id="7" name="Shape 5"/>
          <p:cNvSpPr/>
          <p:nvPr/>
        </p:nvSpPr>
        <p:spPr>
          <a:xfrm>
            <a:off x="365760" y="1078992"/>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Ch. 11–12: Jemmy escaped, but he's furious about the prince's betrayal.</a:t>
            </a:r>
            <a:endParaRPr lang="en-US" sz="1400" dirty="0"/>
          </a:p>
        </p:txBody>
      </p:sp>
      <p:sp>
        <p:nvSpPr>
          <p:cNvPr id="9" name="Text 7"/>
          <p:cNvSpPr/>
          <p:nvPr/>
        </p:nvSpPr>
        <p:spPr>
          <a:xfrm>
            <a:off x="365760" y="199339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TODAY</a:t>
            </a:r>
            <a:endParaRPr lang="en-US" sz="1100" dirty="0"/>
          </a:p>
        </p:txBody>
      </p:sp>
      <p:sp>
        <p:nvSpPr>
          <p:cNvPr id="10" name="Shape 8"/>
          <p:cNvSpPr/>
          <p:nvPr/>
        </p:nvSpPr>
        <p:spPr>
          <a:xfrm>
            <a:off x="365760" y="2249424"/>
            <a:ext cx="8412480" cy="713232"/>
          </a:xfrm>
          <a:prstGeom prst="roundRect">
            <a:avLst>
              <a:gd name="adj" fmla="val 12821"/>
            </a:avLst>
          </a:prstGeom>
          <a:solidFill>
            <a:srgbClr val="FFF8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40864"/>
            <a:ext cx="7955280" cy="530352"/>
          </a:xfrm>
          <a:prstGeom prst="rect">
            <a:avLst/>
          </a:prstGeom>
          <a:noFill/>
          <a:ln/>
        </p:spPr>
        <p:txBody>
          <a:bodyPr wrap="square" lIns="0" tIns="0" rIns="0" bIns="0" rtlCol="0" anchor="ctr"/>
          <a:lstStyle/>
          <a:p>
            <a:pPr indent="0" marL="0">
              <a:buNone/>
            </a:pPr>
            <a:r>
              <a:rPr lang="en-US" sz="1400" b="1" dirty="0">
                <a:solidFill>
                  <a:srgbClr val="2A0A4A"/>
                </a:solidFill>
                <a:latin typeface="Calibri" pitchFamily="34" charset="0"/>
                <a:ea typeface="Calibri" pitchFamily="34" charset="-122"/>
                <a:cs typeface="Calibri" pitchFamily="34" charset="-120"/>
              </a:rPr>
              <a:t>Ch. 13–14: The chase is on. Watch what each character says AND how they say it.</a:t>
            </a:r>
            <a:endParaRPr lang="en-US" sz="1400" dirty="0"/>
          </a:p>
        </p:txBody>
      </p:sp>
      <p:sp>
        <p:nvSpPr>
          <p:cNvPr id="12" name="Text 10"/>
          <p:cNvSpPr/>
          <p:nvPr/>
        </p:nvSpPr>
        <p:spPr>
          <a:xfrm>
            <a:off x="365760" y="307238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BIG QUESTION</a:t>
            </a:r>
            <a:endParaRPr lang="en-US" sz="1100" dirty="0"/>
          </a:p>
        </p:txBody>
      </p:sp>
      <p:sp>
        <p:nvSpPr>
          <p:cNvPr id="13" name="Shape 11"/>
          <p:cNvSpPr/>
          <p:nvPr/>
        </p:nvSpPr>
        <p:spPr>
          <a:xfrm>
            <a:off x="365760" y="3328416"/>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419856"/>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Jemmy is furious that the prince gave him away. After hearing the prince's side, does anything change?</a:t>
            </a:r>
            <a:endParaRPr lang="en-US" sz="1300" dirty="0"/>
          </a:p>
        </p:txBody>
      </p:sp>
      <p:sp>
        <p:nvSpPr>
          <p:cNvPr id="15" name="Text 13"/>
          <p:cNvSpPr/>
          <p:nvPr/>
        </p:nvSpPr>
        <p:spPr>
          <a:xfrm>
            <a:off x="365760" y="42062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READING LENS</a:t>
            </a:r>
            <a:endParaRPr lang="en-US" sz="1100" dirty="0"/>
          </a:p>
        </p:txBody>
      </p:sp>
      <p:sp>
        <p:nvSpPr>
          <p:cNvPr id="16" name="Text 14"/>
          <p:cNvSpPr/>
          <p:nvPr/>
        </p:nvSpPr>
        <p:spPr>
          <a:xfrm>
            <a:off x="457200" y="4434840"/>
            <a:ext cx="8229600"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 Good readers look for clues in what characters say AND how they say it. When two characters argue, both sides have a poi</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Study What's Right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FROM THE NOVEL</a:t>
            </a:r>
            <a:endParaRPr lang="en-US" sz="1100" dirty="0"/>
          </a:p>
        </p:txBody>
      </p:sp>
      <p:sp>
        <p:nvSpPr>
          <p:cNvPr id="5" name="Shape 3"/>
          <p:cNvSpPr/>
          <p:nvPr/>
        </p:nvSpPr>
        <p:spPr>
          <a:xfrm>
            <a:off x="365760" y="1078992"/>
            <a:ext cx="8412480" cy="1005840"/>
          </a:xfrm>
          <a:prstGeom prst="roundRect">
            <a:avLst>
              <a:gd name="adj" fmla="val 9091"/>
            </a:avLst>
          </a:prstGeom>
          <a:solidFill>
            <a:srgbClr val="E8F8E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77724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Jemmy vanished into the wild green tangle.</a:t>
            </a:r>
            <a:endParaRPr lang="en-US" sz="1800" dirty="0"/>
          </a:p>
        </p:txBody>
      </p:sp>
      <p:sp>
        <p:nvSpPr>
          <p:cNvPr id="7" name="Text 5"/>
          <p:cNvSpPr/>
          <p:nvPr/>
        </p:nvSpPr>
        <p:spPr>
          <a:xfrm>
            <a:off x="365760" y="21945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WHAT TO NOTICE</a:t>
            </a:r>
            <a:endParaRPr lang="en-US" sz="1100" dirty="0"/>
          </a:p>
        </p:txBody>
      </p:sp>
      <p:sp>
        <p:nvSpPr>
          <p:cNvPr id="8" name="Text 6"/>
          <p:cNvSpPr/>
          <p:nvPr/>
        </p:nvSpPr>
        <p:spPr>
          <a:xfrm>
            <a:off x="502920" y="2423160"/>
            <a:ext cx="8229600" cy="41148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Tap or circle: capital letters, quotation marks, punctuation, proper nouns.</a:t>
            </a:r>
            <a:endParaRPr lang="en-US" sz="1500" dirty="0"/>
          </a:p>
        </p:txBody>
      </p:sp>
      <p:sp>
        <p:nvSpPr>
          <p:cNvPr id="9" name="Text 7"/>
          <p:cNvSpPr/>
          <p:nvPr/>
        </p:nvSpPr>
        <p:spPr>
          <a:xfrm>
            <a:off x="502920" y="2926080"/>
            <a:ext cx="8229600" cy="411480"/>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Copy this sentence in your journal. Circle one thing you notice.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prince stumbled through the dark tangled undergrowth</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Capital T on The; comma between the two adjectives dark and tangled; period ends.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prince stumbled through the dark tangled undergrowth</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Capital T on The; comma between the two adjectives dark and tangled; period ends.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
        <p:nvSpPr>
          <p:cNvPr id="11" name="Shape 9"/>
          <p:cNvSpPr/>
          <p:nvPr/>
        </p:nvSpPr>
        <p:spPr>
          <a:xfrm>
            <a:off x="365760" y="3063240"/>
            <a:ext cx="8412480" cy="914400"/>
          </a:xfrm>
          <a:prstGeom prst="roundRect">
            <a:avLst>
              <a:gd name="adj" fmla="val 10000"/>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127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3" name="Text 11"/>
          <p:cNvSpPr/>
          <p:nvPr/>
        </p:nvSpPr>
        <p:spPr>
          <a:xfrm>
            <a:off x="594360" y="3438144"/>
            <a:ext cx="7863840" cy="475488"/>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prince stumbled through the dark, tangled undergrowth.</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Morphology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WORD PART: -est</a:t>
            </a:r>
            <a:endParaRPr lang="en-US" sz="1100" dirty="0"/>
          </a:p>
        </p:txBody>
      </p:sp>
      <p:sp>
        <p:nvSpPr>
          <p:cNvPr id="5" name="Shape 3"/>
          <p:cNvSpPr/>
          <p:nvPr/>
        </p:nvSpPr>
        <p:spPr>
          <a:xfrm>
            <a:off x="365760" y="118872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9844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quickest — most quick</a:t>
            </a:r>
            <a:endParaRPr lang="en-US" sz="1500" dirty="0"/>
          </a:p>
        </p:txBody>
      </p:sp>
      <p:sp>
        <p:nvSpPr>
          <p:cNvPr id="7" name="Shape 5"/>
          <p:cNvSpPr/>
          <p:nvPr/>
        </p:nvSpPr>
        <p:spPr>
          <a:xfrm>
            <a:off x="365760" y="182880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3852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wildest — most wild</a:t>
            </a:r>
            <a:endParaRPr lang="en-US" sz="1500" dirty="0"/>
          </a:p>
        </p:txBody>
      </p:sp>
      <p:sp>
        <p:nvSpPr>
          <p:cNvPr id="9" name="Shape 7"/>
          <p:cNvSpPr/>
          <p:nvPr/>
        </p:nvSpPr>
        <p:spPr>
          <a:xfrm>
            <a:off x="365760" y="246888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57860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strangest — most strange</a:t>
            </a:r>
            <a:endParaRPr lang="en-US" sz="1500" dirty="0"/>
          </a:p>
        </p:txBody>
      </p:sp>
      <p:sp>
        <p:nvSpPr>
          <p:cNvPr id="11" name="Shape 9"/>
          <p:cNvSpPr/>
          <p:nvPr/>
        </p:nvSpPr>
        <p:spPr>
          <a:xfrm>
            <a:off x="365760" y="310896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21868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bravest — most brave</a:t>
            </a:r>
            <a:endParaRPr lang="en-US" sz="1500" dirty="0"/>
          </a:p>
        </p:txBody>
      </p:sp>
      <p:sp>
        <p:nvSpPr>
          <p:cNvPr id="13" name="Text 11"/>
          <p:cNvSpPr/>
          <p:nvPr/>
        </p:nvSpPr>
        <p:spPr>
          <a:xfrm>
            <a:off x="365760" y="37947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MATCH GAME WORDS</a:t>
            </a:r>
            <a:endParaRPr lang="en-US" sz="1100" dirty="0"/>
          </a:p>
        </p:txBody>
      </p:sp>
      <p:sp>
        <p:nvSpPr>
          <p:cNvPr id="14" name="Text 12"/>
          <p:cNvSpPr/>
          <p:nvPr/>
        </p:nvSpPr>
        <p:spPr>
          <a:xfrm>
            <a:off x="457200" y="4096512"/>
            <a:ext cx="8229600" cy="347472"/>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instinct   ·   foliage   ·   tilt   ·   shrewd</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79552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4 WORDS THIS WEEK</a:t>
            </a:r>
            <a:endParaRPr lang="en-US" sz="1100" dirty="0"/>
          </a:p>
        </p:txBody>
      </p:sp>
      <p:sp>
        <p:nvSpPr>
          <p:cNvPr id="5" name="Shape 3"/>
          <p:cNvSpPr/>
          <p:nvPr/>
        </p:nvSpPr>
        <p:spPr>
          <a:xfrm>
            <a:off x="32004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45720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instinct</a:t>
            </a:r>
            <a:endParaRPr lang="en-US" sz="1600" dirty="0"/>
          </a:p>
        </p:txBody>
      </p:sp>
      <p:sp>
        <p:nvSpPr>
          <p:cNvPr id="7" name="Text 5"/>
          <p:cNvSpPr/>
          <p:nvPr/>
        </p:nvSpPr>
        <p:spPr>
          <a:xfrm>
            <a:off x="45720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 natural behavior that happens without thinking.</a:t>
            </a:r>
            <a:endParaRPr lang="en-US" sz="1200" dirty="0"/>
          </a:p>
        </p:txBody>
      </p:sp>
      <p:sp>
        <p:nvSpPr>
          <p:cNvPr id="8" name="Shape 6"/>
          <p:cNvSpPr/>
          <p:nvPr/>
        </p:nvSpPr>
        <p:spPr>
          <a:xfrm>
            <a:off x="457200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470916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foliage</a:t>
            </a:r>
            <a:endParaRPr lang="en-US" sz="1600" dirty="0"/>
          </a:p>
        </p:txBody>
      </p:sp>
      <p:sp>
        <p:nvSpPr>
          <p:cNvPr id="10" name="Text 8"/>
          <p:cNvSpPr/>
          <p:nvPr/>
        </p:nvSpPr>
        <p:spPr>
          <a:xfrm>
            <a:off x="470916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Thick leaves and branches in a forest.</a:t>
            </a:r>
            <a:endParaRPr lang="en-US" sz="1200" dirty="0"/>
          </a:p>
        </p:txBody>
      </p:sp>
      <p:sp>
        <p:nvSpPr>
          <p:cNvPr id="11" name="Shape 9"/>
          <p:cNvSpPr/>
          <p:nvPr/>
        </p:nvSpPr>
        <p:spPr>
          <a:xfrm>
            <a:off x="32004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tilt</a:t>
            </a:r>
            <a:endParaRPr lang="en-US" sz="1600" dirty="0"/>
          </a:p>
        </p:txBody>
      </p:sp>
      <p:sp>
        <p:nvSpPr>
          <p:cNvPr id="13" name="Text 11"/>
          <p:cNvSpPr/>
          <p:nvPr/>
        </p:nvSpPr>
        <p:spPr>
          <a:xfrm>
            <a:off x="45720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At full tilt means going as fast as possible.</a:t>
            </a:r>
            <a:endParaRPr lang="en-US" sz="1200" dirty="0"/>
          </a:p>
        </p:txBody>
      </p:sp>
      <p:sp>
        <p:nvSpPr>
          <p:cNvPr id="14" name="Shape 12"/>
          <p:cNvSpPr/>
          <p:nvPr/>
        </p:nvSpPr>
        <p:spPr>
          <a:xfrm>
            <a:off x="457200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shrewd</a:t>
            </a:r>
            <a:endParaRPr lang="en-US" sz="1600" dirty="0"/>
          </a:p>
        </p:txBody>
      </p:sp>
      <p:sp>
        <p:nvSpPr>
          <p:cNvPr id="16" name="Text 14"/>
          <p:cNvSpPr/>
          <p:nvPr/>
        </p:nvSpPr>
        <p:spPr>
          <a:xfrm>
            <a:off x="470916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Clever at understanding situations and making smart decisions.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Prepositions (Identify)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SPOT THE ANSWER</a:t>
            </a:r>
            <a:endParaRPr lang="en-US" sz="1100" dirty="0"/>
          </a:p>
        </p:txBody>
      </p:sp>
      <p:sp>
        <p:nvSpPr>
          <p:cNvPr id="7" name="Shape 5"/>
          <p:cNvSpPr/>
          <p:nvPr/>
        </p:nvSpPr>
        <p:spPr>
          <a:xfrm>
            <a:off x="365760" y="10789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bear stood _____ the roots of the tree.</a:t>
            </a:r>
            <a:endParaRPr lang="en-US" sz="1500" dirty="0"/>
          </a:p>
        </p:txBody>
      </p:sp>
      <p:sp>
        <p:nvSpPr>
          <p:cNvPr id="9" name="Shape 7"/>
          <p:cNvSpPr/>
          <p:nvPr/>
        </p:nvSpPr>
        <p:spPr>
          <a:xfrm>
            <a:off x="365760" y="17647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hid _____ the mossy rocks.</a:t>
            </a:r>
            <a:endParaRPr lang="en-US" sz="1500" dirty="0"/>
          </a:p>
        </p:txBody>
      </p:sp>
      <p:sp>
        <p:nvSpPr>
          <p:cNvPr id="11" name="Shape 9"/>
          <p:cNvSpPr/>
          <p:nvPr/>
        </p:nvSpPr>
        <p:spPr>
          <a:xfrm>
            <a:off x="365760" y="24505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scrambled _____ the fallen log.</a:t>
            </a:r>
            <a:endParaRPr lang="en-US" sz="1500" dirty="0"/>
          </a:p>
        </p:txBody>
      </p:sp>
      <p:sp>
        <p:nvSpPr>
          <p:cNvPr id="13" name="Shape 11"/>
          <p:cNvSpPr/>
          <p:nvPr/>
        </p:nvSpPr>
        <p:spPr>
          <a:xfrm>
            <a:off x="365760" y="31363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A voice called from _____ the river.</a:t>
            </a:r>
            <a:endParaRPr lang="en-US" sz="1500" dirty="0"/>
          </a:p>
        </p:txBody>
      </p:sp>
      <p:sp>
        <p:nvSpPr>
          <p:cNvPr id="15" name="Text 13"/>
          <p:cNvSpPr/>
          <p:nvPr/>
        </p:nvSpPr>
        <p:spPr>
          <a:xfrm>
            <a:off x="457200" y="3867912"/>
            <a:ext cx="8229600" cy="347472"/>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Find the answer! Write it in your notebook.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Prepositions (Identify)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ANSWERS REVEALED</a:t>
            </a:r>
            <a:endParaRPr lang="en-US" sz="1100" dirty="0"/>
          </a:p>
        </p:txBody>
      </p:sp>
      <p:sp>
        <p:nvSpPr>
          <p:cNvPr id="7" name="Shape 5"/>
          <p:cNvSpPr/>
          <p:nvPr/>
        </p:nvSpPr>
        <p:spPr>
          <a:xfrm>
            <a:off x="365760" y="10789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bear stood </a:t>
            </a:r>
            <a:pPr indent="0" marL="0">
              <a:buNone/>
            </a:pPr>
            <a:r>
              <a:rPr lang="en-US" sz="1500" b="1" u="sng" dirty="0">
                <a:solidFill>
                  <a:srgbClr val="34B76F"/>
                </a:solidFill>
                <a:latin typeface="Calibri" pitchFamily="34" charset="0"/>
                <a:ea typeface="Calibri" pitchFamily="34" charset="-122"/>
                <a:cs typeface="Calibri" pitchFamily="34" charset="-120"/>
              </a:rPr>
              <a:t>near</a:t>
            </a:r>
            <a:pPr indent="0" marL="0">
              <a:buNone/>
            </a:pPr>
            <a:r>
              <a:rPr lang="en-US" sz="1500" dirty="0">
                <a:solidFill>
                  <a:srgbClr val="1E293B"/>
                </a:solidFill>
                <a:latin typeface="Calibri" pitchFamily="34" charset="0"/>
                <a:ea typeface="Calibri" pitchFamily="34" charset="-122"/>
                <a:cs typeface="Calibri" pitchFamily="34" charset="-120"/>
              </a:rPr>
              <a:t> the roots of the tree.</a:t>
            </a:r>
            <a:endParaRPr lang="en-US" sz="1500" dirty="0"/>
          </a:p>
        </p:txBody>
      </p:sp>
      <p:sp>
        <p:nvSpPr>
          <p:cNvPr id="9" name="Shape 7"/>
          <p:cNvSpPr/>
          <p:nvPr/>
        </p:nvSpPr>
        <p:spPr>
          <a:xfrm>
            <a:off x="365760" y="17647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hid </a:t>
            </a:r>
            <a:pPr indent="0" marL="0">
              <a:buNone/>
            </a:pPr>
            <a:r>
              <a:rPr lang="en-US" sz="1500" b="1" u="sng" dirty="0">
                <a:solidFill>
                  <a:srgbClr val="34B76F"/>
                </a:solidFill>
                <a:latin typeface="Calibri" pitchFamily="34" charset="0"/>
                <a:ea typeface="Calibri" pitchFamily="34" charset="-122"/>
                <a:cs typeface="Calibri" pitchFamily="34" charset="-120"/>
              </a:rPr>
              <a:t>behind</a:t>
            </a:r>
            <a:pPr indent="0" marL="0">
              <a:buNone/>
            </a:pPr>
            <a:r>
              <a:rPr lang="en-US" sz="1500" dirty="0">
                <a:solidFill>
                  <a:srgbClr val="1E293B"/>
                </a:solidFill>
                <a:latin typeface="Calibri" pitchFamily="34" charset="0"/>
                <a:ea typeface="Calibri" pitchFamily="34" charset="-122"/>
                <a:cs typeface="Calibri" pitchFamily="34" charset="-120"/>
              </a:rPr>
              <a:t> the mossy rocks.</a:t>
            </a:r>
            <a:endParaRPr lang="en-US" sz="1500" dirty="0"/>
          </a:p>
        </p:txBody>
      </p:sp>
      <p:sp>
        <p:nvSpPr>
          <p:cNvPr id="11" name="Shape 9"/>
          <p:cNvSpPr/>
          <p:nvPr/>
        </p:nvSpPr>
        <p:spPr>
          <a:xfrm>
            <a:off x="365760" y="24505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scrambled </a:t>
            </a:r>
            <a:pPr indent="0" marL="0">
              <a:buNone/>
            </a:pPr>
            <a:r>
              <a:rPr lang="en-US" sz="1500" b="1" u="sng" dirty="0">
                <a:solidFill>
                  <a:srgbClr val="34B76F"/>
                </a:solidFill>
                <a:latin typeface="Calibri" pitchFamily="34" charset="0"/>
                <a:ea typeface="Calibri" pitchFamily="34" charset="-122"/>
                <a:cs typeface="Calibri" pitchFamily="34" charset="-120"/>
              </a:rPr>
              <a:t>over</a:t>
            </a:r>
            <a:pPr indent="0" marL="0">
              <a:buNone/>
            </a:pPr>
            <a:r>
              <a:rPr lang="en-US" sz="1500" dirty="0">
                <a:solidFill>
                  <a:srgbClr val="1E293B"/>
                </a:solidFill>
                <a:latin typeface="Calibri" pitchFamily="34" charset="0"/>
                <a:ea typeface="Calibri" pitchFamily="34" charset="-122"/>
                <a:cs typeface="Calibri" pitchFamily="34" charset="-120"/>
              </a:rPr>
              <a:t> the fallen log.</a:t>
            </a:r>
            <a:endParaRPr lang="en-US" sz="1500" dirty="0"/>
          </a:p>
        </p:txBody>
      </p:sp>
      <p:sp>
        <p:nvSpPr>
          <p:cNvPr id="13" name="Shape 11"/>
          <p:cNvSpPr/>
          <p:nvPr/>
        </p:nvSpPr>
        <p:spPr>
          <a:xfrm>
            <a:off x="365760" y="31363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A voice called from </a:t>
            </a:r>
            <a:pPr indent="0" marL="0">
              <a:buNone/>
            </a:pPr>
            <a:r>
              <a:rPr lang="en-US" sz="1500" b="1" u="sng" dirty="0">
                <a:solidFill>
                  <a:srgbClr val="34B76F"/>
                </a:solidFill>
                <a:latin typeface="Calibri" pitchFamily="34" charset="0"/>
                <a:ea typeface="Calibri" pitchFamily="34" charset="-122"/>
                <a:cs typeface="Calibri" pitchFamily="34" charset="-120"/>
              </a:rPr>
              <a:t>across</a:t>
            </a:r>
            <a:pPr indent="0" marL="0">
              <a:buNone/>
            </a:pPr>
            <a:r>
              <a:rPr lang="en-US" sz="1500" dirty="0">
                <a:solidFill>
                  <a:srgbClr val="1E293B"/>
                </a:solidFill>
                <a:latin typeface="Calibri" pitchFamily="34" charset="0"/>
                <a:ea typeface="Calibri" pitchFamily="34" charset="-122"/>
                <a:cs typeface="Calibri" pitchFamily="34" charset="-120"/>
              </a:rPr>
              <a:t> the river.</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r-Controlled Syllables (Day 2: Identify)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SORT THE WORDS</a:t>
            </a:r>
            <a:endParaRPr lang="en-US" sz="1100" dirty="0"/>
          </a:p>
        </p:txBody>
      </p:sp>
      <p:sp>
        <p:nvSpPr>
          <p:cNvPr id="7" name="Shape 5"/>
          <p:cNvSpPr/>
          <p:nvPr/>
        </p:nvSpPr>
        <p:spPr>
          <a:xfrm>
            <a:off x="365760" y="1024128"/>
            <a:ext cx="8412480" cy="685800"/>
          </a:xfrm>
          <a:prstGeom prst="roundRect">
            <a:avLst>
              <a:gd name="adj" fmla="val 13333"/>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078992"/>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9" name="Text 7"/>
          <p:cNvSpPr/>
          <p:nvPr/>
        </p:nvSpPr>
        <p:spPr>
          <a:xfrm>
            <a:off x="594360" y="1325880"/>
            <a:ext cx="7863840" cy="320040"/>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farmer   ·   border   ·   servant   ·   perfect   ·   purple   ·   turkey</a:t>
            </a:r>
            <a:endParaRPr lang="en-US" sz="1600" dirty="0"/>
          </a:p>
        </p:txBody>
      </p:sp>
      <p:sp>
        <p:nvSpPr>
          <p:cNvPr id="10" name="Text 8"/>
          <p:cNvSpPr/>
          <p:nvPr/>
        </p:nvSpPr>
        <p:spPr>
          <a:xfrm>
            <a:off x="365760" y="187452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SORT INTO GROUPS</a:t>
            </a:r>
            <a:endParaRPr lang="en-US" sz="1100" dirty="0"/>
          </a:p>
        </p:txBody>
      </p:sp>
      <p:sp>
        <p:nvSpPr>
          <p:cNvPr id="11" name="Shape 9"/>
          <p:cNvSpPr/>
          <p:nvPr/>
        </p:nvSpPr>
        <p:spPr>
          <a:xfrm>
            <a:off x="365760" y="2176272"/>
            <a:ext cx="4114800" cy="1051560"/>
          </a:xfrm>
          <a:prstGeom prst="roundRect">
            <a:avLst>
              <a:gd name="adj" fmla="val 8696"/>
            </a:avLst>
          </a:prstGeom>
          <a:solidFill>
            <a:srgbClr val="E8F8EF"/>
          </a:solidFill>
          <a:ln w="19050">
            <a:solidFill>
              <a:srgbClr val="4A7C2E"/>
            </a:solidFill>
            <a:prstDash val="solid"/>
          </a:ln>
        </p:spPr>
      </p:sp>
      <p:sp>
        <p:nvSpPr>
          <p:cNvPr id="12" name="Text 10"/>
          <p:cNvSpPr/>
          <p:nvPr/>
        </p:nvSpPr>
        <p:spPr>
          <a:xfrm>
            <a:off x="502920" y="2249424"/>
            <a:ext cx="3840480" cy="384048"/>
          </a:xfrm>
          <a:prstGeom prst="rect">
            <a:avLst/>
          </a:prstGeom>
          <a:noFill/>
          <a:ln/>
        </p:spPr>
        <p:txBody>
          <a:bodyPr wrap="square" lIns="0" tIns="0" rIns="0" bIns="0" rtlCol="0" anchor="ctr"/>
          <a:lstStyle/>
          <a:p>
            <a:pPr indent="0" marL="0">
              <a:buNone/>
            </a:pPr>
            <a:r>
              <a:rPr lang="en-US" sz="1300" b="1" dirty="0">
                <a:solidFill>
                  <a:srgbClr val="4A7C2E"/>
                </a:solidFill>
                <a:latin typeface="Calibri" pitchFamily="34" charset="0"/>
                <a:ea typeface="Calibri" pitchFamily="34" charset="-122"/>
                <a:cs typeface="Calibri" pitchFamily="34" charset="-120"/>
              </a:rPr>
              <a:t>ar or or</a:t>
            </a:r>
            <a:endParaRPr lang="en-US" sz="1300" dirty="0"/>
          </a:p>
        </p:txBody>
      </p:sp>
      <p:sp>
        <p:nvSpPr>
          <p:cNvPr id="13" name="Shape 11"/>
          <p:cNvSpPr/>
          <p:nvPr/>
        </p:nvSpPr>
        <p:spPr>
          <a:xfrm>
            <a:off x="4709160" y="2176272"/>
            <a:ext cx="4114800" cy="1051560"/>
          </a:xfrm>
          <a:prstGeom prst="roundRect">
            <a:avLst>
              <a:gd name="adj" fmla="val 8696"/>
            </a:avLst>
          </a:prstGeom>
          <a:solidFill>
            <a:srgbClr val="F0E8FF"/>
          </a:solidFill>
          <a:ln w="19050">
            <a:solidFill>
              <a:srgbClr val="5C2D91"/>
            </a:solidFill>
            <a:prstDash val="solid"/>
          </a:ln>
        </p:spPr>
      </p:sp>
      <p:sp>
        <p:nvSpPr>
          <p:cNvPr id="14" name="Text 12"/>
          <p:cNvSpPr/>
          <p:nvPr/>
        </p:nvSpPr>
        <p:spPr>
          <a:xfrm>
            <a:off x="4846320" y="2249424"/>
            <a:ext cx="3840480" cy="384048"/>
          </a:xfrm>
          <a:prstGeom prst="rect">
            <a:avLst/>
          </a:prstGeom>
          <a:noFill/>
          <a:ln/>
        </p:spPr>
        <p:txBody>
          <a:bodyPr wrap="square" lIns="0" tIns="0" rIns="0" bIns="0" rtlCol="0" anchor="ctr"/>
          <a:lstStyle/>
          <a:p>
            <a:pPr indent="0" marL="0">
              <a:buNone/>
            </a:pPr>
            <a:r>
              <a:rPr lang="en-US" sz="1300" b="1" dirty="0">
                <a:solidFill>
                  <a:srgbClr val="5C2D91"/>
                </a:solidFill>
                <a:latin typeface="Calibri" pitchFamily="34" charset="0"/>
                <a:ea typeface="Calibri" pitchFamily="34" charset="-122"/>
                <a:cs typeface="Calibri" pitchFamily="34" charset="-120"/>
              </a:rPr>
              <a:t>er, ir, or ur</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r-Controlled Syllables (Day 2: Identify)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SORTED</a:t>
            </a:r>
            <a:endParaRPr lang="en-US" sz="1100" dirty="0"/>
          </a:p>
        </p:txBody>
      </p:sp>
      <p:sp>
        <p:nvSpPr>
          <p:cNvPr id="7" name="Shape 5"/>
          <p:cNvSpPr/>
          <p:nvPr/>
        </p:nvSpPr>
        <p:spPr>
          <a:xfrm>
            <a:off x="365760" y="1024128"/>
            <a:ext cx="4114800" cy="1078992"/>
          </a:xfrm>
          <a:prstGeom prst="roundRect">
            <a:avLst>
              <a:gd name="adj" fmla="val 8475"/>
            </a:avLst>
          </a:prstGeom>
          <a:solidFill>
            <a:srgbClr val="E8F8EF"/>
          </a:solidFill>
          <a:ln w="19050">
            <a:solidFill>
              <a:srgbClr val="4A7C2E"/>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02920" y="1097280"/>
            <a:ext cx="3840480" cy="347472"/>
          </a:xfrm>
          <a:prstGeom prst="rect">
            <a:avLst/>
          </a:prstGeom>
          <a:noFill/>
          <a:ln/>
        </p:spPr>
        <p:txBody>
          <a:bodyPr wrap="square" lIns="0" tIns="0" rIns="0" bIns="0" rtlCol="0" anchor="ctr"/>
          <a:lstStyle/>
          <a:p>
            <a:pPr indent="0" marL="0">
              <a:buNone/>
            </a:pPr>
            <a:r>
              <a:rPr lang="en-US" sz="1200" b="1" dirty="0">
                <a:solidFill>
                  <a:srgbClr val="4A7C2E"/>
                </a:solidFill>
                <a:latin typeface="Calibri" pitchFamily="34" charset="0"/>
                <a:ea typeface="Calibri" pitchFamily="34" charset="-122"/>
                <a:cs typeface="Calibri" pitchFamily="34" charset="-120"/>
              </a:rPr>
              <a:t>ar or or</a:t>
            </a:r>
            <a:endParaRPr lang="en-US" sz="1200" dirty="0"/>
          </a:p>
        </p:txBody>
      </p:sp>
      <p:sp>
        <p:nvSpPr>
          <p:cNvPr id="9" name="Text 7"/>
          <p:cNvSpPr/>
          <p:nvPr/>
        </p:nvSpPr>
        <p:spPr>
          <a:xfrm>
            <a:off x="5943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farmer</a:t>
            </a:r>
            <a:endParaRPr lang="en-US" sz="1400" dirty="0"/>
          </a:p>
        </p:txBody>
      </p:sp>
      <p:sp>
        <p:nvSpPr>
          <p:cNvPr id="10" name="Text 8"/>
          <p:cNvSpPr/>
          <p:nvPr/>
        </p:nvSpPr>
        <p:spPr>
          <a:xfrm>
            <a:off x="5943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border</a:t>
            </a:r>
            <a:endParaRPr lang="en-US" sz="1400" dirty="0"/>
          </a:p>
        </p:txBody>
      </p:sp>
      <p:sp>
        <p:nvSpPr>
          <p:cNvPr id="11" name="Shape 9"/>
          <p:cNvSpPr/>
          <p:nvPr/>
        </p:nvSpPr>
        <p:spPr>
          <a:xfrm>
            <a:off x="4709160" y="1024128"/>
            <a:ext cx="4114800" cy="1773936"/>
          </a:xfrm>
          <a:prstGeom prst="roundRect">
            <a:avLst>
              <a:gd name="adj" fmla="val 5155"/>
            </a:avLst>
          </a:prstGeom>
          <a:solidFill>
            <a:srgbClr val="F0E8FF"/>
          </a:solidFill>
          <a:ln w="19050">
            <a:solidFill>
              <a:srgbClr val="5C2D91"/>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4846320" y="1097280"/>
            <a:ext cx="3840480" cy="347472"/>
          </a:xfrm>
          <a:prstGeom prst="rect">
            <a:avLst/>
          </a:prstGeom>
          <a:noFill/>
          <a:ln/>
        </p:spPr>
        <p:txBody>
          <a:bodyPr wrap="square" lIns="0" tIns="0" rIns="0" bIns="0" rtlCol="0" anchor="ctr"/>
          <a:lstStyle/>
          <a:p>
            <a:pPr indent="0" marL="0">
              <a:buNone/>
            </a:pPr>
            <a:r>
              <a:rPr lang="en-US" sz="1200" b="1" dirty="0">
                <a:solidFill>
                  <a:srgbClr val="5C2D91"/>
                </a:solidFill>
                <a:latin typeface="Calibri" pitchFamily="34" charset="0"/>
                <a:ea typeface="Calibri" pitchFamily="34" charset="-122"/>
                <a:cs typeface="Calibri" pitchFamily="34" charset="-120"/>
              </a:rPr>
              <a:t>er, ir, or ur</a:t>
            </a:r>
            <a:endParaRPr lang="en-US" sz="1200" dirty="0"/>
          </a:p>
        </p:txBody>
      </p:sp>
      <p:sp>
        <p:nvSpPr>
          <p:cNvPr id="13" name="Text 11"/>
          <p:cNvSpPr/>
          <p:nvPr/>
        </p:nvSpPr>
        <p:spPr>
          <a:xfrm>
            <a:off x="49377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servant</a:t>
            </a:r>
            <a:endParaRPr lang="en-US" sz="1400" dirty="0"/>
          </a:p>
        </p:txBody>
      </p:sp>
      <p:sp>
        <p:nvSpPr>
          <p:cNvPr id="14" name="Text 12"/>
          <p:cNvSpPr/>
          <p:nvPr/>
        </p:nvSpPr>
        <p:spPr>
          <a:xfrm>
            <a:off x="49377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perfect</a:t>
            </a:r>
            <a:endParaRPr lang="en-US" sz="1400" dirty="0"/>
          </a:p>
        </p:txBody>
      </p:sp>
      <p:sp>
        <p:nvSpPr>
          <p:cNvPr id="15" name="Text 13"/>
          <p:cNvSpPr/>
          <p:nvPr/>
        </p:nvSpPr>
        <p:spPr>
          <a:xfrm>
            <a:off x="49377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purple</a:t>
            </a:r>
            <a:endParaRPr lang="en-US" sz="1400" dirty="0"/>
          </a:p>
        </p:txBody>
      </p:sp>
      <p:sp>
        <p:nvSpPr>
          <p:cNvPr id="16" name="Text 14"/>
          <p:cNvSpPr/>
          <p:nvPr/>
        </p:nvSpPr>
        <p:spPr>
          <a:xfrm>
            <a:off x="4937760" y="2505456"/>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turkey</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Reading — Ch. 13–14</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CHAPTERS</a:t>
            </a:r>
            <a:endParaRPr lang="en-US" sz="1100" dirty="0"/>
          </a:p>
        </p:txBody>
      </p:sp>
      <p:sp>
        <p:nvSpPr>
          <p:cNvPr id="5" name="Text 3"/>
          <p:cNvSpPr/>
          <p:nvPr/>
        </p:nvSpPr>
        <p:spPr>
          <a:xfrm>
            <a:off x="457200" y="1005840"/>
            <a:ext cx="8229600" cy="502920"/>
          </a:xfrm>
          <a:prstGeom prst="rect">
            <a:avLst/>
          </a:prstGeom>
          <a:noFill/>
          <a:ln/>
        </p:spPr>
        <p:txBody>
          <a:bodyPr wrap="square" lIns="0" tIns="0" rIns="0" bIns="0" rtlCol="0" anchor="ctr"/>
          <a:lstStyle/>
          <a:p>
            <a:pPr indent="0" marL="0">
              <a:buNone/>
            </a:pPr>
            <a:r>
              <a:rPr lang="en-US" sz="1800" b="1" i="1" dirty="0">
                <a:solidFill>
                  <a:srgbClr val="2A0A4A"/>
                </a:solidFill>
                <a:latin typeface="Calibri" pitchFamily="34" charset="0"/>
                <a:ea typeface="Calibri" pitchFamily="34" charset="-122"/>
                <a:cs typeface="Calibri" pitchFamily="34" charset="-120"/>
              </a:rPr>
              <a:t>The chase; In which is heard a voice in the forest</a:t>
            </a:r>
            <a:endParaRPr lang="en-US" sz="1800" dirty="0"/>
          </a:p>
        </p:txBody>
      </p:sp>
      <p:sp>
        <p:nvSpPr>
          <p:cNvPr id="6" name="Text 4"/>
          <p:cNvSpPr/>
          <p:nvPr/>
        </p:nvSpPr>
        <p:spPr>
          <a:xfrm>
            <a:off x="365760" y="162763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PAUSE &amp; THINK</a:t>
            </a:r>
            <a:endParaRPr lang="en-US" sz="1100" dirty="0"/>
          </a:p>
        </p:txBody>
      </p:sp>
      <p:sp>
        <p:nvSpPr>
          <p:cNvPr id="7" name="Shape 5"/>
          <p:cNvSpPr/>
          <p:nvPr/>
        </p:nvSpPr>
        <p:spPr>
          <a:xfrm>
            <a:off x="365760" y="18836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9751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1.  When The Whipping Boy sees Jeremy tangled in string and the cat coming, she could have run. She stays and unties him instead. Later, Nicodemus and the rats agree to move her cinderblock house — a dangerous, hours-long job — because she asked for help.</a:t>
            </a:r>
            <a:endParaRPr lang="en-US" sz="1400" dirty="0"/>
          </a:p>
        </p:txBody>
      </p:sp>
      <p:sp>
        <p:nvSpPr>
          <p:cNvPr id="9" name="Shape 7"/>
          <p:cNvSpPr/>
          <p:nvPr/>
        </p:nvSpPr>
        <p:spPr>
          <a:xfrm>
            <a:off x="365760" y="27980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594360" y="28895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2.  In Chapter 13, Jemmy escapes through the forest. What does the bear do, and how does it accidentally help Jemmy?</a:t>
            </a:r>
            <a:endParaRPr lang="en-US" sz="1400" dirty="0"/>
          </a:p>
        </p:txBody>
      </p:sp>
      <p:sp>
        <p:nvSpPr>
          <p:cNvPr id="11" name="Shape 9"/>
          <p:cNvSpPr/>
          <p:nvPr/>
        </p:nvSpPr>
        <p:spPr>
          <a:xfrm>
            <a:off x="365760" y="37124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594360" y="38039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3.  Jemmy confronts the prince for giving him away. Does the prince's response change anything for Jemmy?</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Writer's Workshop — Week 20</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WRITING STAGE</a:t>
            </a:r>
            <a:endParaRPr lang="en-US" sz="1100" dirty="0"/>
          </a:p>
        </p:txBody>
      </p:sp>
      <p:sp>
        <p:nvSpPr>
          <p:cNvPr id="5" name="Shape 3"/>
          <p:cNvSpPr/>
          <p:nvPr/>
        </p:nvSpPr>
        <p:spPr>
          <a:xfrm>
            <a:off x="365760" y="1042416"/>
            <a:ext cx="8412480" cy="658368"/>
          </a:xfrm>
          <a:prstGeom prst="roundRect">
            <a:avLst>
              <a:gd name="adj" fmla="val 13889"/>
            </a:avLst>
          </a:prstGeom>
          <a:solidFill>
            <a:srgbClr val="FFF8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33856"/>
            <a:ext cx="7863840" cy="475488"/>
          </a:xfrm>
          <a:prstGeom prst="rect">
            <a:avLst/>
          </a:prstGeom>
          <a:noFill/>
          <a:ln/>
        </p:spPr>
        <p:txBody>
          <a:bodyPr wrap="square" lIns="0" tIns="0" rIns="0" bIns="0" rtlCol="0" anchor="ctr"/>
          <a:lstStyle/>
          <a:p>
            <a:pPr indent="0" marL="0">
              <a:buNone/>
            </a:pPr>
            <a:r>
              <a:rPr lang="en-US" sz="2200" b="1" dirty="0">
                <a:solidFill>
                  <a:srgbClr val="B8860B"/>
                </a:solidFill>
                <a:latin typeface="Calibri" pitchFamily="34" charset="0"/>
                <a:ea typeface="Calibri" pitchFamily="34" charset="-122"/>
                <a:cs typeface="Calibri" pitchFamily="34" charset="-120"/>
              </a:rPr>
              <a:t>✍️ Draft</a:t>
            </a:r>
            <a:endParaRPr lang="en-US" sz="2200" dirty="0"/>
          </a:p>
        </p:txBody>
      </p:sp>
      <p:sp>
        <p:nvSpPr>
          <p:cNvPr id="7" name="Text 5"/>
          <p:cNvSpPr/>
          <p:nvPr/>
        </p:nvSpPr>
        <p:spPr>
          <a:xfrm>
            <a:off x="365760" y="182880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TODAY'S FOCUS</a:t>
            </a:r>
            <a:endParaRPr lang="en-US" sz="1100" dirty="0"/>
          </a:p>
        </p:txBody>
      </p:sp>
      <p:sp>
        <p:nvSpPr>
          <p:cNvPr id="8" name="Text 6"/>
          <p:cNvSpPr/>
          <p:nvPr/>
        </p:nvSpPr>
        <p:spPr>
          <a:xfrm>
            <a:off x="457200" y="2084832"/>
            <a:ext cx="8229600" cy="59436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Opinion: draft your full paragraph — claim + reasons + closing.</a:t>
            </a:r>
            <a:endParaRPr lang="en-US" sz="1500" dirty="0"/>
          </a:p>
        </p:txBody>
      </p:sp>
      <p:sp>
        <p:nvSpPr>
          <p:cNvPr id="9" name="Text 7"/>
          <p:cNvSpPr/>
          <p:nvPr/>
        </p:nvSpPr>
        <p:spPr>
          <a:xfrm>
            <a:off x="365760" y="279806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SENTENCE FRAMES</a:t>
            </a:r>
            <a:endParaRPr lang="en-US" sz="1100" dirty="0"/>
          </a:p>
        </p:txBody>
      </p:sp>
      <p:sp>
        <p:nvSpPr>
          <p:cNvPr id="10" name="Text 8"/>
          <p:cNvSpPr/>
          <p:nvPr/>
        </p:nvSpPr>
        <p:spPr>
          <a:xfrm>
            <a:off x="502920" y="3054096"/>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"I believe ___ because ___. For example, ___. This shows that ___."</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2026-07-11T02:16:32Z</dcterms:created>
  <dcterms:modified xsi:type="dcterms:W3CDTF">2026-07-11T02:16:32Z</dcterms:modified>
</cp:coreProperties>
</file>