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Ch. 11: The prince did the unthinkable — he gave Jemmy away to Billy and Cutwater.
TODAY: Ch. 11–12: Jemmy is on his own. Can he trust anyone in these woods?
BIG Q: Can you trust someone who has never been kind to you? Jemmy hides in the straw and must trust the prince. Would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"jemmy crept to the wooden door and pressed his ear against the cold oak"
Corrected: "Jemmy crept to the wooden door and pressed his ear against the cold oak."
Errors: Capital J on Jemmy; period at the end. Simple narration with two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"jemmy crept to the wooden door and pressed his ear against the cold oak"
Corrected: "Jemmy crept to the wooden door and pressed his ear against the cold oak."
Errors: Capital J on Jemmy; period at the end. Simple narration with two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darkest — most dark | wildest — most wild | strangest — most strange | boldest — most bold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bewildered: Completely confused and unable to understand what is happening. | trifle: A very small thing; something not worth much. | trickery: Using clever or dishonest tricks to get what you want. | ransom: Money paid or demanded to free a prisoner.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"Jemmy burrowed [under] the moldy straw." → under | "The prince sat [near] the cold fire." → near | "Billy paced [around] the camp." → around | "Cutwater stood [beside] the cart." → beside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"Jemmy burrowed [under] the moldy straw." → under | "The prince sat [near] the cold fire." → near | "Billy paced [around] the camp." → around | "Cutwater stood [beside] the cart." → beside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ar or or: garden, storm, park | er, ir, or ur: fern, bird, burn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ar or or: garden, storm, park | er, ir, or ur: fern, bird, burn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Ch. 11–12
When The Whipping Boy sees Jeremy tangled in string and the cat coming, she could have run. She stays and unties him instead. Later, Nicodemus and the rats agree to move her cinderblock house — a dangerous, hours-long job — because she asked for help.
In Chapter 12, Jemmy hides under the straw. What does he risk by depending on the prince's silence?
Chapter 12 ends with a betrayal. What does the prince say — and what might his reason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Draft
Focus: Opinion: draft your full paragraph — claim + reasons +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20  ·  DAY 1</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Ch. 11–12</a:t>
            </a:r>
            <a:endParaRPr lang="en-US" sz="3600" dirty="0"/>
          </a:p>
          <a:p>
            <a:pPr algn="l" indent="0" marL="0">
              <a:buNone/>
            </a:pPr>
            <a:r>
              <a:rPr lang="en-US" sz="3600" b="1" dirty="0">
                <a:solidFill>
                  <a:srgbClr val="FFFFFF"/>
                </a:solidFill>
                <a:latin typeface="Calibri" pitchFamily="34" charset="0"/>
                <a:ea typeface="Calibri" pitchFamily="34" charset="-122"/>
                <a:cs typeface="Calibri" pitchFamily="34" charset="-120"/>
              </a:rPr>
              <a:t>Containing a great deal of shouting; Wherein Jemmy is betrayed</a:t>
            </a: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20  ·  Virtue: Perseverance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Ch. 11: The prince did the unthinkable — he gave Jemmy away to Billy and Cutwater.</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Ch. 11–12: Jemmy is on his own. Can he trust anyone in these woods?</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Can you trust someone who has never been kind to you? Jemmy hides in the straw and must trust the prince. Would you?</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read between the lines. When a character doesn't explain their feelings, look at their ACTIONS. Watch what </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prince crossed to the wicker basket and snatched up an uneaten apple tart.</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crept to the wooden door and pressed his ear against the cold oak</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J on Jemmy; period at the end. Simple narration with two verbs.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crept to the wooden door and pressed his ear against the cold oak</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J on Jemmy; period at the end. Simple narration with two verbs.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Jemmy crept to the wooden door and pressed his ear against the cold oak.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-est</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darkest — most dark</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wildest — most wild</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strangest — most strange</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boldest — most bold</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bewildered   ·   trifle   ·   trickery   ·   ransom</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bewildered</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Completely confused and unable to understand what is happening.</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trifle</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very small thing; something not worth much.</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trickery</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Using clever or dishonest tricks to get what you want.</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ransom</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Money paid or demanded to free a prisoner.</a:t>
            </a:r>
            <a:endParaRPr lang="en-US" sz="1200" dirty="0"/>
          </a:p>
        </p:txBody>
      </p:sp>
      <p:sp>
        <p:nvSpPr>
          <p:cNvPr id="17" name="Text 15"/>
          <p:cNvSpPr/>
          <p:nvPr/>
        </p:nvSpPr>
        <p:spPr>
          <a:xfrm>
            <a:off x="365760" y="4251960"/>
            <a:ext cx="8412480" cy="384048"/>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 Read the sentence in the book. Look at word parts. Then flip the card.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Prepositions (Define)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burrowed _____ the moldy straw.</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sat _____ the cold fire.</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paced _____ the camp.</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Cutwater stood _____ the cart.</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Prepositions (Define)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burrowed </a:t>
            </a:r>
            <a:pPr indent="0" marL="0">
              <a:buNone/>
            </a:pPr>
            <a:r>
              <a:rPr lang="en-US" sz="1500" b="1" u="sng" dirty="0">
                <a:solidFill>
                  <a:srgbClr val="34B76F"/>
                </a:solidFill>
                <a:latin typeface="Calibri" pitchFamily="34" charset="0"/>
                <a:ea typeface="Calibri" pitchFamily="34" charset="-122"/>
                <a:cs typeface="Calibri" pitchFamily="34" charset="-120"/>
              </a:rPr>
              <a:t>under</a:t>
            </a:r>
            <a:pPr indent="0" marL="0">
              <a:buNone/>
            </a:pPr>
            <a:r>
              <a:rPr lang="en-US" sz="1500" dirty="0">
                <a:solidFill>
                  <a:srgbClr val="1E293B"/>
                </a:solidFill>
                <a:latin typeface="Calibri" pitchFamily="34" charset="0"/>
                <a:ea typeface="Calibri" pitchFamily="34" charset="-122"/>
                <a:cs typeface="Calibri" pitchFamily="34" charset="-120"/>
              </a:rPr>
              <a:t> the moldy straw.</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sat </a:t>
            </a:r>
            <a:pPr indent="0" marL="0">
              <a:buNone/>
            </a:pPr>
            <a:r>
              <a:rPr lang="en-US" sz="1500" b="1" u="sng" dirty="0">
                <a:solidFill>
                  <a:srgbClr val="34B76F"/>
                </a:solidFill>
                <a:latin typeface="Calibri" pitchFamily="34" charset="0"/>
                <a:ea typeface="Calibri" pitchFamily="34" charset="-122"/>
                <a:cs typeface="Calibri" pitchFamily="34" charset="-120"/>
              </a:rPr>
              <a:t>near</a:t>
            </a:r>
            <a:pPr indent="0" marL="0">
              <a:buNone/>
            </a:pPr>
            <a:r>
              <a:rPr lang="en-US" sz="1500" dirty="0">
                <a:solidFill>
                  <a:srgbClr val="1E293B"/>
                </a:solidFill>
                <a:latin typeface="Calibri" pitchFamily="34" charset="0"/>
                <a:ea typeface="Calibri" pitchFamily="34" charset="-122"/>
                <a:cs typeface="Calibri" pitchFamily="34" charset="-120"/>
              </a:rPr>
              <a:t> the cold fire.</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paced </a:t>
            </a:r>
            <a:pPr indent="0" marL="0">
              <a:buNone/>
            </a:pPr>
            <a:r>
              <a:rPr lang="en-US" sz="1500" b="1" u="sng" dirty="0">
                <a:solidFill>
                  <a:srgbClr val="34B76F"/>
                </a:solidFill>
                <a:latin typeface="Calibri" pitchFamily="34" charset="0"/>
                <a:ea typeface="Calibri" pitchFamily="34" charset="-122"/>
                <a:cs typeface="Calibri" pitchFamily="34" charset="-120"/>
              </a:rPr>
              <a:t>around</a:t>
            </a:r>
            <a:pPr indent="0" marL="0">
              <a:buNone/>
            </a:pPr>
            <a:r>
              <a:rPr lang="en-US" sz="1500" dirty="0">
                <a:solidFill>
                  <a:srgbClr val="1E293B"/>
                </a:solidFill>
                <a:latin typeface="Calibri" pitchFamily="34" charset="0"/>
                <a:ea typeface="Calibri" pitchFamily="34" charset="-122"/>
                <a:cs typeface="Calibri" pitchFamily="34" charset="-120"/>
              </a:rPr>
              <a:t> the camp.</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Cutwater stood </a:t>
            </a:r>
            <a:pPr indent="0" marL="0">
              <a:buNone/>
            </a:pPr>
            <a:r>
              <a:rPr lang="en-US" sz="1500" b="1" u="sng" dirty="0">
                <a:solidFill>
                  <a:srgbClr val="34B76F"/>
                </a:solidFill>
                <a:latin typeface="Calibri" pitchFamily="34" charset="0"/>
                <a:ea typeface="Calibri" pitchFamily="34" charset="-122"/>
                <a:cs typeface="Calibri" pitchFamily="34" charset="-120"/>
              </a:rPr>
              <a:t>beside</a:t>
            </a:r>
            <a:pPr indent="0" marL="0">
              <a:buNone/>
            </a:pPr>
            <a:r>
              <a:rPr lang="en-US" sz="1500" dirty="0">
                <a:solidFill>
                  <a:srgbClr val="1E293B"/>
                </a:solidFill>
                <a:latin typeface="Calibri" pitchFamily="34" charset="0"/>
                <a:ea typeface="Calibri" pitchFamily="34" charset="-122"/>
                <a:cs typeface="Calibri" pitchFamily="34" charset="-120"/>
              </a:rPr>
              <a:t> the cart.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r-Controlled Syllables (Day 1: Define)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garden   ·   storm   ·   park   ·   fern   ·   bird   ·   burn</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ar or or</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er, ir, or ur</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r-Controlled Syllables (Day 1: Define)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1426464"/>
          </a:xfrm>
          <a:prstGeom prst="roundRect">
            <a:avLst>
              <a:gd name="adj" fmla="val 6410"/>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ar or or</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garden</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storm</a:t>
            </a:r>
            <a:endParaRPr lang="en-US" sz="1400" dirty="0"/>
          </a:p>
        </p:txBody>
      </p:sp>
      <p:sp>
        <p:nvSpPr>
          <p:cNvPr id="11" name="Text 9"/>
          <p:cNvSpPr/>
          <p:nvPr/>
        </p:nvSpPr>
        <p:spPr>
          <a:xfrm>
            <a:off x="5943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park</a:t>
            </a:r>
            <a:endParaRPr lang="en-US" sz="1400" dirty="0"/>
          </a:p>
        </p:txBody>
      </p:sp>
      <p:sp>
        <p:nvSpPr>
          <p:cNvPr id="12" name="Shape 10"/>
          <p:cNvSpPr/>
          <p:nvPr/>
        </p:nvSpPr>
        <p:spPr>
          <a:xfrm>
            <a:off x="4709160" y="1024128"/>
            <a:ext cx="4114800" cy="1426464"/>
          </a:xfrm>
          <a:prstGeom prst="roundRect">
            <a:avLst>
              <a:gd name="adj" fmla="val 6410"/>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3" name="Text 11"/>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er, ir, or ur</a:t>
            </a:r>
            <a:endParaRPr lang="en-US" sz="1200" dirty="0"/>
          </a:p>
        </p:txBody>
      </p:sp>
      <p:sp>
        <p:nvSpPr>
          <p:cNvPr id="14" name="Text 12"/>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fern</a:t>
            </a:r>
            <a:endParaRPr lang="en-US" sz="1400" dirty="0"/>
          </a:p>
        </p:txBody>
      </p:sp>
      <p:sp>
        <p:nvSpPr>
          <p:cNvPr id="15" name="Text 13"/>
          <p:cNvSpPr/>
          <p:nvPr/>
        </p:nvSpPr>
        <p:spPr>
          <a:xfrm>
            <a:off x="49377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bird</a:t>
            </a:r>
            <a:endParaRPr lang="en-US" sz="1400" dirty="0"/>
          </a:p>
        </p:txBody>
      </p:sp>
      <p:sp>
        <p:nvSpPr>
          <p:cNvPr id="16" name="Text 14"/>
          <p:cNvSpPr/>
          <p:nvPr/>
        </p:nvSpPr>
        <p:spPr>
          <a:xfrm>
            <a:off x="49377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burn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Ch. 11–12</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r>
              <a:rPr lang="en-US" sz="1800" b="1" i="1" dirty="0">
                <a:solidFill>
                  <a:srgbClr val="2A0A4A"/>
                </a:solidFill>
                <a:latin typeface="Calibri" pitchFamily="34" charset="0"/>
                <a:ea typeface="Calibri" pitchFamily="34" charset="-122"/>
                <a:cs typeface="Calibri" pitchFamily="34" charset="-120"/>
              </a:rPr>
              <a:t>Containing a great deal of shouting; Wherein Jemmy is betrayed</a:t>
            </a: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In Chapter 12, Jemmy hides under the straw. What does he risk by depending on the prince's silence?</a:t>
            </a:r>
            <a:endParaRPr lang="en-US" sz="1400" dirty="0"/>
          </a:p>
        </p:txBody>
      </p:sp>
      <p:sp>
        <p:nvSpPr>
          <p:cNvPr id="11" name="Shape 9"/>
          <p:cNvSpPr/>
          <p:nvPr/>
        </p:nvSpPr>
        <p:spPr>
          <a:xfrm>
            <a:off x="365760" y="3566160"/>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657600"/>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Chapter 12 ends with a betrayal. What does the prince say — and what might his reason be?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20</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Draft</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Opinion: draft your full paragraph — claim + reasons + closing.</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"I believe ___ because ___. For example, ___. This shows that ___."</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2026-07-11T02:16:32Z</dcterms:created>
  <dcterms:modified xsi:type="dcterms:W3CDTF">2026-07-11T02:16:32Z</dcterms:modified>
</cp:coreProperties>
</file>