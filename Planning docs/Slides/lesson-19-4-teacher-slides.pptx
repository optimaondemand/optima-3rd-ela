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Ch. 10–11: The prince refused to go home even when he had the chance. Something is shifting in him.
TODAY: Ch. 6–11 Review: How have the characters started to change?
BIG Q: After reading Chapters 6–11, is Jemmy starting to change how he feels about the prince?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sentence aloud together. Ask: What capitalization rules do you see? What punctuation? Any dialogue formatting?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"its not you they're looking for said the prince"
Corrected: ""It's not you they're looking for," said the prince."
Errors: Opening quotation mark; capital I; apostrophe in It's; apostrophe in they're; comma inside the closing quote; lowercase said;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"its not you they're looking for said the prince"
Corrected: ""It's not you they're looking for," said the prince."
Errors: Opening quotation mark; capital I; apostrophe in It's; apostrophe in they're; comma inside the closing quote; lowercase said;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teacher — one who teaches | stronger — more strong | rider — one who rides | faster — more fast | Jemmy could notfathom — how someone with everything could still be so miserable. | The outlaws expected a weeping prince, but Jemmy&amp;rsquo;s calm voice began toflummox —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 fathom: To understand something very deep or complicated. | flummox: To completely confuse or puzzle someone. | parley: A peaceful talk between two sides in conflict. | angling: Trying cleverly to get something; fishing for a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"Jemmy couldn't fathom the prince, [but] he tried anyway." → but | "The plan had failed, [so] they needed a new one." → so | "Billy growled a warning, [and] Cutwater moved closer." → and | "Jemmy was exhausted, [but] he kept thinking." →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"Jemmy couldn't fathom the prince, [but] he tried anyway." → but | "The plan had failed, [so] they needed a new one." → so | "Billy growled a warning, [and] Cutwater moved closer." → and | "Jemmy was exhausted, [but] he kept thinking." →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Closed or other: belong, begin | Open syllable (long vowel): pupil, moment, human, polite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Closed or other: belong, begin | Open syllable (long vowel): pupil, moment, human, polite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Ch. 6–11 Review
When The Whipping Boy sees Jeremy tangled in string and the cat coming, she could have run. She stays and unties him instead. Later, Nicodemus and the rats agree to move her cinderblock house — a dangerous, hours-long job — because she asked for help.
Jemmy says: 'It's not me you think you're protecting.' What does he mean?
The prince says: 'I'll return to the castle when I'm ready.' Has he really changed — or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sentence: "For the first time in his life, Jemmy felt something he had no word for. It wasn't exactly guilt. But it was close."
Craft: three-sentence reflection — feeling, naming the negative, hedging
Reader: What does this moment reveal?
Writer: What technique did the author use and why?
Mimic: Write your own using the same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stage: 📝 Add Reasons
Focus: Opinion: add at least one reason with a "because" or "for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0A4A"/>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B8860B">
              <a:alpha val="20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B8860B"/>
                </a:solidFill>
                <a:latin typeface="Calibri" pitchFamily="34" charset="0"/>
                <a:ea typeface="Calibri" pitchFamily="34" charset="-122"/>
                <a:cs typeface="Calibri" pitchFamily="34" charset="-120"/>
              </a:rPr>
              <a:t>WEEK 19  ·  DAY 4</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600" b="1" dirty="0">
                <a:solidFill>
                  <a:srgbClr val="FFFFFF"/>
                </a:solidFill>
                <a:latin typeface="Calibri" pitchFamily="34" charset="0"/>
                <a:ea typeface="Calibri" pitchFamily="34" charset="-122"/>
                <a:cs typeface="Calibri" pitchFamily="34" charset="-120"/>
              </a:rPr>
              <a:t>Ch. 6–11 Review</a:t>
            </a:r>
            <a:endParaRPr lang="en-US" sz="3600" dirty="0"/>
          </a:p>
          <a:p>
            <a:pPr algn="l" indent="0" marL="0">
              <a:buNone/>
            </a:pPr>
            <a:r>
              <a:rPr lang="en-US" sz="3600" b="1" dirty="0">
                <a:solidFill>
                  <a:srgbClr val="FFFFFF"/>
                </a:solidFill>
                <a:latin typeface="Calibri" pitchFamily="34" charset="0"/>
                <a:ea typeface="Calibri" pitchFamily="34" charset="-122"/>
                <a:cs typeface="Calibri" pitchFamily="34" charset="-120"/>
              </a:rPr>
              <a:t>Review, Response, and Writing Workshop</a:t>
            </a:r>
            <a:endParaRPr lang="en-US" sz="3600" dirty="0"/>
          </a:p>
        </p:txBody>
      </p:sp>
      <p:sp>
        <p:nvSpPr>
          <p:cNvPr id="5" name="Text 3"/>
          <p:cNvSpPr/>
          <p:nvPr/>
        </p:nvSpPr>
        <p:spPr>
          <a:xfrm>
            <a:off x="457200" y="2834640"/>
            <a:ext cx="8229600" cy="457200"/>
          </a:xfrm>
          <a:prstGeom prst="rect">
            <a:avLst/>
          </a:prstGeom>
          <a:noFill/>
          <a:ln/>
        </p:spPr>
        <p:txBody>
          <a:bodyPr wrap="square" lIns="0" tIns="0" rIns="0" bIns="0" rtlCol="0" anchor="ctr"/>
          <a:lstStyle/>
          <a:p>
            <a:pPr algn="l" indent="0" marL="0">
              <a:buNone/>
            </a:pPr>
            <a:r>
              <a:rPr lang="en-US" sz="1800" dirty="0">
                <a:solidFill>
                  <a:srgbClr val="B8860B"/>
                </a:solidFill>
                <a:latin typeface="Calibri" pitchFamily="34" charset="0"/>
                <a:ea typeface="Calibri" pitchFamily="34" charset="-122"/>
                <a:cs typeface="Calibri" pitchFamily="34" charset="-120"/>
              </a:rPr>
              <a:t>The Whipping Boy  ·  Sid Fleischman</a:t>
            </a:r>
            <a:endParaRPr lang="en-US" sz="1800" dirty="0"/>
          </a:p>
        </p:txBody>
      </p:sp>
      <p:sp>
        <p:nvSpPr>
          <p:cNvPr id="6" name="Text 4"/>
          <p:cNvSpPr/>
          <p:nvPr/>
        </p:nvSpPr>
        <p:spPr>
          <a:xfrm>
            <a:off x="457200" y="448056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Week 19  ·  Virtue: Fairness  ·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Recap + Today's Focus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YESTERDAY</a:t>
            </a:r>
            <a:endParaRPr lang="en-US" sz="1100" dirty="0"/>
          </a:p>
        </p:txBody>
      </p:sp>
      <p:sp>
        <p:nvSpPr>
          <p:cNvPr id="7" name="Shape 5"/>
          <p:cNvSpPr/>
          <p:nvPr/>
        </p:nvSpPr>
        <p:spPr>
          <a:xfrm>
            <a:off x="365760" y="1078992"/>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Ch. 10–11: The prince refused to go home even when he had the chance. Something is shifting in him.</a:t>
            </a:r>
            <a:endParaRPr lang="en-US" sz="1400" dirty="0"/>
          </a:p>
        </p:txBody>
      </p:sp>
      <p:sp>
        <p:nvSpPr>
          <p:cNvPr id="9" name="Text 7"/>
          <p:cNvSpPr/>
          <p:nvPr/>
        </p:nvSpPr>
        <p:spPr>
          <a:xfrm>
            <a:off x="365760" y="199339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TODAY</a:t>
            </a:r>
            <a:endParaRPr lang="en-US" sz="1100" dirty="0"/>
          </a:p>
        </p:txBody>
      </p:sp>
      <p:sp>
        <p:nvSpPr>
          <p:cNvPr id="10" name="Shape 8"/>
          <p:cNvSpPr/>
          <p:nvPr/>
        </p:nvSpPr>
        <p:spPr>
          <a:xfrm>
            <a:off x="365760" y="2249424"/>
            <a:ext cx="8412480" cy="713232"/>
          </a:xfrm>
          <a:prstGeom prst="roundRect">
            <a:avLst>
              <a:gd name="adj" fmla="val 12821"/>
            </a:avLst>
          </a:prstGeom>
          <a:solidFill>
            <a:srgbClr val="FFF8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40864"/>
            <a:ext cx="7955280" cy="530352"/>
          </a:xfrm>
          <a:prstGeom prst="rect">
            <a:avLst/>
          </a:prstGeom>
          <a:noFill/>
          <a:ln/>
        </p:spPr>
        <p:txBody>
          <a:bodyPr wrap="square" lIns="0" tIns="0" rIns="0" bIns="0" rtlCol="0" anchor="ctr"/>
          <a:lstStyle/>
          <a:p>
            <a:pPr indent="0" marL="0">
              <a:buNone/>
            </a:pPr>
            <a:r>
              <a:rPr lang="en-US" sz="1400" b="1" dirty="0">
                <a:solidFill>
                  <a:srgbClr val="2A0A4A"/>
                </a:solidFill>
                <a:latin typeface="Calibri" pitchFamily="34" charset="0"/>
                <a:ea typeface="Calibri" pitchFamily="34" charset="-122"/>
                <a:cs typeface="Calibri" pitchFamily="34" charset="-120"/>
              </a:rPr>
              <a:t>Ch. 6–11 Review: How have the characters started to change?</a:t>
            </a:r>
            <a:endParaRPr lang="en-US" sz="1400" dirty="0"/>
          </a:p>
        </p:txBody>
      </p:sp>
      <p:sp>
        <p:nvSpPr>
          <p:cNvPr id="12" name="Text 10"/>
          <p:cNvSpPr/>
          <p:nvPr/>
        </p:nvSpPr>
        <p:spPr>
          <a:xfrm>
            <a:off x="365760" y="307238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BIG QUESTION</a:t>
            </a:r>
            <a:endParaRPr lang="en-US" sz="1100" dirty="0"/>
          </a:p>
        </p:txBody>
      </p:sp>
      <p:sp>
        <p:nvSpPr>
          <p:cNvPr id="13" name="Shape 11"/>
          <p:cNvSpPr/>
          <p:nvPr/>
        </p:nvSpPr>
        <p:spPr>
          <a:xfrm>
            <a:off x="365760" y="3328416"/>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419856"/>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After reading Chapters 6–11, is Jemmy starting to change how he feels about the prince?</a:t>
            </a:r>
            <a:endParaRPr lang="en-US" sz="1300" dirty="0"/>
          </a:p>
        </p:txBody>
      </p:sp>
      <p:sp>
        <p:nvSpPr>
          <p:cNvPr id="15" name="Text 13"/>
          <p:cNvSpPr/>
          <p:nvPr/>
        </p:nvSpPr>
        <p:spPr>
          <a:xfrm>
            <a:off x="365760" y="42062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READING LENS</a:t>
            </a:r>
            <a:endParaRPr lang="en-US" sz="1100" dirty="0"/>
          </a:p>
        </p:txBody>
      </p:sp>
      <p:sp>
        <p:nvSpPr>
          <p:cNvPr id="16" name="Text 14"/>
          <p:cNvSpPr/>
          <p:nvPr/>
        </p:nvSpPr>
        <p:spPr>
          <a:xfrm>
            <a:off x="457200" y="4434840"/>
            <a:ext cx="8229600"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 Good readers return to the whole section and ask: how has each character changed since Chapter 1? Compare who they were </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Study What's Right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FROM THE NOVEL</a:t>
            </a:r>
            <a:endParaRPr lang="en-US" sz="1100" dirty="0"/>
          </a:p>
        </p:txBody>
      </p:sp>
      <p:sp>
        <p:nvSpPr>
          <p:cNvPr id="5" name="Shape 3"/>
          <p:cNvSpPr/>
          <p:nvPr/>
        </p:nvSpPr>
        <p:spPr>
          <a:xfrm>
            <a:off x="365760" y="1078992"/>
            <a:ext cx="8412480" cy="1005840"/>
          </a:xfrm>
          <a:prstGeom prst="roundRect">
            <a:avLst>
              <a:gd name="adj" fmla="val 9091"/>
            </a:avLst>
          </a:prstGeom>
          <a:solidFill>
            <a:srgbClr val="E8F8E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77724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"It's not me you think you're protecting," said Jemmy.</a:t>
            </a:r>
            <a:endParaRPr lang="en-US" sz="1800" dirty="0"/>
          </a:p>
        </p:txBody>
      </p:sp>
      <p:sp>
        <p:nvSpPr>
          <p:cNvPr id="7" name="Text 5"/>
          <p:cNvSpPr/>
          <p:nvPr/>
        </p:nvSpPr>
        <p:spPr>
          <a:xfrm>
            <a:off x="365760" y="21945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WHAT TO NOTICE</a:t>
            </a:r>
            <a:endParaRPr lang="en-US" sz="1100" dirty="0"/>
          </a:p>
        </p:txBody>
      </p:sp>
      <p:sp>
        <p:nvSpPr>
          <p:cNvPr id="8" name="Text 6"/>
          <p:cNvSpPr/>
          <p:nvPr/>
        </p:nvSpPr>
        <p:spPr>
          <a:xfrm>
            <a:off x="502920" y="2423160"/>
            <a:ext cx="8229600" cy="41148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Tap or circle: capital letters, quotation marks, punctuation, proper nouns.</a:t>
            </a:r>
            <a:endParaRPr lang="en-US" sz="1500" dirty="0"/>
          </a:p>
        </p:txBody>
      </p:sp>
      <p:sp>
        <p:nvSpPr>
          <p:cNvPr id="9" name="Text 7"/>
          <p:cNvSpPr/>
          <p:nvPr/>
        </p:nvSpPr>
        <p:spPr>
          <a:xfrm>
            <a:off x="502920" y="2926080"/>
            <a:ext cx="8229600" cy="411480"/>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Copy this sentence in your journal. Circle one thing you notice.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its not you they're looking for said the prince</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Opening quotation mark; capital I; apostrophe in It's; apostrophe in they're; comma inside the closing quote; lowercase said;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its not you they're looking for said the prince</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Opening quotation mark; capital I; apostrophe in It's; apostrophe in they're; comma inside the closing quote; lowercase said;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
        <p:nvSpPr>
          <p:cNvPr id="11" name="Shape 9"/>
          <p:cNvSpPr/>
          <p:nvPr/>
        </p:nvSpPr>
        <p:spPr>
          <a:xfrm>
            <a:off x="365760" y="3063240"/>
            <a:ext cx="8412480" cy="914400"/>
          </a:xfrm>
          <a:prstGeom prst="roundRect">
            <a:avLst>
              <a:gd name="adj" fmla="val 10000"/>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127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3" name="Text 11"/>
          <p:cNvSpPr/>
          <p:nvPr/>
        </p:nvSpPr>
        <p:spPr>
          <a:xfrm>
            <a:off x="594360" y="3438144"/>
            <a:ext cx="7863840" cy="475488"/>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"It's not you they're looking for," said the prince.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Morphology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WORD PART: -er</a:t>
            </a:r>
            <a:endParaRPr lang="en-US" sz="1100" dirty="0"/>
          </a:p>
        </p:txBody>
      </p:sp>
      <p:sp>
        <p:nvSpPr>
          <p:cNvPr id="5" name="Shape 3"/>
          <p:cNvSpPr/>
          <p:nvPr/>
        </p:nvSpPr>
        <p:spPr>
          <a:xfrm>
            <a:off x="365760" y="118872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9844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teacher — one who teaches</a:t>
            </a:r>
            <a:endParaRPr lang="en-US" sz="1500" dirty="0"/>
          </a:p>
        </p:txBody>
      </p:sp>
      <p:sp>
        <p:nvSpPr>
          <p:cNvPr id="7" name="Shape 5"/>
          <p:cNvSpPr/>
          <p:nvPr/>
        </p:nvSpPr>
        <p:spPr>
          <a:xfrm>
            <a:off x="365760" y="182880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3852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stronger — more strong</a:t>
            </a:r>
            <a:endParaRPr lang="en-US" sz="1500" dirty="0"/>
          </a:p>
        </p:txBody>
      </p:sp>
      <p:sp>
        <p:nvSpPr>
          <p:cNvPr id="9" name="Shape 7"/>
          <p:cNvSpPr/>
          <p:nvPr/>
        </p:nvSpPr>
        <p:spPr>
          <a:xfrm>
            <a:off x="365760" y="246888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57860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rider — one who rides</a:t>
            </a:r>
            <a:endParaRPr lang="en-US" sz="1500" dirty="0"/>
          </a:p>
        </p:txBody>
      </p:sp>
      <p:sp>
        <p:nvSpPr>
          <p:cNvPr id="11" name="Shape 9"/>
          <p:cNvSpPr/>
          <p:nvPr/>
        </p:nvSpPr>
        <p:spPr>
          <a:xfrm>
            <a:off x="365760" y="310896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21868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faster — more fast</a:t>
            </a:r>
            <a:endParaRPr lang="en-US" sz="1500" dirty="0"/>
          </a:p>
        </p:txBody>
      </p:sp>
      <p:sp>
        <p:nvSpPr>
          <p:cNvPr id="13" name="Text 11"/>
          <p:cNvSpPr/>
          <p:nvPr/>
        </p:nvSpPr>
        <p:spPr>
          <a:xfrm>
            <a:off x="365760" y="37947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MATCH GAME WORDS</a:t>
            </a:r>
            <a:endParaRPr lang="en-US" sz="1100" dirty="0"/>
          </a:p>
        </p:txBody>
      </p:sp>
      <p:sp>
        <p:nvSpPr>
          <p:cNvPr id="14" name="Text 12"/>
          <p:cNvSpPr/>
          <p:nvPr/>
        </p:nvSpPr>
        <p:spPr>
          <a:xfrm>
            <a:off x="457200" y="4096512"/>
            <a:ext cx="8229600" cy="347472"/>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fathom   ·   flummox   ·   parley   ·   angling</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79552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4 WORDS THIS WEEK</a:t>
            </a:r>
            <a:endParaRPr lang="en-US" sz="1100" dirty="0"/>
          </a:p>
        </p:txBody>
      </p:sp>
      <p:sp>
        <p:nvSpPr>
          <p:cNvPr id="5" name="Shape 3"/>
          <p:cNvSpPr/>
          <p:nvPr/>
        </p:nvSpPr>
        <p:spPr>
          <a:xfrm>
            <a:off x="32004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45720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fathom</a:t>
            </a:r>
            <a:endParaRPr lang="en-US" sz="1600" dirty="0"/>
          </a:p>
        </p:txBody>
      </p:sp>
      <p:sp>
        <p:nvSpPr>
          <p:cNvPr id="7" name="Text 5"/>
          <p:cNvSpPr/>
          <p:nvPr/>
        </p:nvSpPr>
        <p:spPr>
          <a:xfrm>
            <a:off x="45720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To understand something very deep or complicated.</a:t>
            </a:r>
            <a:endParaRPr lang="en-US" sz="1200" dirty="0"/>
          </a:p>
        </p:txBody>
      </p:sp>
      <p:sp>
        <p:nvSpPr>
          <p:cNvPr id="8" name="Shape 6"/>
          <p:cNvSpPr/>
          <p:nvPr/>
        </p:nvSpPr>
        <p:spPr>
          <a:xfrm>
            <a:off x="457200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470916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flummox</a:t>
            </a:r>
            <a:endParaRPr lang="en-US" sz="1600" dirty="0"/>
          </a:p>
        </p:txBody>
      </p:sp>
      <p:sp>
        <p:nvSpPr>
          <p:cNvPr id="10" name="Text 8"/>
          <p:cNvSpPr/>
          <p:nvPr/>
        </p:nvSpPr>
        <p:spPr>
          <a:xfrm>
            <a:off x="470916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To completely confuse or puzzle someone.</a:t>
            </a:r>
            <a:endParaRPr lang="en-US" sz="1200" dirty="0"/>
          </a:p>
        </p:txBody>
      </p:sp>
      <p:sp>
        <p:nvSpPr>
          <p:cNvPr id="11" name="Shape 9"/>
          <p:cNvSpPr/>
          <p:nvPr/>
        </p:nvSpPr>
        <p:spPr>
          <a:xfrm>
            <a:off x="32004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parley</a:t>
            </a:r>
            <a:endParaRPr lang="en-US" sz="1600" dirty="0"/>
          </a:p>
        </p:txBody>
      </p:sp>
      <p:sp>
        <p:nvSpPr>
          <p:cNvPr id="13" name="Text 11"/>
          <p:cNvSpPr/>
          <p:nvPr/>
        </p:nvSpPr>
        <p:spPr>
          <a:xfrm>
            <a:off x="45720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 peaceful talk between two sides in conflict.</a:t>
            </a:r>
            <a:endParaRPr lang="en-US" sz="1200" dirty="0"/>
          </a:p>
        </p:txBody>
      </p:sp>
      <p:sp>
        <p:nvSpPr>
          <p:cNvPr id="14" name="Shape 12"/>
          <p:cNvSpPr/>
          <p:nvPr/>
        </p:nvSpPr>
        <p:spPr>
          <a:xfrm>
            <a:off x="457200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angling</a:t>
            </a:r>
            <a:endParaRPr lang="en-US" sz="1600" dirty="0"/>
          </a:p>
        </p:txBody>
      </p:sp>
      <p:sp>
        <p:nvSpPr>
          <p:cNvPr id="16" name="Text 14"/>
          <p:cNvSpPr/>
          <p:nvPr/>
        </p:nvSpPr>
        <p:spPr>
          <a:xfrm>
            <a:off x="470916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Trying cleverly to get something; fishing for a result.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Compound Sentences (Review + Write)</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SPOT THE ANSWER</a:t>
            </a:r>
            <a:endParaRPr lang="en-US" sz="1100" dirty="0"/>
          </a:p>
        </p:txBody>
      </p:sp>
      <p:sp>
        <p:nvSpPr>
          <p:cNvPr id="7" name="Shape 5"/>
          <p:cNvSpPr/>
          <p:nvPr/>
        </p:nvSpPr>
        <p:spPr>
          <a:xfrm>
            <a:off x="365760" y="10789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couldn't fathom the prince, _____ he tried anyway.</a:t>
            </a:r>
            <a:endParaRPr lang="en-US" sz="1500" dirty="0"/>
          </a:p>
        </p:txBody>
      </p:sp>
      <p:sp>
        <p:nvSpPr>
          <p:cNvPr id="9" name="Shape 7"/>
          <p:cNvSpPr/>
          <p:nvPr/>
        </p:nvSpPr>
        <p:spPr>
          <a:xfrm>
            <a:off x="365760" y="17647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plan had failed, _____ they needed a new one.</a:t>
            </a:r>
            <a:endParaRPr lang="en-US" sz="1500" dirty="0"/>
          </a:p>
        </p:txBody>
      </p:sp>
      <p:sp>
        <p:nvSpPr>
          <p:cNvPr id="11" name="Shape 9"/>
          <p:cNvSpPr/>
          <p:nvPr/>
        </p:nvSpPr>
        <p:spPr>
          <a:xfrm>
            <a:off x="365760" y="24505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Billy growled a warning, _____ Cutwater moved closer.</a:t>
            </a:r>
            <a:endParaRPr lang="en-US" sz="1500" dirty="0"/>
          </a:p>
        </p:txBody>
      </p:sp>
      <p:sp>
        <p:nvSpPr>
          <p:cNvPr id="13" name="Shape 11"/>
          <p:cNvSpPr/>
          <p:nvPr/>
        </p:nvSpPr>
        <p:spPr>
          <a:xfrm>
            <a:off x="365760" y="31363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was exhausted, _____ he kept thinking.</a:t>
            </a:r>
            <a:endParaRPr lang="en-US" sz="1500" dirty="0"/>
          </a:p>
        </p:txBody>
      </p:sp>
      <p:sp>
        <p:nvSpPr>
          <p:cNvPr id="15" name="Text 13"/>
          <p:cNvSpPr/>
          <p:nvPr/>
        </p:nvSpPr>
        <p:spPr>
          <a:xfrm>
            <a:off x="457200" y="3867912"/>
            <a:ext cx="8229600" cy="347472"/>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Find the answer! Write it in your notebook.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Compound Sentences (Review + Write)</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ANSWERS REVEALED</a:t>
            </a:r>
            <a:endParaRPr lang="en-US" sz="1100" dirty="0"/>
          </a:p>
        </p:txBody>
      </p:sp>
      <p:sp>
        <p:nvSpPr>
          <p:cNvPr id="7" name="Shape 5"/>
          <p:cNvSpPr/>
          <p:nvPr/>
        </p:nvSpPr>
        <p:spPr>
          <a:xfrm>
            <a:off x="365760" y="10789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couldn't fathom the prince, </a:t>
            </a:r>
            <a:pPr indent="0" marL="0">
              <a:buNone/>
            </a:pPr>
            <a:r>
              <a:rPr lang="en-US" sz="1500" b="1" u="sng" dirty="0">
                <a:solidFill>
                  <a:srgbClr val="34B76F"/>
                </a:solidFill>
                <a:latin typeface="Calibri" pitchFamily="34" charset="0"/>
                <a:ea typeface="Calibri" pitchFamily="34" charset="-122"/>
                <a:cs typeface="Calibri" pitchFamily="34" charset="-120"/>
              </a:rPr>
              <a:t>but</a:t>
            </a:r>
            <a:pPr indent="0" marL="0">
              <a:buNone/>
            </a:pPr>
            <a:r>
              <a:rPr lang="en-US" sz="1500" dirty="0">
                <a:solidFill>
                  <a:srgbClr val="1E293B"/>
                </a:solidFill>
                <a:latin typeface="Calibri" pitchFamily="34" charset="0"/>
                <a:ea typeface="Calibri" pitchFamily="34" charset="-122"/>
                <a:cs typeface="Calibri" pitchFamily="34" charset="-120"/>
              </a:rPr>
              <a:t> he tried anyway.</a:t>
            </a:r>
            <a:endParaRPr lang="en-US" sz="1500" dirty="0"/>
          </a:p>
        </p:txBody>
      </p:sp>
      <p:sp>
        <p:nvSpPr>
          <p:cNvPr id="9" name="Shape 7"/>
          <p:cNvSpPr/>
          <p:nvPr/>
        </p:nvSpPr>
        <p:spPr>
          <a:xfrm>
            <a:off x="365760" y="17647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plan had failed, </a:t>
            </a:r>
            <a:pPr indent="0" marL="0">
              <a:buNone/>
            </a:pPr>
            <a:r>
              <a:rPr lang="en-US" sz="1500" b="1" u="sng" dirty="0">
                <a:solidFill>
                  <a:srgbClr val="34B76F"/>
                </a:solidFill>
                <a:latin typeface="Calibri" pitchFamily="34" charset="0"/>
                <a:ea typeface="Calibri" pitchFamily="34" charset="-122"/>
                <a:cs typeface="Calibri" pitchFamily="34" charset="-120"/>
              </a:rPr>
              <a:t>so</a:t>
            </a:r>
            <a:pPr indent="0" marL="0">
              <a:buNone/>
            </a:pPr>
            <a:r>
              <a:rPr lang="en-US" sz="1500" dirty="0">
                <a:solidFill>
                  <a:srgbClr val="1E293B"/>
                </a:solidFill>
                <a:latin typeface="Calibri" pitchFamily="34" charset="0"/>
                <a:ea typeface="Calibri" pitchFamily="34" charset="-122"/>
                <a:cs typeface="Calibri" pitchFamily="34" charset="-120"/>
              </a:rPr>
              <a:t> they needed a new one.</a:t>
            </a:r>
            <a:endParaRPr lang="en-US" sz="1500" dirty="0"/>
          </a:p>
        </p:txBody>
      </p:sp>
      <p:sp>
        <p:nvSpPr>
          <p:cNvPr id="11" name="Shape 9"/>
          <p:cNvSpPr/>
          <p:nvPr/>
        </p:nvSpPr>
        <p:spPr>
          <a:xfrm>
            <a:off x="365760" y="24505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Billy growled a warning, </a:t>
            </a:r>
            <a:pPr indent="0" marL="0">
              <a:buNone/>
            </a:pPr>
            <a:r>
              <a:rPr lang="en-US" sz="1500" b="1" u="sng" dirty="0">
                <a:solidFill>
                  <a:srgbClr val="34B76F"/>
                </a:solidFill>
                <a:latin typeface="Calibri" pitchFamily="34" charset="0"/>
                <a:ea typeface="Calibri" pitchFamily="34" charset="-122"/>
                <a:cs typeface="Calibri" pitchFamily="34" charset="-120"/>
              </a:rPr>
              <a:t>and</a:t>
            </a:r>
            <a:pPr indent="0" marL="0">
              <a:buNone/>
            </a:pPr>
            <a:r>
              <a:rPr lang="en-US" sz="1500" dirty="0">
                <a:solidFill>
                  <a:srgbClr val="1E293B"/>
                </a:solidFill>
                <a:latin typeface="Calibri" pitchFamily="34" charset="0"/>
                <a:ea typeface="Calibri" pitchFamily="34" charset="-122"/>
                <a:cs typeface="Calibri" pitchFamily="34" charset="-120"/>
              </a:rPr>
              <a:t> Cutwater moved closer.</a:t>
            </a:r>
            <a:endParaRPr lang="en-US" sz="1500" dirty="0"/>
          </a:p>
        </p:txBody>
      </p:sp>
      <p:sp>
        <p:nvSpPr>
          <p:cNvPr id="13" name="Shape 11"/>
          <p:cNvSpPr/>
          <p:nvPr/>
        </p:nvSpPr>
        <p:spPr>
          <a:xfrm>
            <a:off x="365760" y="31363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was exhausted, </a:t>
            </a:r>
            <a:pPr indent="0" marL="0">
              <a:buNone/>
            </a:pPr>
            <a:r>
              <a:rPr lang="en-US" sz="1500" b="1" u="sng" dirty="0">
                <a:solidFill>
                  <a:srgbClr val="34B76F"/>
                </a:solidFill>
                <a:latin typeface="Calibri" pitchFamily="34" charset="0"/>
                <a:ea typeface="Calibri" pitchFamily="34" charset="-122"/>
                <a:cs typeface="Calibri" pitchFamily="34" charset="-120"/>
              </a:rPr>
              <a:t>but</a:t>
            </a:r>
            <a:pPr indent="0" marL="0">
              <a:buNone/>
            </a:pPr>
            <a:r>
              <a:rPr lang="en-US" sz="1500" dirty="0">
                <a:solidFill>
                  <a:srgbClr val="1E293B"/>
                </a:solidFill>
                <a:latin typeface="Calibri" pitchFamily="34" charset="0"/>
                <a:ea typeface="Calibri" pitchFamily="34" charset="-122"/>
                <a:cs typeface="Calibri" pitchFamily="34" charset="-120"/>
              </a:rPr>
              <a:t> he kept thinking.</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Open Syllables (Day 4: Review + Explain)</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SORT THE WORDS</a:t>
            </a:r>
            <a:endParaRPr lang="en-US" sz="1100" dirty="0"/>
          </a:p>
        </p:txBody>
      </p:sp>
      <p:sp>
        <p:nvSpPr>
          <p:cNvPr id="7" name="Shape 5"/>
          <p:cNvSpPr/>
          <p:nvPr/>
        </p:nvSpPr>
        <p:spPr>
          <a:xfrm>
            <a:off x="365760" y="1024128"/>
            <a:ext cx="8412480" cy="685800"/>
          </a:xfrm>
          <a:prstGeom prst="roundRect">
            <a:avLst>
              <a:gd name="adj" fmla="val 13333"/>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078992"/>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9" name="Text 7"/>
          <p:cNvSpPr/>
          <p:nvPr/>
        </p:nvSpPr>
        <p:spPr>
          <a:xfrm>
            <a:off x="594360" y="1325880"/>
            <a:ext cx="7863840" cy="320040"/>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belong   ·   begin   ·   pupil   ·   moment   ·   human   ·   polite</a:t>
            </a:r>
            <a:endParaRPr lang="en-US" sz="1600" dirty="0"/>
          </a:p>
        </p:txBody>
      </p:sp>
      <p:sp>
        <p:nvSpPr>
          <p:cNvPr id="10" name="Text 8"/>
          <p:cNvSpPr/>
          <p:nvPr/>
        </p:nvSpPr>
        <p:spPr>
          <a:xfrm>
            <a:off x="365760" y="187452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SORT INTO GROUPS</a:t>
            </a:r>
            <a:endParaRPr lang="en-US" sz="1100" dirty="0"/>
          </a:p>
        </p:txBody>
      </p:sp>
      <p:sp>
        <p:nvSpPr>
          <p:cNvPr id="11" name="Shape 9"/>
          <p:cNvSpPr/>
          <p:nvPr/>
        </p:nvSpPr>
        <p:spPr>
          <a:xfrm>
            <a:off x="365760" y="2176272"/>
            <a:ext cx="4114800" cy="1051560"/>
          </a:xfrm>
          <a:prstGeom prst="roundRect">
            <a:avLst>
              <a:gd name="adj" fmla="val 8696"/>
            </a:avLst>
          </a:prstGeom>
          <a:solidFill>
            <a:srgbClr val="E8F8EF"/>
          </a:solidFill>
          <a:ln w="19050">
            <a:solidFill>
              <a:srgbClr val="4A7C2E"/>
            </a:solidFill>
            <a:prstDash val="solid"/>
          </a:ln>
        </p:spPr>
      </p:sp>
      <p:sp>
        <p:nvSpPr>
          <p:cNvPr id="12" name="Text 10"/>
          <p:cNvSpPr/>
          <p:nvPr/>
        </p:nvSpPr>
        <p:spPr>
          <a:xfrm>
            <a:off x="502920" y="2249424"/>
            <a:ext cx="3840480" cy="384048"/>
          </a:xfrm>
          <a:prstGeom prst="rect">
            <a:avLst/>
          </a:prstGeom>
          <a:noFill/>
          <a:ln/>
        </p:spPr>
        <p:txBody>
          <a:bodyPr wrap="square" lIns="0" tIns="0" rIns="0" bIns="0" rtlCol="0" anchor="ctr"/>
          <a:lstStyle/>
          <a:p>
            <a:pPr indent="0" marL="0">
              <a:buNone/>
            </a:pPr>
            <a:r>
              <a:rPr lang="en-US" sz="1300" b="1" dirty="0">
                <a:solidFill>
                  <a:srgbClr val="4A7C2E"/>
                </a:solidFill>
                <a:latin typeface="Calibri" pitchFamily="34" charset="0"/>
                <a:ea typeface="Calibri" pitchFamily="34" charset="-122"/>
                <a:cs typeface="Calibri" pitchFamily="34" charset="-120"/>
              </a:rPr>
              <a:t>Closed or other</a:t>
            </a:r>
            <a:endParaRPr lang="en-US" sz="1300" dirty="0"/>
          </a:p>
        </p:txBody>
      </p:sp>
      <p:sp>
        <p:nvSpPr>
          <p:cNvPr id="13" name="Shape 11"/>
          <p:cNvSpPr/>
          <p:nvPr/>
        </p:nvSpPr>
        <p:spPr>
          <a:xfrm>
            <a:off x="4709160" y="2176272"/>
            <a:ext cx="4114800" cy="1051560"/>
          </a:xfrm>
          <a:prstGeom prst="roundRect">
            <a:avLst>
              <a:gd name="adj" fmla="val 8696"/>
            </a:avLst>
          </a:prstGeom>
          <a:solidFill>
            <a:srgbClr val="F0E8FF"/>
          </a:solidFill>
          <a:ln w="19050">
            <a:solidFill>
              <a:srgbClr val="5C2D91"/>
            </a:solidFill>
            <a:prstDash val="solid"/>
          </a:ln>
        </p:spPr>
      </p:sp>
      <p:sp>
        <p:nvSpPr>
          <p:cNvPr id="14" name="Text 12"/>
          <p:cNvSpPr/>
          <p:nvPr/>
        </p:nvSpPr>
        <p:spPr>
          <a:xfrm>
            <a:off x="4846320" y="2249424"/>
            <a:ext cx="3840480" cy="384048"/>
          </a:xfrm>
          <a:prstGeom prst="rect">
            <a:avLst/>
          </a:prstGeom>
          <a:noFill/>
          <a:ln/>
        </p:spPr>
        <p:txBody>
          <a:bodyPr wrap="square" lIns="0" tIns="0" rIns="0" bIns="0" rtlCol="0" anchor="ctr"/>
          <a:lstStyle/>
          <a:p>
            <a:pPr indent="0" marL="0">
              <a:buNone/>
            </a:pPr>
            <a:r>
              <a:rPr lang="en-US" sz="1300" b="1" dirty="0">
                <a:solidFill>
                  <a:srgbClr val="5C2D91"/>
                </a:solidFill>
                <a:latin typeface="Calibri" pitchFamily="34" charset="0"/>
                <a:ea typeface="Calibri" pitchFamily="34" charset="-122"/>
                <a:cs typeface="Calibri" pitchFamily="34" charset="-120"/>
              </a:rPr>
              <a:t>Open syllable (long vowel)</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Open Syllables (Day 4: Review + Explain)</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SORTED</a:t>
            </a:r>
            <a:endParaRPr lang="en-US" sz="1100" dirty="0"/>
          </a:p>
        </p:txBody>
      </p:sp>
      <p:sp>
        <p:nvSpPr>
          <p:cNvPr id="7" name="Shape 5"/>
          <p:cNvSpPr/>
          <p:nvPr/>
        </p:nvSpPr>
        <p:spPr>
          <a:xfrm>
            <a:off x="365760" y="1024128"/>
            <a:ext cx="4114800" cy="1078992"/>
          </a:xfrm>
          <a:prstGeom prst="roundRect">
            <a:avLst>
              <a:gd name="adj" fmla="val 8475"/>
            </a:avLst>
          </a:prstGeom>
          <a:solidFill>
            <a:srgbClr val="E8F8EF"/>
          </a:solidFill>
          <a:ln w="19050">
            <a:solidFill>
              <a:srgbClr val="4A7C2E"/>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02920" y="1097280"/>
            <a:ext cx="3840480" cy="347472"/>
          </a:xfrm>
          <a:prstGeom prst="rect">
            <a:avLst/>
          </a:prstGeom>
          <a:noFill/>
          <a:ln/>
        </p:spPr>
        <p:txBody>
          <a:bodyPr wrap="square" lIns="0" tIns="0" rIns="0" bIns="0" rtlCol="0" anchor="ctr"/>
          <a:lstStyle/>
          <a:p>
            <a:pPr indent="0" marL="0">
              <a:buNone/>
            </a:pPr>
            <a:r>
              <a:rPr lang="en-US" sz="1200" b="1" dirty="0">
                <a:solidFill>
                  <a:srgbClr val="4A7C2E"/>
                </a:solidFill>
                <a:latin typeface="Calibri" pitchFamily="34" charset="0"/>
                <a:ea typeface="Calibri" pitchFamily="34" charset="-122"/>
                <a:cs typeface="Calibri" pitchFamily="34" charset="-120"/>
              </a:rPr>
              <a:t>Closed or other</a:t>
            </a:r>
            <a:endParaRPr lang="en-US" sz="1200" dirty="0"/>
          </a:p>
        </p:txBody>
      </p:sp>
      <p:sp>
        <p:nvSpPr>
          <p:cNvPr id="9" name="Text 7"/>
          <p:cNvSpPr/>
          <p:nvPr/>
        </p:nvSpPr>
        <p:spPr>
          <a:xfrm>
            <a:off x="5943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belong</a:t>
            </a:r>
            <a:endParaRPr lang="en-US" sz="1400" dirty="0"/>
          </a:p>
        </p:txBody>
      </p:sp>
      <p:sp>
        <p:nvSpPr>
          <p:cNvPr id="10" name="Text 8"/>
          <p:cNvSpPr/>
          <p:nvPr/>
        </p:nvSpPr>
        <p:spPr>
          <a:xfrm>
            <a:off x="5943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begin</a:t>
            </a:r>
            <a:endParaRPr lang="en-US" sz="1400" dirty="0"/>
          </a:p>
        </p:txBody>
      </p:sp>
      <p:sp>
        <p:nvSpPr>
          <p:cNvPr id="11" name="Shape 9"/>
          <p:cNvSpPr/>
          <p:nvPr/>
        </p:nvSpPr>
        <p:spPr>
          <a:xfrm>
            <a:off x="4709160" y="1024128"/>
            <a:ext cx="4114800" cy="1773936"/>
          </a:xfrm>
          <a:prstGeom prst="roundRect">
            <a:avLst>
              <a:gd name="adj" fmla="val 5155"/>
            </a:avLst>
          </a:prstGeom>
          <a:solidFill>
            <a:srgbClr val="F0E8FF"/>
          </a:solidFill>
          <a:ln w="19050">
            <a:solidFill>
              <a:srgbClr val="5C2D91"/>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4846320" y="1097280"/>
            <a:ext cx="3840480" cy="347472"/>
          </a:xfrm>
          <a:prstGeom prst="rect">
            <a:avLst/>
          </a:prstGeom>
          <a:noFill/>
          <a:ln/>
        </p:spPr>
        <p:txBody>
          <a:bodyPr wrap="square" lIns="0" tIns="0" rIns="0" bIns="0" rtlCol="0" anchor="ctr"/>
          <a:lstStyle/>
          <a:p>
            <a:pPr indent="0" marL="0">
              <a:buNone/>
            </a:pPr>
            <a:r>
              <a:rPr lang="en-US" sz="1200" b="1" dirty="0">
                <a:solidFill>
                  <a:srgbClr val="5C2D91"/>
                </a:solidFill>
                <a:latin typeface="Calibri" pitchFamily="34" charset="0"/>
                <a:ea typeface="Calibri" pitchFamily="34" charset="-122"/>
                <a:cs typeface="Calibri" pitchFamily="34" charset="-120"/>
              </a:rPr>
              <a:t>Open syllable (long vowel)</a:t>
            </a:r>
            <a:endParaRPr lang="en-US" sz="1200" dirty="0"/>
          </a:p>
        </p:txBody>
      </p:sp>
      <p:sp>
        <p:nvSpPr>
          <p:cNvPr id="13" name="Text 11"/>
          <p:cNvSpPr/>
          <p:nvPr/>
        </p:nvSpPr>
        <p:spPr>
          <a:xfrm>
            <a:off x="49377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pupil</a:t>
            </a:r>
            <a:endParaRPr lang="en-US" sz="1400" dirty="0"/>
          </a:p>
        </p:txBody>
      </p:sp>
      <p:sp>
        <p:nvSpPr>
          <p:cNvPr id="14" name="Text 12"/>
          <p:cNvSpPr/>
          <p:nvPr/>
        </p:nvSpPr>
        <p:spPr>
          <a:xfrm>
            <a:off x="49377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moment</a:t>
            </a:r>
            <a:endParaRPr lang="en-US" sz="1400" dirty="0"/>
          </a:p>
        </p:txBody>
      </p:sp>
      <p:sp>
        <p:nvSpPr>
          <p:cNvPr id="15" name="Text 13"/>
          <p:cNvSpPr/>
          <p:nvPr/>
        </p:nvSpPr>
        <p:spPr>
          <a:xfrm>
            <a:off x="49377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human</a:t>
            </a:r>
            <a:endParaRPr lang="en-US" sz="1400" dirty="0"/>
          </a:p>
        </p:txBody>
      </p:sp>
      <p:sp>
        <p:nvSpPr>
          <p:cNvPr id="16" name="Text 14"/>
          <p:cNvSpPr/>
          <p:nvPr/>
        </p:nvSpPr>
        <p:spPr>
          <a:xfrm>
            <a:off x="4937760" y="2505456"/>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polite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Reading — Ch. 6–11 Review</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CHAPTERS</a:t>
            </a:r>
            <a:endParaRPr lang="en-US" sz="1100" dirty="0"/>
          </a:p>
        </p:txBody>
      </p:sp>
      <p:sp>
        <p:nvSpPr>
          <p:cNvPr id="5" name="Text 3"/>
          <p:cNvSpPr/>
          <p:nvPr/>
        </p:nvSpPr>
        <p:spPr>
          <a:xfrm>
            <a:off x="457200" y="1005840"/>
            <a:ext cx="8229600" cy="502920"/>
          </a:xfrm>
          <a:prstGeom prst="rect">
            <a:avLst/>
          </a:prstGeom>
          <a:noFill/>
          <a:ln/>
        </p:spPr>
        <p:txBody>
          <a:bodyPr wrap="square" lIns="0" tIns="0" rIns="0" bIns="0" rtlCol="0" anchor="ctr"/>
          <a:lstStyle/>
          <a:p>
            <a:pPr indent="0" marL="0">
              <a:buNone/>
            </a:pPr>
            <a:r>
              <a:rPr lang="en-US" sz="1800" b="1" i="1" dirty="0">
                <a:solidFill>
                  <a:srgbClr val="2A0A4A"/>
                </a:solidFill>
                <a:latin typeface="Calibri" pitchFamily="34" charset="0"/>
                <a:ea typeface="Calibri" pitchFamily="34" charset="-122"/>
                <a:cs typeface="Calibri" pitchFamily="34" charset="-120"/>
              </a:rPr>
              <a:t>Review, Response, and Writing Workshop</a:t>
            </a:r>
            <a:endParaRPr lang="en-US" sz="1800" dirty="0"/>
          </a:p>
        </p:txBody>
      </p:sp>
      <p:sp>
        <p:nvSpPr>
          <p:cNvPr id="6" name="Text 4"/>
          <p:cNvSpPr/>
          <p:nvPr/>
        </p:nvSpPr>
        <p:spPr>
          <a:xfrm>
            <a:off x="365760" y="162763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PAUSE &amp; THINK</a:t>
            </a:r>
            <a:endParaRPr lang="en-US" sz="1100" dirty="0"/>
          </a:p>
        </p:txBody>
      </p:sp>
      <p:sp>
        <p:nvSpPr>
          <p:cNvPr id="7" name="Shape 5"/>
          <p:cNvSpPr/>
          <p:nvPr/>
        </p:nvSpPr>
        <p:spPr>
          <a:xfrm>
            <a:off x="365760" y="18836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9751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1.  When The Whipping Boy sees Jeremy tangled in string and the cat coming, she could have run. She stays and unties him instead. Later, Nicodemus and the rats agree to move her cinderblock house — a dangerous, hours-long job — because she asked for help.</a:t>
            </a:r>
            <a:endParaRPr lang="en-US" sz="1400" dirty="0"/>
          </a:p>
        </p:txBody>
      </p:sp>
      <p:sp>
        <p:nvSpPr>
          <p:cNvPr id="9" name="Shape 7"/>
          <p:cNvSpPr/>
          <p:nvPr/>
        </p:nvSpPr>
        <p:spPr>
          <a:xfrm>
            <a:off x="365760" y="2798064"/>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594360" y="2889504"/>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2.  Jemmy says: 'It's not me you think you're protecting.' What does he mean?</a:t>
            </a:r>
            <a:endParaRPr lang="en-US" sz="1400" dirty="0"/>
          </a:p>
        </p:txBody>
      </p:sp>
      <p:sp>
        <p:nvSpPr>
          <p:cNvPr id="11" name="Shape 9"/>
          <p:cNvSpPr/>
          <p:nvPr/>
        </p:nvSpPr>
        <p:spPr>
          <a:xfrm>
            <a:off x="365760" y="3566160"/>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94360" y="3657600"/>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3.  The prince says: 'I'll return to the castle when I'm ready.' Has he really changed — or not?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 like a Reader · Read like a Writer · Mimic</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MENTOR SENTENCE</a:t>
            </a:r>
            <a:endParaRPr lang="en-US" sz="1100" dirty="0"/>
          </a:p>
        </p:txBody>
      </p:sp>
      <p:sp>
        <p:nvSpPr>
          <p:cNvPr id="5" name="Shape 3"/>
          <p:cNvSpPr/>
          <p:nvPr/>
        </p:nvSpPr>
        <p:spPr>
          <a:xfrm>
            <a:off x="365760" y="1042416"/>
            <a:ext cx="8412480" cy="914400"/>
          </a:xfrm>
          <a:prstGeom prst="roundRect">
            <a:avLst>
              <a:gd name="adj" fmla="val 10000"/>
            </a:avLst>
          </a:prstGeom>
          <a:solidFill>
            <a:srgbClr val="F0E8F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685800"/>
          </a:xfrm>
          <a:prstGeom prst="rect">
            <a:avLst/>
          </a:prstGeom>
          <a:noFill/>
          <a:ln/>
        </p:spPr>
        <p:txBody>
          <a:bodyPr wrap="square" lIns="0" tIns="0" rIns="0" bIns="0" rtlCol="0" anchor="ctr"/>
          <a:lstStyle/>
          <a:p>
            <a:pPr indent="0" marL="0">
              <a:buNone/>
            </a:pPr>
            <a:r>
              <a:rPr lang="en-US" sz="1800" i="1" dirty="0">
                <a:solidFill>
                  <a:srgbClr val="2A0A4A"/>
                </a:solidFill>
                <a:latin typeface="Calibri" pitchFamily="34" charset="0"/>
                <a:ea typeface="Calibri" pitchFamily="34" charset="-122"/>
                <a:cs typeface="Calibri" pitchFamily="34" charset="-120"/>
              </a:rPr>
              <a:t>"For the first time in his life, Jemmy felt something he had no word for. It wasn't exactly guilt. But it was close."</a:t>
            </a:r>
            <a:endParaRPr lang="en-US" sz="1800" dirty="0"/>
          </a:p>
        </p:txBody>
      </p:sp>
      <p:sp>
        <p:nvSpPr>
          <p:cNvPr id="7" name="Text 5"/>
          <p:cNvSpPr/>
          <p:nvPr/>
        </p:nvSpPr>
        <p:spPr>
          <a:xfrm>
            <a:off x="457200" y="2048256"/>
            <a:ext cx="8229600" cy="347472"/>
          </a:xfrm>
          <a:prstGeom prst="rect">
            <a:avLst/>
          </a:prstGeom>
          <a:noFill/>
          <a:ln/>
        </p:spPr>
        <p:txBody>
          <a:bodyPr wrap="square" lIns="0" tIns="0" rIns="0" bIns="0" rtlCol="0" anchor="ctr"/>
          <a:lstStyle/>
          <a:p>
            <a:pPr indent="0" marL="0">
              <a:buNone/>
            </a:pPr>
            <a:r>
              <a:rPr lang="en-US" sz="1300" i="1" dirty="0">
                <a:solidFill>
                  <a:srgbClr val="5C2D91"/>
                </a:solidFill>
                <a:latin typeface="Calibri" pitchFamily="34" charset="0"/>
                <a:ea typeface="Calibri" pitchFamily="34" charset="-122"/>
                <a:cs typeface="Calibri" pitchFamily="34" charset="-120"/>
              </a:rPr>
              <a:t>📌 Craft focus: three-sentence reflection — feeling, naming the negative, hedging</a:t>
            </a:r>
            <a:endParaRPr lang="en-US" sz="1300" dirty="0"/>
          </a:p>
        </p:txBody>
      </p:sp>
      <p:sp>
        <p:nvSpPr>
          <p:cNvPr id="8" name="Text 6"/>
          <p:cNvSpPr/>
          <p:nvPr/>
        </p:nvSpPr>
        <p:spPr>
          <a:xfrm>
            <a:off x="365760" y="248716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YOUR THREE JOBS</a:t>
            </a:r>
            <a:endParaRPr lang="en-US" sz="1100" dirty="0"/>
          </a:p>
        </p:txBody>
      </p:sp>
      <p:sp>
        <p:nvSpPr>
          <p:cNvPr id="9" name="Shape 7"/>
          <p:cNvSpPr/>
          <p:nvPr/>
        </p:nvSpPr>
        <p:spPr>
          <a:xfrm>
            <a:off x="365760" y="2724912"/>
            <a:ext cx="8412480" cy="438912"/>
          </a:xfrm>
          <a:prstGeom prst="roundRect">
            <a:avLst>
              <a:gd name="adj" fmla="val 20833"/>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77977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Read like a Reader</a:t>
            </a:r>
            <a:endParaRPr lang="en-US" sz="1300" dirty="0"/>
          </a:p>
        </p:txBody>
      </p:sp>
      <p:sp>
        <p:nvSpPr>
          <p:cNvPr id="11" name="Text 9"/>
          <p:cNvSpPr/>
          <p:nvPr/>
        </p:nvSpPr>
        <p:spPr>
          <a:xfrm>
            <a:off x="3246120" y="277977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What is happening here? What does this moment reveal about the character?</a:t>
            </a:r>
            <a:endParaRPr lang="en-US" sz="1200" dirty="0"/>
          </a:p>
        </p:txBody>
      </p:sp>
      <p:sp>
        <p:nvSpPr>
          <p:cNvPr id="12" name="Shape 10"/>
          <p:cNvSpPr/>
          <p:nvPr/>
        </p:nvSpPr>
        <p:spPr>
          <a:xfrm>
            <a:off x="365760" y="3227832"/>
            <a:ext cx="8412480" cy="438912"/>
          </a:xfrm>
          <a:prstGeom prst="roundRect">
            <a:avLst>
              <a:gd name="adj" fmla="val 20833"/>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328269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Read like a Writer</a:t>
            </a:r>
            <a:endParaRPr lang="en-US" sz="1300" dirty="0"/>
          </a:p>
        </p:txBody>
      </p:sp>
      <p:sp>
        <p:nvSpPr>
          <p:cNvPr id="14" name="Text 12"/>
          <p:cNvSpPr/>
          <p:nvPr/>
        </p:nvSpPr>
        <p:spPr>
          <a:xfrm>
            <a:off x="3246120" y="328269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What did the author do? Name the craft technique and explain why it works.</a:t>
            </a:r>
            <a:endParaRPr lang="en-US" sz="1200" dirty="0"/>
          </a:p>
        </p:txBody>
      </p:sp>
      <p:sp>
        <p:nvSpPr>
          <p:cNvPr id="15" name="Shape 13"/>
          <p:cNvSpPr/>
          <p:nvPr/>
        </p:nvSpPr>
        <p:spPr>
          <a:xfrm>
            <a:off x="365760" y="3730752"/>
            <a:ext cx="8412480" cy="438912"/>
          </a:xfrm>
          <a:prstGeom prst="roundRect">
            <a:avLst>
              <a:gd name="adj" fmla="val 20833"/>
            </a:avLst>
          </a:prstGeom>
          <a:solidFill>
            <a:srgbClr val="E8F8EF"/>
          </a:solidFill>
          <a:ln/>
          <a:effectLst>
            <a:outerShdw sx="100000" sy="100000" kx="0" ky="0" algn="bl" rotWithShape="0" blurRad="101600" dist="38100" dir="2700000">
              <a:srgbClr val="000000">
                <a:alpha val="12000"/>
              </a:srgbClr>
            </a:outerShdw>
          </a:effectLst>
        </p:spPr>
      </p:sp>
      <p:sp>
        <p:nvSpPr>
          <p:cNvPr id="16" name="Text 14"/>
          <p:cNvSpPr/>
          <p:nvPr/>
        </p:nvSpPr>
        <p:spPr>
          <a:xfrm>
            <a:off x="594360" y="378561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Mimic</a:t>
            </a:r>
            <a:endParaRPr lang="en-US" sz="1300" dirty="0"/>
          </a:p>
        </p:txBody>
      </p:sp>
      <p:sp>
        <p:nvSpPr>
          <p:cNvPr id="17" name="Text 15"/>
          <p:cNvSpPr/>
          <p:nvPr/>
        </p:nvSpPr>
        <p:spPr>
          <a:xfrm>
            <a:off x="3246120" y="378561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Write your own sentence using the same pattern as the author.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Writer's Workshop — Week 19</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WRITING STAGE</a:t>
            </a:r>
            <a:endParaRPr lang="en-US" sz="1100" dirty="0"/>
          </a:p>
        </p:txBody>
      </p:sp>
      <p:sp>
        <p:nvSpPr>
          <p:cNvPr id="5" name="Shape 3"/>
          <p:cNvSpPr/>
          <p:nvPr/>
        </p:nvSpPr>
        <p:spPr>
          <a:xfrm>
            <a:off x="365760" y="1042416"/>
            <a:ext cx="8412480" cy="658368"/>
          </a:xfrm>
          <a:prstGeom prst="roundRect">
            <a:avLst>
              <a:gd name="adj" fmla="val 13889"/>
            </a:avLst>
          </a:prstGeom>
          <a:solidFill>
            <a:srgbClr val="FFF8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33856"/>
            <a:ext cx="7863840" cy="475488"/>
          </a:xfrm>
          <a:prstGeom prst="rect">
            <a:avLst/>
          </a:prstGeom>
          <a:noFill/>
          <a:ln/>
        </p:spPr>
        <p:txBody>
          <a:bodyPr wrap="square" lIns="0" tIns="0" rIns="0" bIns="0" rtlCol="0" anchor="ctr"/>
          <a:lstStyle/>
          <a:p>
            <a:pPr indent="0" marL="0">
              <a:buNone/>
            </a:pPr>
            <a:r>
              <a:rPr lang="en-US" sz="2200" b="1" dirty="0">
                <a:solidFill>
                  <a:srgbClr val="B8860B"/>
                </a:solidFill>
                <a:latin typeface="Calibri" pitchFamily="34" charset="0"/>
                <a:ea typeface="Calibri" pitchFamily="34" charset="-122"/>
                <a:cs typeface="Calibri" pitchFamily="34" charset="-120"/>
              </a:rPr>
              <a:t>📝 Add Reasons</a:t>
            </a:r>
            <a:endParaRPr lang="en-US" sz="2200" dirty="0"/>
          </a:p>
        </p:txBody>
      </p:sp>
      <p:sp>
        <p:nvSpPr>
          <p:cNvPr id="7" name="Text 5"/>
          <p:cNvSpPr/>
          <p:nvPr/>
        </p:nvSpPr>
        <p:spPr>
          <a:xfrm>
            <a:off x="365760" y="182880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TODAY'S FOCUS</a:t>
            </a:r>
            <a:endParaRPr lang="en-US" sz="1100" dirty="0"/>
          </a:p>
        </p:txBody>
      </p:sp>
      <p:sp>
        <p:nvSpPr>
          <p:cNvPr id="8" name="Text 6"/>
          <p:cNvSpPr/>
          <p:nvPr/>
        </p:nvSpPr>
        <p:spPr>
          <a:xfrm>
            <a:off x="457200" y="2084832"/>
            <a:ext cx="8229600" cy="59436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Opinion: add at least one reason with a "because" or "for example."</a:t>
            </a:r>
            <a:endParaRPr lang="en-US" sz="1500" dirty="0"/>
          </a:p>
        </p:txBody>
      </p:sp>
      <p:sp>
        <p:nvSpPr>
          <p:cNvPr id="9" name="Text 7"/>
          <p:cNvSpPr/>
          <p:nvPr/>
        </p:nvSpPr>
        <p:spPr>
          <a:xfrm>
            <a:off x="365760" y="279806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SENTENCE FRAMES</a:t>
            </a:r>
            <a:endParaRPr lang="en-US" sz="1100" dirty="0"/>
          </a:p>
        </p:txBody>
      </p:sp>
      <p:sp>
        <p:nvSpPr>
          <p:cNvPr id="10" name="Text 8"/>
          <p:cNvSpPr/>
          <p:nvPr/>
        </p:nvSpPr>
        <p:spPr>
          <a:xfrm>
            <a:off x="502920" y="3054096"/>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"One reason is that ___."</a:t>
            </a:r>
            <a:endParaRPr lang="en-US" sz="1400" dirty="0"/>
          </a:p>
        </p:txBody>
      </p:sp>
      <p:sp>
        <p:nvSpPr>
          <p:cNvPr id="11" name="Text 9"/>
          <p:cNvSpPr/>
          <p:nvPr/>
        </p:nvSpPr>
        <p:spPr>
          <a:xfrm>
            <a:off x="502920" y="3529584"/>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"For example, in Chapter ___, ___ shows that ___."</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2026-07-11T02:16:32Z</dcterms:created>
  <dcterms:modified xsi:type="dcterms:W3CDTF">2026-07-11T02:16:32Z</dcterms:modified>
</cp:coreProperties>
</file>