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14.2. Reading: Ch.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notice how characters change from beginning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spent his days going up into the light , down into the dark , and learning to live between the two.
Look for: Did you catch the proper noun (Roscuro), commas in the series, and the comma before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spent his days going up into the light , down into the dark , and learning to live between the two.
Look for: Did you catch the proper noun (Roscuro), commas in the series, and the comma before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soup,, rats,, crown,,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soup,, rats,, crown,,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 two endings: hopelessness, thoughtfulness, fearlessly, impatiently | Base + one ending: darkness, hopeful, quickly,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 two endings: hopelessness, thoughtfulness, fearlessly, impatiently | Base + one ending: darkness, hopeful, quickly,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14.2  ·  Ch. 48–49</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 is given a crown and told she is a fool in the same breath. Write about a time words hurt more than you expected.</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 is given a crown and told she is a fool in the same breath. Write about a time words hurt more than you expected.</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put quotation marks around the words a person said?</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48–49</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How has Despereaux changed since Chapter 1?</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notice how characters change from beginning to end.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spent his days going up into the light down into the dark and learning to live between the two</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neither fully a creature of the light nor fully a creature of darkness but something new and interesting</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spent his days going up into the light down into the dark and learning to live between the two</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neither fully a creature of the light nor fully a creature of darkness but something new and interesting</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Roscuro spent his days going up into the light , down into the dark , and learning to live between the two.</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 (Roscuro), commas in the series, and the comma before "but"?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IN- / IM-</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impossible — base word: possible</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incorrect — base word: correct</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impatient — base word: patient</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invisible — base word: visible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together  </a:t>
            </a:r>
            <a:pPr indent="0" marL="0">
              <a:buNone/>
            </a:pPr>
            <a:r>
              <a:rPr lang="en-US" sz="1400" dirty="0">
                <a:solidFill>
                  <a:srgbClr val="1E293B"/>
                </a:solidFill>
                <a:latin typeface="Calibri" pitchFamily="34" charset="0"/>
                <a:ea typeface="Calibri" pitchFamily="34" charset="-122"/>
                <a:cs typeface="Calibri" pitchFamily="34" charset="-120"/>
              </a:rPr>
              <a:t>With each other; joined rather than apart.</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trembled  </a:t>
            </a:r>
            <a:pPr indent="0" marL="0">
              <a:buNone/>
            </a:pPr>
            <a:r>
              <a:rPr lang="en-US" sz="1400" dirty="0">
                <a:solidFill>
                  <a:srgbClr val="1E293B"/>
                </a:solidFill>
                <a:latin typeface="Calibri" pitchFamily="34" charset="0"/>
                <a:ea typeface="Calibri" pitchFamily="34" charset="-122"/>
                <a:cs typeface="Calibri" pitchFamily="34" charset="-120"/>
              </a:rPr>
              <a:t>Shook a little, usually from fear or cold.</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tears  </a:t>
            </a:r>
            <a:pPr indent="0" marL="0">
              <a:buNone/>
            </a:pPr>
            <a:r>
              <a:rPr lang="en-US" sz="1400" dirty="0">
                <a:solidFill>
                  <a:srgbClr val="1E293B"/>
                </a:solidFill>
                <a:latin typeface="Calibri" pitchFamily="34" charset="0"/>
                <a:ea typeface="Calibri" pitchFamily="34" charset="-122"/>
                <a:cs typeface="Calibri" pitchFamily="34" charset="-120"/>
              </a:rPr>
              <a:t>Drops of water that come from your eyes when you cry.</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happily  </a:t>
            </a:r>
            <a:pPr indent="0" marL="0">
              <a:buNone/>
            </a:pPr>
            <a:r>
              <a:rPr lang="en-US" sz="1400" dirty="0">
                <a:solidFill>
                  <a:srgbClr val="1E293B"/>
                </a:solidFill>
                <a:latin typeface="Calibri" pitchFamily="34" charset="0"/>
                <a:ea typeface="Calibri" pitchFamily="34" charset="-122"/>
                <a:cs typeface="Calibri" pitchFamily="34" charset="-120"/>
              </a:rPr>
              <a:t>In a happy way; with joy.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A SERIES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soup, bread, and a candle.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the mice, and the people all feared the dark.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wanted a crown, a gown, and a name.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Garlic, chicken, and watercress went into the pot.</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a comma that is separating items in a list.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A SERIES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a:t>
            </a:r>
            <a:pPr indent="0" marL="0">
              <a:buNone/>
            </a:pPr>
            <a:r>
              <a:rPr lang="en-US" sz="1600" b="1" dirty="0">
                <a:solidFill>
                  <a:srgbClr val="34B76F"/>
                </a:solidFill>
                <a:latin typeface="Calibri" pitchFamily="34" charset="0"/>
                <a:ea typeface="Calibri" pitchFamily="34" charset="-122"/>
                <a:cs typeface="Calibri" pitchFamily="34" charset="-120"/>
              </a:rPr>
              <a:t>soup,</a:t>
            </a:r>
            <a:pPr indent="0" marL="0">
              <a:buNone/>
            </a:pPr>
            <a:r>
              <a:rPr lang="en-US" sz="1600" dirty="0">
                <a:solidFill>
                  <a:srgbClr val="1E293B"/>
                </a:solidFill>
                <a:latin typeface="Calibri" pitchFamily="34" charset="0"/>
                <a:ea typeface="Calibri" pitchFamily="34" charset="-122"/>
                <a:cs typeface="Calibri" pitchFamily="34" charset="-120"/>
              </a:rPr>
              <a:t> bread, and a candle.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a:t>
            </a:r>
            <a:pPr indent="0" marL="0">
              <a:buNone/>
            </a:pPr>
            <a:r>
              <a:rPr lang="en-US" sz="1600" b="1" dirty="0">
                <a:solidFill>
                  <a:srgbClr val="34B76F"/>
                </a:solidFill>
                <a:latin typeface="Calibri" pitchFamily="34" charset="0"/>
                <a:ea typeface="Calibri" pitchFamily="34" charset="-122"/>
                <a:cs typeface="Calibri" pitchFamily="34" charset="-120"/>
              </a:rPr>
              <a:t>rats,</a:t>
            </a:r>
            <a:pPr indent="0" marL="0">
              <a:buNone/>
            </a:pPr>
            <a:r>
              <a:rPr lang="en-US" sz="1600" dirty="0">
                <a:solidFill>
                  <a:srgbClr val="1E293B"/>
                </a:solidFill>
                <a:latin typeface="Calibri" pitchFamily="34" charset="0"/>
                <a:ea typeface="Calibri" pitchFamily="34" charset="-122"/>
                <a:cs typeface="Calibri" pitchFamily="34" charset="-120"/>
              </a:rPr>
              <a:t> the mice, and the people all feared the dark.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wanted a </a:t>
            </a:r>
            <a:pPr indent="0" marL="0">
              <a:buNone/>
            </a:pPr>
            <a:r>
              <a:rPr lang="en-US" sz="1600" b="1" dirty="0">
                <a:solidFill>
                  <a:srgbClr val="34B76F"/>
                </a:solidFill>
                <a:latin typeface="Calibri" pitchFamily="34" charset="0"/>
                <a:ea typeface="Calibri" pitchFamily="34" charset="-122"/>
                <a:cs typeface="Calibri" pitchFamily="34" charset="-120"/>
              </a:rPr>
              <a:t>crown,</a:t>
            </a:r>
            <a:pPr indent="0" marL="0">
              <a:buNone/>
            </a:pPr>
            <a:r>
              <a:rPr lang="en-US" sz="1600" dirty="0">
                <a:solidFill>
                  <a:srgbClr val="1E293B"/>
                </a:solidFill>
                <a:latin typeface="Calibri" pitchFamily="34" charset="0"/>
                <a:ea typeface="Calibri" pitchFamily="34" charset="-122"/>
                <a:cs typeface="Calibri" pitchFamily="34" charset="-120"/>
              </a:rPr>
              <a:t> a gown, and a name.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Garlic,</a:t>
            </a:r>
            <a:pPr indent="0" marL="0">
              <a:buNone/>
            </a:pPr>
            <a:r>
              <a:rPr lang="en-US" sz="1600" dirty="0">
                <a:solidFill>
                  <a:srgbClr val="1E293B"/>
                </a:solidFill>
                <a:latin typeface="Calibri" pitchFamily="34" charset="0"/>
                <a:ea typeface="Calibri" pitchFamily="34" charset="-122"/>
                <a:cs typeface="Calibri" pitchFamily="34" charset="-120"/>
              </a:rPr>
              <a:t> chicken, and watercress went into the pot.</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LONGER WORDS WITH FAMILIAR SUFFIXES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hopelessness   ·   thoughtfulness   ·   fearlessly   ·   impatiently   ·   darkness   ·   hopeful   ·   quickly   ·   disagree</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Base + two endings  |  Base + one ending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LONGER WORDS WITH FAMILIAR SUFFIXES</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 + two endings</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hopelessness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thoughtfulness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fearlessly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impatiently</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 + one ending</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darkness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hopeful</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quickly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disagree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48–49</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Pea sighed and took off her crown and handed it to Mig, and Mig put it on and it slid immediately right down her small head and came to rest, quite painfully, on her poor, abused ears.”</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Roscuro lives between light and darkness. What does this mean for who he is now? Is this a good ending for him?</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Other characters begin new chapters too. What does each one do after the story ends?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PUBLISH</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Final edit checklist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