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14.2. Reading: Ch. 48–49.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notice how characters change from beginning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Roscuro spent his days going up into the light, down into the dark, and learning to live between the two.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Roscuro spent his days going up into the light, down into the dark, and learning to live between the two.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you list three or more things, separate them with commas, and put and before the last one. The comma before and is optional in some styles — but be consistent.
Three items, two commas, and and before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you list three or more things, separate them with commas, and put and before the last one. The comma before and is optional in some styles — but be consistent.
Three items, two commas, and and before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soup,, bread,, red,, gold,, ran,, hid,, Mig,, Roscuro,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soup,, bread,, red,, gold,, ran,, hid,, Mig,, Roscuro,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An open syllable ends in a vowel, so nothing shuts the vowel in and it says its name: ti in ti·ger, mu in mu·sic. Closed syllable, short vowel. Open syllable, long vowel.
Answers: tiger, paper, music,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An open syllable ends in a vowel, so nothing shuts the vowel in and it says its name: ti in ti·ger, mu in mu·sic. Closed syllable, short vowel. Open syllable, long vowel.
Answers: tiger, paper, music,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14.2  ·  Ch. 48–49</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is given a crown and told she is a fool in the same breath. Write about a time words hurt more than you expected.</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is given a crown and told she is a fool in the same breath. Write about a time words hurt more than you expected.</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put quotation marks around the words a person said?</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48–49</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How has Despereaux changed since Chapter 1?</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notice how characters change from beginning to end.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Roscuro loved the candles, the chandeliers, and the bright yellow soup.</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commas separate the three things in the series, and and comes before the last one. Roscuro is a name and is capitalized. A period ends the sentence.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roscuro spent his days going up into the light down into the dark and learning to live between the two</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roscuro spent his days going up into the light down into the dark and learning to live between the two</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Roscuro spent his days going up into the light, down into the dark, and learning to live between the two.</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OVER-</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 means too much, or above.</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overjoyed = more than joyful · overloaded = loaded with too much · overlook = to look over and miss</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Practice: Match the Word to Its Meaning! Tap a word, then tap what it means.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together  </a:t>
            </a:r>
            <a:pPr indent="0" marL="0">
              <a:buNone/>
            </a:pPr>
            <a:r>
              <a:rPr lang="en-US" sz="1400" dirty="0">
                <a:solidFill>
                  <a:srgbClr val="1E293B"/>
                </a:solidFill>
                <a:latin typeface="Calibri" pitchFamily="34" charset="0"/>
                <a:ea typeface="Calibri" pitchFamily="34" charset="-122"/>
                <a:cs typeface="Calibri" pitchFamily="34" charset="-120"/>
              </a:rPr>
              <a:t>With each other; joined rather than apart.</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trembled  </a:t>
            </a:r>
            <a:pPr indent="0" marL="0">
              <a:buNone/>
            </a:pPr>
            <a:r>
              <a:rPr lang="en-US" sz="1400" dirty="0">
                <a:solidFill>
                  <a:srgbClr val="1E293B"/>
                </a:solidFill>
                <a:latin typeface="Calibri" pitchFamily="34" charset="0"/>
                <a:ea typeface="Calibri" pitchFamily="34" charset="-122"/>
                <a:cs typeface="Calibri" pitchFamily="34" charset="-120"/>
              </a:rPr>
              <a:t>Shook a little, usually from fear or cold.</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tears  </a:t>
            </a:r>
            <a:pPr indent="0" marL="0">
              <a:buNone/>
            </a:pPr>
            <a:r>
              <a:rPr lang="en-US" sz="1400" dirty="0">
                <a:solidFill>
                  <a:srgbClr val="1E293B"/>
                </a:solidFill>
                <a:latin typeface="Calibri" pitchFamily="34" charset="0"/>
                <a:ea typeface="Calibri" pitchFamily="34" charset="-122"/>
                <a:cs typeface="Calibri" pitchFamily="34" charset="-120"/>
              </a:rPr>
              <a:t>Drops of water that come from your eyes when you cry.</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happily  </a:t>
            </a:r>
            <a:pPr indent="0" marL="0">
              <a:buNone/>
            </a:pPr>
            <a:r>
              <a:rPr lang="en-US" sz="1400" dirty="0">
                <a:solidFill>
                  <a:srgbClr val="1E293B"/>
                </a:solidFill>
                <a:latin typeface="Calibri" pitchFamily="34" charset="0"/>
                <a:ea typeface="Calibri" pitchFamily="34" charset="-122"/>
                <a:cs typeface="Calibri" pitchFamily="34" charset="-120"/>
              </a:rPr>
              <a:t>In a happy way; with joy.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Count the commas in each sentence, then count the things being listed.</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that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floor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littered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tufts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knots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skeletons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mice.</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How many items are in each list?</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How many commas are there — the same number, or one fewer?</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What word shows up right before the last item?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Count the commas in each sentence, then count the things being listed.</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that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floor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littered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tufts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knots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skeletons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mice.</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When you list three or more things, separate them with commas, and put and before the last one. The comma before and is optional in some styles — but be consistent.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Three items, two commas, and and before the last.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Cook made soup, bread, and pudding.</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thread was red, gold, and green.</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ran, hid, and waited.</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Roscuro, and the prince all wanted something.</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every word that has a comma after it. Count them before you start — and notice that the word before and is the last one in the list, not the first.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Cook </a:t>
            </a:r>
            <a:pPr indent="0" marL="0">
              <a:buNone/>
            </a:pPr>
            <a:r>
              <a:rPr lang="en-US" sz="1600" dirty="0">
                <a:solidFill>
                  <a:srgbClr val="1E293B"/>
                </a:solidFill>
                <a:latin typeface="Calibri" pitchFamily="34" charset="0"/>
                <a:ea typeface="Calibri" pitchFamily="34" charset="-122"/>
                <a:cs typeface="Calibri" pitchFamily="34" charset="-120"/>
              </a:rPr>
              <a:t>made </a:t>
            </a:r>
            <a:pPr indent="0" marL="0">
              <a:buNone/>
            </a:pPr>
            <a:r>
              <a:rPr lang="en-US" sz="1600" b="1" dirty="0">
                <a:solidFill>
                  <a:srgbClr val="34B76F"/>
                </a:solidFill>
                <a:latin typeface="Calibri" pitchFamily="34" charset="0"/>
                <a:ea typeface="Calibri" pitchFamily="34" charset="-122"/>
                <a:cs typeface="Calibri" pitchFamily="34" charset="-120"/>
              </a:rPr>
              <a:t>soup, </a:t>
            </a:r>
            <a:pPr indent="0" marL="0">
              <a:buNone/>
            </a:pPr>
            <a:r>
              <a:rPr lang="en-US" sz="1600" b="1" dirty="0">
                <a:solidFill>
                  <a:srgbClr val="34B76F"/>
                </a:solidFill>
                <a:latin typeface="Calibri" pitchFamily="34" charset="0"/>
                <a:ea typeface="Calibri" pitchFamily="34" charset="-122"/>
                <a:cs typeface="Calibri" pitchFamily="34" charset="-120"/>
              </a:rPr>
              <a:t>bread, </a:t>
            </a:r>
            <a:pPr indent="0" marL="0">
              <a:buNone/>
            </a:pPr>
            <a:r>
              <a:rPr lang="en-US" sz="1600" dirty="0">
                <a:solidFill>
                  <a:srgbClr val="1E293B"/>
                </a:solidFill>
                <a:latin typeface="Calibri" pitchFamily="34" charset="0"/>
                <a:ea typeface="Calibri" pitchFamily="34" charset="-122"/>
                <a:cs typeface="Calibri" pitchFamily="34" charset="-120"/>
              </a:rPr>
              <a:t>and </a:t>
            </a:r>
            <a:pPr indent="0" marL="0">
              <a:buNone/>
            </a:pPr>
            <a:r>
              <a:rPr lang="en-US" sz="1600" dirty="0">
                <a:solidFill>
                  <a:srgbClr val="1E293B"/>
                </a:solidFill>
                <a:latin typeface="Calibri" pitchFamily="34" charset="0"/>
                <a:ea typeface="Calibri" pitchFamily="34" charset="-122"/>
                <a:cs typeface="Calibri" pitchFamily="34" charset="-120"/>
              </a:rPr>
              <a:t>pudding.</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dirty="0">
                <a:solidFill>
                  <a:srgbClr val="1E293B"/>
                </a:solidFill>
                <a:latin typeface="Calibri" pitchFamily="34" charset="0"/>
                <a:ea typeface="Calibri" pitchFamily="34" charset="-122"/>
                <a:cs typeface="Calibri" pitchFamily="34" charset="-120"/>
              </a:rPr>
              <a:t>thread </a:t>
            </a:r>
            <a:pPr indent="0" marL="0">
              <a:buNone/>
            </a:pPr>
            <a:r>
              <a:rPr lang="en-US" sz="1600" dirty="0">
                <a:solidFill>
                  <a:srgbClr val="1E293B"/>
                </a:solidFill>
                <a:latin typeface="Calibri" pitchFamily="34" charset="0"/>
                <a:ea typeface="Calibri" pitchFamily="34" charset="-122"/>
                <a:cs typeface="Calibri" pitchFamily="34" charset="-120"/>
              </a:rPr>
              <a:t>was </a:t>
            </a:r>
            <a:pPr indent="0" marL="0">
              <a:buNone/>
            </a:pPr>
            <a:r>
              <a:rPr lang="en-US" sz="1600" b="1" dirty="0">
                <a:solidFill>
                  <a:srgbClr val="34B76F"/>
                </a:solidFill>
                <a:latin typeface="Calibri" pitchFamily="34" charset="0"/>
                <a:ea typeface="Calibri" pitchFamily="34" charset="-122"/>
                <a:cs typeface="Calibri" pitchFamily="34" charset="-120"/>
              </a:rPr>
              <a:t>red, </a:t>
            </a:r>
            <a:pPr indent="0" marL="0">
              <a:buNone/>
            </a:pPr>
            <a:r>
              <a:rPr lang="en-US" sz="1600" b="1" dirty="0">
                <a:solidFill>
                  <a:srgbClr val="34B76F"/>
                </a:solidFill>
                <a:latin typeface="Calibri" pitchFamily="34" charset="0"/>
                <a:ea typeface="Calibri" pitchFamily="34" charset="-122"/>
                <a:cs typeface="Calibri" pitchFamily="34" charset="-120"/>
              </a:rPr>
              <a:t>gold, </a:t>
            </a:r>
            <a:pPr indent="0" marL="0">
              <a:buNone/>
            </a:pPr>
            <a:r>
              <a:rPr lang="en-US" sz="1600" dirty="0">
                <a:solidFill>
                  <a:srgbClr val="1E293B"/>
                </a:solidFill>
                <a:latin typeface="Calibri" pitchFamily="34" charset="0"/>
                <a:ea typeface="Calibri" pitchFamily="34" charset="-122"/>
                <a:cs typeface="Calibri" pitchFamily="34" charset="-120"/>
              </a:rPr>
              <a:t>and </a:t>
            </a:r>
            <a:pPr indent="0" marL="0">
              <a:buNone/>
            </a:pPr>
            <a:r>
              <a:rPr lang="en-US" sz="1600" dirty="0">
                <a:solidFill>
                  <a:srgbClr val="1E293B"/>
                </a:solidFill>
                <a:latin typeface="Calibri" pitchFamily="34" charset="0"/>
                <a:ea typeface="Calibri" pitchFamily="34" charset="-122"/>
                <a:cs typeface="Calibri" pitchFamily="34" charset="-120"/>
              </a:rPr>
              <a:t>green.</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a:t>
            </a:r>
            <a:pPr indent="0" marL="0">
              <a:buNone/>
            </a:pPr>
            <a:r>
              <a:rPr lang="en-US" sz="1600" b="1" dirty="0">
                <a:solidFill>
                  <a:srgbClr val="34B76F"/>
                </a:solidFill>
                <a:latin typeface="Calibri" pitchFamily="34" charset="0"/>
                <a:ea typeface="Calibri" pitchFamily="34" charset="-122"/>
                <a:cs typeface="Calibri" pitchFamily="34" charset="-120"/>
              </a:rPr>
              <a:t>ran, </a:t>
            </a:r>
            <a:pPr indent="0" marL="0">
              <a:buNone/>
            </a:pPr>
            <a:r>
              <a:rPr lang="en-US" sz="1600" b="1" dirty="0">
                <a:solidFill>
                  <a:srgbClr val="34B76F"/>
                </a:solidFill>
                <a:latin typeface="Calibri" pitchFamily="34" charset="0"/>
                <a:ea typeface="Calibri" pitchFamily="34" charset="-122"/>
                <a:cs typeface="Calibri" pitchFamily="34" charset="-120"/>
              </a:rPr>
              <a:t>hid, </a:t>
            </a:r>
            <a:pPr indent="0" marL="0">
              <a:buNone/>
            </a:pPr>
            <a:r>
              <a:rPr lang="en-US" sz="1600" dirty="0">
                <a:solidFill>
                  <a:srgbClr val="1E293B"/>
                </a:solidFill>
                <a:latin typeface="Calibri" pitchFamily="34" charset="0"/>
                <a:ea typeface="Calibri" pitchFamily="34" charset="-122"/>
                <a:cs typeface="Calibri" pitchFamily="34" charset="-120"/>
              </a:rPr>
              <a:t>and </a:t>
            </a:r>
            <a:pPr indent="0" marL="0">
              <a:buNone/>
            </a:pPr>
            <a:r>
              <a:rPr lang="en-US" sz="1600" dirty="0">
                <a:solidFill>
                  <a:srgbClr val="1E293B"/>
                </a:solidFill>
                <a:latin typeface="Calibri" pitchFamily="34" charset="0"/>
                <a:ea typeface="Calibri" pitchFamily="34" charset="-122"/>
                <a:cs typeface="Calibri" pitchFamily="34" charset="-120"/>
              </a:rPr>
              <a:t>waited.</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Mig, </a:t>
            </a:r>
            <a:pPr indent="0" marL="0">
              <a:buNone/>
            </a:pPr>
            <a:r>
              <a:rPr lang="en-US" sz="1600" b="1" dirty="0">
                <a:solidFill>
                  <a:srgbClr val="34B76F"/>
                </a:solidFill>
                <a:latin typeface="Calibri" pitchFamily="34" charset="0"/>
                <a:ea typeface="Calibri" pitchFamily="34" charset="-122"/>
                <a:cs typeface="Calibri" pitchFamily="34" charset="-120"/>
              </a:rPr>
              <a:t>Roscuro, </a:t>
            </a:r>
            <a:pPr indent="0" marL="0">
              <a:buNone/>
            </a:pPr>
            <a:r>
              <a:rPr lang="en-US" sz="1600" dirty="0">
                <a:solidFill>
                  <a:srgbClr val="1E293B"/>
                </a:solidFill>
                <a:latin typeface="Calibri" pitchFamily="34" charset="0"/>
                <a:ea typeface="Calibri" pitchFamily="34" charset="-122"/>
                <a:cs typeface="Calibri" pitchFamily="34" charset="-120"/>
              </a:rPr>
              <a:t>and </a:t>
            </a:r>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dirty="0">
                <a:solidFill>
                  <a:srgbClr val="1E293B"/>
                </a:solidFill>
                <a:latin typeface="Calibri" pitchFamily="34" charset="0"/>
                <a:ea typeface="Calibri" pitchFamily="34" charset="-122"/>
                <a:cs typeface="Calibri" pitchFamily="34" charset="-120"/>
              </a:rPr>
              <a:t>prince </a:t>
            </a:r>
            <a:pPr indent="0" marL="0">
              <a:buNone/>
            </a:pPr>
            <a:r>
              <a:rPr lang="en-US" sz="1600" dirty="0">
                <a:solidFill>
                  <a:srgbClr val="1E293B"/>
                </a:solidFill>
                <a:latin typeface="Calibri" pitchFamily="34" charset="0"/>
                <a:ea typeface="Calibri" pitchFamily="34" charset="-122"/>
                <a:cs typeface="Calibri" pitchFamily="34" charset="-120"/>
              </a:rPr>
              <a:t>all </a:t>
            </a:r>
            <a:pPr indent="0" marL="0">
              <a:buNone/>
            </a:pPr>
            <a:r>
              <a:rPr lang="en-US" sz="1600" dirty="0">
                <a:solidFill>
                  <a:srgbClr val="1E293B"/>
                </a:solidFill>
                <a:latin typeface="Calibri" pitchFamily="34" charset="0"/>
                <a:ea typeface="Calibri" pitchFamily="34" charset="-122"/>
                <a:cs typeface="Calibri" pitchFamily="34" charset="-120"/>
              </a:rPr>
              <a:t>wanted </a:t>
            </a:r>
            <a:pPr indent="0" marL="0">
              <a:buNone/>
            </a:pPr>
            <a:r>
              <a:rPr lang="en-US" sz="1600" dirty="0">
                <a:solidFill>
                  <a:srgbClr val="1E293B"/>
                </a:solidFill>
                <a:latin typeface="Calibri" pitchFamily="34" charset="0"/>
                <a:ea typeface="Calibri" pitchFamily="34" charset="-122"/>
                <a:cs typeface="Calibri" pitchFamily="34" charset="-120"/>
              </a:rPr>
              <a:t>something.</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OPEN SYLLABLES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 open syllable ends in a vowel, so nothing shuts the vowel in and it says its name: ti in ti·ger, mu in mu·sic. Closed syllable, short vowel. Open syllable, long vowel.</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Sound Detective! One word in each row starts with an open syllable, so its first vowel says its name.</a:t>
            </a:r>
            <a:endParaRPr lang="en-US" sz="1400" dirty="0"/>
          </a:p>
        </p:txBody>
      </p:sp>
      <p:sp>
        <p:nvSpPr>
          <p:cNvPr id="9" name="Shape 7"/>
          <p:cNvSpPr/>
          <p:nvPr/>
        </p:nvSpPr>
        <p:spPr>
          <a:xfrm>
            <a:off x="365760" y="2852928"/>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916936"/>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tiger     ·     </a:t>
            </a:r>
            <a:pPr indent="0" marL="0">
              <a:buNone/>
            </a:pPr>
            <a:r>
              <a:rPr lang="en-US" sz="1500" dirty="0">
                <a:solidFill>
                  <a:srgbClr val="1E293B"/>
                </a:solidFill>
                <a:latin typeface="Calibri" pitchFamily="34" charset="0"/>
                <a:ea typeface="Calibri" pitchFamily="34" charset="-122"/>
                <a:cs typeface="Calibri" pitchFamily="34" charset="-120"/>
              </a:rPr>
              <a:t>napkin     ·     </a:t>
            </a:r>
            <a:pPr indent="0" marL="0">
              <a:buNone/>
            </a:pPr>
            <a:r>
              <a:rPr lang="en-US" sz="1500" dirty="0">
                <a:solidFill>
                  <a:srgbClr val="1E293B"/>
                </a:solidFill>
                <a:latin typeface="Calibri" pitchFamily="34" charset="0"/>
                <a:ea typeface="Calibri" pitchFamily="34" charset="-122"/>
                <a:cs typeface="Calibri" pitchFamily="34" charset="-120"/>
              </a:rPr>
              <a:t>rabbit     ·     </a:t>
            </a:r>
            <a:pPr indent="0" marL="0">
              <a:buNone/>
            </a:pPr>
            <a:r>
              <a:rPr lang="en-US" sz="1500" dirty="0">
                <a:solidFill>
                  <a:srgbClr val="1E293B"/>
                </a:solidFill>
                <a:latin typeface="Calibri" pitchFamily="34" charset="0"/>
                <a:ea typeface="Calibri" pitchFamily="34" charset="-122"/>
                <a:cs typeface="Calibri" pitchFamily="34" charset="-120"/>
              </a:rPr>
              <a:t>basket</a:t>
            </a:r>
            <a:endParaRPr lang="en-US" sz="1500" dirty="0"/>
          </a:p>
        </p:txBody>
      </p:sp>
      <p:sp>
        <p:nvSpPr>
          <p:cNvPr id="11" name="Shape 9"/>
          <p:cNvSpPr/>
          <p:nvPr/>
        </p:nvSpPr>
        <p:spPr>
          <a:xfrm>
            <a:off x="365760" y="3337560"/>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01568"/>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contest     ·     </a:t>
            </a:r>
            <a:pPr indent="0" marL="0">
              <a:buNone/>
            </a:pPr>
            <a:r>
              <a:rPr lang="en-US" sz="1500" dirty="0">
                <a:solidFill>
                  <a:srgbClr val="1E293B"/>
                </a:solidFill>
                <a:latin typeface="Calibri" pitchFamily="34" charset="0"/>
                <a:ea typeface="Calibri" pitchFamily="34" charset="-122"/>
                <a:cs typeface="Calibri" pitchFamily="34" charset="-120"/>
              </a:rPr>
              <a:t>paper     ·     </a:t>
            </a:r>
            <a:pPr indent="0" marL="0">
              <a:buNone/>
            </a:pPr>
            <a:r>
              <a:rPr lang="en-US" sz="1500" dirty="0">
                <a:solidFill>
                  <a:srgbClr val="1E293B"/>
                </a:solidFill>
                <a:latin typeface="Calibri" pitchFamily="34" charset="0"/>
                <a:ea typeface="Calibri" pitchFamily="34" charset="-122"/>
                <a:cs typeface="Calibri" pitchFamily="34" charset="-120"/>
              </a:rPr>
              <a:t>picnic     ·     </a:t>
            </a:r>
            <a:pPr indent="0" marL="0">
              <a:buNone/>
            </a:pPr>
            <a:r>
              <a:rPr lang="en-US" sz="1500" dirty="0">
                <a:solidFill>
                  <a:srgbClr val="1E293B"/>
                </a:solidFill>
                <a:latin typeface="Calibri" pitchFamily="34" charset="0"/>
                <a:ea typeface="Calibri" pitchFamily="34" charset="-122"/>
                <a:cs typeface="Calibri" pitchFamily="34" charset="-120"/>
              </a:rPr>
              <a:t>sudden</a:t>
            </a:r>
            <a:endParaRPr lang="en-US" sz="1500" dirty="0"/>
          </a:p>
        </p:txBody>
      </p:sp>
      <p:sp>
        <p:nvSpPr>
          <p:cNvPr id="13" name="Shape 11"/>
          <p:cNvSpPr/>
          <p:nvPr/>
        </p:nvSpPr>
        <p:spPr>
          <a:xfrm>
            <a:off x="365760" y="3822192"/>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886200"/>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velvet     ·     </a:t>
            </a:r>
            <a:pPr indent="0" marL="0">
              <a:buNone/>
            </a:pPr>
            <a:r>
              <a:rPr lang="en-US" sz="1500" dirty="0">
                <a:solidFill>
                  <a:srgbClr val="1E293B"/>
                </a:solidFill>
                <a:latin typeface="Calibri" pitchFamily="34" charset="0"/>
                <a:ea typeface="Calibri" pitchFamily="34" charset="-122"/>
                <a:cs typeface="Calibri" pitchFamily="34" charset="-120"/>
              </a:rPr>
              <a:t>dentist     ·     </a:t>
            </a:r>
            <a:pPr indent="0" marL="0">
              <a:buNone/>
            </a:pPr>
            <a:r>
              <a:rPr lang="en-US" sz="1500" dirty="0">
                <a:solidFill>
                  <a:srgbClr val="1E293B"/>
                </a:solidFill>
                <a:latin typeface="Calibri" pitchFamily="34" charset="0"/>
                <a:ea typeface="Calibri" pitchFamily="34" charset="-122"/>
                <a:cs typeface="Calibri" pitchFamily="34" charset="-120"/>
              </a:rPr>
              <a:t>music     ·     </a:t>
            </a:r>
            <a:pPr indent="0" marL="0">
              <a:buNone/>
            </a:pPr>
            <a:r>
              <a:rPr lang="en-US" sz="1500" dirty="0">
                <a:solidFill>
                  <a:srgbClr val="1E293B"/>
                </a:solidFill>
                <a:latin typeface="Calibri" pitchFamily="34" charset="0"/>
                <a:ea typeface="Calibri" pitchFamily="34" charset="-122"/>
                <a:cs typeface="Calibri" pitchFamily="34" charset="-120"/>
              </a:rPr>
              <a:t>publish</a:t>
            </a:r>
            <a:endParaRPr lang="en-US" sz="1500" dirty="0"/>
          </a:p>
        </p:txBody>
      </p:sp>
      <p:sp>
        <p:nvSpPr>
          <p:cNvPr id="15" name="Shape 13"/>
          <p:cNvSpPr/>
          <p:nvPr/>
        </p:nvSpPr>
        <p:spPr>
          <a:xfrm>
            <a:off x="365760" y="4306824"/>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6" name="Text 14"/>
          <p:cNvSpPr/>
          <p:nvPr/>
        </p:nvSpPr>
        <p:spPr>
          <a:xfrm>
            <a:off x="594360" y="4370832"/>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problem     ·     </a:t>
            </a:r>
            <a:pPr indent="0" marL="0">
              <a:buNone/>
            </a:pPr>
            <a:r>
              <a:rPr lang="en-US" sz="1500" dirty="0">
                <a:solidFill>
                  <a:srgbClr val="1E293B"/>
                </a:solidFill>
                <a:latin typeface="Calibri" pitchFamily="34" charset="0"/>
                <a:ea typeface="Calibri" pitchFamily="34" charset="-122"/>
                <a:cs typeface="Calibri" pitchFamily="34" charset="-120"/>
              </a:rPr>
              <a:t>robot     ·     </a:t>
            </a:r>
            <a:pPr indent="0" marL="0">
              <a:buNone/>
            </a:pPr>
            <a:r>
              <a:rPr lang="en-US" sz="1500" dirty="0">
                <a:solidFill>
                  <a:srgbClr val="1E293B"/>
                </a:solidFill>
                <a:latin typeface="Calibri" pitchFamily="34" charset="0"/>
                <a:ea typeface="Calibri" pitchFamily="34" charset="-122"/>
                <a:cs typeface="Calibri" pitchFamily="34" charset="-120"/>
              </a:rPr>
              <a:t>fabric     ·     </a:t>
            </a:r>
            <a:pPr indent="0" marL="0">
              <a:buNone/>
            </a:pPr>
            <a:r>
              <a:rPr lang="en-US" sz="1500" dirty="0">
                <a:solidFill>
                  <a:srgbClr val="1E293B"/>
                </a:solidFill>
                <a:latin typeface="Calibri" pitchFamily="34" charset="0"/>
                <a:ea typeface="Calibri" pitchFamily="34" charset="-122"/>
                <a:cs typeface="Calibri" pitchFamily="34" charset="-120"/>
              </a:rPr>
              <a:t>tunnel</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OPEN SYLLABLES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 open syllable ends in a vowel, so nothing shuts the vowel in and it says its name: ti in ti·ger, mu in mu·sic. Closed syllable, short vowel. Open syllable, long vowel.</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Sound Detective! One word in each row starts with an open syllable, so its first vowel says its name.</a:t>
            </a:r>
            <a:endParaRPr lang="en-US" sz="1400" dirty="0"/>
          </a:p>
        </p:txBody>
      </p:sp>
      <p:sp>
        <p:nvSpPr>
          <p:cNvPr id="9" name="Shape 7"/>
          <p:cNvSpPr/>
          <p:nvPr/>
        </p:nvSpPr>
        <p:spPr>
          <a:xfrm>
            <a:off x="365760" y="2852928"/>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916936"/>
            <a:ext cx="7863840" cy="310896"/>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tiger     ·     </a:t>
            </a:r>
            <a:pPr indent="0" marL="0">
              <a:buNone/>
            </a:pPr>
            <a:r>
              <a:rPr lang="en-US" sz="1500" dirty="0">
                <a:solidFill>
                  <a:srgbClr val="1E293B"/>
                </a:solidFill>
                <a:latin typeface="Calibri" pitchFamily="34" charset="0"/>
                <a:ea typeface="Calibri" pitchFamily="34" charset="-122"/>
                <a:cs typeface="Calibri" pitchFamily="34" charset="-120"/>
              </a:rPr>
              <a:t>napkin     ·     </a:t>
            </a:r>
            <a:pPr indent="0" marL="0">
              <a:buNone/>
            </a:pPr>
            <a:r>
              <a:rPr lang="en-US" sz="1500" dirty="0">
                <a:solidFill>
                  <a:srgbClr val="1E293B"/>
                </a:solidFill>
                <a:latin typeface="Calibri" pitchFamily="34" charset="0"/>
                <a:ea typeface="Calibri" pitchFamily="34" charset="-122"/>
                <a:cs typeface="Calibri" pitchFamily="34" charset="-120"/>
              </a:rPr>
              <a:t>rabbit     ·     </a:t>
            </a:r>
            <a:pPr indent="0" marL="0">
              <a:buNone/>
            </a:pPr>
            <a:r>
              <a:rPr lang="en-US" sz="1500" dirty="0">
                <a:solidFill>
                  <a:srgbClr val="1E293B"/>
                </a:solidFill>
                <a:latin typeface="Calibri" pitchFamily="34" charset="0"/>
                <a:ea typeface="Calibri" pitchFamily="34" charset="-122"/>
                <a:cs typeface="Calibri" pitchFamily="34" charset="-120"/>
              </a:rPr>
              <a:t>basket</a:t>
            </a:r>
            <a:endParaRPr lang="en-US" sz="1500" dirty="0"/>
          </a:p>
        </p:txBody>
      </p:sp>
      <p:sp>
        <p:nvSpPr>
          <p:cNvPr id="11" name="Shape 9"/>
          <p:cNvSpPr/>
          <p:nvPr/>
        </p:nvSpPr>
        <p:spPr>
          <a:xfrm>
            <a:off x="365760" y="3337560"/>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01568"/>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contest     ·     </a:t>
            </a:r>
            <a:pPr indent="0" marL="0">
              <a:buNone/>
            </a:pPr>
            <a:r>
              <a:rPr lang="en-US" sz="1500" b="1" dirty="0">
                <a:solidFill>
                  <a:srgbClr val="34B76F"/>
                </a:solidFill>
                <a:latin typeface="Calibri" pitchFamily="34" charset="0"/>
                <a:ea typeface="Calibri" pitchFamily="34" charset="-122"/>
                <a:cs typeface="Calibri" pitchFamily="34" charset="-120"/>
              </a:rPr>
              <a:t>paper     ·     </a:t>
            </a:r>
            <a:pPr indent="0" marL="0">
              <a:buNone/>
            </a:pPr>
            <a:r>
              <a:rPr lang="en-US" sz="1500" dirty="0">
                <a:solidFill>
                  <a:srgbClr val="1E293B"/>
                </a:solidFill>
                <a:latin typeface="Calibri" pitchFamily="34" charset="0"/>
                <a:ea typeface="Calibri" pitchFamily="34" charset="-122"/>
                <a:cs typeface="Calibri" pitchFamily="34" charset="-120"/>
              </a:rPr>
              <a:t>picnic     ·     </a:t>
            </a:r>
            <a:pPr indent="0" marL="0">
              <a:buNone/>
            </a:pPr>
            <a:r>
              <a:rPr lang="en-US" sz="1500" dirty="0">
                <a:solidFill>
                  <a:srgbClr val="1E293B"/>
                </a:solidFill>
                <a:latin typeface="Calibri" pitchFamily="34" charset="0"/>
                <a:ea typeface="Calibri" pitchFamily="34" charset="-122"/>
                <a:cs typeface="Calibri" pitchFamily="34" charset="-120"/>
              </a:rPr>
              <a:t>sudden</a:t>
            </a:r>
            <a:endParaRPr lang="en-US" sz="1500" dirty="0"/>
          </a:p>
        </p:txBody>
      </p:sp>
      <p:sp>
        <p:nvSpPr>
          <p:cNvPr id="13" name="Shape 11"/>
          <p:cNvSpPr/>
          <p:nvPr/>
        </p:nvSpPr>
        <p:spPr>
          <a:xfrm>
            <a:off x="365760" y="3822192"/>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886200"/>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velvet     ·     </a:t>
            </a:r>
            <a:pPr indent="0" marL="0">
              <a:buNone/>
            </a:pPr>
            <a:r>
              <a:rPr lang="en-US" sz="1500" dirty="0">
                <a:solidFill>
                  <a:srgbClr val="1E293B"/>
                </a:solidFill>
                <a:latin typeface="Calibri" pitchFamily="34" charset="0"/>
                <a:ea typeface="Calibri" pitchFamily="34" charset="-122"/>
                <a:cs typeface="Calibri" pitchFamily="34" charset="-120"/>
              </a:rPr>
              <a:t>dentist     ·     </a:t>
            </a:r>
            <a:pPr indent="0" marL="0">
              <a:buNone/>
            </a:pPr>
            <a:r>
              <a:rPr lang="en-US" sz="1500" b="1" dirty="0">
                <a:solidFill>
                  <a:srgbClr val="34B76F"/>
                </a:solidFill>
                <a:latin typeface="Calibri" pitchFamily="34" charset="0"/>
                <a:ea typeface="Calibri" pitchFamily="34" charset="-122"/>
                <a:cs typeface="Calibri" pitchFamily="34" charset="-120"/>
              </a:rPr>
              <a:t>music     ·     </a:t>
            </a:r>
            <a:pPr indent="0" marL="0">
              <a:buNone/>
            </a:pPr>
            <a:r>
              <a:rPr lang="en-US" sz="1500" dirty="0">
                <a:solidFill>
                  <a:srgbClr val="1E293B"/>
                </a:solidFill>
                <a:latin typeface="Calibri" pitchFamily="34" charset="0"/>
                <a:ea typeface="Calibri" pitchFamily="34" charset="-122"/>
                <a:cs typeface="Calibri" pitchFamily="34" charset="-120"/>
              </a:rPr>
              <a:t>publish</a:t>
            </a:r>
            <a:endParaRPr lang="en-US" sz="1500" dirty="0"/>
          </a:p>
        </p:txBody>
      </p:sp>
      <p:sp>
        <p:nvSpPr>
          <p:cNvPr id="15" name="Shape 13"/>
          <p:cNvSpPr/>
          <p:nvPr/>
        </p:nvSpPr>
        <p:spPr>
          <a:xfrm>
            <a:off x="365760" y="4306824"/>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6" name="Text 14"/>
          <p:cNvSpPr/>
          <p:nvPr/>
        </p:nvSpPr>
        <p:spPr>
          <a:xfrm>
            <a:off x="594360" y="4370832"/>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problem     ·     </a:t>
            </a:r>
            <a:pPr indent="0" marL="0">
              <a:buNone/>
            </a:pPr>
            <a:r>
              <a:rPr lang="en-US" sz="1500" b="1" dirty="0">
                <a:solidFill>
                  <a:srgbClr val="34B76F"/>
                </a:solidFill>
                <a:latin typeface="Calibri" pitchFamily="34" charset="0"/>
                <a:ea typeface="Calibri" pitchFamily="34" charset="-122"/>
                <a:cs typeface="Calibri" pitchFamily="34" charset="-120"/>
              </a:rPr>
              <a:t>robot     ·     </a:t>
            </a:r>
            <a:pPr indent="0" marL="0">
              <a:buNone/>
            </a:pPr>
            <a:r>
              <a:rPr lang="en-US" sz="1500" dirty="0">
                <a:solidFill>
                  <a:srgbClr val="1E293B"/>
                </a:solidFill>
                <a:latin typeface="Calibri" pitchFamily="34" charset="0"/>
                <a:ea typeface="Calibri" pitchFamily="34" charset="-122"/>
                <a:cs typeface="Calibri" pitchFamily="34" charset="-120"/>
              </a:rPr>
              <a:t>fabric     ·     </a:t>
            </a:r>
            <a:pPr indent="0" marL="0">
              <a:buNone/>
            </a:pPr>
            <a:r>
              <a:rPr lang="en-US" sz="1500" dirty="0">
                <a:solidFill>
                  <a:srgbClr val="1E293B"/>
                </a:solidFill>
                <a:latin typeface="Calibri" pitchFamily="34" charset="0"/>
                <a:ea typeface="Calibri" pitchFamily="34" charset="-122"/>
                <a:cs typeface="Calibri" pitchFamily="34" charset="-120"/>
              </a:rPr>
              <a:t>tunnel</a:t>
            </a:r>
            <a:endParaRPr lang="en-US" sz="1500" dirty="0"/>
          </a:p>
        </p:txBody>
      </p:sp>
      <p:sp>
        <p:nvSpPr>
          <p:cNvPr id="17" name="Text 15"/>
          <p:cNvSpPr/>
          <p:nvPr/>
        </p:nvSpPr>
        <p:spPr>
          <a:xfrm>
            <a:off x="365760" y="4809744"/>
            <a:ext cx="8412480" cy="27432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Answers revealed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48–49</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Pea sighed and took off her crown and handed it to Mig, and Mig put it on and it slid immediately right down her small head and came to rest, quite painfully, on her poor, abused ears.”</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Roscuro lives between light and darkness. What does this mean for who he is now? Is this a good ending for him?</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Other characters begin new chapters too. What does each one do after the story ends?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PUBLISH</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Final edit checklist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2026-10-19T11:55:31Z</dcterms:created>
  <dcterms:modified xsi:type="dcterms:W3CDTF">2026-10-19T11:55:31Z</dcterms:modified>
</cp:coreProperties>
</file>