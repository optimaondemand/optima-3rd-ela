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14.2. Reading: Ch. 48–49.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prompt aloud. Give students a moment to think before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minutes of sustained writing. Stamina over polish. Do not correct spelling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fix only. Editing is conventions; revision is ideas. Name which one you are asking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or three volunteers. Praise something specific in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lens: Good readers notice how characters change from beginning to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Roscuro spent his days going up into the light , down into the dark , and learning to live between the two.
Look for: Did you catch the proper noun (Roscuro), commas in the series, and the comma before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Corrected:  1. Roscuro spent his days going up into the light , down into the dark , and learning to live between the two.
Look for: Did you catch the proper noun (Roscuro), commas in the series, and the comma before "but"?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Break the word into base + word part. Ask what the part adds to the meaning.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word appears in the chapters read this week, in the author’s own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soup,, rats,, crown,, Garlic,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soup,, rats,, crown,, Garlic,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 two endings: hopelessness, thoughtfulness, fearlessly, impatiently | Base + one ending: darkness, hopeful, quickly,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 + two endings: hopelessness, thoughtfulness, fearlessly, impatiently | Base + one ending: darkness, hopeful, quickly,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chapters, then return to the pause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Writer’s Workshop stage for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3D1A6B"/>
        </a:solidFill>
      </p:bgPr>
    </p:bg>
    <p:spTree>
      <p:nvGrpSpPr>
        <p:cNvPr id="1" name=""/>
        <p:cNvGrpSpPr/>
        <p:nvPr/>
      </p:nvGrpSpPr>
      <p:grpSpPr>
        <a:xfrm>
          <a:off x="0" y="0"/>
          <a:ext cx="0" cy="0"/>
          <a:chOff x="0" y="0"/>
          <a:chExt cx="0" cy="0"/>
        </a:xfrm>
      </p:grpSpPr>
      <p:sp>
        <p:nvSpPr>
          <p:cNvPr id="2" name="Text 0"/>
          <p:cNvSpPr/>
          <p:nvPr/>
        </p:nvSpPr>
        <p:spPr>
          <a:xfrm>
            <a:off x="0" y="822960"/>
            <a:ext cx="9144000" cy="822960"/>
          </a:xfrm>
          <a:prstGeom prst="rect">
            <a:avLst/>
          </a:prstGeom>
          <a:noFill/>
          <a:ln/>
        </p:spPr>
        <p:txBody>
          <a:bodyPr wrap="square" lIns="0" tIns="0" rIns="0" bIns="0" rtlCol="0" anchor="ctr"/>
          <a:lstStyle/>
          <a:p>
            <a:pPr algn="ctr" indent="0" marL="0">
              <a:buNone/>
            </a:pPr>
            <a:r>
              <a:rPr lang="en-US" sz="5200" dirty="0">
                <a:solidFill>
                  <a:srgbClr val="000000"/>
                </a:solidFill>
              </a:rPr>
              <a:t>🐭</a:t>
            </a:r>
            <a:endParaRPr lang="en-US" sz="5200" dirty="0"/>
          </a:p>
        </p:txBody>
      </p:sp>
      <p:sp>
        <p:nvSpPr>
          <p:cNvPr id="3" name="Text 1"/>
          <p:cNvSpPr/>
          <p:nvPr/>
        </p:nvSpPr>
        <p:spPr>
          <a:xfrm>
            <a:off x="457200" y="1691640"/>
            <a:ext cx="8229600" cy="566928"/>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The Tale of Despereaux</a:t>
            </a:r>
            <a:endParaRPr lang="en-US" sz="3400" dirty="0"/>
          </a:p>
        </p:txBody>
      </p:sp>
      <p:sp>
        <p:nvSpPr>
          <p:cNvPr id="4" name="Text 2"/>
          <p:cNvSpPr/>
          <p:nvPr/>
        </p:nvSpPr>
        <p:spPr>
          <a:xfrm>
            <a:off x="457200" y="2331720"/>
            <a:ext cx="8229600" cy="411480"/>
          </a:xfrm>
          <a:prstGeom prst="rect">
            <a:avLst/>
          </a:prstGeom>
          <a:noFill/>
          <a:ln/>
        </p:spPr>
        <p:txBody>
          <a:bodyPr wrap="square" lIns="0" tIns="0" rIns="0" bIns="0" rtlCol="0" anchor="ctr"/>
          <a:lstStyle/>
          <a:p>
            <a:pPr algn="ctr" indent="0" marL="0">
              <a:buNone/>
            </a:pPr>
            <a:r>
              <a:rPr lang="en-US" sz="2000" dirty="0">
                <a:solidFill>
                  <a:srgbClr val="8B6FC0"/>
                </a:solidFill>
                <a:latin typeface="Calibri" pitchFamily="34" charset="0"/>
                <a:ea typeface="Calibri" pitchFamily="34" charset="-122"/>
                <a:cs typeface="Calibri" pitchFamily="34" charset="-120"/>
              </a:rPr>
              <a:t>Lesson 14.2  ·  Ch. 48–49</a:t>
            </a:r>
            <a:endParaRPr lang="en-US" sz="2000" dirty="0"/>
          </a:p>
        </p:txBody>
      </p:sp>
      <p:sp>
        <p:nvSpPr>
          <p:cNvPr id="5" name="Text 3"/>
          <p:cNvSpPr/>
          <p:nvPr/>
        </p:nvSpPr>
        <p:spPr>
          <a:xfrm>
            <a:off x="457200" y="2880360"/>
            <a:ext cx="8229600" cy="320040"/>
          </a:xfrm>
          <a:prstGeom prst="rect">
            <a:avLst/>
          </a:prstGeom>
          <a:noFill/>
          <a:ln/>
        </p:spPr>
        <p:txBody>
          <a:bodyPr wrap="square" lIns="0" tIns="0" rIns="0" bIns="0" rtlCol="0" anchor="ctr"/>
          <a:lstStyle/>
          <a:p>
            <a:pPr algn="ctr" indent="0" marL="0">
              <a:buNone/>
            </a:pPr>
            <a:r>
              <a:rPr lang="en-US" sz="1400" dirty="0">
                <a:solidFill>
                  <a:srgbClr val="C9BCE4"/>
                </a:solidFill>
                <a:latin typeface="Calibri" pitchFamily="34" charset="0"/>
                <a:ea typeface="Calibri" pitchFamily="34" charset="-122"/>
                <a:cs typeface="Calibri" pitchFamily="34" charset="-120"/>
              </a:rPr>
              <a:t>Grade 3 ELA  ·  Virtue: Courage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10-Minute Write</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READ THE PROMPT — 1 MINUTE</a:t>
            </a:r>
            <a:endParaRPr lang="en-US" sz="1100" dirty="0"/>
          </a:p>
        </p:txBody>
      </p:sp>
      <p:sp>
        <p:nvSpPr>
          <p:cNvPr id="5" name="Shape 3"/>
          <p:cNvSpPr/>
          <p:nvPr/>
        </p:nvSpPr>
        <p:spPr>
          <a:xfrm>
            <a:off x="365760" y="1143000"/>
            <a:ext cx="8412480" cy="1737360"/>
          </a:xfrm>
          <a:prstGeom prst="roundRect">
            <a:avLst>
              <a:gd name="adj" fmla="val 5263"/>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271016"/>
            <a:ext cx="7955280" cy="148132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Mig is given a crown and told she is a fool in the same breath. Write about a time words hurt more than you expected.</a:t>
            </a:r>
            <a:endParaRPr lang="en-US" sz="1700" dirty="0"/>
          </a:p>
        </p:txBody>
      </p:sp>
      <p:sp>
        <p:nvSpPr>
          <p:cNvPr id="7" name="Text 5"/>
          <p:cNvSpPr/>
          <p:nvPr/>
        </p:nvSpPr>
        <p:spPr>
          <a:xfrm>
            <a:off x="365760" y="3063240"/>
            <a:ext cx="8412480" cy="365760"/>
          </a:xfrm>
          <a:prstGeom prst="rect">
            <a:avLst/>
          </a:prstGeom>
          <a:noFill/>
          <a:ln/>
        </p:spPr>
        <p:txBody>
          <a:bodyPr wrap="square" lIns="0" tIns="0" rIns="0" bIns="0" rtlCol="0" anchor="ctr"/>
          <a:lstStyle/>
          <a:p>
            <a:pPr indent="0" marL="0">
              <a:buNone/>
            </a:pPr>
            <a:r>
              <a:rPr lang="en-US" sz="1600" i="1" dirty="0">
                <a:solidFill>
                  <a:srgbClr val="64748B"/>
                </a:solidFill>
                <a:latin typeface="Calibri" pitchFamily="34" charset="0"/>
                <a:ea typeface="Calibri" pitchFamily="34" charset="-122"/>
                <a:cs typeface="Calibri" pitchFamily="34" charset="-120"/>
              </a:rPr>
              <a:t>Think first. You will have five minutes to write.</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EF6E8"/>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Writing Time</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5 minutes — keep your pencil moving!</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YOUR PROMPT</a:t>
            </a:r>
            <a:endParaRPr lang="en-US" sz="1100" dirty="0"/>
          </a:p>
        </p:txBody>
      </p:sp>
      <p:sp>
        <p:nvSpPr>
          <p:cNvPr id="6" name="Shape 4"/>
          <p:cNvSpPr/>
          <p:nvPr/>
        </p:nvSpPr>
        <p:spPr>
          <a:xfrm>
            <a:off x="365760" y="1737360"/>
            <a:ext cx="8412480" cy="1417320"/>
          </a:xfrm>
          <a:prstGeom prst="roundRect">
            <a:avLst>
              <a:gd name="adj" fmla="val 6452"/>
            </a:avLst>
          </a:prstGeom>
          <a:solidFill>
            <a:srgbClr val="FFFFFF"/>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65376"/>
            <a:ext cx="7955280" cy="11612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Mig is given a crown and told she is a fool in the same breath. Write about a time words hurt more than you expected.</a:t>
            </a:r>
            <a:endParaRPr lang="en-US" sz="1700" dirty="0"/>
          </a:p>
        </p:txBody>
      </p:sp>
      <p:sp>
        <p:nvSpPr>
          <p:cNvPr id="8" name="Text 6"/>
          <p:cNvSpPr/>
          <p:nvPr/>
        </p:nvSpPr>
        <p:spPr>
          <a:xfrm>
            <a:off x="365760" y="3291840"/>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Do not stop to erase. If you get stuck, write the last word again and keep going.</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F8E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Edit &amp; Revise</a:t>
            </a:r>
            <a:endParaRPr lang="en-US" sz="2200" dirty="0"/>
          </a:p>
        </p:txBody>
      </p:sp>
      <p:sp>
        <p:nvSpPr>
          <p:cNvPr id="4" name="Text 2"/>
          <p:cNvSpPr/>
          <p:nvPr/>
        </p:nvSpPr>
        <p:spPr>
          <a:xfrm>
            <a:off x="365760" y="868680"/>
            <a:ext cx="8412480" cy="457200"/>
          </a:xfrm>
          <a:prstGeom prst="rect">
            <a:avLst/>
          </a:prstGeom>
          <a:noFill/>
          <a:ln/>
        </p:spPr>
        <p:txBody>
          <a:bodyPr wrap="square" lIns="0" tIns="0" rIns="0" bIns="0" rtlCol="0" anchor="ctr"/>
          <a:lstStyle/>
          <a:p>
            <a:pPr indent="0" marL="0">
              <a:buNone/>
            </a:pPr>
            <a:r>
              <a:rPr lang="en-US" sz="2400" b="1" dirty="0">
                <a:solidFill>
                  <a:srgbClr val="0E1C42"/>
                </a:solidFill>
                <a:latin typeface="Calibri" pitchFamily="34" charset="0"/>
                <a:ea typeface="Calibri" pitchFamily="34" charset="-122"/>
                <a:cs typeface="Calibri" pitchFamily="34" charset="-120"/>
              </a:rPr>
              <a:t>1 minute — pick ONE thing to fix.</a:t>
            </a:r>
            <a:endParaRPr lang="en-US" sz="2400" dirty="0"/>
          </a:p>
        </p:txBody>
      </p:sp>
      <p:sp>
        <p:nvSpPr>
          <p:cNvPr id="5" name="Text 3"/>
          <p:cNvSpPr/>
          <p:nvPr/>
        </p:nvSpPr>
        <p:spPr>
          <a:xfrm>
            <a:off x="365760" y="141732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TODAY'S EDIT FOCUS</a:t>
            </a:r>
            <a:endParaRPr lang="en-US" sz="1100" dirty="0"/>
          </a:p>
        </p:txBody>
      </p:sp>
      <p:sp>
        <p:nvSpPr>
          <p:cNvPr id="6" name="Shape 4"/>
          <p:cNvSpPr/>
          <p:nvPr/>
        </p:nvSpPr>
        <p:spPr>
          <a:xfrm>
            <a:off x="365760" y="1691640"/>
            <a:ext cx="8412480" cy="777240"/>
          </a:xfrm>
          <a:prstGeom prst="roundRect">
            <a:avLst>
              <a:gd name="adj" fmla="val 11765"/>
            </a:avLst>
          </a:prstGeom>
          <a:solidFill>
            <a:srgbClr val="FFFFFF"/>
          </a:solidFill>
          <a:ln w="19050">
            <a:solidFill>
              <a:srgbClr val="34B76F"/>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1965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Did I put quotation marks around the words a person said?</a:t>
            </a:r>
            <a:endParaRPr lang="en-US" sz="1700" dirty="0"/>
          </a:p>
        </p:txBody>
      </p:sp>
      <p:sp>
        <p:nvSpPr>
          <p:cNvPr id="8" name="Text 6"/>
          <p:cNvSpPr/>
          <p:nvPr/>
        </p:nvSpPr>
        <p:spPr>
          <a:xfrm>
            <a:off x="365760" y="2651760"/>
            <a:ext cx="8412480" cy="365760"/>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Quick check:  </a:t>
            </a:r>
            <a:pPr indent="0" marL="0">
              <a:buNone/>
            </a:pPr>
            <a:r>
              <a:rPr lang="en-US" sz="1500" dirty="0">
                <a:solidFill>
                  <a:srgbClr val="1E293B"/>
                </a:solidFill>
                <a:latin typeface="Calibri" pitchFamily="34" charset="0"/>
                <a:ea typeface="Calibri" pitchFamily="34" charset="-122"/>
                <a:cs typeface="Calibri" pitchFamily="34" charset="-120"/>
              </a:rPr>
              <a:t>capitals  ·  end punctuation  ·  circle a word you are unsure of  ·  read it aloud</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5F7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Share Time</a:t>
            </a:r>
            <a:endParaRPr lang="en-US" sz="2200" dirty="0"/>
          </a:p>
        </p:txBody>
      </p:sp>
      <p:sp>
        <p:nvSpPr>
          <p:cNvPr id="4" name="Text 2"/>
          <p:cNvSpPr/>
          <p:nvPr/>
        </p:nvSpPr>
        <p:spPr>
          <a:xfrm>
            <a:off x="365760" y="1005840"/>
            <a:ext cx="8412480" cy="54864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3 minutes — let's hear your writing!</a:t>
            </a:r>
            <a:endParaRPr lang="en-US" sz="2600" dirty="0"/>
          </a:p>
        </p:txBody>
      </p:sp>
      <p:sp>
        <p:nvSpPr>
          <p:cNvPr id="5" name="Text 3"/>
          <p:cNvSpPr/>
          <p:nvPr/>
        </p:nvSpPr>
        <p:spPr>
          <a:xfrm>
            <a:off x="365760" y="1691640"/>
            <a:ext cx="8412480" cy="457200"/>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Raise your hand  ·  paste it in the chat  ·  or hold your paper up to the camera</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Today</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READING</a:t>
            </a:r>
            <a:endParaRPr lang="en-US" sz="1100" dirty="0"/>
          </a:p>
        </p:txBody>
      </p:sp>
      <p:sp>
        <p:nvSpPr>
          <p:cNvPr id="5" name="Text 3"/>
          <p:cNvSpPr/>
          <p:nvPr/>
        </p:nvSpPr>
        <p:spPr>
          <a:xfrm>
            <a:off x="365760" y="1014984"/>
            <a:ext cx="8412480" cy="365760"/>
          </a:xfrm>
          <a:prstGeom prst="rect">
            <a:avLst/>
          </a:prstGeom>
          <a:noFill/>
          <a:ln/>
        </p:spPr>
        <p:txBody>
          <a:bodyPr wrap="square" lIns="0" tIns="0" rIns="0" bIns="0" rtlCol="0" anchor="ctr"/>
          <a:lstStyle/>
          <a:p>
            <a:pPr indent="0" marL="0">
              <a:buNone/>
            </a:pPr>
            <a:r>
              <a:rPr lang="en-US" sz="2000" b="1" dirty="0">
                <a:solidFill>
                  <a:srgbClr val="0E1C42"/>
                </a:solidFill>
                <a:latin typeface="Calibri" pitchFamily="34" charset="0"/>
                <a:ea typeface="Calibri" pitchFamily="34" charset="-122"/>
                <a:cs typeface="Calibri" pitchFamily="34" charset="-120"/>
              </a:rPr>
              <a:t>Ch. 48–49</a:t>
            </a:r>
            <a:endParaRPr lang="en-US" sz="2000" dirty="0"/>
          </a:p>
        </p:txBody>
      </p:sp>
      <p:sp>
        <p:nvSpPr>
          <p:cNvPr id="6" name="Text 4"/>
          <p:cNvSpPr/>
          <p:nvPr/>
        </p:nvSpPr>
        <p:spPr>
          <a:xfrm>
            <a:off x="365760" y="150876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BIG QUESTION</a:t>
            </a:r>
            <a:endParaRPr lang="en-US" sz="1100" dirty="0"/>
          </a:p>
        </p:txBody>
      </p:sp>
      <p:sp>
        <p:nvSpPr>
          <p:cNvPr id="7" name="Shape 5"/>
          <p:cNvSpPr/>
          <p:nvPr/>
        </p:nvSpPr>
        <p:spPr>
          <a:xfrm>
            <a:off x="365760" y="1746504"/>
            <a:ext cx="8412480" cy="731520"/>
          </a:xfrm>
          <a:prstGeom prst="roundRect">
            <a:avLst>
              <a:gd name="adj" fmla="val 12500"/>
            </a:avLst>
          </a:prstGeom>
          <a:solidFill>
            <a:srgbClr val="FEF6E8"/>
          </a:solidFill>
          <a:ln w="19050">
            <a:solidFill>
              <a:srgbClr val="C7922C"/>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1874520"/>
            <a:ext cx="7955280" cy="47548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How has Despereaux changed since Chapter 1?</a:t>
            </a:r>
            <a:endParaRPr lang="en-US" sz="1700" dirty="0"/>
          </a:p>
        </p:txBody>
      </p:sp>
      <p:sp>
        <p:nvSpPr>
          <p:cNvPr id="9" name="Text 7"/>
          <p:cNvSpPr/>
          <p:nvPr/>
        </p:nvSpPr>
        <p:spPr>
          <a:xfrm>
            <a:off x="365760" y="2606040"/>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READING LENS</a:t>
            </a:r>
            <a:endParaRPr lang="en-US" sz="1100" dirty="0"/>
          </a:p>
        </p:txBody>
      </p:sp>
      <p:sp>
        <p:nvSpPr>
          <p:cNvPr id="10" name="Text 8"/>
          <p:cNvSpPr/>
          <p:nvPr/>
        </p:nvSpPr>
        <p:spPr>
          <a:xfrm>
            <a:off x="365760" y="2843784"/>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Good readers notice how characters change from beginning to end.</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roscuro spent his days going up into the light down into the dark and learning to live between the two</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he was neither fully a creature of the light nor fully a creature of darkness but something new and interesting</a:t>
            </a:r>
            <a:endParaRPr lang="en-US" sz="1700" dirty="0"/>
          </a:p>
        </p:txBody>
      </p:sp>
      <p:sp>
        <p:nvSpPr>
          <p:cNvPr id="9" name="Text 7"/>
          <p:cNvSpPr/>
          <p:nvPr/>
        </p:nvSpPr>
        <p:spPr>
          <a:xfrm>
            <a:off x="365760" y="2788920"/>
            <a:ext cx="8412480" cy="365760"/>
          </a:xfrm>
          <a:prstGeom prst="rect">
            <a:avLst/>
          </a:prstGeom>
          <a:noFill/>
          <a:ln/>
        </p:spPr>
        <p:txBody>
          <a:bodyPr wrap="square" lIns="0" tIns="0" rIns="0" bIns="0" rtlCol="0" anchor="ctr"/>
          <a:lstStyle/>
          <a:p>
            <a:pPr indent="0" marL="0">
              <a:buNone/>
            </a:pPr>
            <a:r>
              <a:rPr lang="en-US" sz="1600" b="1" dirty="0">
                <a:solidFill>
                  <a:srgbClr val="0E1C42"/>
                </a:solidFill>
                <a:latin typeface="Calibri" pitchFamily="34" charset="0"/>
                <a:ea typeface="Calibri" pitchFamily="34" charset="-122"/>
                <a:cs typeface="Calibri" pitchFamily="34" charset="-120"/>
              </a:rPr>
              <a:t>Rewrite both sentences correctly in your notebook.</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Daily Oral Language</a:t>
            </a:r>
            <a:endParaRPr lang="en-US" sz="2200" dirty="0"/>
          </a:p>
        </p:txBody>
      </p:sp>
      <p:sp>
        <p:nvSpPr>
          <p:cNvPr id="4" name="Text 2"/>
          <p:cNvSpPr/>
          <p:nvPr/>
        </p:nvSpPr>
        <p:spPr>
          <a:xfrm>
            <a:off x="365760" y="749808"/>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FIX THESE SENTENCES</a:t>
            </a:r>
            <a:endParaRPr lang="en-US" sz="1100" dirty="0"/>
          </a:p>
        </p:txBody>
      </p:sp>
      <p:sp>
        <p:nvSpPr>
          <p:cNvPr id="5" name="Shape 3"/>
          <p:cNvSpPr/>
          <p:nvPr/>
        </p:nvSpPr>
        <p:spPr>
          <a:xfrm>
            <a:off x="365760" y="1024128"/>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6" name="Text 4"/>
          <p:cNvSpPr/>
          <p:nvPr/>
        </p:nvSpPr>
        <p:spPr>
          <a:xfrm>
            <a:off x="594360" y="1152144"/>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1. roscuro spent his days going up into the light down into the dark and learning to live between the two</a:t>
            </a:r>
            <a:endParaRPr lang="en-US" sz="1700" dirty="0"/>
          </a:p>
        </p:txBody>
      </p:sp>
      <p:sp>
        <p:nvSpPr>
          <p:cNvPr id="7" name="Shape 5"/>
          <p:cNvSpPr/>
          <p:nvPr/>
        </p:nvSpPr>
        <p:spPr>
          <a:xfrm>
            <a:off x="365760" y="1874520"/>
            <a:ext cx="8412480" cy="777240"/>
          </a:xfrm>
          <a:prstGeom prst="roundRect">
            <a:avLst>
              <a:gd name="adj" fmla="val 11765"/>
            </a:avLst>
          </a:prstGeom>
          <a:solidFill>
            <a:srgbClr val="FFFFFF"/>
          </a:solidFill>
          <a:ln w="19050">
            <a:solidFill>
              <a:srgbClr val="55C8E8"/>
            </a:solidFill>
            <a:prstDash val="solid"/>
          </a:ln>
          <a:effectLst>
            <a:outerShdw sx="100000" sy="100000" kx="0" ky="0" algn="bl" rotWithShape="0" blurRad="101600" dist="38100" dir="2700000">
              <a:srgbClr val="000000">
                <a:alpha val="12000"/>
              </a:srgbClr>
            </a:outerShdw>
          </a:effectLst>
        </p:spPr>
      </p:sp>
      <p:sp>
        <p:nvSpPr>
          <p:cNvPr id="8" name="Text 6"/>
          <p:cNvSpPr/>
          <p:nvPr/>
        </p:nvSpPr>
        <p:spPr>
          <a:xfrm>
            <a:off x="594360" y="2002536"/>
            <a:ext cx="7955280" cy="52120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2. he was neither fully a creature of the light nor fully a creature of darkness but something new and interesting</a:t>
            </a:r>
            <a:endParaRPr lang="en-US" sz="1700" dirty="0"/>
          </a:p>
        </p:txBody>
      </p:sp>
      <p:sp>
        <p:nvSpPr>
          <p:cNvPr id="9" name="Shape 7"/>
          <p:cNvSpPr/>
          <p:nvPr/>
        </p:nvSpPr>
        <p:spPr>
          <a:xfrm>
            <a:off x="365760" y="2743200"/>
            <a:ext cx="8412480" cy="1417320"/>
          </a:xfrm>
          <a:prstGeom prst="roundRect">
            <a:avLst>
              <a:gd name="adj" fmla="val 6452"/>
            </a:avLst>
          </a:prstGeom>
          <a:solidFill>
            <a:srgbClr val="E8F8EF"/>
          </a:solidFill>
          <a:ln/>
          <a:effectLst>
            <a:outerShdw sx="100000" sy="100000" kx="0" ky="0" algn="bl" rotWithShape="0" blurRad="101600" dist="38100" dir="2700000">
              <a:srgbClr val="000000">
                <a:alpha val="12000"/>
              </a:srgbClr>
            </a:outerShdw>
          </a:effectLst>
        </p:spPr>
      </p:sp>
      <p:sp>
        <p:nvSpPr>
          <p:cNvPr id="10" name="Text 8"/>
          <p:cNvSpPr/>
          <p:nvPr/>
        </p:nvSpPr>
        <p:spPr>
          <a:xfrm>
            <a:off x="566928" y="2816352"/>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  CORRECTED</a:t>
            </a:r>
            <a:endParaRPr lang="en-US" sz="1100" dirty="0"/>
          </a:p>
        </p:txBody>
      </p:sp>
      <p:sp>
        <p:nvSpPr>
          <p:cNvPr id="11" name="Text 9"/>
          <p:cNvSpPr/>
          <p:nvPr/>
        </p:nvSpPr>
        <p:spPr>
          <a:xfrm>
            <a:off x="566928" y="3072384"/>
            <a:ext cx="8010144" cy="685800"/>
          </a:xfrm>
          <a:prstGeom prst="rect">
            <a:avLst/>
          </a:prstGeom>
          <a:noFill/>
          <a:ln/>
        </p:spPr>
        <p:txBody>
          <a:bodyPr wrap="square" lIns="0" tIns="0" rIns="0" bIns="0" rtlCol="0" anchor="ctr"/>
          <a:lstStyle/>
          <a:p>
            <a:pPr indent="0" marL="0">
              <a:buNone/>
            </a:pPr>
            <a:endParaRPr lang="en-US" sz="1400" dirty="0"/>
          </a:p>
          <a:p>
            <a:pPr indent="0" marL="0">
              <a:buNone/>
            </a:pPr>
            <a:r>
              <a:rPr lang="en-US" sz="1400" i="1" dirty="0">
                <a:solidFill>
                  <a:srgbClr val="1E293B"/>
                </a:solidFill>
                <a:latin typeface="Calibri" pitchFamily="34" charset="0"/>
                <a:ea typeface="Calibri" pitchFamily="34" charset="-122"/>
                <a:cs typeface="Calibri" pitchFamily="34" charset="-120"/>
              </a:rPr>
              <a:t>1. Roscuro spent his days going up into the light , down into the dark , and learning to live between the two.</a:t>
            </a:r>
            <a:endParaRPr lang="en-US" sz="1400" dirty="0"/>
          </a:p>
        </p:txBody>
      </p:sp>
      <p:sp>
        <p:nvSpPr>
          <p:cNvPr id="12" name="Text 10"/>
          <p:cNvSpPr/>
          <p:nvPr/>
        </p:nvSpPr>
        <p:spPr>
          <a:xfrm>
            <a:off x="566928" y="3767328"/>
            <a:ext cx="8010144" cy="320040"/>
          </a:xfrm>
          <a:prstGeom prst="rect">
            <a:avLst/>
          </a:prstGeom>
          <a:noFill/>
          <a:ln/>
        </p:spPr>
        <p:txBody>
          <a:bodyPr wrap="square" lIns="0" tIns="0" rIns="0" bIns="0" rtlCol="0" anchor="ctr"/>
          <a:lstStyle/>
          <a:p>
            <a:pPr indent="0" marL="0">
              <a:buNone/>
            </a:pPr>
            <a:r>
              <a:rPr lang="en-US" sz="1200" dirty="0">
                <a:solidFill>
                  <a:srgbClr val="64748B"/>
                </a:solidFill>
                <a:latin typeface="Calibri" pitchFamily="34" charset="0"/>
                <a:ea typeface="Calibri" pitchFamily="34" charset="-122"/>
                <a:cs typeface="Calibri" pitchFamily="34" charset="-120"/>
              </a:rPr>
              <a:t>Did you catch the proper noun (Roscuro), commas in the series, and the comma before "but"?</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Morphology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IN- / IM-</a:t>
            </a:r>
            <a:endParaRPr lang="en-US" sz="1100" dirty="0"/>
          </a:p>
        </p:txBody>
      </p:sp>
      <p:sp>
        <p:nvSpPr>
          <p:cNvPr id="5" name="Shape 3"/>
          <p:cNvSpPr/>
          <p:nvPr/>
        </p:nvSpPr>
        <p:spPr>
          <a:xfrm>
            <a:off x="365760" y="1097280"/>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16152"/>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impossible — base word: possible</a:t>
            </a:r>
            <a:endParaRPr lang="en-US" sz="1500" dirty="0"/>
          </a:p>
        </p:txBody>
      </p:sp>
      <p:sp>
        <p:nvSpPr>
          <p:cNvPr id="7" name="Shape 5"/>
          <p:cNvSpPr/>
          <p:nvPr/>
        </p:nvSpPr>
        <p:spPr>
          <a:xfrm>
            <a:off x="365760" y="1792224"/>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11096"/>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incorrect — base word: correct</a:t>
            </a:r>
            <a:endParaRPr lang="en-US" sz="1500" dirty="0"/>
          </a:p>
        </p:txBody>
      </p:sp>
      <p:sp>
        <p:nvSpPr>
          <p:cNvPr id="9" name="Shape 7"/>
          <p:cNvSpPr/>
          <p:nvPr/>
        </p:nvSpPr>
        <p:spPr>
          <a:xfrm>
            <a:off x="365760" y="2487168"/>
            <a:ext cx="8412480" cy="621792"/>
          </a:xfrm>
          <a:prstGeom prst="roundRect">
            <a:avLst>
              <a:gd name="adj" fmla="val 14706"/>
            </a:avLst>
          </a:prstGeom>
          <a:solidFill>
            <a:srgbClr val="F0E8FF"/>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06040"/>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impatient — base word: patient</a:t>
            </a:r>
            <a:endParaRPr lang="en-US" sz="1500" dirty="0"/>
          </a:p>
        </p:txBody>
      </p:sp>
      <p:sp>
        <p:nvSpPr>
          <p:cNvPr id="11" name="Shape 9"/>
          <p:cNvSpPr/>
          <p:nvPr/>
        </p:nvSpPr>
        <p:spPr>
          <a:xfrm>
            <a:off x="365760" y="3182112"/>
            <a:ext cx="8412480" cy="621792"/>
          </a:xfrm>
          <a:prstGeom prst="roundRect">
            <a:avLst>
              <a:gd name="adj" fmla="val 14706"/>
            </a:avLst>
          </a:prstGeom>
          <a:solidFill>
            <a:srgbClr val="F8F4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300984"/>
            <a:ext cx="7863840" cy="384048"/>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invisible — base word: visible</a:t>
            </a:r>
            <a:endParaRPr lang="en-US" sz="15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55C8E8"/>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Vocabulary</a:t>
            </a:r>
            <a:endParaRPr lang="en-US" sz="2200" dirty="0"/>
          </a:p>
        </p:txBody>
      </p:sp>
      <p:sp>
        <p:nvSpPr>
          <p:cNvPr id="4" name="Text 2"/>
          <p:cNvSpPr/>
          <p:nvPr/>
        </p:nvSpPr>
        <p:spPr>
          <a:xfrm>
            <a:off x="365760" y="804672"/>
            <a:ext cx="8229600" cy="237744"/>
          </a:xfrm>
          <a:prstGeom prst="rect">
            <a:avLst/>
          </a:prstGeom>
          <a:noFill/>
          <a:ln/>
        </p:spPr>
        <p:txBody>
          <a:bodyPr wrap="square" lIns="0" tIns="0" rIns="0" bIns="0" rtlCol="0" anchor="ctr"/>
          <a:lstStyle/>
          <a:p>
            <a:pPr indent="0" marL="0">
              <a:buNone/>
            </a:pPr>
            <a:r>
              <a:rPr lang="en-US" sz="1100" b="1" spc="100" kern="0" dirty="0">
                <a:solidFill>
                  <a:srgbClr val="55C8E8"/>
                </a:solidFill>
                <a:latin typeface="Calibri" pitchFamily="34" charset="0"/>
                <a:ea typeface="Calibri" pitchFamily="34" charset="-122"/>
                <a:cs typeface="Calibri" pitchFamily="34" charset="-120"/>
              </a:rPr>
              <a:t>VOCABULARY</a:t>
            </a:r>
            <a:endParaRPr lang="en-US" sz="1100" dirty="0"/>
          </a:p>
        </p:txBody>
      </p:sp>
      <p:sp>
        <p:nvSpPr>
          <p:cNvPr id="5" name="Shape 3"/>
          <p:cNvSpPr/>
          <p:nvPr/>
        </p:nvSpPr>
        <p:spPr>
          <a:xfrm>
            <a:off x="365760" y="109728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together  </a:t>
            </a:r>
            <a:pPr indent="0" marL="0">
              <a:buNone/>
            </a:pPr>
            <a:r>
              <a:rPr lang="en-US" sz="1400" dirty="0">
                <a:solidFill>
                  <a:srgbClr val="1E293B"/>
                </a:solidFill>
                <a:latin typeface="Calibri" pitchFamily="34" charset="0"/>
                <a:ea typeface="Calibri" pitchFamily="34" charset="-122"/>
                <a:cs typeface="Calibri" pitchFamily="34" charset="-120"/>
              </a:rPr>
              <a:t>With each other; joined rather than apart.</a:t>
            </a:r>
            <a:endParaRPr lang="en-US" sz="1700" dirty="0"/>
          </a:p>
        </p:txBody>
      </p:sp>
      <p:sp>
        <p:nvSpPr>
          <p:cNvPr id="7" name="Shape 5"/>
          <p:cNvSpPr/>
          <p:nvPr/>
        </p:nvSpPr>
        <p:spPr>
          <a:xfrm>
            <a:off x="365760" y="182880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trembled  </a:t>
            </a:r>
            <a:pPr indent="0" marL="0">
              <a:buNone/>
            </a:pPr>
            <a:r>
              <a:rPr lang="en-US" sz="1400" dirty="0">
                <a:solidFill>
                  <a:srgbClr val="1E293B"/>
                </a:solidFill>
                <a:latin typeface="Calibri" pitchFamily="34" charset="0"/>
                <a:ea typeface="Calibri" pitchFamily="34" charset="-122"/>
                <a:cs typeface="Calibri" pitchFamily="34" charset="-120"/>
              </a:rPr>
              <a:t>Shook a little, usually from fear or cold.</a:t>
            </a:r>
            <a:endParaRPr lang="en-US" sz="1700" dirty="0"/>
          </a:p>
        </p:txBody>
      </p:sp>
      <p:sp>
        <p:nvSpPr>
          <p:cNvPr id="9" name="Shape 7"/>
          <p:cNvSpPr/>
          <p:nvPr/>
        </p:nvSpPr>
        <p:spPr>
          <a:xfrm>
            <a:off x="365760" y="2560320"/>
            <a:ext cx="8412480" cy="658368"/>
          </a:xfrm>
          <a:prstGeom prst="roundRect">
            <a:avLst>
              <a:gd name="adj" fmla="val 13889"/>
            </a:avLst>
          </a:prstGeom>
          <a:solidFill>
            <a:srgbClr val="E5F7FC"/>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tears  </a:t>
            </a:r>
            <a:pPr indent="0" marL="0">
              <a:buNone/>
            </a:pPr>
            <a:r>
              <a:rPr lang="en-US" sz="1400" dirty="0">
                <a:solidFill>
                  <a:srgbClr val="1E293B"/>
                </a:solidFill>
                <a:latin typeface="Calibri" pitchFamily="34" charset="0"/>
                <a:ea typeface="Calibri" pitchFamily="34" charset="-122"/>
                <a:cs typeface="Calibri" pitchFamily="34" charset="-120"/>
              </a:rPr>
              <a:t>Drops of water that come from your eyes when you cry.</a:t>
            </a:r>
            <a:endParaRPr lang="en-US" sz="1700" dirty="0"/>
          </a:p>
        </p:txBody>
      </p:sp>
      <p:sp>
        <p:nvSpPr>
          <p:cNvPr id="11" name="Shape 9"/>
          <p:cNvSpPr/>
          <p:nvPr/>
        </p:nvSpPr>
        <p:spPr>
          <a:xfrm>
            <a:off x="365760" y="3291840"/>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20624"/>
          </a:xfrm>
          <a:prstGeom prst="rect">
            <a:avLst/>
          </a:prstGeom>
          <a:noFill/>
          <a:ln/>
        </p:spPr>
        <p:txBody>
          <a:bodyPr wrap="square" lIns="0" tIns="0" rIns="0" bIns="0" rtlCol="0" anchor="ctr"/>
          <a:lstStyle/>
          <a:p>
            <a:pPr indent="0" marL="0">
              <a:buNone/>
            </a:pPr>
            <a:r>
              <a:rPr lang="en-US" sz="1700" b="1" dirty="0">
                <a:solidFill>
                  <a:srgbClr val="0E1C42"/>
                </a:solidFill>
                <a:latin typeface="Calibri" pitchFamily="34" charset="0"/>
                <a:ea typeface="Calibri" pitchFamily="34" charset="-122"/>
                <a:cs typeface="Calibri" pitchFamily="34" charset="-120"/>
              </a:rPr>
              <a:t>happily  </a:t>
            </a:r>
            <a:pPr indent="0" marL="0">
              <a:buNone/>
            </a:pPr>
            <a:r>
              <a:rPr lang="en-US" sz="1400" dirty="0">
                <a:solidFill>
                  <a:srgbClr val="1E293B"/>
                </a:solidFill>
                <a:latin typeface="Calibri" pitchFamily="34" charset="0"/>
                <a:ea typeface="Calibri" pitchFamily="34" charset="-122"/>
                <a:cs typeface="Calibri" pitchFamily="34" charset="-120"/>
              </a:rPr>
              <a:t>In a happy way; with joy.</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COMMAS IN A SERIES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He brought soup, bread, and a candle.</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rats, the mice, and the people all feared the dark.</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Mig wanted a crown, a gown, and a name.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Garlic, chicken, and watercress went into the pot.</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Your turn. Find a comma that is separating items in a list. Tap a word to check — green means you got it.</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C7922C"/>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Grammar</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COMMAS IN A SERIES</a:t>
            </a:r>
            <a:endParaRPr lang="en-US" sz="1100" dirty="0"/>
          </a:p>
        </p:txBody>
      </p:sp>
      <p:sp>
        <p:nvSpPr>
          <p:cNvPr id="5" name="Shape 3"/>
          <p:cNvSpPr/>
          <p:nvPr/>
        </p:nvSpPr>
        <p:spPr>
          <a:xfrm>
            <a:off x="365760" y="107899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6" name="Text 4"/>
          <p:cNvSpPr/>
          <p:nvPr/>
        </p:nvSpPr>
        <p:spPr>
          <a:xfrm>
            <a:off x="594360" y="122529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He brought </a:t>
            </a:r>
            <a:pPr indent="0" marL="0">
              <a:buNone/>
            </a:pPr>
            <a:r>
              <a:rPr lang="en-US" sz="1600" b="1" dirty="0">
                <a:solidFill>
                  <a:srgbClr val="34B76F"/>
                </a:solidFill>
                <a:latin typeface="Calibri" pitchFamily="34" charset="0"/>
                <a:ea typeface="Calibri" pitchFamily="34" charset="-122"/>
                <a:cs typeface="Calibri" pitchFamily="34" charset="-120"/>
              </a:rPr>
              <a:t>soup,</a:t>
            </a:r>
            <a:pPr indent="0" marL="0">
              <a:buNone/>
            </a:pPr>
            <a:r>
              <a:rPr lang="en-US" sz="1600" dirty="0">
                <a:solidFill>
                  <a:srgbClr val="1E293B"/>
                </a:solidFill>
                <a:latin typeface="Calibri" pitchFamily="34" charset="0"/>
                <a:ea typeface="Calibri" pitchFamily="34" charset="-122"/>
                <a:cs typeface="Calibri" pitchFamily="34" charset="-120"/>
              </a:rPr>
              <a:t> bread, and a candle.</a:t>
            </a:r>
            <a:endParaRPr lang="en-US" sz="1600" dirty="0"/>
          </a:p>
        </p:txBody>
      </p:sp>
      <p:sp>
        <p:nvSpPr>
          <p:cNvPr id="7" name="Shape 5"/>
          <p:cNvSpPr/>
          <p:nvPr/>
        </p:nvSpPr>
        <p:spPr>
          <a:xfrm>
            <a:off x="365760" y="181051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94360" y="195681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The </a:t>
            </a:r>
            <a:pPr indent="0" marL="0">
              <a:buNone/>
            </a:pPr>
            <a:r>
              <a:rPr lang="en-US" sz="1600" b="1" dirty="0">
                <a:solidFill>
                  <a:srgbClr val="34B76F"/>
                </a:solidFill>
                <a:latin typeface="Calibri" pitchFamily="34" charset="0"/>
                <a:ea typeface="Calibri" pitchFamily="34" charset="-122"/>
                <a:cs typeface="Calibri" pitchFamily="34" charset="-120"/>
              </a:rPr>
              <a:t>rats,</a:t>
            </a:r>
            <a:pPr indent="0" marL="0">
              <a:buNone/>
            </a:pPr>
            <a:r>
              <a:rPr lang="en-US" sz="1600" dirty="0">
                <a:solidFill>
                  <a:srgbClr val="1E293B"/>
                </a:solidFill>
                <a:latin typeface="Calibri" pitchFamily="34" charset="0"/>
                <a:ea typeface="Calibri" pitchFamily="34" charset="-122"/>
                <a:cs typeface="Calibri" pitchFamily="34" charset="-120"/>
              </a:rPr>
              <a:t> the mice, and the people all feared the dark.</a:t>
            </a:r>
            <a:endParaRPr lang="en-US" sz="1600" dirty="0"/>
          </a:p>
        </p:txBody>
      </p:sp>
      <p:sp>
        <p:nvSpPr>
          <p:cNvPr id="9" name="Shape 7"/>
          <p:cNvSpPr/>
          <p:nvPr/>
        </p:nvSpPr>
        <p:spPr>
          <a:xfrm>
            <a:off x="365760" y="2542032"/>
            <a:ext cx="8412480" cy="658368"/>
          </a:xfrm>
          <a:prstGeom prst="roundRect">
            <a:avLst>
              <a:gd name="adj" fmla="val 13889"/>
            </a:avLst>
          </a:prstGeom>
          <a:solidFill>
            <a:srgbClr val="FEF6E8"/>
          </a:solidFill>
          <a:ln/>
          <a:effectLst>
            <a:outerShdw sx="100000" sy="100000" kx="0" ky="0" algn="bl" rotWithShape="0" blurRad="101600" dist="38100" dir="2700000">
              <a:srgbClr val="000000">
                <a:alpha val="12000"/>
              </a:srgbClr>
            </a:outerShdw>
          </a:effectLst>
        </p:spPr>
      </p:sp>
      <p:sp>
        <p:nvSpPr>
          <p:cNvPr id="10" name="Text 8"/>
          <p:cNvSpPr/>
          <p:nvPr/>
        </p:nvSpPr>
        <p:spPr>
          <a:xfrm>
            <a:off x="594360" y="2688336"/>
            <a:ext cx="7863840" cy="402336"/>
          </a:xfrm>
          <a:prstGeom prst="rect">
            <a:avLst/>
          </a:prstGeom>
          <a:noFill/>
          <a:ln/>
        </p:spPr>
        <p:txBody>
          <a:bodyPr wrap="square" lIns="0" tIns="0" rIns="0" bIns="0" rtlCol="0" anchor="ctr"/>
          <a:lstStyle/>
          <a:p>
            <a:pPr indent="0" marL="0">
              <a:buNone/>
            </a:pPr>
            <a:r>
              <a:rPr lang="en-US" sz="1600" dirty="0">
                <a:solidFill>
                  <a:srgbClr val="1E293B"/>
                </a:solidFill>
                <a:latin typeface="Calibri" pitchFamily="34" charset="0"/>
                <a:ea typeface="Calibri" pitchFamily="34" charset="-122"/>
                <a:cs typeface="Calibri" pitchFamily="34" charset="-120"/>
              </a:rPr>
              <a:t>Mig wanted a </a:t>
            </a:r>
            <a:pPr indent="0" marL="0">
              <a:buNone/>
            </a:pPr>
            <a:r>
              <a:rPr lang="en-US" sz="1600" b="1" dirty="0">
                <a:solidFill>
                  <a:srgbClr val="34B76F"/>
                </a:solidFill>
                <a:latin typeface="Calibri" pitchFamily="34" charset="0"/>
                <a:ea typeface="Calibri" pitchFamily="34" charset="-122"/>
                <a:cs typeface="Calibri" pitchFamily="34" charset="-120"/>
              </a:rPr>
              <a:t>crown,</a:t>
            </a:r>
            <a:pPr indent="0" marL="0">
              <a:buNone/>
            </a:pPr>
            <a:r>
              <a:rPr lang="en-US" sz="1600" dirty="0">
                <a:solidFill>
                  <a:srgbClr val="1E293B"/>
                </a:solidFill>
                <a:latin typeface="Calibri" pitchFamily="34" charset="0"/>
                <a:ea typeface="Calibri" pitchFamily="34" charset="-122"/>
                <a:cs typeface="Calibri" pitchFamily="34" charset="-120"/>
              </a:rPr>
              <a:t> a gown, and a name.</a:t>
            </a:r>
            <a:endParaRPr lang="en-US" sz="1600" dirty="0"/>
          </a:p>
        </p:txBody>
      </p:sp>
      <p:sp>
        <p:nvSpPr>
          <p:cNvPr id="11" name="Shape 9"/>
          <p:cNvSpPr/>
          <p:nvPr/>
        </p:nvSpPr>
        <p:spPr>
          <a:xfrm>
            <a:off x="365760" y="3273552"/>
            <a:ext cx="8412480" cy="658368"/>
          </a:xfrm>
          <a:prstGeom prst="roundRect">
            <a:avLst>
              <a:gd name="adj" fmla="val 13889"/>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594360" y="3419856"/>
            <a:ext cx="7863840" cy="402336"/>
          </a:xfrm>
          <a:prstGeom prst="rect">
            <a:avLst/>
          </a:prstGeom>
          <a:noFill/>
          <a:ln/>
        </p:spPr>
        <p:txBody>
          <a:bodyPr wrap="square" lIns="0" tIns="0" rIns="0" bIns="0" rtlCol="0" anchor="ctr"/>
          <a:lstStyle/>
          <a:p>
            <a:pPr indent="0" marL="0">
              <a:buNone/>
            </a:pPr>
            <a:r>
              <a:rPr lang="en-US" sz="1600" b="1" dirty="0">
                <a:solidFill>
                  <a:srgbClr val="34B76F"/>
                </a:solidFill>
                <a:latin typeface="Calibri" pitchFamily="34" charset="0"/>
                <a:ea typeface="Calibri" pitchFamily="34" charset="-122"/>
                <a:cs typeface="Calibri" pitchFamily="34" charset="-120"/>
              </a:rPr>
              <a:t>Garlic,</a:t>
            </a:r>
            <a:pPr indent="0" marL="0">
              <a:buNone/>
            </a:pPr>
            <a:r>
              <a:rPr lang="en-US" sz="1600" dirty="0">
                <a:solidFill>
                  <a:srgbClr val="1E293B"/>
                </a:solidFill>
                <a:latin typeface="Calibri" pitchFamily="34" charset="0"/>
                <a:ea typeface="Calibri" pitchFamily="34" charset="-122"/>
                <a:cs typeface="Calibri" pitchFamily="34" charset="-120"/>
              </a:rPr>
              <a:t> chicken, and watercress went into the pot.</a:t>
            </a:r>
            <a:endParaRPr lang="en-US" sz="1600" dirty="0"/>
          </a:p>
        </p:txBody>
      </p:sp>
      <p:sp>
        <p:nvSpPr>
          <p:cNvPr id="13" name="Text 11"/>
          <p:cNvSpPr/>
          <p:nvPr/>
        </p:nvSpPr>
        <p:spPr>
          <a:xfrm>
            <a:off x="365760" y="4050792"/>
            <a:ext cx="8412480" cy="365760"/>
          </a:xfrm>
          <a:prstGeom prst="rect">
            <a:avLst/>
          </a:prstGeom>
          <a:noFill/>
          <a:ln/>
        </p:spPr>
        <p:txBody>
          <a:bodyPr wrap="square" lIns="0" tIns="0" rIns="0" bIns="0" rtlCol="0" anchor="ctr"/>
          <a:lstStyle/>
          <a:p>
            <a:pPr indent="0" marL="0">
              <a:buNone/>
            </a:pPr>
            <a:r>
              <a:rPr lang="en-US" sz="1500" b="1" dirty="0">
                <a:solidFill>
                  <a:srgbClr val="34B76F"/>
                </a:solidFill>
                <a:latin typeface="Calibri" pitchFamily="34" charset="0"/>
                <a:ea typeface="Calibri" pitchFamily="34" charset="-122"/>
                <a:cs typeface="Calibri" pitchFamily="34" charset="-120"/>
              </a:rPr>
              <a:t>✅  Answers revealed</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LONGER WORDS WITH FAMILIAR SUFFIXES</a:t>
            </a:r>
            <a:endParaRPr lang="en-US" sz="1100" dirty="0"/>
          </a:p>
        </p:txBody>
      </p:sp>
      <p:sp>
        <p:nvSpPr>
          <p:cNvPr id="5" name="Text 3"/>
          <p:cNvSpPr/>
          <p:nvPr/>
        </p:nvSpPr>
        <p:spPr>
          <a:xfrm>
            <a:off x="365760" y="1078992"/>
            <a:ext cx="8229600" cy="237744"/>
          </a:xfrm>
          <a:prstGeom prst="rect">
            <a:avLst/>
          </a:prstGeom>
          <a:noFill/>
          <a:ln/>
        </p:spPr>
        <p:txBody>
          <a:bodyPr wrap="square" lIns="0" tIns="0" rIns="0" bIns="0" rtlCol="0" anchor="ctr"/>
          <a:lstStyle/>
          <a:p>
            <a:pPr indent="0" marL="0">
              <a:buNone/>
            </a:pPr>
            <a:r>
              <a:rPr lang="en-US" sz="1100" b="1" spc="100" kern="0" dirty="0">
                <a:solidFill>
                  <a:srgbClr val="64748B"/>
                </a:solidFill>
                <a:latin typeface="Calibri" pitchFamily="34" charset="0"/>
                <a:ea typeface="Calibri" pitchFamily="34" charset="-122"/>
                <a:cs typeface="Calibri" pitchFamily="34" charset="-120"/>
              </a:rPr>
              <a:t>WORD BANK</a:t>
            </a:r>
            <a:endParaRPr lang="en-US" sz="1100" dirty="0"/>
          </a:p>
        </p:txBody>
      </p:sp>
      <p:sp>
        <p:nvSpPr>
          <p:cNvPr id="6" name="Shape 4"/>
          <p:cNvSpPr/>
          <p:nvPr/>
        </p:nvSpPr>
        <p:spPr>
          <a:xfrm>
            <a:off x="365760" y="1353312"/>
            <a:ext cx="8412480" cy="1005840"/>
          </a:xfrm>
          <a:prstGeom prst="roundRect">
            <a:avLst>
              <a:gd name="adj" fmla="val 9091"/>
            </a:avLst>
          </a:prstGeom>
          <a:solidFill>
            <a:srgbClr val="FFFFFF"/>
          </a:solidFill>
          <a:ln w="19050">
            <a:solidFill>
              <a:srgbClr val="0E1C42"/>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481328"/>
            <a:ext cx="7955280" cy="749808"/>
          </a:xfrm>
          <a:prstGeom prst="rect">
            <a:avLst/>
          </a:prstGeom>
          <a:noFill/>
          <a:ln/>
        </p:spPr>
        <p:txBody>
          <a:bodyPr wrap="square" lIns="0" tIns="0" rIns="0" bIns="0" rtlCol="0" anchor="ctr"/>
          <a:lstStyle/>
          <a:p>
            <a:pPr indent="0" marL="0">
              <a:buNone/>
            </a:pPr>
            <a:r>
              <a:rPr lang="en-US" sz="1700" dirty="0">
                <a:solidFill>
                  <a:srgbClr val="0E1C42"/>
                </a:solidFill>
                <a:latin typeface="Calibri" pitchFamily="34" charset="0"/>
                <a:ea typeface="Calibri" pitchFamily="34" charset="-122"/>
                <a:cs typeface="Calibri" pitchFamily="34" charset="-120"/>
              </a:rPr>
              <a:t>hopelessness   ·   thoughtfulness   ·   fearlessly   ·   impatiently   ·   darkness   ·   hopeful   ·   quickly   ·   disagree</a:t>
            </a:r>
            <a:endParaRPr lang="en-US" sz="1700" dirty="0"/>
          </a:p>
        </p:txBody>
      </p:sp>
      <p:sp>
        <p:nvSpPr>
          <p:cNvPr id="8" name="Text 6"/>
          <p:cNvSpPr/>
          <p:nvPr/>
        </p:nvSpPr>
        <p:spPr>
          <a:xfrm>
            <a:off x="365760" y="2514600"/>
            <a:ext cx="8412480" cy="457200"/>
          </a:xfrm>
          <a:prstGeom prst="rect">
            <a:avLst/>
          </a:prstGeom>
          <a:noFill/>
          <a:ln/>
        </p:spPr>
        <p:txBody>
          <a:bodyPr wrap="square" lIns="0" tIns="0" rIns="0" bIns="0" rtlCol="0" anchor="ctr"/>
          <a:lstStyle/>
          <a:p>
            <a:pPr indent="0" marL="0">
              <a:buNone/>
            </a:pPr>
            <a:r>
              <a:rPr lang="en-US" sz="1500" i="1" dirty="0">
                <a:solidFill>
                  <a:srgbClr val="64748B"/>
                </a:solidFill>
                <a:latin typeface="Calibri" pitchFamily="34" charset="0"/>
                <a:ea typeface="Calibri" pitchFamily="34" charset="-122"/>
                <a:cs typeface="Calibri" pitchFamily="34" charset="-120"/>
              </a:rPr>
              <a:t>Which column does each word belong in?  Columns: Base + two endings  |  Base + one ending</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0E1C42"/>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Spelling</a:t>
            </a:r>
            <a:endParaRPr lang="en-US" sz="2200" dirty="0"/>
          </a:p>
        </p:txBody>
      </p:sp>
      <p:sp>
        <p:nvSpPr>
          <p:cNvPr id="4" name="Text 2"/>
          <p:cNvSpPr/>
          <p:nvPr/>
        </p:nvSpPr>
        <p:spPr>
          <a:xfrm>
            <a:off x="365760" y="777240"/>
            <a:ext cx="8229600" cy="237744"/>
          </a:xfrm>
          <a:prstGeom prst="rect">
            <a:avLst/>
          </a:prstGeom>
          <a:noFill/>
          <a:ln/>
        </p:spPr>
        <p:txBody>
          <a:bodyPr wrap="square" lIns="0" tIns="0" rIns="0" bIns="0" rtlCol="0" anchor="ctr"/>
          <a:lstStyle/>
          <a:p>
            <a:pPr indent="0" marL="0">
              <a:buNone/>
            </a:pPr>
            <a:r>
              <a:rPr lang="en-US" sz="1100" b="1" spc="100" kern="0" dirty="0">
                <a:solidFill>
                  <a:srgbClr val="0E1C42"/>
                </a:solidFill>
                <a:latin typeface="Calibri" pitchFamily="34" charset="0"/>
                <a:ea typeface="Calibri" pitchFamily="34" charset="-122"/>
                <a:cs typeface="Calibri" pitchFamily="34" charset="-120"/>
              </a:rPr>
              <a:t>LONGER WORDS WITH FAMILIAR SUFFIXES</a:t>
            </a:r>
            <a:endParaRPr lang="en-US" sz="1100" dirty="0"/>
          </a:p>
        </p:txBody>
      </p:sp>
      <p:sp>
        <p:nvSpPr>
          <p:cNvPr id="5" name="Shape 3"/>
          <p:cNvSpPr/>
          <p:nvPr/>
        </p:nvSpPr>
        <p:spPr>
          <a:xfrm>
            <a:off x="411480" y="1078992"/>
            <a:ext cx="4114800" cy="457200"/>
          </a:xfrm>
          <a:prstGeom prst="roundRect">
            <a:avLst>
              <a:gd name="adj" fmla="val 16000"/>
            </a:avLst>
          </a:prstGeom>
          <a:solidFill>
            <a:srgbClr val="0E1C42"/>
          </a:solidFill>
          <a:ln/>
        </p:spPr>
      </p:sp>
      <p:sp>
        <p:nvSpPr>
          <p:cNvPr id="6" name="Text 4"/>
          <p:cNvSpPr/>
          <p:nvPr/>
        </p:nvSpPr>
        <p:spPr>
          <a:xfrm>
            <a:off x="45720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 + two endings</a:t>
            </a:r>
            <a:endParaRPr lang="en-US" sz="1300" dirty="0"/>
          </a:p>
        </p:txBody>
      </p:sp>
      <p:sp>
        <p:nvSpPr>
          <p:cNvPr id="7" name="Shape 5"/>
          <p:cNvSpPr/>
          <p:nvPr/>
        </p:nvSpPr>
        <p:spPr>
          <a:xfrm>
            <a:off x="41148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8" name="Text 6"/>
          <p:cNvSpPr/>
          <p:nvPr/>
        </p:nvSpPr>
        <p:spPr>
          <a:xfrm>
            <a:off x="50292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hopelessness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thoughtfulness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fearlessly</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impatiently</a:t>
            </a:r>
            <a:endParaRPr lang="en-US" sz="1400" dirty="0"/>
          </a:p>
        </p:txBody>
      </p:sp>
      <p:sp>
        <p:nvSpPr>
          <p:cNvPr id="9" name="Shape 7"/>
          <p:cNvSpPr/>
          <p:nvPr/>
        </p:nvSpPr>
        <p:spPr>
          <a:xfrm>
            <a:off x="4617720" y="1078992"/>
            <a:ext cx="4114800" cy="457200"/>
          </a:xfrm>
          <a:prstGeom prst="roundRect">
            <a:avLst>
              <a:gd name="adj" fmla="val 16000"/>
            </a:avLst>
          </a:prstGeom>
          <a:solidFill>
            <a:srgbClr val="0E1C42"/>
          </a:solidFill>
          <a:ln/>
        </p:spPr>
      </p:sp>
      <p:sp>
        <p:nvSpPr>
          <p:cNvPr id="10" name="Text 8"/>
          <p:cNvSpPr/>
          <p:nvPr/>
        </p:nvSpPr>
        <p:spPr>
          <a:xfrm>
            <a:off x="4663440" y="1133856"/>
            <a:ext cx="4023360"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Base + one ending</a:t>
            </a:r>
            <a:endParaRPr lang="en-US" sz="1300" dirty="0"/>
          </a:p>
        </p:txBody>
      </p:sp>
      <p:sp>
        <p:nvSpPr>
          <p:cNvPr id="11" name="Shape 9"/>
          <p:cNvSpPr/>
          <p:nvPr/>
        </p:nvSpPr>
        <p:spPr>
          <a:xfrm>
            <a:off x="4617720" y="1591056"/>
            <a:ext cx="4114800" cy="2103120"/>
          </a:xfrm>
          <a:prstGeom prst="roundRect">
            <a:avLst>
              <a:gd name="adj" fmla="val 4348"/>
            </a:avLst>
          </a:prstGeom>
          <a:solidFill>
            <a:srgbClr val="FFFFFF"/>
          </a:solidFill>
          <a:ln/>
          <a:effectLst>
            <a:outerShdw sx="100000" sy="100000" kx="0" ky="0" algn="bl" rotWithShape="0" blurRad="101600" dist="38100" dir="2700000">
              <a:srgbClr val="000000">
                <a:alpha val="12000"/>
              </a:srgbClr>
            </a:outerShdw>
          </a:effectLst>
        </p:spPr>
      </p:sp>
      <p:sp>
        <p:nvSpPr>
          <p:cNvPr id="12" name="Text 10"/>
          <p:cNvSpPr/>
          <p:nvPr/>
        </p:nvSpPr>
        <p:spPr>
          <a:xfrm>
            <a:off x="4709160" y="1700784"/>
            <a:ext cx="3931920" cy="1883664"/>
          </a:xfrm>
          <a:prstGeom prst="rect">
            <a:avLst/>
          </a:prstGeom>
          <a:noFill/>
          <a:ln/>
        </p:spPr>
        <p:txBody>
          <a:bodyPr wrap="square" lIns="0" tIns="0" rIns="0" bIns="0" rtlCol="0" anchor="ctr"/>
          <a:lstStyle/>
          <a:p>
            <a:pPr algn="ctr" indent="0" marL="0">
              <a:buNone/>
            </a:pPr>
            <a:r>
              <a:rPr lang="en-US" sz="1400" dirty="0">
                <a:solidFill>
                  <a:srgbClr val="1E293B"/>
                </a:solidFill>
                <a:latin typeface="Calibri" pitchFamily="34" charset="0"/>
                <a:ea typeface="Calibri" pitchFamily="34" charset="-122"/>
                <a:cs typeface="Calibri" pitchFamily="34" charset="-120"/>
              </a:rPr>
              <a:t>darkness</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hopeful</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quickly</a:t>
            </a:r>
            <a:endParaRPr lang="en-US" sz="1400" dirty="0"/>
          </a:p>
          <a:p>
            <a:pPr algn="ctr" indent="0" marL="0">
              <a:buNone/>
            </a:pPr>
            <a:r>
              <a:rPr lang="en-US" sz="1400" dirty="0">
                <a:solidFill>
                  <a:srgbClr val="1E293B"/>
                </a:solidFill>
                <a:latin typeface="Calibri" pitchFamily="34" charset="0"/>
                <a:ea typeface="Calibri" pitchFamily="34" charset="-122"/>
                <a:cs typeface="Calibri" pitchFamily="34" charset="-120"/>
              </a:rPr>
              <a:t>disagree</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8B6FC0"/>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Read</a:t>
            </a:r>
            <a:endParaRPr lang="en-US" sz="2200" dirty="0"/>
          </a:p>
        </p:txBody>
      </p:sp>
      <p:sp>
        <p:nvSpPr>
          <p:cNvPr id="4" name="Text 2"/>
          <p:cNvSpPr/>
          <p:nvPr/>
        </p:nvSpPr>
        <p:spPr>
          <a:xfrm>
            <a:off x="365760" y="868680"/>
            <a:ext cx="8412480" cy="502920"/>
          </a:xfrm>
          <a:prstGeom prst="rect">
            <a:avLst/>
          </a:prstGeom>
          <a:noFill/>
          <a:ln/>
        </p:spPr>
        <p:txBody>
          <a:bodyPr wrap="square" lIns="0" tIns="0" rIns="0" bIns="0" rtlCol="0" anchor="ctr"/>
          <a:lstStyle/>
          <a:p>
            <a:pPr indent="0" marL="0">
              <a:buNone/>
            </a:pPr>
            <a:r>
              <a:rPr lang="en-US" sz="2600" b="1" dirty="0">
                <a:solidFill>
                  <a:srgbClr val="0E1C42"/>
                </a:solidFill>
                <a:latin typeface="Calibri" pitchFamily="34" charset="0"/>
                <a:ea typeface="Calibri" pitchFamily="34" charset="-122"/>
                <a:cs typeface="Calibri" pitchFamily="34" charset="-120"/>
              </a:rPr>
              <a:t>Ch. 48–49</a:t>
            </a:r>
            <a:endParaRPr lang="en-US" sz="2600" dirty="0"/>
          </a:p>
        </p:txBody>
      </p:sp>
      <p:sp>
        <p:nvSpPr>
          <p:cNvPr id="5" name="Text 3"/>
          <p:cNvSpPr/>
          <p:nvPr/>
        </p:nvSpPr>
        <p:spPr>
          <a:xfrm>
            <a:off x="365760" y="1463040"/>
            <a:ext cx="8229600" cy="237744"/>
          </a:xfrm>
          <a:prstGeom prst="rect">
            <a:avLst/>
          </a:prstGeom>
          <a:noFill/>
          <a:ln/>
        </p:spPr>
        <p:txBody>
          <a:bodyPr wrap="square" lIns="0" tIns="0" rIns="0" bIns="0" rtlCol="0" anchor="ctr"/>
          <a:lstStyle/>
          <a:p>
            <a:pPr indent="0" marL="0">
              <a:buNone/>
            </a:pPr>
            <a:r>
              <a:rPr lang="en-US" sz="1100" b="1" spc="100" kern="0" dirty="0">
                <a:solidFill>
                  <a:srgbClr val="8B6FC0"/>
                </a:solidFill>
                <a:latin typeface="Calibri" pitchFamily="34" charset="0"/>
                <a:ea typeface="Calibri" pitchFamily="34" charset="-122"/>
                <a:cs typeface="Calibri" pitchFamily="34" charset="-120"/>
              </a:rPr>
              <a:t>COPYWORK — FROM THE NOVEL</a:t>
            </a:r>
            <a:endParaRPr lang="en-US" sz="1100" dirty="0"/>
          </a:p>
        </p:txBody>
      </p:sp>
      <p:sp>
        <p:nvSpPr>
          <p:cNvPr id="6" name="Shape 4"/>
          <p:cNvSpPr/>
          <p:nvPr/>
        </p:nvSpPr>
        <p:spPr>
          <a:xfrm>
            <a:off x="365760" y="1719072"/>
            <a:ext cx="8412480" cy="1143000"/>
          </a:xfrm>
          <a:prstGeom prst="roundRect">
            <a:avLst>
              <a:gd name="adj" fmla="val 8000"/>
            </a:avLst>
          </a:prstGeom>
          <a:solidFill>
            <a:srgbClr val="F0E8FF"/>
          </a:solidFill>
          <a:ln w="19050">
            <a:solidFill>
              <a:srgbClr val="8B6FC0"/>
            </a:solidFill>
            <a:prstDash val="solid"/>
          </a:ln>
          <a:effectLst>
            <a:outerShdw sx="100000" sy="100000" kx="0" ky="0" algn="bl" rotWithShape="0" blurRad="101600" dist="38100" dir="2700000">
              <a:srgbClr val="000000">
                <a:alpha val="12000"/>
              </a:srgbClr>
            </a:outerShdw>
          </a:effectLst>
        </p:spPr>
      </p:sp>
      <p:sp>
        <p:nvSpPr>
          <p:cNvPr id="7" name="Text 5"/>
          <p:cNvSpPr/>
          <p:nvPr/>
        </p:nvSpPr>
        <p:spPr>
          <a:xfrm>
            <a:off x="594360" y="1847088"/>
            <a:ext cx="7955280" cy="886968"/>
          </a:xfrm>
          <a:prstGeom prst="rect">
            <a:avLst/>
          </a:prstGeom>
          <a:noFill/>
          <a:ln/>
        </p:spPr>
        <p:txBody>
          <a:bodyPr wrap="square" lIns="0" tIns="0" rIns="0" bIns="0" rtlCol="0" anchor="ctr"/>
          <a:lstStyle/>
          <a:p>
            <a:pPr indent="0" marL="0">
              <a:buNone/>
            </a:pPr>
            <a:r>
              <a:rPr lang="en-US" sz="1700" dirty="0">
                <a:solidFill>
                  <a:srgbClr val="1E293B"/>
                </a:solidFill>
                <a:latin typeface="Calibri" pitchFamily="34" charset="0"/>
                <a:ea typeface="Calibri" pitchFamily="34" charset="-122"/>
                <a:cs typeface="Calibri" pitchFamily="34" charset="-120"/>
              </a:rPr>
              <a:t>“The Pea sighed and took off her crown and handed it to Mig, and Mig put it on and it slid immediately right down her small head and came to rest, quite painfully, on her poor, abused ears.”</a:t>
            </a:r>
            <a:endParaRPr lang="en-US" sz="1700" dirty="0"/>
          </a:p>
        </p:txBody>
      </p:sp>
      <p:sp>
        <p:nvSpPr>
          <p:cNvPr id="8" name="Text 6"/>
          <p:cNvSpPr/>
          <p:nvPr/>
        </p:nvSpPr>
        <p:spPr>
          <a:xfrm>
            <a:off x="365760" y="3017520"/>
            <a:ext cx="8229600" cy="237744"/>
          </a:xfrm>
          <a:prstGeom prst="rect">
            <a:avLst/>
          </a:prstGeom>
          <a:noFill/>
          <a:ln/>
        </p:spPr>
        <p:txBody>
          <a:bodyPr wrap="square" lIns="0" tIns="0" rIns="0" bIns="0" rtlCol="0" anchor="ctr"/>
          <a:lstStyle/>
          <a:p>
            <a:pPr indent="0" marL="0">
              <a:buNone/>
            </a:pPr>
            <a:r>
              <a:rPr lang="en-US" sz="1100" b="1" spc="100" kern="0" dirty="0">
                <a:solidFill>
                  <a:srgbClr val="C7922C"/>
                </a:solidFill>
                <a:latin typeface="Calibri" pitchFamily="34" charset="0"/>
                <a:ea typeface="Calibri" pitchFamily="34" charset="-122"/>
                <a:cs typeface="Calibri" pitchFamily="34" charset="-120"/>
              </a:rPr>
              <a:t>PAUSE &amp; THINK</a:t>
            </a:r>
            <a:endParaRPr lang="en-US" sz="1100" dirty="0"/>
          </a:p>
        </p:txBody>
      </p:sp>
      <p:sp>
        <p:nvSpPr>
          <p:cNvPr id="9" name="Text 7"/>
          <p:cNvSpPr/>
          <p:nvPr/>
        </p:nvSpPr>
        <p:spPr>
          <a:xfrm>
            <a:off x="365760" y="3273552"/>
            <a:ext cx="8412480" cy="914400"/>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  How has Despereaux changed since Chapter 1?</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How has Roscuro changed — for better or worse?</a:t>
            </a:r>
            <a:endParaRPr lang="en-US" sz="1500" dirty="0"/>
          </a:p>
          <a:p>
            <a:pPr indent="0" marL="0">
              <a:buNone/>
            </a:pPr>
            <a:r>
              <a:rPr lang="en-US" sz="1500" dirty="0">
                <a:solidFill>
                  <a:srgbClr val="1E293B"/>
                </a:solidFill>
                <a:latin typeface="Calibri" pitchFamily="34" charset="0"/>
                <a:ea typeface="Calibri" pitchFamily="34" charset="-122"/>
                <a:cs typeface="Calibri" pitchFamily="34" charset="-120"/>
              </a:rPr>
              <a:t>•  What did Mig understand at the end that she did not at the start?</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9144000" cy="566928"/>
          </a:xfrm>
          <a:prstGeom prst="rect">
            <a:avLst/>
          </a:prstGeom>
          <a:solidFill>
            <a:srgbClr val="34B76F"/>
          </a:solidFill>
          <a:ln/>
        </p:spPr>
      </p:sp>
      <p:sp>
        <p:nvSpPr>
          <p:cNvPr id="3" name="Text 1"/>
          <p:cNvSpPr/>
          <p:nvPr/>
        </p:nvSpPr>
        <p:spPr>
          <a:xfrm>
            <a:off x="365760" y="54864"/>
            <a:ext cx="8412480" cy="457200"/>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  Writer’s Workshop</a:t>
            </a:r>
            <a:endParaRPr lang="en-US" sz="2200" dirty="0"/>
          </a:p>
        </p:txBody>
      </p:sp>
      <p:sp>
        <p:nvSpPr>
          <p:cNvPr id="4" name="Text 2"/>
          <p:cNvSpPr/>
          <p:nvPr/>
        </p:nvSpPr>
        <p:spPr>
          <a:xfrm>
            <a:off x="365760" y="822960"/>
            <a:ext cx="8229600" cy="237744"/>
          </a:xfrm>
          <a:prstGeom prst="rect">
            <a:avLst/>
          </a:prstGeom>
          <a:noFill/>
          <a:ln/>
        </p:spPr>
        <p:txBody>
          <a:bodyPr wrap="square" lIns="0" tIns="0" rIns="0" bIns="0" rtlCol="0" anchor="ctr"/>
          <a:lstStyle/>
          <a:p>
            <a:pPr indent="0" marL="0">
              <a:buNone/>
            </a:pPr>
            <a:r>
              <a:rPr lang="en-US" sz="1100" b="1" spc="100" kern="0" dirty="0">
                <a:solidFill>
                  <a:srgbClr val="34B76F"/>
                </a:solidFill>
                <a:latin typeface="Calibri" pitchFamily="34" charset="0"/>
                <a:ea typeface="Calibri" pitchFamily="34" charset="-122"/>
                <a:cs typeface="Calibri" pitchFamily="34" charset="-120"/>
              </a:rPr>
              <a:t>THIS WEEK’S STAGE</a:t>
            </a:r>
            <a:endParaRPr lang="en-US" sz="1100" dirty="0"/>
          </a:p>
        </p:txBody>
      </p:sp>
      <p:sp>
        <p:nvSpPr>
          <p:cNvPr id="5" name="Text 3"/>
          <p:cNvSpPr/>
          <p:nvPr/>
        </p:nvSpPr>
        <p:spPr>
          <a:xfrm>
            <a:off x="365760" y="1078992"/>
            <a:ext cx="8412480" cy="548640"/>
          </a:xfrm>
          <a:prstGeom prst="rect">
            <a:avLst/>
          </a:prstGeom>
          <a:noFill/>
          <a:ln/>
        </p:spPr>
        <p:txBody>
          <a:bodyPr wrap="square" lIns="0" tIns="0" rIns="0" bIns="0" rtlCol="0" anchor="ctr"/>
          <a:lstStyle/>
          <a:p>
            <a:pPr indent="0" marL="0">
              <a:buNone/>
            </a:pPr>
            <a:r>
              <a:rPr lang="en-US" sz="3000" b="1" dirty="0">
                <a:solidFill>
                  <a:srgbClr val="0E1C42"/>
                </a:solidFill>
                <a:latin typeface="Calibri" pitchFamily="34" charset="0"/>
                <a:ea typeface="Calibri" pitchFamily="34" charset="-122"/>
                <a:cs typeface="Calibri" pitchFamily="34" charset="-120"/>
              </a:rPr>
              <a:t>PUBLISH</a:t>
            </a:r>
            <a:endParaRPr lang="en-US" sz="3000" dirty="0"/>
          </a:p>
        </p:txBody>
      </p:sp>
      <p:sp>
        <p:nvSpPr>
          <p:cNvPr id="6" name="Text 4"/>
          <p:cNvSpPr/>
          <p:nvPr/>
        </p:nvSpPr>
        <p:spPr>
          <a:xfrm>
            <a:off x="365760" y="1691640"/>
            <a:ext cx="8412480" cy="457200"/>
          </a:xfrm>
          <a:prstGeom prst="rect">
            <a:avLst/>
          </a:prstGeom>
          <a:noFill/>
          <a:ln/>
        </p:spPr>
        <p:txBody>
          <a:bodyPr wrap="square" lIns="0" tIns="0" rIns="0" bIns="0" rtlCol="0" anchor="ctr"/>
          <a:lstStyle/>
          <a:p>
            <a:pPr indent="0" marL="0">
              <a:buNone/>
            </a:pPr>
            <a:r>
              <a:rPr lang="en-US" sz="1800" dirty="0">
                <a:solidFill>
                  <a:srgbClr val="1E293B"/>
                </a:solidFill>
                <a:latin typeface="Calibri" pitchFamily="34" charset="0"/>
                <a:ea typeface="Calibri" pitchFamily="34" charset="-122"/>
                <a:cs typeface="Calibri" pitchFamily="34" charset="-120"/>
              </a:rPr>
              <a:t>Final edit checklist</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Optima Academy Online</dc:creator>
  <cp:lastModifiedBy>Optima Academy Online</cp:lastModifiedBy>
  <cp:revision>1</cp:revision>
  <dcterms:created xsi:type="dcterms:W3CDTF">2026-09-07T02:49:07Z</dcterms:created>
  <dcterms:modified xsi:type="dcterms:W3CDTF">2026-09-07T02:49:07Z</dcterms:modified>
</cp:coreProperties>
</file>