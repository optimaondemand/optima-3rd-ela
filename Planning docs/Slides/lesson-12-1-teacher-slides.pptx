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12.1. Reading: Ch. 31–32.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pay attention to setting. Places shape what characters feel and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Princess Pea sat in the dungeon and thought about what Despereaux must be doing right now.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Princess Pea sat in the dungeon and thought about what Despereaux must be doing right now.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a character speaks, the words they say go inside quotation marks. A comma separates the spoken words from the tag that says who spoke — and that comma goes inside the closing quotation mark.
The comma sits inside the quotation marks, and said is not capitalized.
When the tag comes first, the comma goes after it and the spoken words start with a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a character speaks, the words they say go inside quotation marks. A comma separates the spoken words from the tag that says who spoke — and that comma goes inside the closing quotation mark.
The comma sits inside the quotation marks, and said is not capitalized.
When the tag comes first, the comma goes after it and the spoken words start with a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 “Carry the basket,” said Roscuro., Mig said, “I want to be a princess.”, “I am hungry,” the prince said., Cook said, “That is soup.” | Group 2: “Carry the basket” said Roscuro., Mig said “I want to be a princess.”, “I am hungry” the prince said., Cook said, “that is soup.”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 “Carry the basket,” said Roscuro., Mig said, “I want to be a princess.”, “I am hungry,” the prince said., Cook said, “That is soup.” | Group 2: “Carry the basket” said Roscuro., Mig said “I want to be a princess.”, “I am hungry” the prince said., Cook said, “that is soup.”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 two endings: hopelessness, thoughtfulness, fearlessly, impatiently | Base + one ending: darkness, hopeful, quickly,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 two endings: hopelessness, thoughtfulness, fearlessly, impatiently | Base + one ending: darkness, hopeful, quickly,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12.1  ·  Ch. 31–32</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not afraid of the dungeon because she cannot hear it. Write about something that used to scare you but does not anymore.</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not afraid of the dungeon because she cannot hear it. Write about something that used to scare you but does not anymore.</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at the start of each sentence?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31–32</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does the dungeon do to the characters inside it?</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pay attention to setting. Places shape what characters feel and do.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Pea waited in the dark and listened for the sound of small feet.</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Princess Pea is a name, so both words are capitalized. The two verbs waited and listened are joined by and with no comma, because they share one subject. A period ends the sentence.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pea sat in the dungeon and thought about what despereaux must be doing right now</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pea sat in the dungeon and thought about what despereaux must be doing right now</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The Princess Pea sat in the dungeon and thought about what Despereaux must be doing right now.</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BASE + SUFFIX</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slow + ly →slowly</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quiet + ly →quietly</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act + ion →action</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celebrate + ion →celebration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armor  </a:t>
            </a:r>
            <a:pPr indent="0" marL="0">
              <a:buNone/>
            </a:pPr>
            <a:r>
              <a:rPr lang="en-US" sz="1400" dirty="0">
                <a:solidFill>
                  <a:srgbClr val="1E293B"/>
                </a:solidFill>
                <a:latin typeface="Calibri" pitchFamily="34" charset="0"/>
                <a:ea typeface="Calibri" pitchFamily="34" charset="-122"/>
                <a:cs typeface="Calibri" pitchFamily="34" charset="-120"/>
              </a:rPr>
              <a:t>Metal covering worn to protect the body in battle.</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foolish  </a:t>
            </a:r>
            <a:pPr indent="0" marL="0">
              <a:buNone/>
            </a:pPr>
            <a:r>
              <a:rPr lang="en-US" sz="1400" dirty="0">
                <a:solidFill>
                  <a:srgbClr val="1E293B"/>
                </a:solidFill>
                <a:latin typeface="Calibri" pitchFamily="34" charset="0"/>
                <a:ea typeface="Calibri" pitchFamily="34" charset="-122"/>
                <a:cs typeface="Calibri" pitchFamily="34" charset="-120"/>
              </a:rPr>
              <a:t>Silly or unwise; showing poor judgment.</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jailer  </a:t>
            </a:r>
            <a:pPr indent="0" marL="0">
              <a:buNone/>
            </a:pPr>
            <a:r>
              <a:rPr lang="en-US" sz="1400" dirty="0">
                <a:solidFill>
                  <a:srgbClr val="1E293B"/>
                </a:solidFill>
                <a:latin typeface="Calibri" pitchFamily="34" charset="0"/>
                <a:ea typeface="Calibri" pitchFamily="34" charset="-122"/>
                <a:cs typeface="Calibri" pitchFamily="34" charset="-120"/>
              </a:rPr>
              <a:t>The person who guards prisoners in a jail or dungeon.</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advanced  </a:t>
            </a:r>
            <a:pPr indent="0" marL="0">
              <a:buNone/>
            </a:pPr>
            <a:r>
              <a:rPr lang="en-US" sz="1400" dirty="0">
                <a:solidFill>
                  <a:srgbClr val="1E293B"/>
                </a:solidFill>
                <a:latin typeface="Calibri" pitchFamily="34" charset="0"/>
                <a:ea typeface="Calibri" pitchFamily="34" charset="-122"/>
                <a:cs typeface="Calibri" pitchFamily="34" charset="-120"/>
              </a:rPr>
              <a:t>Moved forward, especially toward someone.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Both sentences say the same thing. The author punctuated them differently. Look at the marks, not the words.</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Find the comma in each sentence. Is it inside the quotation marks or outside?</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One of the sentences has a lowercase word right after a quotation mark. Why is it not capitalized?</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What has to change when the speaker's name moves to the front?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Both sentences say the same thing. The author punctuated them differently. Look at the marks, not the words.</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When a character speaks, the words they say go inside quotation marks. A comma separates the spoken words from the tag that says who spoke — and that comma goes inside the closing quotation mark.</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The comma sits inside the quotation marks, and said is not capitalized.</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When the tag comes first, the comma goes after it and the spoken words start with a capital.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Your turn</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Shape 3"/>
          <p:cNvSpPr/>
          <p:nvPr/>
        </p:nvSpPr>
        <p:spPr>
          <a:xfrm>
            <a:off x="365760" y="1051560"/>
            <a:ext cx="8412480" cy="914400"/>
          </a:xfrm>
          <a:prstGeom prst="roundRect">
            <a:avLst>
              <a:gd name="adj" fmla="val 10000"/>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79576"/>
            <a:ext cx="7955280" cy="65836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“Carry the basket,” said Roscuro.    ·    Cook said, “That is soup.”    ·    “I am hungry” the prince said.    ·    Mig said, “I want to be a princess.”    ·    “Carry the basket” said Roscuro.    ·    Cook said, “that is soup.”    ·    “I am hungry,” the prince said.    ·    Mig said “I want to be a princess.”</a:t>
            </a:r>
            <a:endParaRPr lang="en-US" sz="1700" dirty="0"/>
          </a:p>
        </p:txBody>
      </p:sp>
      <p:sp>
        <p:nvSpPr>
          <p:cNvPr id="7" name="Text 5"/>
          <p:cNvSpPr/>
          <p:nvPr/>
        </p:nvSpPr>
        <p:spPr>
          <a:xfrm>
            <a:off x="365760" y="2148840"/>
            <a:ext cx="8412480" cy="73152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Sort these eight into the two columns. The columns are blank on purpose — sort first, then work out what the split is. Read them slowly — the difference is one mark at a time.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Your turn</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Shape 3"/>
          <p:cNvSpPr/>
          <p:nvPr/>
        </p:nvSpPr>
        <p:spPr>
          <a:xfrm>
            <a:off x="411480" y="1051560"/>
            <a:ext cx="4114800" cy="457200"/>
          </a:xfrm>
          <a:prstGeom prst="roundRect">
            <a:avLst>
              <a:gd name="adj" fmla="val 16000"/>
            </a:avLst>
          </a:prstGeom>
          <a:solidFill>
            <a:srgbClr val="C7922C"/>
          </a:solidFill>
          <a:ln/>
        </p:spPr>
      </p:sp>
      <p:sp>
        <p:nvSpPr>
          <p:cNvPr id="6" name="Text 4"/>
          <p:cNvSpPr/>
          <p:nvPr/>
        </p:nvSpPr>
        <p:spPr>
          <a:xfrm>
            <a:off x="457200" y="1106424"/>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 1</a:t>
            </a:r>
            <a:endParaRPr lang="en-US" sz="1400" dirty="0"/>
          </a:p>
        </p:txBody>
      </p:sp>
      <p:sp>
        <p:nvSpPr>
          <p:cNvPr id="7" name="Shape 5"/>
          <p:cNvSpPr/>
          <p:nvPr/>
        </p:nvSpPr>
        <p:spPr>
          <a:xfrm>
            <a:off x="411480" y="1572768"/>
            <a:ext cx="4114800" cy="2011680"/>
          </a:xfrm>
          <a:prstGeom prst="roundRect">
            <a:avLst>
              <a:gd name="adj" fmla="val 4545"/>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664208"/>
            <a:ext cx="3931920" cy="1828800"/>
          </a:xfrm>
          <a:prstGeom prst="rect">
            <a:avLst/>
          </a:prstGeom>
          <a:noFill/>
          <a:ln/>
        </p:spPr>
        <p:txBody>
          <a:bodyPr wrap="square" lIns="0" tIns="0" rIns="0" bIns="0" rtlCol="0" anchor="ctr"/>
          <a:lstStyle/>
          <a:p>
            <a:pPr algn="ctr" indent="0" marL="0">
              <a:buNone/>
            </a:pPr>
            <a:r>
              <a:rPr lang="en-US" sz="1600" dirty="0">
                <a:solidFill>
                  <a:srgbClr val="1E293B"/>
                </a:solidFill>
                <a:latin typeface="Calibri" pitchFamily="34" charset="0"/>
                <a:ea typeface="Calibri" pitchFamily="34" charset="-122"/>
                <a:cs typeface="Calibri" pitchFamily="34" charset="-120"/>
              </a:rPr>
              <a:t>“Carry the basket,” said Roscuro.</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Mig said, “I want to be a princess.”</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“I am hungry,” the prince said.</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Cook said, “That is soup.”</a:t>
            </a:r>
            <a:endParaRPr lang="en-US" sz="1600" dirty="0"/>
          </a:p>
        </p:txBody>
      </p:sp>
      <p:sp>
        <p:nvSpPr>
          <p:cNvPr id="9" name="Shape 7"/>
          <p:cNvSpPr/>
          <p:nvPr/>
        </p:nvSpPr>
        <p:spPr>
          <a:xfrm>
            <a:off x="4617720" y="1051560"/>
            <a:ext cx="4114800" cy="457200"/>
          </a:xfrm>
          <a:prstGeom prst="roundRect">
            <a:avLst>
              <a:gd name="adj" fmla="val 16000"/>
            </a:avLst>
          </a:prstGeom>
          <a:solidFill>
            <a:srgbClr val="C7922C"/>
          </a:solidFill>
          <a:ln/>
        </p:spPr>
      </p:sp>
      <p:sp>
        <p:nvSpPr>
          <p:cNvPr id="10" name="Text 8"/>
          <p:cNvSpPr/>
          <p:nvPr/>
        </p:nvSpPr>
        <p:spPr>
          <a:xfrm>
            <a:off x="4663440" y="1106424"/>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 2</a:t>
            </a:r>
            <a:endParaRPr lang="en-US" sz="1400" dirty="0"/>
          </a:p>
        </p:txBody>
      </p:sp>
      <p:sp>
        <p:nvSpPr>
          <p:cNvPr id="11" name="Shape 9"/>
          <p:cNvSpPr/>
          <p:nvPr/>
        </p:nvSpPr>
        <p:spPr>
          <a:xfrm>
            <a:off x="4617720" y="1572768"/>
            <a:ext cx="4114800" cy="2011680"/>
          </a:xfrm>
          <a:prstGeom prst="roundRect">
            <a:avLst>
              <a:gd name="adj" fmla="val 4545"/>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664208"/>
            <a:ext cx="3931920" cy="1828800"/>
          </a:xfrm>
          <a:prstGeom prst="rect">
            <a:avLst/>
          </a:prstGeom>
          <a:noFill/>
          <a:ln/>
        </p:spPr>
        <p:txBody>
          <a:bodyPr wrap="square" lIns="0" tIns="0" rIns="0" bIns="0" rtlCol="0" anchor="ctr"/>
          <a:lstStyle/>
          <a:p>
            <a:pPr algn="ctr" indent="0" marL="0">
              <a:buNone/>
            </a:pPr>
            <a:r>
              <a:rPr lang="en-US" sz="1600" dirty="0">
                <a:solidFill>
                  <a:srgbClr val="1E293B"/>
                </a:solidFill>
                <a:latin typeface="Calibri" pitchFamily="34" charset="0"/>
                <a:ea typeface="Calibri" pitchFamily="34" charset="-122"/>
                <a:cs typeface="Calibri" pitchFamily="34" charset="-120"/>
              </a:rPr>
              <a:t>“Carry the basket” said Roscuro.</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Mig said “I want to be a princess.”</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“I am hungry” the prince said.</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Cook said, “that is soup.”</a:t>
            </a:r>
            <a:endParaRPr lang="en-US" sz="1600" dirty="0"/>
          </a:p>
        </p:txBody>
      </p:sp>
      <p:sp>
        <p:nvSpPr>
          <p:cNvPr id="13" name="Text 11"/>
          <p:cNvSpPr/>
          <p:nvPr/>
        </p:nvSpPr>
        <p:spPr>
          <a:xfrm>
            <a:off x="365760" y="3703320"/>
            <a:ext cx="8412480" cy="41148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Now name the split: what does every word in each group have in common?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MULTISYLLABIC WORDS WITH FAMILIAR SUFFIXES</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hopelessness   ·   thoughtfulness   ·   fearlessly   ·   impatiently   ·   darkness   ·   hopeful   ·   quickly   ·   disagree</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Base + two endings  |  Base + one ending</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MULTISYLLABIC WORDS WITH FAMILIAR SUFFIXES</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 + two endings</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hopelessness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thoughtfulness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fearlessly</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impatiently</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 + one ending</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darkness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hopeful</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quickly</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disagree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31–32</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“There was the snail-like slither of water oozing down the walls and from around a darkened corner there came the low moan of someone in pain.”</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Despereaux reaches the dungeon. What does he see, smell, and hear? How does the author's setting description affect the mood?</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The princess hears Despereaux. How does she respond? What does this tell us about her character?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REVISE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Revise your setting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2026-10-19T11:55:30Z</dcterms:created>
  <dcterms:modified xsi:type="dcterms:W3CDTF">2026-10-19T11:55:30Z</dcterms:modified>
</cp:coreProperties>
</file>