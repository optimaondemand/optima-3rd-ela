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11.4. Reading: Ch.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track cause and effect in the plot. Every event causes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asked the Princess Pea if she would forgive him for what he had done to her.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Roscuro asked the Princess Pea if she would forgive him for what he had done to her. 
Look for: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
clouts is plural, so the verb is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talk through the questions before revealing the pattern.
A verb has to match its subject. One thing is, was, or runs. More than one thing are, were, or run. Find the subject first, then check the verb against it.
One girl, so was. Two girls would need were.
clouts is plural, so the verb is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runs, hear, is, 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runs, hear, is, 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Plain -s means more than one: three kings. An apostrophe + s means something belongs to: the king’s crown. If a plural already ends in s, add the apostrophe only: the girls’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B"/>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Tale of Despereaux</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8B6FC0"/>
                </a:solidFill>
                <a:latin typeface="Calibri" pitchFamily="34" charset="0"/>
                <a:ea typeface="Calibri" pitchFamily="34" charset="-122"/>
                <a:cs typeface="Calibri" pitchFamily="34" charset="-120"/>
              </a:rPr>
              <a:t>Lesson 11.4  ·  Ch. 30</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Courage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sent to work in the kitchen because nothing else worked out. Write about a job you have had to do that you did not choose.</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Mig is sent to work in the kitchen because nothing else worked out. Write about a job you have had to do that you did not choose.</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read my writing out loud to check that it makes sense?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 30</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What caused Despereaux to end up where he is now?</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track cause and effect in the plot. Every event causes the next.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CORRECT MODEL — STUDY WHAT IS RIGHT</a:t>
            </a:r>
            <a:endParaRPr lang="en-US" sz="1100" dirty="0"/>
          </a:p>
        </p:txBody>
      </p:sp>
      <p:sp>
        <p:nvSpPr>
          <p:cNvPr id="5" name="Shape 3"/>
          <p:cNvSpPr/>
          <p:nvPr/>
        </p:nvSpPr>
        <p:spPr>
          <a:xfrm>
            <a:off x="365760" y="1078992"/>
            <a:ext cx="8412480" cy="822960"/>
          </a:xfrm>
          <a:prstGeom prst="roundRect">
            <a:avLst>
              <a:gd name="adj" fmla="val 11111"/>
            </a:avLst>
          </a:prstGeom>
          <a:solidFill>
            <a:srgbClr val="E5F7FC"/>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669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 Princess Pea listens carefully, and her father weeps beside her.</a:t>
            </a:r>
            <a:endParaRPr lang="en-US" sz="1700" dirty="0"/>
          </a:p>
        </p:txBody>
      </p:sp>
      <p:sp>
        <p:nvSpPr>
          <p:cNvPr id="7" name="Text 5"/>
          <p:cNvSpPr/>
          <p:nvPr/>
        </p:nvSpPr>
        <p:spPr>
          <a:xfrm>
            <a:off x="365760" y="210312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a:t>
            </a:r>
            <a:endParaRPr lang="en-US" sz="1100" dirty="0"/>
          </a:p>
        </p:txBody>
      </p:sp>
      <p:sp>
        <p:nvSpPr>
          <p:cNvPr id="8" name="Text 6"/>
          <p:cNvSpPr/>
          <p:nvPr/>
        </p:nvSpPr>
        <p:spPr>
          <a:xfrm>
            <a:off x="365760" y="2359152"/>
            <a:ext cx="8412480" cy="109728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singular subjects Princess Pea and father each take a verb ending in -s ( listens, weeps ). Princess Pea is a name, so both words are capitalized.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asked the princess pea if she would forgive him for what he had done to her</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roscuro asked the princess pea if she would forgive him for what he had done to her</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Roscuro asked the Princess Pea if she would forgive him for what he had done to her.</a:t>
            </a:r>
            <a:endParaRPr lang="en-US" sz="1400" dirty="0"/>
          </a:p>
          <a:p>
            <a:pPr indent="0" marL="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-NESS</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-ness means names a quality as a thing.</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darkness = the quality of being dark · kindness = the quality of being kind · sadness = the quality of being sad</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Dice Roll Challenge! Roll a word, then say out loud what it means and how the word part changed it. Tap to check yourself.</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clout  </a:t>
            </a:r>
            <a:pPr indent="0" marL="0">
              <a:buNone/>
            </a:pPr>
            <a:r>
              <a:rPr lang="en-US" sz="1400" dirty="0">
                <a:solidFill>
                  <a:srgbClr val="1E293B"/>
                </a:solidFill>
                <a:latin typeface="Calibri" pitchFamily="34" charset="0"/>
                <a:ea typeface="Calibri" pitchFamily="34" charset="-122"/>
                <a:cs typeface="Calibri" pitchFamily="34" charset="-120"/>
              </a:rPr>
              <a:t>A hard hit or blow, usually with an open hand.</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deaf  </a:t>
            </a:r>
            <a:pPr indent="0" marL="0">
              <a:buNone/>
            </a:pPr>
            <a:r>
              <a:rPr lang="en-US" sz="1400" dirty="0">
                <a:solidFill>
                  <a:srgbClr val="1E293B"/>
                </a:solidFill>
                <a:latin typeface="Calibri" pitchFamily="34" charset="0"/>
                <a:ea typeface="Calibri" pitchFamily="34" charset="-122"/>
                <a:cs typeface="Calibri" pitchFamily="34" charset="-120"/>
              </a:rPr>
              <a:t>Unable to hear, or unable to hear well.</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servant  </a:t>
            </a:r>
            <a:pPr indent="0" marL="0">
              <a:buNone/>
            </a:pPr>
            <a:r>
              <a:rPr lang="en-US" sz="1400" dirty="0">
                <a:solidFill>
                  <a:srgbClr val="1E293B"/>
                </a:solidFill>
                <a:latin typeface="Calibri" pitchFamily="34" charset="0"/>
                <a:ea typeface="Calibri" pitchFamily="34" charset="-122"/>
                <a:cs typeface="Calibri" pitchFamily="34" charset="-120"/>
              </a:rPr>
              <a:t>Someone whose job is to work in another person's household.</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tablecloth  </a:t>
            </a:r>
            <a:pPr indent="0" marL="0">
              <a:buNone/>
            </a:pPr>
            <a:r>
              <a:rPr lang="en-US" sz="1400" dirty="0">
                <a:solidFill>
                  <a:srgbClr val="1E293B"/>
                </a:solidFill>
                <a:latin typeface="Calibri" pitchFamily="34" charset="0"/>
                <a:ea typeface="Calibri" pitchFamily="34" charset="-122"/>
                <a:cs typeface="Calibri" pitchFamily="34" charset="-120"/>
              </a:rPr>
              <a:t>A cloth spread over a table; here, what Mig was traded for.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Text 10"/>
          <p:cNvSpPr/>
          <p:nvPr/>
        </p:nvSpPr>
        <p:spPr>
          <a:xfrm>
            <a:off x="365760" y="3008376"/>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THINK IT THROUGH</a:t>
            </a:r>
            <a:endParaRPr lang="en-US" sz="1100" dirty="0"/>
          </a:p>
        </p:txBody>
      </p:sp>
      <p:sp>
        <p:nvSpPr>
          <p:cNvPr id="13" name="Text 11"/>
          <p:cNvSpPr/>
          <p:nvPr/>
        </p:nvSpPr>
        <p:spPr>
          <a:xfrm>
            <a:off x="365760" y="3255264"/>
            <a:ext cx="8412480" cy="1563624"/>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1.  Is the subject one thing or more than one?</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2.  What does the verb look like in each case — does it end in s or not?</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3.  It is backwards from nouns. Can you say how?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 — What do you notice?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Text 3"/>
          <p:cNvSpPr/>
          <p:nvPr/>
        </p:nvSpPr>
        <p:spPr>
          <a:xfrm>
            <a:off x="365760" y="987552"/>
            <a:ext cx="8412480" cy="41148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Look at the subject of each sentence and then at its verb.</a:t>
            </a:r>
            <a:endParaRPr lang="en-US" sz="1500" dirty="0"/>
          </a:p>
        </p:txBody>
      </p:sp>
      <p:sp>
        <p:nvSpPr>
          <p:cNvPr id="6" name="Shape 4"/>
          <p:cNvSpPr/>
          <p:nvPr/>
        </p:nvSpPr>
        <p:spPr>
          <a:xfrm>
            <a:off x="365760" y="1463040"/>
            <a:ext cx="8412480" cy="658368"/>
          </a:xfrm>
          <a:prstGeom prst="roundRect">
            <a:avLst>
              <a:gd name="adj" fmla="val 13889"/>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591056"/>
            <a:ext cx="7955280" cy="402336"/>
          </a:xfrm>
          <a:prstGeom prst="rect">
            <a:avLst/>
          </a:prstGeom>
          <a:noFill/>
          <a:ln/>
        </p:spPr>
        <p:txBody>
          <a:bodyPr wrap="square" lIns="0" tIns="0" rIns="0" bIns="0" rtlCol="0" anchor="ctr"/>
          <a:lstStyle/>
          <a:p>
            <a:pPr indent="0" marL="0">
              <a:buNone/>
            </a:pPr>
            <a:endParaRPr lang="en-US" sz="1700" dirty="0"/>
          </a:p>
        </p:txBody>
      </p:sp>
      <p:sp>
        <p:nvSpPr>
          <p:cNvPr id="8" name="Text 6"/>
          <p:cNvSpPr/>
          <p:nvPr/>
        </p:nvSpPr>
        <p:spPr>
          <a:xfrm>
            <a:off x="594360" y="1591056"/>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Miggery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Sow</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was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right</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in</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the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center</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of</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it.</a:t>
            </a:r>
            <a:endParaRPr lang="en-US" sz="1700" dirty="0"/>
          </a:p>
        </p:txBody>
      </p:sp>
      <p:sp>
        <p:nvSpPr>
          <p:cNvPr id="9" name="Shape 7"/>
          <p:cNvSpPr/>
          <p:nvPr/>
        </p:nvSpPr>
        <p:spPr>
          <a:xfrm>
            <a:off x="365760" y="2212848"/>
            <a:ext cx="8412480" cy="658368"/>
          </a:xfrm>
          <a:prstGeom prst="roundRect">
            <a:avLst>
              <a:gd name="adj" fmla="val 13889"/>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2340864"/>
            <a:ext cx="7955280" cy="402336"/>
          </a:xfrm>
          <a:prstGeom prst="rect">
            <a:avLst/>
          </a:prstGeom>
          <a:noFill/>
          <a:ln/>
        </p:spPr>
        <p:txBody>
          <a:bodyPr wrap="square" lIns="0" tIns="0" rIns="0" bIns="0" rtlCol="0" anchor="ctr"/>
          <a:lstStyle/>
          <a:p>
            <a:pPr indent="0" marL="0">
              <a:buNone/>
            </a:pPr>
            <a:endParaRPr lang="en-US" sz="1700" dirty="0"/>
          </a:p>
        </p:txBody>
      </p:sp>
      <p:sp>
        <p:nvSpPr>
          <p:cNvPr id="11" name="Text 9"/>
          <p:cNvSpPr/>
          <p:nvPr/>
        </p:nvSpPr>
        <p:spPr>
          <a:xfrm>
            <a:off x="594360" y="2340864"/>
            <a:ext cx="7955280" cy="402336"/>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These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clouts</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were</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alarmingly</a:t>
            </a:r>
            <a:pPr indent="0" marL="0">
              <a:buNone/>
            </a:pPr>
            <a:r>
              <a:rPr lang="en-US" sz="1700" dirty="0">
                <a:solidFill>
                  <a:srgbClr val="1E293B"/>
                </a:solidFill>
                <a:latin typeface="Calibri" pitchFamily="34" charset="0"/>
                <a:ea typeface="Calibri" pitchFamily="34" charset="-122"/>
                <a:cs typeface="Calibri" pitchFamily="34" charset="-120"/>
              </a:rPr>
              <a:t> </a:t>
            </a:r>
            <a:pPr indent="0" marL="0">
              <a:buNone/>
            </a:pPr>
            <a:r>
              <a:rPr lang="en-US" sz="1700" dirty="0">
                <a:solidFill>
                  <a:srgbClr val="1E293B"/>
                </a:solidFill>
                <a:latin typeface="Calibri" pitchFamily="34" charset="0"/>
                <a:ea typeface="Calibri" pitchFamily="34" charset="-122"/>
                <a:cs typeface="Calibri" pitchFamily="34" charset="-120"/>
              </a:rPr>
              <a:t>frequent.</a:t>
            </a:r>
            <a:endParaRPr lang="en-US" sz="1700" dirty="0"/>
          </a:p>
        </p:txBody>
      </p:sp>
      <p:sp>
        <p:nvSpPr>
          <p:cNvPr id="12" name="Shape 10"/>
          <p:cNvSpPr/>
          <p:nvPr/>
        </p:nvSpPr>
        <p:spPr>
          <a:xfrm>
            <a:off x="365760" y="3008376"/>
            <a:ext cx="8412480" cy="1837944"/>
          </a:xfrm>
          <a:prstGeom prst="roundRect">
            <a:avLst>
              <a:gd name="adj" fmla="val 4975"/>
            </a:avLst>
          </a:prstGeom>
          <a:solidFill>
            <a:srgbClr val="E8F8EF"/>
          </a:solidFill>
          <a:ln/>
          <a:effectLst>
            <a:outerShdw sx="100000" sy="100000" kx="0" ky="0" algn="bl" rotWithShape="0" blurRad="101600" dist="38100" dir="2700000">
              <a:srgbClr val="000000">
                <a:alpha val="12000"/>
              </a:srgbClr>
            </a:outerShdw>
          </a:effectLst>
        </p:spPr>
      </p:sp>
      <p:sp>
        <p:nvSpPr>
          <p:cNvPr id="13" name="Text 11"/>
          <p:cNvSpPr/>
          <p:nvPr/>
        </p:nvSpPr>
        <p:spPr>
          <a:xfrm>
            <a:off x="566928" y="3072384"/>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THE PATTERN</a:t>
            </a:r>
            <a:endParaRPr lang="en-US" sz="1100" dirty="0"/>
          </a:p>
        </p:txBody>
      </p:sp>
      <p:sp>
        <p:nvSpPr>
          <p:cNvPr id="14" name="Text 12"/>
          <p:cNvSpPr/>
          <p:nvPr/>
        </p:nvSpPr>
        <p:spPr>
          <a:xfrm>
            <a:off x="566928" y="3328416"/>
            <a:ext cx="8010144" cy="1380744"/>
          </a:xfrm>
          <a:prstGeom prst="rect">
            <a:avLst/>
          </a:prstGeom>
          <a:noFill/>
          <a:ln/>
        </p:spPr>
        <p:txBody>
          <a:bodyPr wrap="square" lIns="0" tIns="0" rIns="0" bIns="0" rtlCol="0" anchor="t">
            <a:normAutofit/>
          </a:bodyPr>
          <a:lstStyle/>
          <a:p>
            <a:pPr indent="0" marL="0">
              <a:buNone/>
            </a:pPr>
            <a:r>
              <a:rPr lang="en-US" sz="1300" dirty="0">
                <a:solidFill>
                  <a:srgbClr val="1E293B"/>
                </a:solidFill>
                <a:latin typeface="Calibri" pitchFamily="34" charset="0"/>
                <a:ea typeface="Calibri" pitchFamily="34" charset="-122"/>
                <a:cs typeface="Calibri" pitchFamily="34" charset="-120"/>
              </a:rPr>
              <a:t>A verb has to match its subject. One thing is, was, or runs. More than one thing are, were, or run. Find the subject first, then check the verb against it.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One girl, so was. Two girls would need were.</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clouts is plural, so the verb is were.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mice runs down the hall.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hear the music at night.</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brothers is afraid of the light.</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stir the soup very slowly.</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Each sentence has exactly one mistake. This time nobody tells you what kind. Tap the word that is wrong.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SUBJECT-VERB AGREEMENT</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mice </a:t>
            </a:r>
            <a:pPr indent="0" marL="0">
              <a:buNone/>
            </a:pPr>
            <a:r>
              <a:rPr lang="en-US" sz="1600" b="1" dirty="0">
                <a:solidFill>
                  <a:srgbClr val="34B76F"/>
                </a:solidFill>
                <a:latin typeface="Calibri" pitchFamily="34" charset="0"/>
                <a:ea typeface="Calibri" pitchFamily="34" charset="-122"/>
                <a:cs typeface="Calibri" pitchFamily="34" charset="-120"/>
              </a:rPr>
              <a:t>runs</a:t>
            </a:r>
            <a:pPr indent="0" marL="0">
              <a:buNone/>
            </a:pPr>
            <a:r>
              <a:rPr lang="en-US" sz="1600" dirty="0">
                <a:solidFill>
                  <a:srgbClr val="1E293B"/>
                </a:solidFill>
                <a:latin typeface="Calibri" pitchFamily="34" charset="0"/>
                <a:ea typeface="Calibri" pitchFamily="34" charset="-122"/>
                <a:cs typeface="Calibri" pitchFamily="34" charset="-120"/>
              </a:rPr>
              <a:t> down the hall.</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a:t>
            </a:r>
            <a:pPr indent="0" marL="0">
              <a:buNone/>
            </a:pPr>
            <a:r>
              <a:rPr lang="en-US" sz="1600" b="1" dirty="0">
                <a:solidFill>
                  <a:srgbClr val="34B76F"/>
                </a:solidFill>
                <a:latin typeface="Calibri" pitchFamily="34" charset="0"/>
                <a:ea typeface="Calibri" pitchFamily="34" charset="-122"/>
                <a:cs typeface="Calibri" pitchFamily="34" charset="-120"/>
              </a:rPr>
              <a:t>hear</a:t>
            </a:r>
            <a:pPr indent="0" marL="0">
              <a:buNone/>
            </a:pPr>
            <a:r>
              <a:rPr lang="en-US" sz="1600" dirty="0">
                <a:solidFill>
                  <a:srgbClr val="1E293B"/>
                </a:solidFill>
                <a:latin typeface="Calibri" pitchFamily="34" charset="0"/>
                <a:ea typeface="Calibri" pitchFamily="34" charset="-122"/>
                <a:cs typeface="Calibri" pitchFamily="34" charset="-120"/>
              </a:rPr>
              <a:t> the music at night.</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brothers </a:t>
            </a:r>
            <a:pPr indent="0" marL="0">
              <a:buNone/>
            </a:pPr>
            <a:r>
              <a:rPr lang="en-US" sz="1600" b="1" dirty="0">
                <a:solidFill>
                  <a:srgbClr val="34B76F"/>
                </a:solidFill>
                <a:latin typeface="Calibri" pitchFamily="34" charset="0"/>
                <a:ea typeface="Calibri" pitchFamily="34" charset="-122"/>
                <a:cs typeface="Calibri" pitchFamily="34" charset="-120"/>
              </a:rPr>
              <a:t>is</a:t>
            </a:r>
            <a:pPr indent="0" marL="0">
              <a:buNone/>
            </a:pPr>
            <a:r>
              <a:rPr lang="en-US" sz="1600" dirty="0">
                <a:solidFill>
                  <a:srgbClr val="1E293B"/>
                </a:solidFill>
                <a:latin typeface="Calibri" pitchFamily="34" charset="0"/>
                <a:ea typeface="Calibri" pitchFamily="34" charset="-122"/>
                <a:cs typeface="Calibri" pitchFamily="34" charset="-120"/>
              </a:rPr>
              <a:t> afraid of the light.</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Mig </a:t>
            </a:r>
            <a:pPr indent="0" marL="0">
              <a:buNone/>
            </a:pPr>
            <a:r>
              <a:rPr lang="en-US" sz="1600" b="1" dirty="0">
                <a:solidFill>
                  <a:srgbClr val="34B76F"/>
                </a:solidFill>
                <a:latin typeface="Calibri" pitchFamily="34" charset="0"/>
                <a:ea typeface="Calibri" pitchFamily="34" charset="-122"/>
                <a:cs typeface="Calibri" pitchFamily="34" charset="-120"/>
              </a:rPr>
              <a:t>stir</a:t>
            </a:r>
            <a:pPr indent="0" marL="0">
              <a:buNone/>
            </a:pPr>
            <a:r>
              <a:rPr lang="en-US" sz="1600" dirty="0">
                <a:solidFill>
                  <a:srgbClr val="1E293B"/>
                </a:solidFill>
                <a:latin typeface="Calibri" pitchFamily="34" charset="0"/>
                <a:ea typeface="Calibri" pitchFamily="34" charset="-122"/>
                <a:cs typeface="Calibri" pitchFamily="34" charset="-120"/>
              </a:rPr>
              <a:t> the soup very slowly.</a:t>
            </a:r>
            <a:endParaRPr lang="en-US" sz="1600" dirty="0"/>
          </a:p>
        </p:txBody>
      </p:sp>
      <p:sp>
        <p:nvSpPr>
          <p:cNvPr id="13" name="Text 11"/>
          <p:cNvSpPr/>
          <p:nvPr/>
        </p:nvSpPr>
        <p:spPr>
          <a:xfrm>
            <a:off x="365760" y="4050792"/>
            <a:ext cx="8412480" cy="841248"/>
          </a:xfrm>
          <a:prstGeom prst="rect">
            <a:avLst/>
          </a:prstGeom>
          <a:noFill/>
          <a:ln/>
        </p:spPr>
        <p:txBody>
          <a:bodyPr wrap="square" lIns="0" tIns="0" rIns="0" bIns="0" rtlCol="0" anchor="t">
            <a:normAutofit/>
          </a:bodyPr>
          <a:lstStyle/>
          <a:p>
            <a:pPr indent="0" marL="0">
              <a:buNone/>
            </a:pPr>
            <a:r>
              <a:rPr lang="en-US" sz="1200" dirty="0">
                <a:solidFill>
                  <a:srgbClr val="34B76F"/>
                </a:solidFill>
                <a:latin typeface="Calibri" pitchFamily="34" charset="0"/>
                <a:ea typeface="Calibri" pitchFamily="34" charset="-122"/>
                <a:cs typeface="Calibri" pitchFamily="34" charset="-120"/>
              </a:rPr>
              <a:t>runs → run. hear → hears. is → are. stir → stirs.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The subject was right every time. It is the verb that has to move to match 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POSSESSIVES VS. PLURALS</a:t>
            </a:r>
            <a:endParaRPr lang="en-US" sz="1100" dirty="0"/>
          </a:p>
        </p:txBody>
      </p:sp>
      <p:sp>
        <p:nvSpPr>
          <p:cNvPr id="5" name="Text 3"/>
          <p:cNvSpPr/>
          <p:nvPr/>
        </p:nvSpPr>
        <p:spPr>
          <a:xfrm>
            <a:off x="365760" y="10515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  THE RULE</a:t>
            </a:r>
            <a:endParaRPr lang="en-US" sz="1100" dirty="0"/>
          </a:p>
        </p:txBody>
      </p:sp>
      <p:sp>
        <p:nvSpPr>
          <p:cNvPr id="6" name="Shape 4"/>
          <p:cNvSpPr/>
          <p:nvPr/>
        </p:nvSpPr>
        <p:spPr>
          <a:xfrm>
            <a:off x="365760" y="1298448"/>
            <a:ext cx="8412480" cy="960120"/>
          </a:xfrm>
          <a:prstGeom prst="roundRect">
            <a:avLst>
              <a:gd name="adj" fmla="val 9524"/>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26464"/>
            <a:ext cx="7955280" cy="7040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Plain -s means more than one: three kings. An apostrophe + s means something belongs to: the king’s crown. If a plural already ends in s, add the apostrophe only: the girls’ room.</a:t>
            </a:r>
            <a:endParaRPr lang="en-US" sz="1700" dirty="0"/>
          </a:p>
        </p:txBody>
      </p:sp>
      <p:sp>
        <p:nvSpPr>
          <p:cNvPr id="8" name="Text 6"/>
          <p:cNvSpPr/>
          <p:nvPr/>
        </p:nvSpPr>
        <p:spPr>
          <a:xfrm>
            <a:off x="365760" y="2395728"/>
            <a:ext cx="8412480" cy="41148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Whose Is It Dice! Roll a word, say it out loud, decide — then tap to check yourself.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8B6FC0"/>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 30</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COPYWORK — FROM THE NOVEL</a:t>
            </a:r>
            <a:endParaRPr lang="en-US" sz="1100" dirty="0"/>
          </a:p>
        </p:txBody>
      </p:sp>
      <p:sp>
        <p:nvSpPr>
          <p:cNvPr id="6" name="Shape 4"/>
          <p:cNvSpPr/>
          <p:nvPr/>
        </p:nvSpPr>
        <p:spPr>
          <a:xfrm>
            <a:off x="365760" y="1719072"/>
            <a:ext cx="8412480" cy="1143000"/>
          </a:xfrm>
          <a:prstGeom prst="roundRect">
            <a:avLst>
              <a:gd name="adj" fmla="val 8000"/>
            </a:avLst>
          </a:prstGeom>
          <a:solidFill>
            <a:srgbClr val="F0E8FF"/>
          </a:solidFill>
          <a:ln w="19050">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47088"/>
            <a:ext cx="7955280" cy="88696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“And upstairs in the castle, the princess had met a mouse. And the mouse had fallen in love with her.”</a:t>
            </a:r>
            <a:endParaRPr lang="en-US" sz="1700" dirty="0"/>
          </a:p>
        </p:txBody>
      </p:sp>
      <p:sp>
        <p:nvSpPr>
          <p:cNvPr id="8" name="Text 6"/>
          <p:cNvSpPr/>
          <p:nvPr/>
        </p:nvSpPr>
        <p:spPr>
          <a:xfrm>
            <a:off x="365760" y="301752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9" name="Text 7"/>
          <p:cNvSpPr/>
          <p:nvPr/>
        </p:nvSpPr>
        <p:spPr>
          <a:xfrm>
            <a:off x="365760" y="327355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Roscuro asks the princess for something. What does he ask, and why is it hard for him to ask?</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The princess must choose. What does she decide, and why is it brave?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REVISE</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Full revision read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2026-10-19T11:55:30Z</dcterms:created>
  <dcterms:modified xsi:type="dcterms:W3CDTF">2026-10-19T11:55:30Z</dcterms:modified>
</cp:coreProperties>
</file>