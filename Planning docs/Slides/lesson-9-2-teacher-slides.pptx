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Title slide for Week 9 Day 2. The Tale of Despereaux.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prompt aloud once. Give students about 1 minute to read it again silently and think. Remind them: there is no wrong answer — just write what comes to mind. Advance to the writing slide when ready.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Set a 5-minute timer. Walk the room quietly. If a student stops, gently encourage them: "Keep writing — even one more sentence." The goal is sustained writing, not perfection. Do not interrupt to correct spelling or grammar during this time.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Set a 1-minute timer. Remind students: we are only fixing ONE thing today — Did I show the feeling instead of just naming it?. They should also do a quick conventions check (capitals, punctuation, spelling). They do NOT need to rewrite — just fix and improve. Revision = improving ideas; Editing = fixing conventions. Keep them separate in your language.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Call on 3-5 students to share. Respond with genuine interest: "I love how you described that" or "That's a really interesting idea." Avoid correcting grammar or spelling during share time — this is about celebrating writing. If time is short, have 2-3 students share in chat instead.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Review the big question and reading lens with students before reading.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Give students 1-2 minutes to fix the sentence. Walk the room and check.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Reveal the corrected version. Point out each fix: capitalization, punctuation, spelling.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Review morphology focus. Have students identify the base word and affix in each example.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 through each vocabulary word. For flip cards, have students guess the definition before revealing.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Have students identify the correct answer before revealing. Use chat or cold call.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Reveal answers. Discuss WHY each answer is correct — what rule applies?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Give students time to sort the words. Use the chat or paper to organize.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Review each column. Ask: what pattern do you see in each group?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Reading focus slide. Use pause-and-think questions during reading. Copywork can be done after reading.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Transition to the writing workshop assignment in Canvas.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D1A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14400"/>
            <a:ext cx="8229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🐭  Week 9 · Day 2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457200" y="21031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Tale of Despereaux — Lesson 9.2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41148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Optima Academy Online · 3rd Grade ELA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10-Minute Write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C7922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00584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READ THE PROMPT — 1 MINUTE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57200" y="1417320"/>
            <a:ext cx="8229600" cy="1645920"/>
          </a:xfrm>
          <a:prstGeom prst="roundRect">
            <a:avLst>
              <a:gd name="adj" fmla="val 5556"/>
            </a:avLst>
          </a:prstGeom>
          <a:solidFill>
            <a:srgbClr val="FEF6E8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640080" y="1527048"/>
            <a:ext cx="78638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Roscuro accidentally falls into the queen's soup and causes a huge disaster. Write about a time something went wrong that was NOT your fault — or that was an accident — but people blamed you anyway. How did that feel?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640080" y="324612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 in the chat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 </a:t>
            </a:r>
            <a:pPr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on paper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 hold up when we share.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EF6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Writing Time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914400" y="8229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minutes — keep your pencil moving!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8229600" cy="128016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40080" y="1417320"/>
            <a:ext cx="7863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Prompt: </a:t>
            </a:r>
            <a:pPr indent="0" marL="0">
              <a:buNone/>
            </a:pPr>
            <a:r>
              <a:rPr lang="en-US" sz="12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Roscuro accidentally falls into the queen's soup and causes a huge disaster. Write about a time something went wrong that was NOT your fault — or that was an accident — but people blamed you anyway. How did that feel?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2286000" y="2926080"/>
            <a:ext cx="4572000" cy="128016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2468880" y="3017520"/>
            <a:ext cx="4206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you get stuck:
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Reread the prompt above
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Write "I'm thinking..." until a new idea comes
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Keep going — don't erase!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8F8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0" y="365760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dirty="0">
                <a:solidFill>
                  <a:srgbClr val="000000"/>
                </a:solidFill>
              </a:rPr>
              <a:t>🔍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914400" y="91440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 &amp; Revise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914400" y="150876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minute — pick ONE thing to fix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1371600" y="2103120"/>
            <a:ext cx="640080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905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1554480" y="2148840"/>
            <a:ext cx="6035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Today's check: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I show the feeling instead of just naming it?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1371600" y="2926080"/>
            <a:ext cx="6400800" cy="146304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1554480" y="3017520"/>
            <a:ext cx="6035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check:
</a:t>
            </a:r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 Capital letters at the start of every sentence
</a:t>
            </a:r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 End punctuation ( .  ?  ! )
</a:t>
            </a:r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 Spelling — circle any words that look wrong
</a:t>
            </a:r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 Read it quietly to yourself — does it sound right?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0" y="45720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dirty="0">
                <a:solidFill>
                  <a:srgbClr val="000000"/>
                </a:solidFill>
              </a:rPr>
              <a:t>🗣️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914400" y="109728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Time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914400" y="173736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minutes — let's hear your writing!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1828800" y="2468880"/>
            <a:ext cx="5486400" cy="164592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2103120" y="2560320"/>
            <a:ext cx="49377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share:
</a:t>
            </a:r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✋ Raise your hand if you want to read yours aloud
</a:t>
            </a:r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💬 Or paste your writing in the chat
</a:t>
            </a:r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👂 Listen respectfully when others share
</a:t>
            </a:r>
            <a:pPr indent="0" marL="0">
              <a:spcAft>
                <a:spcPts val="200"/>
              </a:spcAft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writer's ideas matter — there are no wrong answers.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Today's Focus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8B6FC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73736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8B6FC0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737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91440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 QUESTION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57200" y="123444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FEF6E8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40080" y="134416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does Roscuro and Gregory have in common?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457200" y="196596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FEF6E8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40080" y="207568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does a story function like a light in the dark?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57200" y="269748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FEF6E8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0080" y="280720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does this tell us about what Roscuro really needs?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457200" y="342900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LENS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40080" y="374904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readers watch for unexpected connections . This week, pay attention to the moments when two very different characters find something in common.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🔧 Fix-It Sentence — Now You Try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8B6FC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73736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8B6FC0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737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00584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F8FAFC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640080" y="111556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gregory the jailer carried a candle with a long rope tied around his waist so he could find his way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457200" y="173736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F8FAFC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40080" y="184708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roscuro sat near the old man and listened to him tell stories in the dark</a:t>
            </a:r>
            <a:endParaRPr lang="en-US" sz="1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🔧 Fix-It Sentence — Answer Revealed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8B6FC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73736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8B6FC0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737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00584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F8FAFC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640080" y="111556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gregory the jailer carried a candle with a long rope tied around his waist so he could find his way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457200" y="173736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F8FAFC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40080" y="184708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roscuro sat near the old man and listened to him tell stories in the dark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457200" y="246888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40080" y="274320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Gregory the jailer carried a candle with a long rope tied around his waist so he could find his way.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40080" y="329184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Roscuro sat near the old man and listened to him tell stories in the dark.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40080" y="384048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you catch the proper noun (Gregory, Roscuro), the comma, and capital letters at the start of each sentence?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Morphology: The Suffix  -ness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8B6FC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00584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BUILDING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57200" y="1371600"/>
            <a:ext cx="8229600" cy="457200"/>
          </a:xfrm>
          <a:prstGeom prst="roundRect">
            <a:avLst>
              <a:gd name="adj" fmla="val 20000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640080" y="141732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shine</a:t>
            </a:r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shin ing  (the sun was shining)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57200" y="1901952"/>
            <a:ext cx="8229600" cy="457200"/>
          </a:xfrm>
          <a:prstGeom prst="roundRect">
            <a:avLst>
              <a:gd name="adj" fmla="val 20000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40080" y="1947672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stare</a:t>
            </a:r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star ing  (he was staring at the light)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57200" y="2432304"/>
            <a:ext cx="8229600" cy="457200"/>
          </a:xfrm>
          <a:prstGeom prst="roundRect">
            <a:avLst>
              <a:gd name="adj" fmla="val 20000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40080" y="2478024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sniff</a:t>
            </a:r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sniff ing  (she was sniffing)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457200" y="2962656"/>
            <a:ext cx="8229600" cy="457200"/>
          </a:xfrm>
          <a:prstGeom prst="roundRect">
            <a:avLst>
              <a:gd name="adj" fmla="val 20000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0080" y="3008376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</a:t>
            </a:r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hold ing  (he was holding a handkerchief)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57200" y="3493008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 EXAMPLES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40080" y="3813048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📌 Examples from the Novel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🔤 Vocabulary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1005840"/>
            <a:ext cx="3840480" cy="502920"/>
          </a:xfrm>
          <a:prstGeom prst="roundRect">
            <a:avLst>
              <a:gd name="adj" fmla="val 18182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594360" y="1060704"/>
            <a:ext cx="356616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longing</a:t>
            </a:r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deep wish or desire for something you do not have.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572000" y="1005840"/>
            <a:ext cx="3840480" cy="502920"/>
          </a:xfrm>
          <a:prstGeom prst="roundRect">
            <a:avLst>
              <a:gd name="adj" fmla="val 18182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709160" y="1060704"/>
            <a:ext cx="356616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despair</a:t>
            </a:r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feeling of complete hopelessness; giving up on something getting better.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7200" y="1618488"/>
            <a:ext cx="3840480" cy="502920"/>
          </a:xfrm>
          <a:prstGeom prst="roundRect">
            <a:avLst>
              <a:gd name="adj" fmla="val 18182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594360" y="1673352"/>
            <a:ext cx="356616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concentration</a:t>
            </a:r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Focused attention on something; thinking about only one thing.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572000" y="1618488"/>
            <a:ext cx="3840480" cy="502920"/>
          </a:xfrm>
          <a:prstGeom prst="roundRect">
            <a:avLst>
              <a:gd name="adj" fmla="val 18182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709160" y="1673352"/>
            <a:ext cx="356616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disappointment</a:t>
            </a:r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feeling of sadness when something does not turn out the way you hoped.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457200" y="2231136"/>
            <a:ext cx="3840480" cy="502920"/>
          </a:xfrm>
          <a:prstGeom prst="roundRect">
            <a:avLst>
              <a:gd name="adj" fmla="val 18182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594360" y="2286000"/>
            <a:ext cx="356616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obscenely</a:t>
            </a:r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way that is shockingly large or extreme; far beyond what is normal.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4572000" y="2231136"/>
            <a:ext cx="3840480" cy="502920"/>
          </a:xfrm>
          <a:prstGeom prst="roundRect">
            <a:avLst>
              <a:gd name="adj" fmla="val 18182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4709160" y="2286000"/>
            <a:ext cx="356616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proclaimed</a:t>
            </a:r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Announced something in a loud, official, or important way.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457200" y="2843784"/>
            <a:ext cx="3840480" cy="502920"/>
          </a:xfrm>
          <a:prstGeom prst="roundRect">
            <a:avLst>
              <a:gd name="adj" fmla="val 18182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594360" y="2898648"/>
            <a:ext cx="356616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ridiculously</a:t>
            </a:r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way that seems silly or unbelievable; so much that it is hard to take seriously.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Grammar: Pronouns: He, She, It, They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8B6FC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73736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8B6FC0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737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005840"/>
            <a:ext cx="8229600" cy="502920"/>
          </a:xfrm>
          <a:prstGeom prst="roundRect">
            <a:avLst>
              <a:gd name="adj" fmla="val 18182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078992"/>
            <a:ext cx="78638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 looked up at the light.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7200" y="1600200"/>
            <a:ext cx="8229600" cy="502920"/>
          </a:xfrm>
          <a:prstGeom prst="roundRect">
            <a:avLst>
              <a:gd name="adj" fmla="val 18182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594360" y="1673352"/>
            <a:ext cx="78638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Gregory held it up high.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57200" y="2194560"/>
            <a:ext cx="8229600" cy="502920"/>
          </a:xfrm>
          <a:prstGeom prst="roundRect">
            <a:avLst>
              <a:gd name="adj" fmla="val 18182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94360" y="2267712"/>
            <a:ext cx="78638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princess she did not know.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457200" y="2788920"/>
            <a:ext cx="8229600" cy="502920"/>
          </a:xfrm>
          <a:prstGeom prst="roundRect">
            <a:avLst>
              <a:gd name="adj" fmla="val 18182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594360" y="2862072"/>
            <a:ext cx="78638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rats they lived in darkness.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Grammar: Pronouns: He, She, It, They — Answers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8B6FC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73736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8B6FC0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737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005840"/>
            <a:ext cx="8229600" cy="502920"/>
          </a:xfrm>
          <a:prstGeom prst="roundRect">
            <a:avLst>
              <a:gd name="adj" fmla="val 18182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078992"/>
            <a:ext cx="78638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u="sng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looked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7200" y="1600200"/>
            <a:ext cx="8229600" cy="502920"/>
          </a:xfrm>
          <a:prstGeom prst="roundRect">
            <a:avLst>
              <a:gd name="adj" fmla="val 18182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594360" y="1673352"/>
            <a:ext cx="78638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Gregory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held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b="1" u="sng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57200" y="2194560"/>
            <a:ext cx="8229600" cy="502920"/>
          </a:xfrm>
          <a:prstGeom prst="roundRect">
            <a:avLst>
              <a:gd name="adj" fmla="val 18182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94360" y="2267712"/>
            <a:ext cx="78638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princess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b="1" u="sng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457200" y="2788920"/>
            <a:ext cx="8229600" cy="502920"/>
          </a:xfrm>
          <a:prstGeom prst="roundRect">
            <a:avLst>
              <a:gd name="adj" fmla="val 18182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594360" y="2862072"/>
            <a:ext cx="78638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rats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b="1" u="sng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lived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darkness.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🔠 Spelling: "au" vs. "aw"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8B6FC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73736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8B6FC0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737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100584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BANK — Sort these words!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57200" y="1371600"/>
            <a:ext cx="8229600" cy="914400"/>
          </a:xfrm>
          <a:prstGeom prst="roundRect">
            <a:avLst>
              <a:gd name="adj" fmla="val 10000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40080" y="146304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shining     staring     named     waved     snapped     stopped     wrapped     nodding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57200" y="2468880"/>
            <a:ext cx="3794760" cy="457200"/>
          </a:xfrm>
          <a:prstGeom prst="roundRect">
            <a:avLst>
              <a:gd name="adj" fmla="val 20000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48640" y="2514600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Spelled with "aw"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480560" y="2468880"/>
            <a:ext cx="3794760" cy="457200"/>
          </a:xfrm>
          <a:prstGeom prst="roundRect">
            <a:avLst>
              <a:gd name="adj" fmla="val 20000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572000" y="2514600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Spelled with "au"</a:t>
            </a:r>
            <a:endParaRPr lang="en-US" sz="1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🔠 Spelling: "au" vs. "aw" — Sorted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8B6FC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73736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8B6FC0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737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005840"/>
            <a:ext cx="3794760" cy="457200"/>
          </a:xfrm>
          <a:prstGeom prst="roundRect">
            <a:avLst>
              <a:gd name="adj" fmla="val 20000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48640" y="1051560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Spelled with "aw"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48640" y="1554480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shining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48640" y="1901952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staring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48640" y="2249424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named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548640" y="2596896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waved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480560" y="1005840"/>
            <a:ext cx="3794760" cy="457200"/>
          </a:xfrm>
          <a:prstGeom prst="roundRect">
            <a:avLst>
              <a:gd name="adj" fmla="val 20000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4572000" y="1051560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Spelled with "au"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572000" y="1554480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snapped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572000" y="1901952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stopped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4572000" y="2249424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wrapped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4572000" y="2596896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nodding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📕 Read: Ch. 10–11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00584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PAUSE &amp; THINK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132588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does a story function like a light in the dark?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196596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does this tell us about what Roscuro really needs?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7200" y="260604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COPYWORK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57200" y="2926080"/>
            <a:ext cx="8229600" cy="731520"/>
          </a:xfrm>
          <a:prstGeom prst="roundRect">
            <a:avLst>
              <a:gd name="adj" fmla="val 12500"/>
            </a:avLst>
          </a:prstGeom>
          <a:solidFill>
            <a:srgbClr val="FEF6E8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40080" y="3035808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Gregory the jailer had a candle. Without it, the dungeon was pathless — a darkness without end, without form, without hope.</a:t>
            </a:r>
            <a:endParaRPr lang="en-US" sz="1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🪶 Writing Connection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34B76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137160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your writing assignment in Canvas.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201168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Follow the writing prompt for today's workshop.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2026-07-11T14:32:39Z</dcterms:created>
  <dcterms:modified xsi:type="dcterms:W3CDTF">2026-07-11T14:32:39Z</dcterms:modified>
</cp:coreProperties>
</file>