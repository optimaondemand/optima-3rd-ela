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Lesson 9.2. Reading: Ch. 10–11.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prompt aloud. Give students a moment to think before writing.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Five minutes of sustained writing. Stamina over polish. Do not correct spelling now.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fix only. Editing is conventions; revision is ideas. Name which one you are asking for.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or three volunteers. Praise something specific in each.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Reading lens: Good readers watch for unexpected connections . This week, pay attention to the moments when two very different characters find something in common.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Corrected:  1. Gregory the jailer carried a candle with a long rope tied around his waist so he could find his way.
Look for: Did you catch the proper noun (Gregory, Roscuro), the comma, and capital letters at the start of each sentence?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Corrected:  1. Gregory the jailer carried a candle with a long rope tied around his waist so he could find his way.
Look for: Did you catch the proper noun (Gregory, Roscuro), the comma, and capital letters at the start of each sentence?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Break the word into base + word part. Ask what the part adds to the meaning.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word appears in the chapters read this week, in the author’s own sentence.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Despereaux's, threadmaster's, king's, Antoinette's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Despereaux's, threadmaster's, king's, Antoinette's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Dropped the e: shining, staring, named, waved | Kept the e: hopeful, careful, useless, bravely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Dropped the e: shining, staring, named, waved | Kept the e: hopeful, careful, useless, bravely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chapters, then return to the pause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Writer’s Workshop stage for the week.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D1A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82296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dirty="0">
                <a:solidFill>
                  <a:srgbClr val="000000"/>
                </a:solidFill>
              </a:rPr>
              <a:t>🐭</a:t>
            </a:r>
            <a:endParaRPr lang="en-US" sz="5200" dirty="0"/>
          </a:p>
        </p:txBody>
      </p:sp>
      <p:sp>
        <p:nvSpPr>
          <p:cNvPr id="3" name="Text 1"/>
          <p:cNvSpPr/>
          <p:nvPr/>
        </p:nvSpPr>
        <p:spPr>
          <a:xfrm>
            <a:off x="457200" y="169164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Tale of Despereaux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57200" y="233172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9.2  ·  Ch. 10–11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2880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9BC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3 ELA  ·  Virtue: Courage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 10-Minute Write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PROMPT — 1 MINUTE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143000"/>
            <a:ext cx="8412480" cy="1737360"/>
          </a:xfrm>
          <a:prstGeom prst="roundRect">
            <a:avLst>
              <a:gd name="adj" fmla="val 5263"/>
            </a:avLst>
          </a:prstGeom>
          <a:solidFill>
            <a:srgbClr val="FEF6E8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71016"/>
            <a:ext cx="795528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Mouse Council votes, and Despereaux's own father votes with them. If you were Lester, what would you have done? Why?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365760" y="306324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first. You will have five minutes to write.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EF6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 Writing Time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minutes — keep your pencil moving!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463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737360"/>
            <a:ext cx="841248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65376"/>
            <a:ext cx="7955280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Mouse Council votes, and Despereaux's own father votes with them. If you were Lester, what would you have done? Why?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329184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 stop to erase. If you get stuck, write the last word again and keep going.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8F8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34B76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🔍  Edit &amp; Revise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minute — pick ONE thing to fix.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65760" y="141732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EDIT FOCUS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691640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19656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I end each sentence with a period, question mark, or exclamation point?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26517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check: 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capitals  ·  end punctuation  ·  circle a word you are unsure of  ·  read it aloud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🗣️  Share Time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100584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minutes — let's hear your writing!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69164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Raise your hand  ·  paste it in the chat  ·  or hold your paper up to the camera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8B6FC0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 Today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1014984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Ch. 10–11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365760" y="15087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QUESTION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65760" y="1746504"/>
            <a:ext cx="8412480" cy="731520"/>
          </a:xfrm>
          <a:prstGeom prst="roundRect">
            <a:avLst>
              <a:gd name="adj" fmla="val 12500"/>
            </a:avLst>
          </a:prstGeom>
          <a:solidFill>
            <a:srgbClr val="FEF6E8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874520"/>
            <a:ext cx="7955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does Roscuro and Gregory have in common?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365760" y="2606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LENS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65760" y="2843784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readers watch for unexpected connections . This week, pay attention to the moments when two very different characters find something in common.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THESE SENTENCES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24128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52144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gregory the jailer carried a candle with a long rope tied around his waist so he could find his way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1874520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2002536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roscuro sat near the old man and listened to him tell stories in the dark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365760" y="278892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Rewrite both sentences correctly in your notebook.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THESE SENTENCES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24128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52144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gregory the jailer carried a candle with a long rope tied around his waist so he could find his way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1874520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2002536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roscuro sat near the old man and listened to him tell stories in the dark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365760" y="2743200"/>
            <a:ext cx="8412480" cy="1417320"/>
          </a:xfrm>
          <a:prstGeom prst="roundRect">
            <a:avLst>
              <a:gd name="adj" fmla="val 6452"/>
            </a:avLst>
          </a:prstGeom>
          <a:solidFill>
            <a:srgbClr val="E8F8E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66928" y="281635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CORRECTED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3072384"/>
            <a:ext cx="80101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Gregory the jailer carried a candle with a long rope tied around his waist so he could find his way.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66928" y="3767328"/>
            <a:ext cx="80101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you catch the proper noun (Gregory, Roscuro), the comma, and capital letters at the start of each sentence?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8B6FC0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Morphology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-LESS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16152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hopeless — base word: hope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365760" y="1792224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8F4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11096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fearless — base word: fear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365760" y="2487168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06040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endless — base word: end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365760" y="3182112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8F4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3009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useless — base word: use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🔤  Vocabulary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VOCABULARY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E5F7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dungeon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dark prison room, usually underground.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182880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sacred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important and respected that it must never be broken.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365760" y="256032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E5F7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darkness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complete absence of light.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365760" y="329184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whisper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speak very quietly, using breath instead of voice.</a:t>
            </a:r>
            <a:endParaRPr lang="en-US" sz="17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Grammar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POSSESSIVE NOUNS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Despereaux's heart thudded once, twice.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181051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threadmaster's breath was in his ear.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65760" y="254203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king's music filled the room.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365760" y="327355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Antoinette's children gathered around to stare.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65760" y="4050792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turn. Find the possessive noun — the one with an apostrophe. Tap a word to check — green means you got it.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Grammar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POSSESSIVE NOUNS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Despereaux's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heart thudded once, twice.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181051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threadmaster's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breath was in his ear.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65760" y="254203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king's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music filled the room.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365760" y="327355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Antoinette's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children gathered around to stare.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65760" y="4050792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Answers revealed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E1C4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 Spelling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DROPPING THE FINAL 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107899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BANK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353312"/>
            <a:ext cx="8412480" cy="10058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9050">
            <a:solidFill>
              <a:srgbClr val="0E1C42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481328"/>
            <a:ext cx="79552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shining   ·   staring   ·   named   ·   waved   ·   hopeful   ·   careful   ·   useless   ·   bravely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251460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column does each word belong in?  Columns: Dropped the e  |  Kept the e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E1C4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 Spelling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DROPPING THE FINAL 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11480" y="1078992"/>
            <a:ext cx="4114800" cy="457200"/>
          </a:xfrm>
          <a:prstGeom prst="roundRect">
            <a:avLst>
              <a:gd name="adj" fmla="val 16000"/>
            </a:avLst>
          </a:prstGeom>
          <a:solidFill>
            <a:srgbClr val="0E1C42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13385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Dropped the e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11480" y="1591056"/>
            <a:ext cx="411480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02920" y="1700784"/>
            <a:ext cx="3931920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shining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staring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named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waved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617720" y="1078992"/>
            <a:ext cx="4114800" cy="457200"/>
          </a:xfrm>
          <a:prstGeom prst="roundRect">
            <a:avLst>
              <a:gd name="adj" fmla="val 16000"/>
            </a:avLst>
          </a:prstGeom>
          <a:solidFill>
            <a:srgbClr val="0E1C42"/>
          </a:solidFill>
          <a:ln/>
        </p:spPr>
      </p:sp>
      <p:sp>
        <p:nvSpPr>
          <p:cNvPr id="10" name="Text 8"/>
          <p:cNvSpPr/>
          <p:nvPr/>
        </p:nvSpPr>
        <p:spPr>
          <a:xfrm>
            <a:off x="4663440" y="113385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Kept the e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617720" y="1591056"/>
            <a:ext cx="411480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709160" y="1700784"/>
            <a:ext cx="3931920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hopeful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careful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useless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bravely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8B6FC0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📕  Read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Ch. 10–11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463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COPYWORK — FROM THE NOVEL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719072"/>
            <a:ext cx="8412480" cy="1143000"/>
          </a:xfrm>
          <a:prstGeom prst="roundRect">
            <a:avLst>
              <a:gd name="adj" fmla="val 8000"/>
            </a:avLst>
          </a:prstGeom>
          <a:solidFill>
            <a:srgbClr val="F0E8FF"/>
          </a:solidFill>
          <a:ln w="19050">
            <a:solidFill>
              <a:srgbClr val="8B6FC0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47088"/>
            <a:ext cx="795528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“They were dark eyes, deep and sad and frightened. And looking into them, Despereaux’s heart thudded once, twice.”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301752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PAUSE &amp; THINK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65760" y="3273552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What does Roscuro and Gregory have in common?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How does a story function like a light in the dark?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What does this tell us about what Roscuro really needs?</a:t>
            </a:r>
            <a:endParaRPr lang="en-US" sz="15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34B76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🪶  Writer’s Workshop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WEEK’S STAGE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1078992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365760" y="169164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Deepen your character's voice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Optima Academy Online</dc:creator>
  <cp:lastModifiedBy>Optima Academy Online</cp:lastModifiedBy>
  <cp:revision>1</cp:revision>
  <dcterms:created xsi:type="dcterms:W3CDTF">2026-09-07T02:49:07Z</dcterms:created>
  <dcterms:modified xsi:type="dcterms:W3CDTF">2026-09-07T02:49:07Z</dcterms:modified>
</cp:coreProperties>
</file>