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5 Day 2. Review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give my opinion AND a reason, not just say 'it was good'?.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model sentence aloud. Ask students: what do you notice about the punctuation and capitalization?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A4A6A"/>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5 · Day 2</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8B8BB5"/>
                </a:solidFill>
                <a:latin typeface="Calibri" pitchFamily="34" charset="0"/>
                <a:ea typeface="Calibri" pitchFamily="34" charset="-122"/>
                <a:cs typeface="Calibri" pitchFamily="34" charset="-120"/>
              </a:rPr>
              <a:t>Review Week — Lesson 5.2</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Write a short review of Flat Stanley for another 3rd grader who has not read it yet. Tell them what the book is about and whether you think they should read it. Do NOT give away the ending! Start with: 'If you like books about...'</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Write a short review of Flat Stanley for another 3rd grader who has not read it yet. Tell them what the book is about and whether you think they should read it. Do NOT give away the ending! Start with: 'If you like books about...'</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give my opinion AND a reason, not just say 'it was good'?</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8B8BB5"/>
            </a:solidFill>
            <a:prstDash val="solid"/>
          </a:ln>
        </p:spPr>
      </p:sp>
      <p:sp>
        <p:nvSpPr>
          <p:cNvPr id="4" name="Shape 2"/>
          <p:cNvSpPr/>
          <p:nvPr/>
        </p:nvSpPr>
        <p:spPr>
          <a:xfrm>
            <a:off x="6492240" y="173736"/>
            <a:ext cx="2286000" cy="502920"/>
          </a:xfrm>
          <a:prstGeom prst="roundRect">
            <a:avLst>
              <a:gd name="adj" fmla="val 21818"/>
            </a:avLst>
          </a:prstGeom>
          <a:solidFill>
            <a:srgbClr val="8B8BB5"/>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Think about how Jeff Brown wrote the ending of Flat Stanley . What makes a good ending?</a:t>
            </a:r>
            <a:endParaRPr lang="en-US" sz="1800" dirty="0"/>
          </a:p>
        </p:txBody>
      </p:sp>
      <p:sp>
        <p:nvSpPr>
          <p:cNvPr id="9" name="Text 7"/>
          <p:cNvSpPr/>
          <p:nvPr/>
        </p:nvSpPr>
        <p:spPr>
          <a:xfrm>
            <a:off x="457200" y="1965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0" name="Text 8"/>
          <p:cNvSpPr/>
          <p:nvPr/>
        </p:nvSpPr>
        <p:spPr>
          <a:xfrm>
            <a:off x="640080" y="228600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preview a book before reading. They look at the cover, chapter titles, and pictures to make predictions.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Model Sentence — Study What's Right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Shape 2"/>
          <p:cNvSpPr/>
          <p:nvPr/>
        </p:nvSpPr>
        <p:spPr>
          <a:xfrm>
            <a:off x="457200" y="1097280"/>
            <a:ext cx="822960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207008"/>
            <a:ext cx="7863840" cy="68580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Everyone was terribly excited and happy, of course. Mrs. Lambchop made hot chocolate to celebrate.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8B8BB5"/>
            </a:solidFill>
            <a:prstDash val="solid"/>
          </a:ln>
        </p:spPr>
      </p:sp>
      <p:sp>
        <p:nvSpPr>
          <p:cNvPr id="4" name="Shape 2"/>
          <p:cNvSpPr/>
          <p:nvPr/>
        </p:nvSpPr>
        <p:spPr>
          <a:xfrm>
            <a:off x="6492240" y="173736"/>
            <a:ext cx="2286000" cy="502920"/>
          </a:xfrm>
          <a:prstGeom prst="roundRect">
            <a:avLst>
              <a:gd name="adj" fmla="val 21818"/>
            </a:avLst>
          </a:prstGeom>
          <a:solidFill>
            <a:srgbClr val="8B8BB5"/>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stanley spread his arms and legs as wide as he could while arthur pumped and pumped the bicycle pump</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8B8BB5"/>
            </a:solidFill>
            <a:prstDash val="solid"/>
          </a:ln>
        </p:spPr>
      </p:sp>
      <p:sp>
        <p:nvSpPr>
          <p:cNvPr id="4" name="Shape 2"/>
          <p:cNvSpPr/>
          <p:nvPr/>
        </p:nvSpPr>
        <p:spPr>
          <a:xfrm>
            <a:off x="6492240" y="173736"/>
            <a:ext cx="2286000" cy="502920"/>
          </a:xfrm>
          <a:prstGeom prst="roundRect">
            <a:avLst>
              <a:gd name="adj" fmla="val 21818"/>
            </a:avLst>
          </a:prstGeom>
          <a:solidFill>
            <a:srgbClr val="8B8BB5"/>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stanley spread his arms and legs as wide as he could while arthur pumped and pumped the bicycle pump</a:t>
            </a:r>
            <a:endParaRPr lang="en-US" sz="1800" dirty="0"/>
          </a:p>
        </p:txBody>
      </p:sp>
      <p:sp>
        <p:nvSpPr>
          <p:cNvPr id="8" name="Text 6"/>
          <p:cNvSpPr/>
          <p:nvPr/>
        </p:nvSpPr>
        <p:spPr>
          <a:xfrm>
            <a:off x="457200" y="17373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9" name="Text 7"/>
          <p:cNvSpPr/>
          <p:nvPr/>
        </p:nvSpPr>
        <p:spPr>
          <a:xfrm>
            <a:off x="640080" y="201168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Stanley spread his arms and legs as wide as he could while Arthur pumped and pumped the bicycle pump .</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Suffix -ed shows past action</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MATCH THE WORDS</a:t>
            </a:r>
            <a:endParaRPr lang="en-US" sz="1100" dirty="0"/>
          </a:p>
        </p:txBody>
      </p:sp>
      <p:sp>
        <p:nvSpPr>
          <p:cNvPr id="5" name="Shape 3"/>
          <p:cNvSpPr/>
          <p:nvPr/>
        </p:nvSpPr>
        <p:spPr>
          <a:xfrm>
            <a:off x="457200" y="1371600"/>
            <a:ext cx="8229600" cy="411480"/>
          </a:xfrm>
          <a:prstGeom prst="roundRect">
            <a:avLst>
              <a:gd name="adj" fmla="val 22222"/>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2004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jumped → jump</a:t>
            </a:r>
            <a:endParaRPr lang="en-US" sz="1500" dirty="0"/>
          </a:p>
        </p:txBody>
      </p:sp>
      <p:sp>
        <p:nvSpPr>
          <p:cNvPr id="7" name="Shape 5"/>
          <p:cNvSpPr/>
          <p:nvPr/>
        </p:nvSpPr>
        <p:spPr>
          <a:xfrm>
            <a:off x="457200" y="1847088"/>
            <a:ext cx="8229600" cy="411480"/>
          </a:xfrm>
          <a:prstGeom prst="roundRect">
            <a:avLst>
              <a:gd name="adj" fmla="val 22222"/>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892808"/>
            <a:ext cx="7863840" cy="32004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walked → walk</a:t>
            </a:r>
            <a:endParaRPr lang="en-US" sz="1500" dirty="0"/>
          </a:p>
        </p:txBody>
      </p:sp>
      <p:sp>
        <p:nvSpPr>
          <p:cNvPr id="9" name="Shape 7"/>
          <p:cNvSpPr/>
          <p:nvPr/>
        </p:nvSpPr>
        <p:spPr>
          <a:xfrm>
            <a:off x="457200" y="2322576"/>
            <a:ext cx="8229600" cy="411480"/>
          </a:xfrm>
          <a:prstGeom prst="roundRect">
            <a:avLst>
              <a:gd name="adj" fmla="val 22222"/>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368296"/>
            <a:ext cx="7863840" cy="32004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played → play</a:t>
            </a:r>
            <a:endParaRPr lang="en-US" sz="1500" dirty="0"/>
          </a:p>
        </p:txBody>
      </p:sp>
      <p:sp>
        <p:nvSpPr>
          <p:cNvPr id="11" name="Shape 9"/>
          <p:cNvSpPr/>
          <p:nvPr/>
        </p:nvSpPr>
        <p:spPr>
          <a:xfrm>
            <a:off x="457200" y="2798064"/>
            <a:ext cx="8229600" cy="411480"/>
          </a:xfrm>
          <a:prstGeom prst="roundRect">
            <a:avLst>
              <a:gd name="adj" fmla="val 22222"/>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2843784"/>
            <a:ext cx="7863840" cy="32004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wanted → want</a:t>
            </a:r>
            <a:endParaRPr lang="en-US" sz="1500" dirty="0"/>
          </a:p>
        </p:txBody>
      </p:sp>
      <p:sp>
        <p:nvSpPr>
          <p:cNvPr id="13" name="Text 11"/>
          <p:cNvSpPr/>
          <p:nvPr/>
        </p:nvSpPr>
        <p:spPr>
          <a:xfrm>
            <a:off x="457200" y="3273552"/>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593592"/>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Examples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4572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bulletin</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board where you pin up messages and pictures.</a:t>
            </a:r>
            <a:endParaRPr lang="en-US" sz="1500" dirty="0"/>
          </a:p>
        </p:txBody>
      </p:sp>
      <p:sp>
        <p:nvSpPr>
          <p:cNvPr id="6" name="Shape 4"/>
          <p:cNvSpPr/>
          <p:nvPr/>
        </p:nvSpPr>
        <p:spPr>
          <a:xfrm>
            <a:off x="45720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7" name="Text 5"/>
          <p:cNvSpPr/>
          <p:nvPr/>
        </p:nvSpPr>
        <p:spPr>
          <a:xfrm>
            <a:off x="47091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examined</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Looked at very carefully.</a:t>
            </a:r>
            <a:endParaRPr lang="en-US" sz="1500" dirty="0"/>
          </a:p>
        </p:txBody>
      </p:sp>
      <p:sp>
        <p:nvSpPr>
          <p:cNvPr id="8" name="Shape 6"/>
          <p:cNvSpPr/>
          <p:nvPr/>
        </p:nvSpPr>
        <p:spPr>
          <a:xfrm>
            <a:off x="4572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cross</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Angry or annoyed.</a:t>
            </a:r>
            <a:endParaRPr lang="en-US" sz="1500" dirty="0"/>
          </a:p>
        </p:txBody>
      </p:sp>
      <p:sp>
        <p:nvSpPr>
          <p:cNvPr id="10" name="Shape 8"/>
          <p:cNvSpPr/>
          <p:nvPr/>
        </p:nvSpPr>
        <p:spPr>
          <a:xfrm>
            <a:off x="45720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47091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celebrate</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To do something special because of good news.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Three sounds of -ed</a:t>
            </a:r>
            <a:endParaRPr lang="en-US" sz="2800" dirty="0"/>
          </a:p>
        </p:txBody>
      </p:sp>
      <p:sp>
        <p:nvSpPr>
          <p:cNvPr id="3" name="Shape 1"/>
          <p:cNvSpPr/>
          <p:nvPr/>
        </p:nvSpPr>
        <p:spPr>
          <a:xfrm>
            <a:off x="365760" y="749808"/>
            <a:ext cx="8412480" cy="0"/>
          </a:xfrm>
          <a:prstGeom prst="line">
            <a:avLst/>
          </a:prstGeom>
          <a:noFill/>
          <a:ln w="19050">
            <a:solidFill>
              <a:srgbClr val="8B8BB5"/>
            </a:solidFill>
            <a:prstDash val="solid"/>
          </a:ln>
        </p:spPr>
      </p:sp>
      <p:sp>
        <p:nvSpPr>
          <p:cNvPr id="4" name="Shape 2"/>
          <p:cNvSpPr/>
          <p:nvPr/>
        </p:nvSpPr>
        <p:spPr>
          <a:xfrm>
            <a:off x="6492240" y="173736"/>
            <a:ext cx="2286000" cy="502920"/>
          </a:xfrm>
          <a:prstGeom prst="roundRect">
            <a:avLst>
              <a:gd name="adj" fmla="val 21818"/>
            </a:avLst>
          </a:prstGeom>
          <a:solidFill>
            <a:srgbClr val="8B8BB5"/>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wished     asked     pushed     pulled     smiled     yelled     shouted     painted</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ed=/t/</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ed=/d/</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Three sounds of -ed — Sorted</a:t>
            </a:r>
            <a:endParaRPr lang="en-US" sz="2800" dirty="0"/>
          </a:p>
        </p:txBody>
      </p:sp>
      <p:sp>
        <p:nvSpPr>
          <p:cNvPr id="3" name="Shape 1"/>
          <p:cNvSpPr/>
          <p:nvPr/>
        </p:nvSpPr>
        <p:spPr>
          <a:xfrm>
            <a:off x="365760" y="749808"/>
            <a:ext cx="8412480" cy="0"/>
          </a:xfrm>
          <a:prstGeom prst="line">
            <a:avLst/>
          </a:prstGeom>
          <a:noFill/>
          <a:ln w="19050">
            <a:solidFill>
              <a:srgbClr val="8B8BB5"/>
            </a:solidFill>
            <a:prstDash val="solid"/>
          </a:ln>
        </p:spPr>
      </p:sp>
      <p:sp>
        <p:nvSpPr>
          <p:cNvPr id="4" name="Shape 2"/>
          <p:cNvSpPr/>
          <p:nvPr/>
        </p:nvSpPr>
        <p:spPr>
          <a:xfrm>
            <a:off x="6492240" y="173736"/>
            <a:ext cx="2286000" cy="502920"/>
          </a:xfrm>
          <a:prstGeom prst="roundRect">
            <a:avLst>
              <a:gd name="adj" fmla="val 21818"/>
            </a:avLst>
          </a:prstGeom>
          <a:solidFill>
            <a:srgbClr val="8B8BB5"/>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ed=/t/</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wished</a:t>
            </a:r>
            <a:endParaRPr lang="en-US" sz="1400" dirty="0"/>
          </a:p>
        </p:txBody>
      </p:sp>
      <p:sp>
        <p:nvSpPr>
          <p:cNvPr id="9" name="Text 7"/>
          <p:cNvSpPr/>
          <p:nvPr/>
        </p:nvSpPr>
        <p:spPr>
          <a:xfrm>
            <a:off x="54864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asked</a:t>
            </a:r>
            <a:endParaRPr lang="en-US" sz="1400" dirty="0"/>
          </a:p>
        </p:txBody>
      </p:sp>
      <p:sp>
        <p:nvSpPr>
          <p:cNvPr id="10" name="Text 8"/>
          <p:cNvSpPr/>
          <p:nvPr/>
        </p:nvSpPr>
        <p:spPr>
          <a:xfrm>
            <a:off x="54864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pushed</a:t>
            </a:r>
            <a:endParaRPr lang="en-US" sz="1400" dirty="0"/>
          </a:p>
        </p:txBody>
      </p:sp>
      <p:sp>
        <p:nvSpPr>
          <p:cNvPr id="11" name="Shape 9"/>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ed=/d/</a:t>
            </a:r>
            <a:endParaRPr lang="en-US" sz="1400" dirty="0"/>
          </a:p>
        </p:txBody>
      </p:sp>
      <p:sp>
        <p:nvSpPr>
          <p:cNvPr id="13" name="Text 11"/>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pulled</a:t>
            </a:r>
            <a:endParaRPr lang="en-US" sz="1400" dirty="0"/>
          </a:p>
        </p:txBody>
      </p:sp>
      <p:sp>
        <p:nvSpPr>
          <p:cNvPr id="14" name="Text 12"/>
          <p:cNvSpPr/>
          <p:nvPr/>
        </p:nvSpPr>
        <p:spPr>
          <a:xfrm>
            <a:off x="457200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smiled</a:t>
            </a:r>
            <a:endParaRPr lang="en-US" sz="1400" dirty="0"/>
          </a:p>
        </p:txBody>
      </p:sp>
      <p:sp>
        <p:nvSpPr>
          <p:cNvPr id="15" name="Text 13"/>
          <p:cNvSpPr/>
          <p:nvPr/>
        </p:nvSpPr>
        <p:spPr>
          <a:xfrm>
            <a:off x="457200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yelled</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Reading Focus</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Reading-Writing Connection (RWM)</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